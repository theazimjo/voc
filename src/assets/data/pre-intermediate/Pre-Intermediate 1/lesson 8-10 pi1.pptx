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19"/>
    <p:sldId id="273" r:id="rId20"/>
    <p:sldId id="275" r:id="rId21"/>
    <p:sldId id="276" r:id="rId22"/>
    <p:sldId id="274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8" r:id="rId33"/>
    <p:sldId id="289" r:id="rId34"/>
    <p:sldId id="285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D3E5-ABD2-4A05-9245-DB6B3603BF3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5B027526-E5F8-4B6C-9809-05CD70DA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5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D3E5-ABD2-4A05-9245-DB6B3603BF3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7526-E5F8-4B6C-9809-05CD70DA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09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68AD3E5-ABD2-4A05-9245-DB6B3603BF3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B027526-E5F8-4B6C-9809-05CD70DA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12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D3E5-ABD2-4A05-9245-DB6B3603BF3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7526-E5F8-4B6C-9809-05CD70DA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331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D3E5-ABD2-4A05-9245-DB6B3603BF3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7526-E5F8-4B6C-9809-05CD70DA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83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D3E5-ABD2-4A05-9245-DB6B3603BF3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7526-E5F8-4B6C-9809-05CD70DA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52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D3E5-ABD2-4A05-9245-DB6B3603BF3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7526-E5F8-4B6C-9809-05CD70DA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26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D3E5-ABD2-4A05-9245-DB6B3603BF3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7526-E5F8-4B6C-9809-05CD70DA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6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D3E5-ABD2-4A05-9245-DB6B3603BF38}" type="datetimeFigureOut">
              <a:rPr lang="en-US" smtClean="0"/>
              <a:t>6/8/2026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7526-E5F8-4B6C-9809-05CD70DA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26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D3E5-ABD2-4A05-9245-DB6B3603BF3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7526-E5F8-4B6C-9809-05CD70DA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013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AD3E5-ABD2-4A05-9245-DB6B3603BF3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27526-E5F8-4B6C-9809-05CD70DA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1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68AD3E5-ABD2-4A05-9245-DB6B3603BF38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5B027526-E5F8-4B6C-9809-05CD70DAD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0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BF326-9CEC-A94E-95A1-F53D70B1F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903" y="1432223"/>
            <a:ext cx="10237249" cy="3035808"/>
          </a:xfrm>
        </p:spPr>
        <p:txBody>
          <a:bodyPr/>
          <a:lstStyle/>
          <a:p>
            <a:pPr algn="ctr"/>
            <a:r>
              <a:rPr lang="en-US" sz="10000" b="1" dirty="0">
                <a:solidFill>
                  <a:srgbClr val="FF0000"/>
                </a:solidFill>
              </a:rPr>
              <a:t>ADJECTIVES</a:t>
            </a:r>
            <a:endParaRPr lang="en-US" sz="100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1EF8E2-97B5-072E-0431-CC559FBD84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63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3DE8-83A2-4D5E-01F3-AC2289667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3886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ADJECTIVES (SIFATLAR)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DAE08-5CE6-6348-5661-DD76E45AA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" y="1022555"/>
            <a:ext cx="11602065" cy="583544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Adjective (</a:t>
            </a:r>
            <a:r>
              <a:rPr lang="en-US" sz="2800" b="1" i="1" dirty="0" err="1">
                <a:highlight>
                  <a:srgbClr val="FFFF00"/>
                </a:highlight>
              </a:rPr>
              <a:t>sifat</a:t>
            </a:r>
            <a:r>
              <a:rPr lang="en-US" sz="2800" b="1" i="1" dirty="0">
                <a:highlight>
                  <a:srgbClr val="FFFF00"/>
                </a:highlight>
              </a:rPr>
              <a:t>)</a:t>
            </a:r>
            <a:r>
              <a:rPr lang="en-US" sz="2800" i="1" dirty="0">
                <a:highlight>
                  <a:srgbClr val="FFFF00"/>
                </a:highlight>
              </a:rPr>
              <a:t> — </a:t>
            </a:r>
            <a:r>
              <a:rPr lang="en-US" sz="2800" i="1" dirty="0" err="1">
                <a:highlight>
                  <a:srgbClr val="FFFF00"/>
                </a:highlight>
              </a:rPr>
              <a:t>ot</a:t>
            </a:r>
            <a:r>
              <a:rPr lang="en-US" sz="2800" i="1" dirty="0">
                <a:highlight>
                  <a:srgbClr val="FFFF00"/>
                </a:highlight>
              </a:rPr>
              <a:t> (noun) </a:t>
            </a:r>
            <a:r>
              <a:rPr lang="en-US" sz="2800" i="1" dirty="0" err="1">
                <a:highlight>
                  <a:srgbClr val="FFFF00"/>
                </a:highlight>
              </a:rPr>
              <a:t>yoki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olmosh</a:t>
            </a:r>
            <a:r>
              <a:rPr lang="en-US" sz="2800" i="1" dirty="0">
                <a:highlight>
                  <a:srgbClr val="FFFF00"/>
                </a:highlight>
              </a:rPr>
              <a:t> (pronoun) </a:t>
            </a:r>
            <a:r>
              <a:rPr lang="en-US" sz="2800" i="1" dirty="0" err="1">
                <a:highlight>
                  <a:srgbClr val="FFFF00"/>
                </a:highlight>
              </a:rPr>
              <a:t>haqida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qo‘shimcha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ma'lumot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beradigan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so‘z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Ular </a:t>
            </a:r>
            <a:r>
              <a:rPr lang="en-US" sz="2800" i="1" dirty="0" err="1">
                <a:highlight>
                  <a:srgbClr val="FFFF00"/>
                </a:highlight>
              </a:rPr>
              <a:t>odam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narsa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hayvon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yoki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joyning</a:t>
            </a:r>
            <a:r>
              <a:rPr lang="en-US" sz="2800" i="1" dirty="0">
                <a:highlight>
                  <a:srgbClr val="FFFF00"/>
                </a:highlight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b="1" dirty="0" err="1">
                <a:solidFill>
                  <a:srgbClr val="00B050"/>
                </a:solidFill>
              </a:rPr>
              <a:t>qandayligini</a:t>
            </a:r>
            <a:r>
              <a:rPr lang="en-US" sz="2800" b="1" dirty="0">
                <a:solidFill>
                  <a:srgbClr val="00B050"/>
                </a:solidFill>
              </a:rPr>
              <a:t> | </a:t>
            </a:r>
            <a:r>
              <a:rPr lang="en-US" sz="2800" b="1" dirty="0" err="1">
                <a:solidFill>
                  <a:srgbClr val="00B050"/>
                </a:solidFill>
              </a:rPr>
              <a:t>rangini</a:t>
            </a:r>
            <a:r>
              <a:rPr lang="en-US" sz="2800" b="1" dirty="0">
                <a:solidFill>
                  <a:srgbClr val="00B050"/>
                </a:solidFill>
              </a:rPr>
              <a:t> | </a:t>
            </a:r>
            <a:r>
              <a:rPr lang="en-US" sz="2800" b="1" dirty="0" err="1">
                <a:solidFill>
                  <a:srgbClr val="00B050"/>
                </a:solidFill>
              </a:rPr>
              <a:t>hajmini</a:t>
            </a:r>
            <a:r>
              <a:rPr lang="en-US" sz="2800" b="1" dirty="0">
                <a:solidFill>
                  <a:srgbClr val="00B050"/>
                </a:solidFill>
              </a:rPr>
              <a:t> | </a:t>
            </a:r>
            <a:r>
              <a:rPr lang="en-US" sz="2800" b="1" dirty="0" err="1">
                <a:solidFill>
                  <a:srgbClr val="00B050"/>
                </a:solidFill>
              </a:rPr>
              <a:t>yoshini</a:t>
            </a:r>
            <a:r>
              <a:rPr lang="en-US" sz="2800" b="1" dirty="0">
                <a:solidFill>
                  <a:srgbClr val="00B050"/>
                </a:solidFill>
              </a:rPr>
              <a:t> | </a:t>
            </a:r>
            <a:r>
              <a:rPr lang="en-US" sz="2800" b="1" dirty="0" err="1">
                <a:solidFill>
                  <a:srgbClr val="00B050"/>
                </a:solidFill>
              </a:rPr>
              <a:t>holatini</a:t>
            </a:r>
            <a:r>
              <a:rPr lang="en-US" sz="2800" b="1" dirty="0">
                <a:solidFill>
                  <a:srgbClr val="00B050"/>
                </a:solidFill>
              </a:rPr>
              <a:t> | </a:t>
            </a:r>
            <a:r>
              <a:rPr lang="en-US" sz="2800" b="1" dirty="0" err="1">
                <a:solidFill>
                  <a:srgbClr val="00B050"/>
                </a:solidFill>
              </a:rPr>
              <a:t>turini</a:t>
            </a:r>
            <a:r>
              <a:rPr lang="en-US" sz="2800" b="1" dirty="0">
                <a:solidFill>
                  <a:srgbClr val="00B050"/>
                </a:solidFill>
              </a:rPr>
              <a:t>  </a:t>
            </a:r>
            <a:r>
              <a:rPr lang="en-US" sz="2800" dirty="0"/>
              <a:t>- </a:t>
            </a:r>
            <a:r>
              <a:rPr lang="en-US" sz="2800" i="1" dirty="0" err="1">
                <a:highlight>
                  <a:srgbClr val="FFFF00"/>
                </a:highlight>
              </a:rPr>
              <a:t>ifodalaydi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 </a:t>
            </a:r>
            <a:r>
              <a:rPr lang="en-US" sz="2800" b="1" dirty="0"/>
              <a:t>big</a:t>
            </a:r>
            <a:r>
              <a:rPr lang="en-US" sz="2800" dirty="0"/>
              <a:t> house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 </a:t>
            </a:r>
            <a:r>
              <a:rPr lang="en-US" sz="2800" b="1" dirty="0"/>
              <a:t>red</a:t>
            </a:r>
            <a:r>
              <a:rPr lang="en-US" sz="2800" dirty="0"/>
              <a:t> car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 </a:t>
            </a:r>
            <a:r>
              <a:rPr lang="en-US" sz="2800" b="1" dirty="0"/>
              <a:t>beautiful</a:t>
            </a:r>
            <a:r>
              <a:rPr lang="en-US" sz="2800" dirty="0"/>
              <a:t> girl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an </a:t>
            </a:r>
            <a:r>
              <a:rPr lang="en-US" sz="2800" b="1" dirty="0"/>
              <a:t>old</a:t>
            </a:r>
            <a:r>
              <a:rPr lang="en-US" sz="2800" dirty="0"/>
              <a:t> tree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 </a:t>
            </a:r>
            <a:r>
              <a:rPr lang="en-US" sz="2800" b="1" dirty="0"/>
              <a:t>smart</a:t>
            </a:r>
            <a:r>
              <a:rPr lang="en-US" sz="2800" dirty="0"/>
              <a:t> student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557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A6951-05FD-10EB-A082-92B5A5FE9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8970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Adjectives </a:t>
            </a:r>
            <a:r>
              <a:rPr lang="en-US" b="1" dirty="0" err="1">
                <a:solidFill>
                  <a:srgbClr val="FF0000"/>
                </a:solidFill>
              </a:rPr>
              <a:t>qayerda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keladi</a:t>
            </a:r>
            <a:r>
              <a:rPr lang="en-US" b="1" dirty="0">
                <a:solidFill>
                  <a:srgbClr val="FF0000"/>
                </a:solidFill>
              </a:rPr>
              <a:t>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9E0F6-DA51-5FC3-09D5-A296B90D1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7" y="1189703"/>
            <a:ext cx="11552903" cy="55847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1. </a:t>
            </a:r>
            <a:r>
              <a:rPr lang="en-US" sz="2800" b="1" i="1" dirty="0" err="1">
                <a:highlight>
                  <a:srgbClr val="FFFF00"/>
                </a:highlight>
              </a:rPr>
              <a:t>Otdan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oldin</a:t>
            </a:r>
            <a:r>
              <a:rPr lang="en-US" sz="2800" b="1" i="1" dirty="0">
                <a:highlight>
                  <a:srgbClr val="FFFF00"/>
                </a:highlight>
              </a:rPr>
              <a:t> (Attributive adjective)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Formula:   </a:t>
            </a:r>
            <a:r>
              <a:rPr lang="en-US" sz="2800" b="1" dirty="0">
                <a:solidFill>
                  <a:srgbClr val="00B0F0"/>
                </a:solidFill>
              </a:rPr>
              <a:t>adjective + noun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a beautiful garden | a tall building 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an expensive phone | a dangerous animal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saw a </a:t>
            </a:r>
            <a:r>
              <a:rPr lang="en-US" sz="2800" b="1" dirty="0"/>
              <a:t>gigantic</a:t>
            </a:r>
            <a:r>
              <a:rPr lang="en-US" sz="2800" dirty="0"/>
              <a:t> spider in my bathroom.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bought a ridiculously </a:t>
            </a:r>
            <a:r>
              <a:rPr lang="en-US" sz="2800" b="1" dirty="0"/>
              <a:t>expensive</a:t>
            </a:r>
            <a:r>
              <a:rPr lang="en-US" sz="2800" dirty="0"/>
              <a:t> handbag.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stayed in a </a:t>
            </a:r>
            <a:r>
              <a:rPr lang="en-US" sz="2800" b="1" dirty="0"/>
              <a:t>haunted</a:t>
            </a:r>
            <a:r>
              <a:rPr lang="en-US" sz="2800" dirty="0"/>
              <a:t> castle.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13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196E-0C6B-975A-BA27-83635213C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835" y="0"/>
            <a:ext cx="10058400" cy="112087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Adjectives </a:t>
            </a:r>
            <a:r>
              <a:rPr lang="en-US" b="1" dirty="0" err="1">
                <a:solidFill>
                  <a:srgbClr val="FF0000"/>
                </a:solidFill>
              </a:rPr>
              <a:t>qayerda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keladi</a:t>
            </a:r>
            <a:r>
              <a:rPr lang="en-US" b="1" dirty="0">
                <a:solidFill>
                  <a:srgbClr val="FF0000"/>
                </a:solidFill>
              </a:rPr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747CB-CF51-DF69-0184-2F993DCDE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94" y="1120877"/>
            <a:ext cx="11523406" cy="57371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Linking </a:t>
            </a:r>
            <a:r>
              <a:rPr lang="en-US" sz="2800" b="1" i="1" dirty="0" err="1">
                <a:highlight>
                  <a:srgbClr val="FFFF00"/>
                </a:highlight>
              </a:rPr>
              <a:t>verbdan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keyin</a:t>
            </a:r>
            <a:r>
              <a:rPr lang="en-US" sz="2800" b="1" i="1" dirty="0">
                <a:highlight>
                  <a:srgbClr val="FFFF00"/>
                </a:highlight>
              </a:rPr>
              <a:t> (Predicative adjective)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be | seem | look | feel | become | appear | sound | smell | taste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Formula: </a:t>
            </a:r>
            <a:r>
              <a:rPr lang="en-US" sz="2800" b="1" dirty="0">
                <a:solidFill>
                  <a:srgbClr val="00B0F0"/>
                </a:solidFill>
              </a:rPr>
              <a:t>subject + linking verb + adjective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She </a:t>
            </a:r>
            <a:r>
              <a:rPr lang="en-US" sz="2800" b="1" dirty="0"/>
              <a:t>is</a:t>
            </a:r>
            <a:r>
              <a:rPr lang="en-US" sz="2800" dirty="0"/>
              <a:t> happy. | The food </a:t>
            </a:r>
            <a:r>
              <a:rPr lang="en-US" sz="2800" b="1" dirty="0"/>
              <a:t>smells</a:t>
            </a:r>
            <a:r>
              <a:rPr lang="en-US" sz="2800" dirty="0"/>
              <a:t> delicious.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room </a:t>
            </a:r>
            <a:r>
              <a:rPr lang="en-US" sz="2800" b="1" dirty="0"/>
              <a:t>looks</a:t>
            </a:r>
            <a:r>
              <a:rPr lang="en-US" sz="2800" dirty="0"/>
              <a:t> clean. | He </a:t>
            </a:r>
            <a:r>
              <a:rPr lang="en-US" sz="2800" b="1" dirty="0"/>
              <a:t>became</a:t>
            </a:r>
            <a:r>
              <a:rPr lang="en-US" sz="2800" dirty="0"/>
              <a:t> famous.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My neighbor </a:t>
            </a:r>
            <a:r>
              <a:rPr lang="en-US" sz="2800" b="1" dirty="0"/>
              <a:t>seems</a:t>
            </a:r>
            <a:r>
              <a:rPr lang="en-US" sz="2800" dirty="0"/>
              <a:t> suspicious.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soup </a:t>
            </a:r>
            <a:r>
              <a:rPr lang="en-US" sz="2800" b="1" dirty="0"/>
              <a:t>tastes</a:t>
            </a:r>
            <a:r>
              <a:rPr lang="en-US" sz="2800" dirty="0"/>
              <a:t> terrible.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160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9DBFD-C0CC-2184-8B85-A6C6957E4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8952"/>
            <a:ext cx="10058400" cy="113125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err="1">
                <a:solidFill>
                  <a:srgbClr val="FF0000"/>
                </a:solidFill>
              </a:rPr>
              <a:t>Adjectivesning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ma'nolariga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ko‘ra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turlari</a:t>
            </a:r>
            <a:endParaRPr lang="en-US" sz="40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1BF401-58DB-DEB2-BAB1-225989CB0B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187324"/>
              </p:ext>
            </p:extLst>
          </p:nvPr>
        </p:nvGraphicFramePr>
        <p:xfrm>
          <a:off x="1066800" y="1297858"/>
          <a:ext cx="10058400" cy="5560144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94900062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323492774"/>
                    </a:ext>
                  </a:extLst>
                </a:gridCol>
              </a:tblGrid>
              <a:tr h="6950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+mn-lt"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+mn-lt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174747"/>
                  </a:ext>
                </a:extLst>
              </a:tr>
              <a:tr h="6950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+mn-lt"/>
                        </a:rPr>
                        <a:t>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+mn-lt"/>
                        </a:rPr>
                        <a:t>similar, different, aware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647468"/>
                  </a:ext>
                </a:extLst>
              </a:tr>
              <a:tr h="6950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+mn-lt"/>
                        </a:rPr>
                        <a:t>Character/Action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+mn-lt"/>
                        </a:rPr>
                        <a:t>kind, polite, generous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916555"/>
                  </a:ext>
                </a:extLst>
              </a:tr>
              <a:tr h="6950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+mn-lt"/>
                        </a:rPr>
                        <a:t>Permanent 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+mn-lt"/>
                        </a:rPr>
                        <a:t>tall, old, 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285014"/>
                  </a:ext>
                </a:extLst>
              </a:tr>
              <a:tr h="6950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+mn-lt"/>
                        </a:rPr>
                        <a:t>Temporary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+mn-lt"/>
                        </a:rPr>
                        <a:t>hungry, tired, angry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469658"/>
                  </a:ext>
                </a:extLst>
              </a:tr>
              <a:tr h="6950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+mn-lt"/>
                        </a:rPr>
                        <a:t>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+mn-lt"/>
                        </a:rPr>
                        <a:t>French, organic, electric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494258"/>
                  </a:ext>
                </a:extLst>
              </a:tr>
              <a:tr h="6950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+mn-lt"/>
                        </a:rPr>
                        <a:t>Gradable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+mn-lt"/>
                        </a:rPr>
                        <a:t>big, small, hot, cold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039326"/>
                  </a:ext>
                </a:extLst>
              </a:tr>
              <a:tr h="6950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+mn-lt"/>
                        </a:rPr>
                        <a:t>Ungradable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+mn-lt"/>
                        </a:rPr>
                        <a:t>French, organic, wooden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823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714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490B4-9F3B-0734-2F50-0BE3C84F6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3238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Relationship 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52EEE-82F8-61CD-4DC9-0307C40F4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1" y="1140542"/>
            <a:ext cx="11405419" cy="571745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Odamlar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va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narsalar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o‘rtasidagi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munosabatni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bildiradi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Ko‘pincha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ulardan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keyin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preposition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keladi</a:t>
            </a:r>
            <a:r>
              <a:rPr lang="en-US" sz="2800" i="1" dirty="0">
                <a:highlight>
                  <a:srgbClr val="FFFF00"/>
                </a:highlight>
              </a:rPr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Formula:  </a:t>
            </a:r>
            <a:r>
              <a:rPr lang="en-US" sz="2800" b="1" dirty="0">
                <a:solidFill>
                  <a:srgbClr val="00B0F0"/>
                </a:solidFill>
              </a:rPr>
              <a:t>adjective + preposition</a:t>
            </a:r>
            <a:endParaRPr lang="en-US" sz="2800" dirty="0">
              <a:solidFill>
                <a:srgbClr val="00B0F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E52CCB-324D-EFF8-69AC-6E14C264E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390136"/>
              </p:ext>
            </p:extLst>
          </p:nvPr>
        </p:nvGraphicFramePr>
        <p:xfrm>
          <a:off x="1069848" y="3161357"/>
          <a:ext cx="10058400" cy="362712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128942306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391632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Adjective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 err="1"/>
                        <a:t>Ma'nosi</a:t>
                      </a:r>
                      <a:endParaRPr lang="en-US" sz="28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334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fond of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yaxshi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ko‘rmoq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31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different from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farq qilmoq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812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similar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o‘xshash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146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keen 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qiziqmoq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221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aware of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xabardor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1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near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yaqin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994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1241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E4F8-C029-ED71-A4A8-0FACEB191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0" y="0"/>
            <a:ext cx="10607138" cy="70866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My aunt is </a:t>
            </a:r>
            <a:r>
              <a:rPr lang="en-US" sz="2800" b="1" dirty="0"/>
              <a:t>married to </a:t>
            </a:r>
            <a:r>
              <a:rPr lang="en-US" sz="2800" dirty="0"/>
              <a:t>a famous doctor.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This book is </a:t>
            </a:r>
            <a:r>
              <a:rPr lang="en-US" sz="2800" b="1" dirty="0"/>
              <a:t>related to</a:t>
            </a:r>
            <a:r>
              <a:rPr lang="en-US" sz="2800" dirty="0"/>
              <a:t> ancient history.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Your new phone is very </a:t>
            </a:r>
            <a:r>
              <a:rPr lang="en-US" sz="2800" b="1" dirty="0"/>
              <a:t>similar to </a:t>
            </a:r>
            <a:r>
              <a:rPr lang="en-US" sz="2800" dirty="0"/>
              <a:t>mine.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Life in a village is quite </a:t>
            </a:r>
            <a:r>
              <a:rPr lang="en-US" sz="2800" b="1" dirty="0"/>
              <a:t>different from </a:t>
            </a:r>
            <a:r>
              <a:rPr lang="en-US" sz="2800" dirty="0"/>
              <a:t>life in a big city.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My son is </a:t>
            </a:r>
            <a:r>
              <a:rPr lang="en-US" sz="2800" b="1" dirty="0"/>
              <a:t>interested in </a:t>
            </a:r>
            <a:r>
              <a:rPr lang="en-US" sz="2800" dirty="0"/>
              <a:t>learning how robots work.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The teacher was </a:t>
            </a:r>
            <a:r>
              <a:rPr lang="en-US" sz="2800" b="1" dirty="0"/>
              <a:t>proud of </a:t>
            </a:r>
            <a:r>
              <a:rPr lang="en-US" sz="2800" dirty="0"/>
              <a:t>her students' achievements.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I am </a:t>
            </a:r>
            <a:r>
              <a:rPr lang="en-US" sz="2800" b="1" dirty="0"/>
              <a:t>familiar with </a:t>
            </a:r>
            <a:r>
              <a:rPr lang="en-US" sz="2800" dirty="0"/>
              <a:t>this software because I use it every day.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She is </a:t>
            </a:r>
            <a:r>
              <a:rPr lang="en-US" sz="2800" b="1" dirty="0"/>
              <a:t>responsible for </a:t>
            </a:r>
            <a:r>
              <a:rPr lang="en-US" sz="2800" dirty="0"/>
              <a:t>organizing the school event.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Many plants are </a:t>
            </a:r>
            <a:r>
              <a:rPr lang="en-US" sz="2800" b="1" dirty="0"/>
              <a:t>dependent on </a:t>
            </a:r>
            <a:r>
              <a:rPr lang="en-US" sz="2800" dirty="0"/>
              <a:t>sunlight for growth.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Akmal is very </a:t>
            </a:r>
            <a:r>
              <a:rPr lang="en-US" sz="2800" b="1" dirty="0"/>
              <a:t>good at </a:t>
            </a:r>
            <a:r>
              <a:rPr lang="en-US" sz="2800" dirty="0"/>
              <a:t>solving difficult math problems.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I am </a:t>
            </a:r>
            <a:r>
              <a:rPr lang="en-US" sz="2800" b="1" dirty="0"/>
              <a:t>bad at </a:t>
            </a:r>
            <a:r>
              <a:rPr lang="en-US" sz="2800" dirty="0"/>
              <a:t>remembering people's names.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My mother was </a:t>
            </a:r>
            <a:r>
              <a:rPr lang="en-US" sz="2800" b="1" dirty="0"/>
              <a:t>angry with </a:t>
            </a:r>
            <a:r>
              <a:rPr lang="en-US" sz="2800" dirty="0"/>
              <a:t>me for breaking the vase.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They are </a:t>
            </a:r>
            <a:r>
              <a:rPr lang="en-US" sz="2800" b="1" dirty="0"/>
              <a:t>worried about </a:t>
            </a:r>
            <a:r>
              <a:rPr lang="en-US" sz="2800" dirty="0"/>
              <a:t>their son's exam results.</a:t>
            </a:r>
          </a:p>
        </p:txBody>
      </p:sp>
    </p:spTree>
    <p:extLst>
      <p:ext uri="{BB962C8B-B14F-4D97-AF65-F5344CB8AC3E}">
        <p14:creationId xmlns:p14="http://schemas.microsoft.com/office/powerpoint/2010/main" val="569444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44D6-F016-6A6D-57FD-DFD8DBEA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557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Descriptions of actions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A7E24-5A9B-339E-80C5-D07B0AE46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900" y="1155700"/>
            <a:ext cx="11595100" cy="55753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Odamning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xarakteri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yoki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xatti-harakatini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tasvirlaydi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kind | polite | generous | cruel | helpful | cooperative | talkative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is very </a:t>
            </a:r>
            <a:r>
              <a:rPr lang="en-US" sz="2800" b="1" dirty="0"/>
              <a:t>kind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waiter was </a:t>
            </a:r>
            <a:r>
              <a:rPr lang="en-US" sz="2800" b="1" dirty="0"/>
              <a:t>polite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My brother is extremely </a:t>
            </a:r>
            <a:r>
              <a:rPr lang="en-US" sz="2800" b="1" dirty="0"/>
              <a:t>helpful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manager was </a:t>
            </a:r>
            <a:r>
              <a:rPr lang="en-US" sz="2800" b="1" dirty="0"/>
              <a:t>generous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My cousin is so talkative that even Google gets tired of listening to him.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719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731B0-0C8B-B7C0-76EC-BB15C290C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Permanent Features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3C16A-F62A-BC28-E63C-1B1E89B3F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206500"/>
            <a:ext cx="11122152" cy="56515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Uzoq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vaqt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davomida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o‘zgarmaydigan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xususiyatlar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old | young | tall | short | heavy | red | ugly | beautiful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tower is very </a:t>
            </a:r>
            <a:r>
              <a:rPr lang="en-US" sz="2800" b="1" dirty="0"/>
              <a:t>tall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My grandfather is </a:t>
            </a:r>
            <a:r>
              <a:rPr lang="en-US" sz="2800" b="1" dirty="0"/>
              <a:t>old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That elephant is </a:t>
            </a:r>
            <a:r>
              <a:rPr lang="en-US" sz="2800" b="1" dirty="0"/>
              <a:t>huge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car is </a:t>
            </a:r>
            <a:r>
              <a:rPr lang="en-US" sz="2800" b="1" dirty="0"/>
              <a:t>red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272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7F521-B0D7-CFD7-E5B7-722C3F3F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21073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Temporary States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20952-A2CB-1996-8000-0D00DD44B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35" y="1210733"/>
            <a:ext cx="12060454" cy="5647267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Vaqtinchalik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holatlar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hungry | thirsty | cold | hot | wet | dry | angry | lonely | ill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I'm </a:t>
            </a:r>
            <a:r>
              <a:rPr lang="en-US" sz="2800" b="1" dirty="0"/>
              <a:t>hungry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is </a:t>
            </a:r>
            <a:r>
              <a:rPr lang="en-US" sz="2800" b="1" dirty="0"/>
              <a:t>angry</a:t>
            </a:r>
            <a:r>
              <a:rPr lang="en-US" sz="2800" dirty="0"/>
              <a:t> today.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clothes are </a:t>
            </a:r>
            <a:r>
              <a:rPr lang="en-US" sz="2800" b="1" dirty="0"/>
              <a:t>wet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We were </a:t>
            </a:r>
            <a:r>
              <a:rPr lang="en-US" sz="2800" b="1" dirty="0"/>
              <a:t>cold</a:t>
            </a:r>
            <a:r>
              <a:rPr lang="en-US" sz="2800" dirty="0"/>
              <a:t> last night.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After running for two hours, I was so </a:t>
            </a:r>
            <a:r>
              <a:rPr lang="en-US" sz="2800" b="1" dirty="0"/>
              <a:t>thirsty</a:t>
            </a:r>
            <a:r>
              <a:rPr lang="en-US" sz="2800" dirty="0"/>
              <a:t> that I could drink a swimming pool.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756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342A-5557-9471-39EB-1CFD596E7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7428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Classifying 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66FDC-83DA-0F20-77ED-A9A18B872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15" y="1174282"/>
            <a:ext cx="11652985" cy="56837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Narsa </a:t>
            </a:r>
            <a:r>
              <a:rPr lang="en-US" sz="2800" i="1" dirty="0" err="1">
                <a:highlight>
                  <a:srgbClr val="FFFF00"/>
                </a:highlight>
              </a:rPr>
              <a:t>yoki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odamni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ma'lum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turga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ajratadi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organic vegetables | French wine | modern art | wild salmon            electric car | wooden table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bought </a:t>
            </a:r>
            <a:r>
              <a:rPr lang="en-US" sz="2800" b="1" dirty="0"/>
              <a:t>organic</a:t>
            </a:r>
            <a:r>
              <a:rPr lang="en-US" sz="2800" dirty="0"/>
              <a:t> vegetables.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is a </a:t>
            </a:r>
            <a:r>
              <a:rPr lang="en-US" sz="2800" b="1" dirty="0"/>
              <a:t>French</a:t>
            </a:r>
            <a:r>
              <a:rPr lang="en-US" sz="2800" dirty="0"/>
              <a:t> restaurant.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She drives an </a:t>
            </a:r>
            <a:r>
              <a:rPr lang="en-US" sz="2800" b="1" dirty="0"/>
              <a:t>electric</a:t>
            </a:r>
            <a:r>
              <a:rPr lang="en-US" sz="2800" dirty="0"/>
              <a:t> car.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They live in a </a:t>
            </a:r>
            <a:r>
              <a:rPr lang="en-US" sz="2800" b="1" dirty="0"/>
              <a:t>detached</a:t>
            </a:r>
            <a:r>
              <a:rPr lang="en-US" sz="2800" dirty="0"/>
              <a:t> house.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53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24C6A-A360-8A1E-B0D6-8243C7E2C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9353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OPPOSITES (ANTONYMS)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13495-17F4-BFF2-47EE-51C105EFB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55" y="965736"/>
            <a:ext cx="11585608" cy="596766"/>
          </a:xfrm>
        </p:spPr>
        <p:txBody>
          <a:bodyPr>
            <a:normAutofit/>
          </a:bodyPr>
          <a:lstStyle/>
          <a:p>
            <a:r>
              <a:rPr lang="en-US" sz="3100" i="1" dirty="0" err="1">
                <a:highlight>
                  <a:srgbClr val="FFFF00"/>
                </a:highlight>
              </a:rPr>
              <a:t>Ko‘pchilik</a:t>
            </a:r>
            <a:r>
              <a:rPr lang="en-US" sz="3100" i="1" dirty="0">
                <a:highlight>
                  <a:srgbClr val="FFFF00"/>
                </a:highlight>
              </a:rPr>
              <a:t> </a:t>
            </a:r>
            <a:r>
              <a:rPr lang="en-US" sz="3100" i="1" dirty="0" err="1">
                <a:highlight>
                  <a:srgbClr val="FFFF00"/>
                </a:highlight>
              </a:rPr>
              <a:t>sifatlarning</a:t>
            </a:r>
            <a:r>
              <a:rPr lang="en-US" sz="3100" i="1" dirty="0">
                <a:highlight>
                  <a:srgbClr val="FFFF00"/>
                </a:highlight>
              </a:rPr>
              <a:t> </a:t>
            </a:r>
            <a:r>
              <a:rPr lang="en-US" sz="3100" i="1" dirty="0" err="1">
                <a:highlight>
                  <a:srgbClr val="FFFF00"/>
                </a:highlight>
              </a:rPr>
              <a:t>qarama-qarshi</a:t>
            </a:r>
            <a:r>
              <a:rPr lang="en-US" sz="3100" i="1" dirty="0">
                <a:highlight>
                  <a:srgbClr val="FFFF00"/>
                </a:highlight>
              </a:rPr>
              <a:t> </a:t>
            </a:r>
            <a:r>
              <a:rPr lang="en-US" sz="3100" i="1" dirty="0" err="1">
                <a:highlight>
                  <a:srgbClr val="FFFF00"/>
                </a:highlight>
              </a:rPr>
              <a:t>jufti</a:t>
            </a:r>
            <a:r>
              <a:rPr lang="en-US" sz="3100" i="1" dirty="0">
                <a:highlight>
                  <a:srgbClr val="FFFF00"/>
                </a:highlight>
              </a:rPr>
              <a:t> </a:t>
            </a:r>
            <a:r>
              <a:rPr lang="en-US" sz="3100" i="1" dirty="0" err="1">
                <a:highlight>
                  <a:srgbClr val="FFFF00"/>
                </a:highlight>
              </a:rPr>
              <a:t>bo‘ladi</a:t>
            </a:r>
            <a:r>
              <a:rPr lang="en-US" sz="3100" i="1" dirty="0">
                <a:highlight>
                  <a:srgbClr val="FFFF00"/>
                </a:highlight>
              </a:rPr>
              <a:t>.</a:t>
            </a:r>
          </a:p>
          <a:p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2F4579-3544-7A61-B4F3-044100D0C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404910"/>
              </p:ext>
            </p:extLst>
          </p:nvPr>
        </p:nvGraphicFramePr>
        <p:xfrm>
          <a:off x="1066800" y="1493520"/>
          <a:ext cx="10058400" cy="536448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98142328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47522564"/>
                    </a:ext>
                  </a:extLst>
                </a:gridCol>
              </a:tblGrid>
              <a:tr h="466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/>
                        <a:t>Adjective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/>
                        <a:t>Opposite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414916"/>
                  </a:ext>
                </a:extLst>
              </a:tr>
              <a:tr h="466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big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small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907504"/>
                  </a:ext>
                </a:extLst>
              </a:tr>
              <a:tr h="466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tall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short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004954"/>
                  </a:ext>
                </a:extLst>
              </a:tr>
              <a:tr h="466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young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643329"/>
                  </a:ext>
                </a:extLst>
              </a:tr>
              <a:tr h="466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beautiful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ugly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442411"/>
                  </a:ext>
                </a:extLst>
              </a:tr>
              <a:tr h="466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hot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cold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396169"/>
                  </a:ext>
                </a:extLst>
              </a:tr>
              <a:tr h="466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happy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sad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812232"/>
                  </a:ext>
                </a:extLst>
              </a:tr>
              <a:tr h="466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bad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093367"/>
                  </a:ext>
                </a:extLst>
              </a:tr>
              <a:tr h="466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heavy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light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803690"/>
                  </a:ext>
                </a:extLst>
              </a:tr>
              <a:tr h="466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alive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dead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30168"/>
                  </a:ext>
                </a:extLst>
              </a:tr>
              <a:tr h="466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rough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smooth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696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8613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33B4-36AA-5298-6617-A34FFC6C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160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GRADABLE 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C87AB-5370-412D-692F-4BD6422B1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914399"/>
            <a:ext cx="11122152" cy="594360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Darajalanadigan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sifatlar</a:t>
            </a:r>
            <a:r>
              <a:rPr lang="en-US" sz="2800" i="1" dirty="0">
                <a:highlight>
                  <a:srgbClr val="FFFF00"/>
                </a:highlight>
              </a:rPr>
              <a:t>. Ularning </a:t>
            </a:r>
            <a:r>
              <a:rPr lang="en-US" sz="2800" i="1" dirty="0" err="1">
                <a:highlight>
                  <a:srgbClr val="FFFF00"/>
                </a:highlight>
              </a:rPr>
              <a:t>oldidan</a:t>
            </a:r>
            <a:r>
              <a:rPr lang="en-US" sz="2800" i="1" dirty="0">
                <a:highlight>
                  <a:srgbClr val="FFFF00"/>
                </a:highlight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very | quite | pretty | rather | extremely | reasonably </a:t>
            </a:r>
            <a:r>
              <a:rPr lang="en-US" sz="2800" dirty="0"/>
              <a:t>- </a:t>
            </a:r>
            <a:r>
              <a:rPr lang="en-US" sz="2800" dirty="0" err="1"/>
              <a:t>kelishi</a:t>
            </a:r>
            <a:r>
              <a:rPr lang="en-US" sz="2800" dirty="0"/>
              <a:t> </a:t>
            </a:r>
            <a:r>
              <a:rPr lang="en-US" sz="2800" dirty="0" err="1"/>
              <a:t>mumkin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slightly small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quite small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very small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70C0"/>
                </a:solidFill>
              </a:rPr>
              <a:t>extremely small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room is </a:t>
            </a:r>
            <a:r>
              <a:rPr lang="en-US" sz="2800" b="1" dirty="0"/>
              <a:t>quite small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My apartment is </a:t>
            </a:r>
            <a:r>
              <a:rPr lang="en-US" sz="2800" b="1" dirty="0"/>
              <a:t>very small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This suitcase is </a:t>
            </a:r>
            <a:r>
              <a:rPr lang="en-US" sz="2800" b="1" dirty="0"/>
              <a:t>extremely small</a:t>
            </a:r>
            <a:r>
              <a:rPr lang="en-US" sz="2800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50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AC3F-A700-360E-DDDA-E278B5126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UNGRADABLE 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F2A0C-090F-1E33-5FC3-23744427C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318661"/>
            <a:ext cx="11758863" cy="553933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Darajalanmaydigan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sifatlar</a:t>
            </a:r>
            <a:r>
              <a:rPr lang="en-US" sz="2800" i="1" dirty="0">
                <a:highlight>
                  <a:srgbClr val="FFFF00"/>
                </a:highlight>
              </a:rPr>
              <a:t>. Bular </a:t>
            </a:r>
            <a:r>
              <a:rPr lang="en-US" sz="2800" i="1" dirty="0" err="1">
                <a:highlight>
                  <a:srgbClr val="FFFF00"/>
                </a:highlight>
              </a:rPr>
              <a:t>odatda</a:t>
            </a:r>
            <a:r>
              <a:rPr lang="en-US" sz="2800" i="1" dirty="0">
                <a:highlight>
                  <a:srgbClr val="FFFF00"/>
                </a:highlight>
              </a:rPr>
              <a:t> tur </a:t>
            </a:r>
            <a:r>
              <a:rPr lang="en-US" sz="2800" i="1" dirty="0" err="1">
                <a:highlight>
                  <a:srgbClr val="FFFF00"/>
                </a:highlight>
              </a:rPr>
              <a:t>yoki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klassifikatsiyani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bildiradi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organic | French | wooden | electric | plastic | medical 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✔ These vegetables are organic.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✔ This is a French restaurant.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✔ He drives an electric car.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❌ very organic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❌ extremely French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❌ quite wooden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❌ very electric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113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6315-B93F-3A7D-FB9F-9ADADEE61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1653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Common Intensifiers for Ungradable Adjectives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78E36-4107-2586-68A5-279CBC171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146" y="1347537"/>
            <a:ext cx="11373853" cy="55104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Ungradable adjective </a:t>
            </a:r>
            <a:r>
              <a:rPr lang="en-US" sz="2800" i="1" dirty="0" err="1">
                <a:highlight>
                  <a:srgbClr val="FFFF00"/>
                </a:highlight>
              </a:rPr>
              <a:t>bilan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odatda</a:t>
            </a:r>
            <a:r>
              <a:rPr lang="en-US" sz="2800" i="1" dirty="0">
                <a:highlight>
                  <a:srgbClr val="FFFF00"/>
                </a:highlight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absolutely | completely | totally | entirely </a:t>
            </a:r>
            <a:r>
              <a:rPr lang="en-US" sz="2800" dirty="0"/>
              <a:t>- </a:t>
            </a:r>
            <a:r>
              <a:rPr lang="en-US" sz="2800" i="1" dirty="0" err="1">
                <a:highlight>
                  <a:srgbClr val="FFFF00"/>
                </a:highlight>
              </a:rPr>
              <a:t>ishlatiladi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result is </a:t>
            </a:r>
            <a:r>
              <a:rPr lang="en-US" sz="2800" b="1" dirty="0"/>
              <a:t>absolutely</a:t>
            </a:r>
            <a:r>
              <a:rPr lang="en-US" sz="2800" dirty="0"/>
              <a:t> perfect.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building was </a:t>
            </a:r>
            <a:r>
              <a:rPr lang="en-US" sz="2800" b="1" dirty="0"/>
              <a:t>completely</a:t>
            </a:r>
            <a:r>
              <a:rPr lang="en-US" sz="2800" dirty="0"/>
              <a:t> destroyed.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I'm </a:t>
            </a:r>
            <a:r>
              <a:rPr lang="en-US" sz="2800" b="1" dirty="0"/>
              <a:t>totally</a:t>
            </a:r>
            <a:r>
              <a:rPr lang="en-US" sz="2800" dirty="0"/>
              <a:t> exhausted.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answer is </a:t>
            </a:r>
            <a:r>
              <a:rPr lang="en-US" sz="2800" b="1" dirty="0"/>
              <a:t>absolutely</a:t>
            </a:r>
            <a:r>
              <a:rPr lang="en-US" sz="2800" dirty="0"/>
              <a:t> correct.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076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A8CDF-6D8C-40F3-5B48-B909C8FE0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99140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ADJECTIVES: FORMS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35A74-7D3A-484F-1DE7-AEB75CE7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272" y="991402"/>
            <a:ext cx="11402728" cy="586659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/>
              <a:t>Ingliz</a:t>
            </a:r>
            <a:r>
              <a:rPr lang="en-US" sz="2800" b="1" dirty="0"/>
              <a:t> </a:t>
            </a:r>
            <a:r>
              <a:rPr lang="en-US" sz="2800" b="1" dirty="0" err="1"/>
              <a:t>tilida</a:t>
            </a:r>
            <a:r>
              <a:rPr lang="en-US" sz="2800" b="1" dirty="0"/>
              <a:t> </a:t>
            </a:r>
            <a:r>
              <a:rPr lang="en-US" sz="2800" b="1" dirty="0" err="1"/>
              <a:t>sifatlar</a:t>
            </a:r>
            <a:r>
              <a:rPr lang="en-US" sz="2800" b="1" dirty="0"/>
              <a:t> </a:t>
            </a:r>
            <a:r>
              <a:rPr lang="en-US" sz="2800" b="1" dirty="0" err="1"/>
              <a:t>o‘zgarmaydi</a:t>
            </a:r>
            <a:r>
              <a:rPr lang="en-US" sz="2800" b="1" dirty="0"/>
              <a:t> - </a:t>
            </a:r>
            <a:r>
              <a:rPr lang="en-US" sz="2800" dirty="0" err="1"/>
              <a:t>Ko‘p</a:t>
            </a:r>
            <a:r>
              <a:rPr lang="en-US" sz="2800" dirty="0"/>
              <a:t> </a:t>
            </a:r>
            <a:r>
              <a:rPr lang="en-US" sz="2800" dirty="0" err="1"/>
              <a:t>tillarda</a:t>
            </a:r>
            <a:r>
              <a:rPr lang="en-US" sz="2800" dirty="0"/>
              <a:t> </a:t>
            </a:r>
            <a:r>
              <a:rPr lang="en-US" sz="2800" dirty="0" err="1"/>
              <a:t>sifat</a:t>
            </a:r>
            <a:r>
              <a:rPr lang="en-US" sz="2800" dirty="0"/>
              <a:t> </a:t>
            </a:r>
            <a:r>
              <a:rPr lang="en-US" sz="2800" dirty="0" err="1"/>
              <a:t>otga</a:t>
            </a:r>
            <a:r>
              <a:rPr lang="en-US" sz="2800" dirty="0"/>
              <a:t> </a:t>
            </a:r>
            <a:r>
              <a:rPr lang="en-US" sz="2800" dirty="0" err="1"/>
              <a:t>moslashib</a:t>
            </a:r>
            <a:r>
              <a:rPr lang="en-US" sz="2800" dirty="0"/>
              <a:t> </a:t>
            </a:r>
            <a:r>
              <a:rPr lang="en-US" sz="2800" dirty="0" err="1"/>
              <a:t>o‘zgaradi</a:t>
            </a:r>
            <a:r>
              <a:rPr lang="en-US" sz="2800" dirty="0"/>
              <a:t>. </a:t>
            </a:r>
            <a:r>
              <a:rPr lang="en-US" sz="2800" dirty="0" err="1"/>
              <a:t>Ingliz</a:t>
            </a:r>
            <a:r>
              <a:rPr lang="en-US" sz="2800" dirty="0"/>
              <a:t> </a:t>
            </a:r>
            <a:r>
              <a:rPr lang="en-US" sz="2800" dirty="0" err="1"/>
              <a:t>tilida</a:t>
            </a:r>
            <a:r>
              <a:rPr lang="en-US" sz="2800" dirty="0"/>
              <a:t> </a:t>
            </a:r>
            <a:r>
              <a:rPr lang="en-US" sz="2800" dirty="0" err="1"/>
              <a:t>esa</a:t>
            </a:r>
            <a:r>
              <a:rPr lang="en-US" sz="2800" dirty="0"/>
              <a:t> </a:t>
            </a:r>
            <a:r>
              <a:rPr lang="en-US" sz="2800" b="1" dirty="0"/>
              <a:t>adjective </a:t>
            </a:r>
            <a:r>
              <a:rPr lang="en-US" sz="2800" b="1" dirty="0" err="1"/>
              <a:t>doimo</a:t>
            </a:r>
            <a:r>
              <a:rPr lang="en-US" sz="2800" b="1" dirty="0"/>
              <a:t> </a:t>
            </a:r>
            <a:r>
              <a:rPr lang="en-US" sz="2800" b="1" dirty="0" err="1"/>
              <a:t>bir</a:t>
            </a:r>
            <a:r>
              <a:rPr lang="en-US" sz="2800" b="1" dirty="0"/>
              <a:t> </a:t>
            </a:r>
            <a:r>
              <a:rPr lang="en-US" sz="2800" b="1" dirty="0" err="1"/>
              <a:t>xil</a:t>
            </a:r>
            <a:r>
              <a:rPr lang="en-US" sz="2800" b="1" dirty="0"/>
              <a:t> </a:t>
            </a:r>
            <a:r>
              <a:rPr lang="en-US" sz="2800" b="1" dirty="0" err="1"/>
              <a:t>shaklda</a:t>
            </a:r>
            <a:r>
              <a:rPr lang="en-US" sz="2800" b="1" dirty="0"/>
              <a:t> </a:t>
            </a:r>
            <a:r>
              <a:rPr lang="en-US" sz="2800" b="1" dirty="0" err="1"/>
              <a:t>qoladi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✔ A new student | ✔ Two new students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✔ A foreign teacher | ✔ Many foreign teachers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news students | ❌ </a:t>
            </a:r>
            <a:r>
              <a:rPr lang="en-US" sz="2800" dirty="0" err="1"/>
              <a:t>foreigns</a:t>
            </a:r>
            <a:r>
              <a:rPr lang="en-US" sz="2800" dirty="0"/>
              <a:t> teachers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All new foreign students are welcome.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Every room was painted in different </a:t>
            </a:r>
            <a:r>
              <a:rPr lang="en-US" sz="2800" dirty="0" err="1"/>
              <a:t>colours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Several young athletes took part in the competition.</a:t>
            </a:r>
          </a:p>
        </p:txBody>
      </p:sp>
    </p:spTree>
    <p:extLst>
      <p:ext uri="{BB962C8B-B14F-4D97-AF65-F5344CB8AC3E}">
        <p14:creationId xmlns:p14="http://schemas.microsoft.com/office/powerpoint/2010/main" val="1413660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7F613-925A-3F8C-776A-34865D9C3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71" y="0"/>
            <a:ext cx="10913805" cy="110121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err="1">
                <a:solidFill>
                  <a:srgbClr val="FF0000"/>
                </a:solidFill>
              </a:rPr>
              <a:t>Adjectivesni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qanday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aniqlash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mumkin</a:t>
            </a:r>
            <a:r>
              <a:rPr lang="en-US" sz="3600" b="1" dirty="0">
                <a:solidFill>
                  <a:srgbClr val="FF0000"/>
                </a:solidFill>
              </a:rPr>
              <a:t>?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477A7-7CD7-3BBC-EDA5-56E6FE0DD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71" y="953729"/>
            <a:ext cx="11621729" cy="581086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Ingliz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tilida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sifat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yasashning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bitta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umumiy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qoidasi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yo‘q</a:t>
            </a:r>
            <a:r>
              <a:rPr lang="en-US" sz="2800" i="1" dirty="0">
                <a:highlight>
                  <a:srgbClr val="FFFF00"/>
                </a:highlight>
              </a:rPr>
              <a:t>. </a:t>
            </a:r>
            <a:r>
              <a:rPr lang="en-US" sz="2800" i="1" dirty="0" err="1">
                <a:highlight>
                  <a:srgbClr val="FFFF00"/>
                </a:highlight>
              </a:rPr>
              <a:t>Ko‘pincha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ularni</a:t>
            </a:r>
            <a:r>
              <a:rPr lang="en-US" sz="2800" i="1" dirty="0">
                <a:highlight>
                  <a:srgbClr val="FFFF00"/>
                </a:highlight>
              </a:rPr>
              <a:t>: </a:t>
            </a:r>
            <a:r>
              <a:rPr lang="en-US" sz="2800" i="1" dirty="0" err="1">
                <a:highlight>
                  <a:srgbClr val="FFFF00"/>
                </a:highlight>
              </a:rPr>
              <a:t>vazifasidan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yoki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oxiridagi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qo‘shimchadan</a:t>
            </a:r>
            <a:r>
              <a:rPr lang="en-US" sz="2800" i="1" dirty="0">
                <a:highlight>
                  <a:srgbClr val="FFFF00"/>
                </a:highlight>
              </a:rPr>
              <a:t> (suffix) </a:t>
            </a:r>
            <a:r>
              <a:rPr lang="en-US" sz="2800" i="1" dirty="0" err="1">
                <a:highlight>
                  <a:srgbClr val="FFFF00"/>
                </a:highlight>
              </a:rPr>
              <a:t>aniqlaymiz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r>
              <a:rPr lang="en-US" sz="2800" b="1" dirty="0"/>
              <a:t>Eng </a:t>
            </a:r>
            <a:r>
              <a:rPr lang="en-US" sz="2800" b="1" dirty="0" err="1"/>
              <a:t>muhim</a:t>
            </a:r>
            <a:r>
              <a:rPr lang="en-US" sz="2800" b="1" dirty="0"/>
              <a:t> </a:t>
            </a:r>
            <a:r>
              <a:rPr lang="en-US" sz="2800" b="1" dirty="0" err="1"/>
              <a:t>suffixlar</a:t>
            </a:r>
            <a:endParaRPr lang="en-US" sz="2800" b="1" dirty="0"/>
          </a:p>
          <a:p>
            <a:r>
              <a:rPr lang="en-US" sz="2800" dirty="0"/>
              <a:t>-</a:t>
            </a:r>
            <a:r>
              <a:rPr lang="en-US" sz="2800" b="1" dirty="0">
                <a:solidFill>
                  <a:srgbClr val="00B050"/>
                </a:solidFill>
              </a:rPr>
              <a:t>able, -</a:t>
            </a:r>
            <a:r>
              <a:rPr lang="en-US" sz="2800" b="1" dirty="0" err="1">
                <a:solidFill>
                  <a:srgbClr val="00B050"/>
                </a:solidFill>
              </a:rPr>
              <a:t>ible</a:t>
            </a:r>
            <a:r>
              <a:rPr lang="en-US" sz="2800" b="1" dirty="0">
                <a:solidFill>
                  <a:srgbClr val="00B050"/>
                </a:solidFill>
              </a:rPr>
              <a:t> → readable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-</a:t>
            </a:r>
            <a:r>
              <a:rPr lang="en-US" sz="2800" b="1" dirty="0" err="1">
                <a:solidFill>
                  <a:srgbClr val="00B050"/>
                </a:solidFill>
              </a:rPr>
              <a:t>ful</a:t>
            </a:r>
            <a:r>
              <a:rPr lang="en-US" sz="2800" b="1" dirty="0">
                <a:solidFill>
                  <a:srgbClr val="00B050"/>
                </a:solidFill>
              </a:rPr>
              <a:t> → beautiful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-less → useless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-</a:t>
            </a:r>
            <a:r>
              <a:rPr lang="en-US" sz="2800" b="1" dirty="0" err="1">
                <a:solidFill>
                  <a:srgbClr val="00B050"/>
                </a:solidFill>
              </a:rPr>
              <a:t>ic</a:t>
            </a:r>
            <a:r>
              <a:rPr lang="en-US" sz="2800" b="1" dirty="0">
                <a:solidFill>
                  <a:srgbClr val="00B050"/>
                </a:solidFill>
              </a:rPr>
              <a:t> → economic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-</a:t>
            </a:r>
            <a:r>
              <a:rPr lang="en-US" sz="2800" b="1" dirty="0" err="1">
                <a:solidFill>
                  <a:srgbClr val="00B050"/>
                </a:solidFill>
              </a:rPr>
              <a:t>ical</a:t>
            </a:r>
            <a:r>
              <a:rPr lang="en-US" sz="2800" b="1" dirty="0">
                <a:solidFill>
                  <a:srgbClr val="00B050"/>
                </a:solidFill>
              </a:rPr>
              <a:t> → political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-</a:t>
            </a:r>
            <a:r>
              <a:rPr lang="en-US" sz="2800" b="1" dirty="0" err="1">
                <a:solidFill>
                  <a:srgbClr val="00B050"/>
                </a:solidFill>
              </a:rPr>
              <a:t>ish</a:t>
            </a:r>
            <a:r>
              <a:rPr lang="en-US" sz="2800" b="1" dirty="0">
                <a:solidFill>
                  <a:srgbClr val="00B050"/>
                </a:solidFill>
              </a:rPr>
              <a:t> → childish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-</a:t>
            </a:r>
            <a:r>
              <a:rPr lang="en-US" sz="2800" b="1" dirty="0" err="1">
                <a:solidFill>
                  <a:srgbClr val="00B050"/>
                </a:solidFill>
              </a:rPr>
              <a:t>ive</a:t>
            </a:r>
            <a:r>
              <a:rPr lang="en-US" sz="2800" b="1" dirty="0">
                <a:solidFill>
                  <a:srgbClr val="00B050"/>
                </a:solidFill>
              </a:rPr>
              <a:t> → creative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-</a:t>
            </a:r>
            <a:r>
              <a:rPr lang="en-US" sz="2800" b="1" dirty="0" err="1">
                <a:solidFill>
                  <a:srgbClr val="00B050"/>
                </a:solidFill>
              </a:rPr>
              <a:t>ous</a:t>
            </a:r>
            <a:r>
              <a:rPr lang="en-US" sz="2800" b="1" dirty="0">
                <a:solidFill>
                  <a:srgbClr val="00B050"/>
                </a:solidFill>
              </a:rPr>
              <a:t> → dangerous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-y → windy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528AE-2549-B39B-1DF9-60F962352EBC}"/>
              </a:ext>
            </a:extLst>
          </p:cNvPr>
          <p:cNvSpPr txBox="1"/>
          <p:nvPr/>
        </p:nvSpPr>
        <p:spPr>
          <a:xfrm>
            <a:off x="6017341" y="2458065"/>
            <a:ext cx="5982928" cy="3890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Eng </a:t>
            </a:r>
            <a:r>
              <a:rPr lang="en-US" sz="2800" b="1" dirty="0" err="1"/>
              <a:t>muhim</a:t>
            </a:r>
            <a:r>
              <a:rPr lang="en-US" sz="2800" b="1" dirty="0"/>
              <a:t> negative prefixes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B050"/>
                </a:solidFill>
              </a:rPr>
              <a:t>un- → unhappy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B050"/>
                </a:solidFill>
              </a:rPr>
              <a:t>in- → incomplete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B050"/>
                </a:solidFill>
              </a:rPr>
              <a:t>im- → impossible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00B050"/>
                </a:solidFill>
              </a:rPr>
              <a:t>il- → illegal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 err="1">
                <a:solidFill>
                  <a:srgbClr val="00B050"/>
                </a:solidFill>
              </a:rPr>
              <a:t>ir</a:t>
            </a:r>
            <a:r>
              <a:rPr lang="en-US" sz="2800" b="1" dirty="0">
                <a:solidFill>
                  <a:srgbClr val="00B050"/>
                </a:solidFill>
              </a:rPr>
              <a:t>- → irresponsible</a:t>
            </a:r>
          </a:p>
        </p:txBody>
      </p:sp>
    </p:spTree>
    <p:extLst>
      <p:ext uri="{BB962C8B-B14F-4D97-AF65-F5344CB8AC3E}">
        <p14:creationId xmlns:p14="http://schemas.microsoft.com/office/powerpoint/2010/main" val="922804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D096C-5494-F850-F9B9-1198D954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32387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-able / -</a:t>
            </a:r>
            <a:r>
              <a:rPr lang="en-US" b="1" dirty="0" err="1">
                <a:solidFill>
                  <a:schemeClr val="tx1"/>
                </a:solidFill>
              </a:rPr>
              <a:t>ible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6D091-E531-B128-B518-4BD66BD09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1" y="934065"/>
            <a:ext cx="11533239" cy="5923935"/>
          </a:xfrm>
        </p:spPr>
        <p:txBody>
          <a:bodyPr>
            <a:normAutofit/>
          </a:bodyPr>
          <a:lstStyle/>
          <a:p>
            <a:r>
              <a:rPr lang="en-US" sz="2800" b="1" i="1" dirty="0" err="1">
                <a:highlight>
                  <a:srgbClr val="FFFF00"/>
                </a:highlight>
              </a:rPr>
              <a:t>Ma’nosi</a:t>
            </a:r>
            <a:r>
              <a:rPr lang="en-US" sz="2800" b="1" i="1" dirty="0">
                <a:highlight>
                  <a:srgbClr val="FFFF00"/>
                </a:highlight>
              </a:rPr>
              <a:t>:</a:t>
            </a:r>
            <a:r>
              <a:rPr lang="en-US" sz="2800" i="1" dirty="0">
                <a:highlight>
                  <a:srgbClr val="FFFF00"/>
                </a:highlight>
              </a:rPr>
              <a:t> “...a </a:t>
            </a:r>
            <a:r>
              <a:rPr lang="en-US" sz="2800" i="1" dirty="0" err="1">
                <a:highlight>
                  <a:srgbClr val="FFFF00"/>
                </a:highlight>
              </a:rPr>
              <a:t>oladigan</a:t>
            </a:r>
            <a:r>
              <a:rPr lang="en-US" sz="2800" i="1" dirty="0">
                <a:highlight>
                  <a:srgbClr val="FFFF00"/>
                </a:highlight>
              </a:rPr>
              <a:t>”, “...</a:t>
            </a:r>
            <a:r>
              <a:rPr lang="en-US" sz="2800" i="1" dirty="0" err="1">
                <a:highlight>
                  <a:srgbClr val="FFFF00"/>
                </a:highlight>
              </a:rPr>
              <a:t>ishga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qodir</a:t>
            </a:r>
            <a:r>
              <a:rPr lang="en-US" sz="2800" i="1" dirty="0">
                <a:highlight>
                  <a:srgbClr val="FFFF00"/>
                </a:highlight>
              </a:rPr>
              <a:t>”, “... </a:t>
            </a:r>
            <a:r>
              <a:rPr lang="en-US" sz="2800" i="1" dirty="0" err="1">
                <a:highlight>
                  <a:srgbClr val="FFFF00"/>
                </a:highlight>
              </a:rPr>
              <a:t>bo‘la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oladigan</a:t>
            </a:r>
            <a:r>
              <a:rPr lang="en-US" sz="2800" i="1" dirty="0">
                <a:highlight>
                  <a:srgbClr val="FFFF00"/>
                </a:highlight>
              </a:rPr>
              <a:t>”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able → able </a:t>
            </a:r>
            <a:r>
              <a:rPr lang="en-US" sz="2800" dirty="0"/>
              <a:t>→ He is </a:t>
            </a:r>
            <a:r>
              <a:rPr lang="en-US" sz="2800" b="1" dirty="0"/>
              <a:t>able</a:t>
            </a:r>
            <a:r>
              <a:rPr lang="en-US" sz="2800" dirty="0"/>
              <a:t> to solve the problem.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accept → acceptable </a:t>
            </a:r>
            <a:r>
              <a:rPr lang="en-US" sz="2800" dirty="0"/>
              <a:t>→ Your idea is </a:t>
            </a:r>
            <a:r>
              <a:rPr lang="en-US" sz="2800" b="1" dirty="0"/>
              <a:t>acceptable</a:t>
            </a:r>
            <a:r>
              <a:rPr lang="en-US" sz="2800" dirty="0"/>
              <a:t>.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enjoy → enjoyable </a:t>
            </a:r>
            <a:r>
              <a:rPr lang="en-US" sz="2800" dirty="0"/>
              <a:t>→ The trip was </a:t>
            </a:r>
            <a:r>
              <a:rPr lang="en-US" sz="2800" b="1" dirty="0"/>
              <a:t>enjoyable</a:t>
            </a:r>
            <a:r>
              <a:rPr lang="en-US" sz="2800" dirty="0"/>
              <a:t>.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comfort → comfortable </a:t>
            </a:r>
            <a:r>
              <a:rPr lang="en-US" sz="2800" dirty="0"/>
              <a:t>→ This chair is </a:t>
            </a:r>
            <a:r>
              <a:rPr lang="en-US" sz="2800" b="1" dirty="0"/>
              <a:t>comfortable</a:t>
            </a:r>
            <a:r>
              <a:rPr lang="en-US" sz="2800" dirty="0"/>
              <a:t>.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rely → reliable </a:t>
            </a:r>
            <a:r>
              <a:rPr lang="en-US" sz="2800" dirty="0"/>
              <a:t>→ He is a </a:t>
            </a:r>
            <a:r>
              <a:rPr lang="en-US" sz="2800" b="1" dirty="0"/>
              <a:t>reliable</a:t>
            </a:r>
            <a:r>
              <a:rPr lang="en-US" sz="2800" dirty="0"/>
              <a:t> person.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read → readable </a:t>
            </a:r>
            <a:r>
              <a:rPr lang="en-US" sz="2800" dirty="0"/>
              <a:t>→ The text is </a:t>
            </a:r>
            <a:r>
              <a:rPr lang="en-US" sz="2800" b="1" dirty="0"/>
              <a:t>readable</a:t>
            </a:r>
            <a:r>
              <a:rPr lang="en-US" sz="2800" dirty="0"/>
              <a:t>.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flex → flexible </a:t>
            </a:r>
            <a:r>
              <a:rPr lang="en-US" sz="2800" dirty="0"/>
              <a:t>→ She has a </a:t>
            </a:r>
            <a:r>
              <a:rPr lang="en-US" sz="2800" b="1" dirty="0"/>
              <a:t>flexible</a:t>
            </a:r>
            <a:r>
              <a:rPr lang="en-US" sz="2800" dirty="0"/>
              <a:t> schedule.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change → changeable </a:t>
            </a:r>
            <a:r>
              <a:rPr lang="en-US" sz="2800" dirty="0"/>
              <a:t>→ The weather is </a:t>
            </a:r>
            <a:r>
              <a:rPr lang="en-US" sz="2800" b="1" dirty="0"/>
              <a:t>changeable</a:t>
            </a:r>
            <a:r>
              <a:rPr lang="en-US" sz="2800" dirty="0"/>
              <a:t>.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sense → sensible </a:t>
            </a:r>
            <a:r>
              <a:rPr lang="en-US" sz="2800" dirty="0"/>
              <a:t>→ That is a </a:t>
            </a:r>
            <a:r>
              <a:rPr lang="en-US" sz="2800" b="1" dirty="0"/>
              <a:t>sensible</a:t>
            </a:r>
            <a:r>
              <a:rPr lang="en-US" sz="2800" dirty="0"/>
              <a:t> decision.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access → accessible </a:t>
            </a:r>
            <a:r>
              <a:rPr lang="en-US" sz="2800" dirty="0"/>
              <a:t>→ The building is </a:t>
            </a:r>
            <a:r>
              <a:rPr lang="en-US" sz="2800" b="1" dirty="0"/>
              <a:t>accessible</a:t>
            </a:r>
            <a:r>
              <a:rPr lang="en-US" sz="2800" dirty="0"/>
              <a:t> for everyone.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36033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14EE-B8CA-9ABF-D69C-7A7949A3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225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-al | -</a:t>
            </a:r>
            <a:r>
              <a:rPr lang="en-US" b="1" dirty="0" err="1">
                <a:solidFill>
                  <a:schemeClr val="tx1"/>
                </a:solidFill>
              </a:rPr>
              <a:t>ial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D7313-69DD-6D29-A409-2C1BE98FC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8" y="1022555"/>
            <a:ext cx="11808542" cy="583544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-al / -</a:t>
            </a:r>
            <a:r>
              <a:rPr lang="en-US" sz="2800" b="1" i="1" dirty="0" err="1">
                <a:highlight>
                  <a:srgbClr val="FFFF00"/>
                </a:highlight>
              </a:rPr>
              <a:t>ial</a:t>
            </a:r>
            <a:r>
              <a:rPr lang="en-US" sz="2800" b="1" i="1" dirty="0">
                <a:highlight>
                  <a:srgbClr val="FFFF00"/>
                </a:highlight>
              </a:rPr>
              <a:t> - </a:t>
            </a:r>
            <a:r>
              <a:rPr lang="en-US" sz="2800" i="1" dirty="0" err="1">
                <a:highlight>
                  <a:srgbClr val="FFFF00"/>
                </a:highlight>
              </a:rPr>
              <a:t>Ko‘pincha</a:t>
            </a:r>
            <a:r>
              <a:rPr lang="en-US" sz="2800" i="1" dirty="0">
                <a:highlight>
                  <a:srgbClr val="FFFF00"/>
                </a:highlight>
              </a:rPr>
              <a:t> "...ga </a:t>
            </a:r>
            <a:r>
              <a:rPr lang="en-US" sz="2800" i="1" dirty="0" err="1">
                <a:highlight>
                  <a:srgbClr val="FFFF00"/>
                </a:highlight>
              </a:rPr>
              <a:t>oid</a:t>
            </a:r>
            <a:r>
              <a:rPr lang="en-US" sz="2800" i="1" dirty="0">
                <a:highlight>
                  <a:srgbClr val="FFFF00"/>
                </a:highlight>
              </a:rPr>
              <a:t>"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music → musical </a:t>
            </a:r>
            <a:r>
              <a:rPr lang="en-US" sz="2800" b="1" dirty="0"/>
              <a:t>- </a:t>
            </a:r>
            <a:r>
              <a:rPr lang="en-US" sz="2800" dirty="0"/>
              <a:t>She has a very </a:t>
            </a:r>
            <a:r>
              <a:rPr lang="en-US" sz="2800" b="1" dirty="0"/>
              <a:t>musical</a:t>
            </a:r>
            <a:r>
              <a:rPr lang="en-US" sz="2800" dirty="0"/>
              <a:t> voice.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nature → natural </a:t>
            </a:r>
            <a:r>
              <a:rPr lang="en-US" sz="2800" b="1" dirty="0"/>
              <a:t>- </a:t>
            </a:r>
            <a:r>
              <a:rPr lang="en-US" sz="2800" dirty="0"/>
              <a:t>We should protect </a:t>
            </a:r>
            <a:r>
              <a:rPr lang="en-US" sz="2800" b="1" dirty="0"/>
              <a:t>natural</a:t>
            </a:r>
            <a:r>
              <a:rPr lang="en-US" sz="2800" dirty="0"/>
              <a:t> resources.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industry → industrial </a:t>
            </a:r>
            <a:r>
              <a:rPr lang="en-US" sz="2800" b="1" dirty="0"/>
              <a:t>- </a:t>
            </a:r>
            <a:r>
              <a:rPr lang="en-US" sz="2800" dirty="0"/>
              <a:t>The city is known for its </a:t>
            </a:r>
            <a:r>
              <a:rPr lang="en-US" sz="2800" b="1" dirty="0"/>
              <a:t>industrial</a:t>
            </a:r>
            <a:r>
              <a:rPr lang="en-US" sz="2800" dirty="0"/>
              <a:t> area.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culture → cultural </a:t>
            </a:r>
            <a:r>
              <a:rPr lang="en-US" sz="2800" b="1" dirty="0"/>
              <a:t>-  </a:t>
            </a:r>
            <a:r>
              <a:rPr lang="en-US" sz="2800" dirty="0"/>
              <a:t>The museum shows </a:t>
            </a:r>
            <a:r>
              <a:rPr lang="en-US" sz="2800" b="1" dirty="0"/>
              <a:t>cultural</a:t>
            </a:r>
            <a:r>
              <a:rPr lang="en-US" sz="2800" dirty="0"/>
              <a:t> traditions of China.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nation → national </a:t>
            </a:r>
            <a:r>
              <a:rPr lang="en-US" sz="2800" b="1" dirty="0"/>
              <a:t>- </a:t>
            </a:r>
            <a:r>
              <a:rPr lang="en-US" sz="2800" dirty="0"/>
              <a:t>Today is a </a:t>
            </a:r>
            <a:r>
              <a:rPr lang="en-US" sz="2800" b="1" dirty="0"/>
              <a:t>national</a:t>
            </a:r>
            <a:r>
              <a:rPr lang="en-US" sz="2800" dirty="0"/>
              <a:t> holiday.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region → regional </a:t>
            </a:r>
            <a:r>
              <a:rPr lang="en-US" sz="2800" b="1" dirty="0"/>
              <a:t>- </a:t>
            </a:r>
            <a:r>
              <a:rPr lang="en-US" sz="2800" dirty="0"/>
              <a:t>They held a </a:t>
            </a:r>
            <a:r>
              <a:rPr lang="en-US" sz="2800" b="1" dirty="0"/>
              <a:t>regional</a:t>
            </a:r>
            <a:r>
              <a:rPr lang="en-US" sz="2800" dirty="0"/>
              <a:t> competition.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education → educational </a:t>
            </a:r>
            <a:r>
              <a:rPr lang="en-US" sz="2800" b="1" dirty="0"/>
              <a:t>- </a:t>
            </a:r>
            <a:r>
              <a:rPr lang="en-US" sz="2800" dirty="0"/>
              <a:t>This video is very </a:t>
            </a:r>
            <a:r>
              <a:rPr lang="en-US" sz="2800" b="1" dirty="0"/>
              <a:t>educational</a:t>
            </a:r>
            <a:r>
              <a:rPr lang="en-US" sz="2800" dirty="0"/>
              <a:t>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emotion → emotional </a:t>
            </a:r>
            <a:r>
              <a:rPr lang="en-US" sz="2800" b="1" dirty="0"/>
              <a:t>- </a:t>
            </a:r>
            <a:r>
              <a:rPr lang="en-US" sz="2800" dirty="0"/>
              <a:t>The movie was very </a:t>
            </a:r>
            <a:r>
              <a:rPr lang="en-US" sz="2800" b="1" dirty="0"/>
              <a:t>emotional</a:t>
            </a:r>
            <a:r>
              <a:rPr lang="en-US" sz="2800" dirty="0"/>
              <a:t>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form → formal </a:t>
            </a:r>
            <a:r>
              <a:rPr lang="en-US" sz="2800" b="1" dirty="0"/>
              <a:t>- </a:t>
            </a:r>
            <a:r>
              <a:rPr lang="en-US" sz="2800" dirty="0"/>
              <a:t>He wore a </a:t>
            </a:r>
            <a:r>
              <a:rPr lang="en-US" sz="2800" b="1" dirty="0"/>
              <a:t>formal</a:t>
            </a:r>
            <a:r>
              <a:rPr lang="en-US" sz="2800" dirty="0"/>
              <a:t> suit to the meeting.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season → seasonal </a:t>
            </a:r>
            <a:r>
              <a:rPr lang="en-US" sz="2800" b="1" dirty="0"/>
              <a:t>- </a:t>
            </a:r>
            <a:r>
              <a:rPr lang="en-US" sz="2800" dirty="0"/>
              <a:t>Strawberries are </a:t>
            </a:r>
            <a:r>
              <a:rPr lang="en-US" sz="2800" b="1" dirty="0"/>
              <a:t>seasonal</a:t>
            </a:r>
            <a:r>
              <a:rPr lang="en-US" sz="2800" dirty="0"/>
              <a:t> fruits.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680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DC892-2857-F67E-7FF3-C1CD2E425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C585F-0F7E-9060-8E83-0B2A1ECF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2255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-al | -</a:t>
            </a:r>
            <a:r>
              <a:rPr lang="en-US" b="1" dirty="0" err="1">
                <a:solidFill>
                  <a:schemeClr val="tx1"/>
                </a:solidFill>
              </a:rPr>
              <a:t>ial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8AF49-9B08-6FD9-024C-BE4CDF62D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8" y="1022555"/>
            <a:ext cx="11808542" cy="583544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-al / -</a:t>
            </a:r>
            <a:r>
              <a:rPr lang="en-US" sz="2800" b="1" i="1" dirty="0" err="1">
                <a:highlight>
                  <a:srgbClr val="FFFF00"/>
                </a:highlight>
              </a:rPr>
              <a:t>ial</a:t>
            </a:r>
            <a:r>
              <a:rPr lang="en-US" sz="2800" b="1" i="1" dirty="0">
                <a:highlight>
                  <a:srgbClr val="FFFF00"/>
                </a:highlight>
              </a:rPr>
              <a:t> - </a:t>
            </a:r>
            <a:r>
              <a:rPr lang="en-US" sz="2800" i="1" dirty="0" err="1">
                <a:highlight>
                  <a:srgbClr val="FFFF00"/>
                </a:highlight>
              </a:rPr>
              <a:t>Ko‘pincha</a:t>
            </a:r>
            <a:r>
              <a:rPr lang="en-US" sz="2800" i="1" dirty="0">
                <a:highlight>
                  <a:srgbClr val="FFFF00"/>
                </a:highlight>
              </a:rPr>
              <a:t> "...ga </a:t>
            </a:r>
            <a:r>
              <a:rPr lang="en-US" sz="2800" i="1" dirty="0" err="1">
                <a:highlight>
                  <a:srgbClr val="FFFF00"/>
                </a:highlight>
              </a:rPr>
              <a:t>oid</a:t>
            </a:r>
            <a:r>
              <a:rPr lang="en-US" sz="2800" i="1" dirty="0">
                <a:highlight>
                  <a:srgbClr val="FFFF00"/>
                </a:highlight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benefit → beneficial </a:t>
            </a:r>
            <a:r>
              <a:rPr lang="en-US" sz="2800" dirty="0"/>
              <a:t>Exercise is </a:t>
            </a:r>
            <a:r>
              <a:rPr lang="en-US" sz="2800" b="1" dirty="0"/>
              <a:t>beneficial</a:t>
            </a:r>
            <a:r>
              <a:rPr lang="en-US" sz="2800" dirty="0"/>
              <a:t> for health.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face → facial </a:t>
            </a:r>
            <a:r>
              <a:rPr lang="en-US" sz="2800" b="1" dirty="0"/>
              <a:t>- </a:t>
            </a:r>
            <a:r>
              <a:rPr lang="en-US" sz="2800" dirty="0"/>
              <a:t>She had a </a:t>
            </a:r>
            <a:r>
              <a:rPr lang="en-US" sz="2800" b="1" dirty="0"/>
              <a:t>facial</a:t>
            </a:r>
            <a:r>
              <a:rPr lang="en-US" sz="2800" dirty="0"/>
              <a:t> treatment at the spa.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office → official </a:t>
            </a:r>
            <a:r>
              <a:rPr lang="en-US" sz="2800" b="1" dirty="0"/>
              <a:t>- </a:t>
            </a:r>
            <a:r>
              <a:rPr lang="en-US" sz="2800" dirty="0"/>
              <a:t>He gave an </a:t>
            </a:r>
            <a:r>
              <a:rPr lang="en-US" sz="2800" b="1" dirty="0"/>
              <a:t>official</a:t>
            </a:r>
            <a:r>
              <a:rPr lang="en-US" sz="2800" dirty="0"/>
              <a:t> statement.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society → social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(not -</a:t>
            </a:r>
            <a:r>
              <a:rPr lang="en-US" sz="2800" dirty="0" err="1"/>
              <a:t>ial</a:t>
            </a:r>
            <a:r>
              <a:rPr lang="en-US" sz="2800" dirty="0"/>
              <a:t>, but often confused)</a:t>
            </a:r>
            <a:br>
              <a:rPr lang="en-US" sz="2800" dirty="0"/>
            </a:br>
            <a:r>
              <a:rPr lang="en-US" sz="2800" dirty="0"/>
              <a:t>Social media is very popular.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practice → practical </a:t>
            </a:r>
            <a:r>
              <a:rPr lang="en-US" sz="2800" b="1" dirty="0"/>
              <a:t>- </a:t>
            </a:r>
            <a:r>
              <a:rPr lang="en-US" sz="2800" dirty="0"/>
              <a:t>This is a very </a:t>
            </a:r>
            <a:r>
              <a:rPr lang="en-US" sz="2800" b="1" dirty="0"/>
              <a:t>practical</a:t>
            </a:r>
            <a:r>
              <a:rPr lang="en-US" sz="2800" dirty="0"/>
              <a:t> solution.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globe → global </a:t>
            </a:r>
            <a:r>
              <a:rPr lang="en-US" sz="2800" b="1" dirty="0"/>
              <a:t>- </a:t>
            </a:r>
            <a:r>
              <a:rPr lang="en-US" sz="2800" dirty="0"/>
              <a:t>We live in a </a:t>
            </a:r>
            <a:r>
              <a:rPr lang="en-US" sz="2800" b="1" dirty="0"/>
              <a:t>global</a:t>
            </a:r>
            <a:r>
              <a:rPr lang="en-US" sz="2800" dirty="0"/>
              <a:t> economy.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magic → magical </a:t>
            </a:r>
            <a:r>
              <a:rPr lang="en-US" sz="2800" b="1" dirty="0"/>
              <a:t>- </a:t>
            </a:r>
            <a:r>
              <a:rPr lang="en-US" sz="2800" dirty="0"/>
              <a:t>It was a </a:t>
            </a:r>
            <a:r>
              <a:rPr lang="en-US" sz="2800" b="1" dirty="0"/>
              <a:t>magical</a:t>
            </a:r>
            <a:r>
              <a:rPr lang="en-US" sz="2800" dirty="0"/>
              <a:t> evening. </a:t>
            </a:r>
          </a:p>
        </p:txBody>
      </p:sp>
    </p:spTree>
    <p:extLst>
      <p:ext uri="{BB962C8B-B14F-4D97-AF65-F5344CB8AC3E}">
        <p14:creationId xmlns:p14="http://schemas.microsoft.com/office/powerpoint/2010/main" val="1071911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32BC4-684F-5BC5-5D45-F58788CF4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91381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b="1" dirty="0" err="1">
                <a:solidFill>
                  <a:schemeClr val="tx1"/>
                </a:solidFill>
              </a:rPr>
              <a:t>ful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adjectives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63DC4-B568-D5F0-A2FF-5EDF6A4D5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1" y="806245"/>
            <a:ext cx="11710219" cy="6051755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beauty → beautiful</a:t>
            </a:r>
            <a:r>
              <a:rPr lang="en-US" sz="2800" dirty="0">
                <a:solidFill>
                  <a:srgbClr val="00B050"/>
                </a:solidFill>
              </a:rPr>
              <a:t>  </a:t>
            </a:r>
            <a:r>
              <a:rPr lang="en-US" sz="2800" dirty="0"/>
              <a:t>- Nilufar has very </a:t>
            </a:r>
            <a:r>
              <a:rPr lang="en-US" sz="2800" b="1" dirty="0"/>
              <a:t>beautiful</a:t>
            </a:r>
            <a:r>
              <a:rPr lang="en-US" sz="2800" dirty="0"/>
              <a:t> eyes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help → helpful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– The teacher is very </a:t>
            </a:r>
            <a:r>
              <a:rPr lang="en-US" sz="2800" b="1" dirty="0"/>
              <a:t>helpful</a:t>
            </a:r>
            <a:r>
              <a:rPr lang="en-US" sz="2800" dirty="0"/>
              <a:t> to students.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use → useful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– This dictionary is very </a:t>
            </a:r>
            <a:r>
              <a:rPr lang="en-US" sz="2800" b="1" dirty="0"/>
              <a:t>useful</a:t>
            </a:r>
            <a:r>
              <a:rPr lang="en-US" sz="2800" dirty="0"/>
              <a:t> for me.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peace → peaceful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– We spent a </a:t>
            </a:r>
            <a:r>
              <a:rPr lang="en-US" sz="2800" b="1" dirty="0"/>
              <a:t>peaceful</a:t>
            </a:r>
            <a:r>
              <a:rPr lang="en-US" sz="2800" dirty="0"/>
              <a:t> evening in the park.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success → successful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– He is a </a:t>
            </a:r>
            <a:r>
              <a:rPr lang="en-US" sz="2800" b="1" dirty="0"/>
              <a:t>successful</a:t>
            </a:r>
            <a:r>
              <a:rPr lang="en-US" sz="2800" dirty="0"/>
              <a:t> businessman.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care → careful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– Be </a:t>
            </a:r>
            <a:r>
              <a:rPr lang="en-US" sz="2800" b="1" dirty="0"/>
              <a:t>careful</a:t>
            </a:r>
            <a:r>
              <a:rPr lang="en-US" sz="2800" dirty="0"/>
              <a:t> when you drive.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wonder → wonderful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– It was a </a:t>
            </a:r>
            <a:r>
              <a:rPr lang="en-US" sz="2800" b="1" dirty="0"/>
              <a:t>wonderful</a:t>
            </a:r>
            <a:r>
              <a:rPr lang="en-US" sz="2800" dirty="0"/>
              <a:t> trip to Samarkand.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pain → painful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– The injury was very </a:t>
            </a:r>
            <a:r>
              <a:rPr lang="en-US" sz="2800" b="1" dirty="0"/>
              <a:t>painful</a:t>
            </a:r>
            <a:r>
              <a:rPr lang="en-US" sz="2800" dirty="0"/>
              <a:t>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power → powerful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– He is a </a:t>
            </a:r>
            <a:r>
              <a:rPr lang="en-US" sz="2800" b="1" dirty="0"/>
              <a:t>powerful</a:t>
            </a:r>
            <a:r>
              <a:rPr lang="en-US" sz="2800" dirty="0"/>
              <a:t> leader in the company.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hope → hopeful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– They are </a:t>
            </a:r>
            <a:r>
              <a:rPr lang="en-US" sz="2800" b="1" dirty="0"/>
              <a:t>hopeful</a:t>
            </a:r>
            <a:r>
              <a:rPr lang="en-US" sz="2800" dirty="0"/>
              <a:t> about the future.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color → colorful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– The garden is very </a:t>
            </a:r>
            <a:r>
              <a:rPr lang="en-US" sz="2800" b="1" dirty="0"/>
              <a:t>colorful</a:t>
            </a:r>
            <a:r>
              <a:rPr lang="en-US" sz="2800" dirty="0"/>
              <a:t> in spring.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meaning → meaningful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– She gave me a </a:t>
            </a:r>
            <a:r>
              <a:rPr lang="en-US" sz="2800" b="1" dirty="0"/>
              <a:t>meaningful</a:t>
            </a:r>
            <a:r>
              <a:rPr lang="en-US" sz="2800" dirty="0"/>
              <a:t> answer.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stress → stressful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/>
              <a:t>– Exams are very </a:t>
            </a:r>
            <a:r>
              <a:rPr lang="en-US" sz="2800" b="1" dirty="0"/>
              <a:t>stressful</a:t>
            </a:r>
            <a:r>
              <a:rPr lang="en-US" sz="2800" dirty="0"/>
              <a:t> for students.</a:t>
            </a:r>
          </a:p>
        </p:txBody>
      </p:sp>
    </p:spTree>
    <p:extLst>
      <p:ext uri="{BB962C8B-B14F-4D97-AF65-F5344CB8AC3E}">
        <p14:creationId xmlns:p14="http://schemas.microsoft.com/office/powerpoint/2010/main" val="1006083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6CD53-4A0F-BA29-57DC-8972C11D9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7339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-less </a:t>
            </a:r>
            <a:r>
              <a:rPr lang="en-US" b="1" dirty="0">
                <a:solidFill>
                  <a:srgbClr val="FF0000"/>
                </a:solidFill>
              </a:rPr>
              <a:t>(…</a:t>
            </a:r>
            <a:r>
              <a:rPr lang="en-US" b="1" dirty="0" err="1">
                <a:solidFill>
                  <a:srgbClr val="FF0000"/>
                </a:solidFill>
              </a:rPr>
              <a:t>siz</a:t>
            </a:r>
            <a:r>
              <a:rPr lang="en-US" b="1" dirty="0">
                <a:solidFill>
                  <a:srgbClr val="FF0000"/>
                </a:solidFill>
              </a:rPr>
              <a:t> / without …)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699DF-AB3E-30CD-6859-838734019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0" y="875071"/>
            <a:ext cx="11670890" cy="5982929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use → useless </a:t>
            </a:r>
            <a:r>
              <a:rPr lang="en-US" sz="2800" b="1" dirty="0"/>
              <a:t>- </a:t>
            </a:r>
            <a:r>
              <a:rPr lang="en-US" sz="2800" dirty="0"/>
              <a:t>This tool is </a:t>
            </a:r>
            <a:r>
              <a:rPr lang="en-US" sz="2800" b="1" dirty="0"/>
              <a:t>useless</a:t>
            </a:r>
            <a:r>
              <a:rPr lang="en-US" sz="2800" dirty="0"/>
              <a:t> for me.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home → homeless </a:t>
            </a:r>
            <a:r>
              <a:rPr lang="en-US" sz="2800" b="1" dirty="0"/>
              <a:t>- </a:t>
            </a:r>
            <a:r>
              <a:rPr lang="en-US" sz="2800" dirty="0"/>
              <a:t>There are many </a:t>
            </a:r>
            <a:r>
              <a:rPr lang="en-US" sz="2800" b="1" dirty="0"/>
              <a:t>homeless</a:t>
            </a:r>
            <a:r>
              <a:rPr lang="en-US" sz="2800" dirty="0"/>
              <a:t> people in big cities.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hope → hopeless </a:t>
            </a:r>
            <a:r>
              <a:rPr lang="en-US" sz="2800" b="1" dirty="0"/>
              <a:t>- </a:t>
            </a:r>
            <a:r>
              <a:rPr lang="en-US" sz="2800" dirty="0"/>
              <a:t>He felt </a:t>
            </a:r>
            <a:r>
              <a:rPr lang="en-US" sz="2800" b="1" dirty="0"/>
              <a:t>hopeless</a:t>
            </a:r>
            <a:r>
              <a:rPr lang="en-US" sz="2800" dirty="0"/>
              <a:t> after the failure.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end → endless </a:t>
            </a:r>
            <a:r>
              <a:rPr lang="en-US" sz="2800" b="1" dirty="0"/>
              <a:t>- </a:t>
            </a:r>
            <a:r>
              <a:rPr lang="en-US" sz="2800" dirty="0"/>
              <a:t>The meeting seemed </a:t>
            </a:r>
            <a:r>
              <a:rPr lang="en-US" sz="2800" b="1" dirty="0"/>
              <a:t>endless</a:t>
            </a:r>
            <a:r>
              <a:rPr lang="en-US" sz="2800" dirty="0"/>
              <a:t>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price → priceless </a:t>
            </a:r>
            <a:r>
              <a:rPr lang="en-US" sz="2800" b="1" dirty="0"/>
              <a:t>- </a:t>
            </a:r>
            <a:r>
              <a:rPr lang="en-US" sz="2800" dirty="0"/>
              <a:t>This old book is </a:t>
            </a:r>
            <a:r>
              <a:rPr lang="en-US" sz="2800" b="1" dirty="0"/>
              <a:t>priceless</a:t>
            </a:r>
            <a:r>
              <a:rPr lang="en-US" sz="2800" dirty="0"/>
              <a:t>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care → careless </a:t>
            </a:r>
            <a:r>
              <a:rPr lang="en-US" sz="2800" b="1" dirty="0"/>
              <a:t>- </a:t>
            </a:r>
            <a:r>
              <a:rPr lang="en-US" sz="2800" dirty="0"/>
              <a:t>He made a </a:t>
            </a:r>
            <a:r>
              <a:rPr lang="en-US" sz="2800" b="1" dirty="0"/>
              <a:t>careless</a:t>
            </a:r>
            <a:r>
              <a:rPr lang="en-US" sz="2800" dirty="0"/>
              <a:t> mistake in the test.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help → helpless </a:t>
            </a:r>
            <a:r>
              <a:rPr lang="en-US" sz="2800" b="1" dirty="0"/>
              <a:t>- </a:t>
            </a:r>
            <a:r>
              <a:rPr lang="en-US" sz="2800" dirty="0"/>
              <a:t>The child felt </a:t>
            </a:r>
            <a:r>
              <a:rPr lang="en-US" sz="2800" b="1" dirty="0"/>
              <a:t>helpless</a:t>
            </a:r>
            <a:r>
              <a:rPr lang="en-US" sz="2800" dirty="0"/>
              <a:t> without his parents.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fear → fearless </a:t>
            </a:r>
            <a:r>
              <a:rPr lang="en-US" sz="2800" b="1" dirty="0"/>
              <a:t>- </a:t>
            </a:r>
            <a:r>
              <a:rPr lang="en-US" sz="2800" dirty="0"/>
              <a:t>She is a </a:t>
            </a:r>
            <a:r>
              <a:rPr lang="en-US" sz="2800" b="1" dirty="0"/>
              <a:t>fearless</a:t>
            </a:r>
            <a:r>
              <a:rPr lang="en-US" sz="2800" dirty="0"/>
              <a:t> police officer.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meaning → meaningless </a:t>
            </a:r>
            <a:r>
              <a:rPr lang="en-US" sz="2800" b="1" dirty="0"/>
              <a:t>- </a:t>
            </a:r>
            <a:r>
              <a:rPr lang="en-US" sz="2800" dirty="0"/>
              <a:t>His words were </a:t>
            </a:r>
            <a:r>
              <a:rPr lang="en-US" sz="2800" b="1" dirty="0"/>
              <a:t>meaningless</a:t>
            </a:r>
            <a:r>
              <a:rPr lang="en-US" sz="2800" dirty="0"/>
              <a:t> to me.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power → powerless </a:t>
            </a:r>
            <a:r>
              <a:rPr lang="en-US" sz="2800" b="1" dirty="0"/>
              <a:t>- </a:t>
            </a:r>
            <a:r>
              <a:rPr lang="en-US" sz="2800" dirty="0"/>
              <a:t>They felt </a:t>
            </a:r>
            <a:r>
              <a:rPr lang="en-US" sz="2800" b="1" dirty="0"/>
              <a:t>powerless</a:t>
            </a:r>
            <a:r>
              <a:rPr lang="en-US" sz="2800" dirty="0"/>
              <a:t> against the system.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sleep → sleepless - </a:t>
            </a:r>
            <a:r>
              <a:rPr lang="en-US" sz="2800" dirty="0"/>
              <a:t>I had a </a:t>
            </a:r>
            <a:r>
              <a:rPr lang="en-US" sz="2800" b="1" dirty="0"/>
              <a:t>sleepless</a:t>
            </a:r>
            <a:r>
              <a:rPr lang="en-US" sz="2800" dirty="0"/>
              <a:t> night.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thought → thoughtless </a:t>
            </a:r>
            <a:r>
              <a:rPr lang="en-US" sz="2800" b="1" dirty="0"/>
              <a:t>- </a:t>
            </a:r>
            <a:r>
              <a:rPr lang="en-US" sz="2800" dirty="0"/>
              <a:t>That was a </a:t>
            </a:r>
            <a:r>
              <a:rPr lang="en-US" sz="2800" b="1" dirty="0"/>
              <a:t>thoughtless</a:t>
            </a:r>
            <a:r>
              <a:rPr lang="en-US" sz="2800" dirty="0"/>
              <a:t> comment.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95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D733A-EBFE-B657-3734-4FDE61992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0"/>
            <a:ext cx="10400661" cy="112087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b="1" dirty="0" err="1">
                <a:solidFill>
                  <a:schemeClr val="tx1"/>
                </a:solidFill>
              </a:rPr>
              <a:t>ic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“...ga </a:t>
            </a:r>
            <a:r>
              <a:rPr lang="en-US" dirty="0" err="1">
                <a:solidFill>
                  <a:srgbClr val="FF0000"/>
                </a:solidFill>
              </a:rPr>
              <a:t>oid</a:t>
            </a:r>
            <a:r>
              <a:rPr lang="en-US" dirty="0">
                <a:solidFill>
                  <a:srgbClr val="FF0000"/>
                </a:solidFill>
              </a:rPr>
              <a:t>”, “...ga </a:t>
            </a:r>
            <a:r>
              <a:rPr lang="en-US" dirty="0" err="1">
                <a:solidFill>
                  <a:srgbClr val="FF0000"/>
                </a:solidFill>
              </a:rPr>
              <a:t>tegishli</a:t>
            </a:r>
            <a:r>
              <a:rPr lang="en-US" dirty="0">
                <a:solidFill>
                  <a:srgbClr val="FF0000"/>
                </a:solidFill>
              </a:rPr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164ED-13F1-F427-44FF-43E67D05F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1120877"/>
            <a:ext cx="11779045" cy="573712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hero → heroic </a:t>
            </a:r>
            <a:r>
              <a:rPr lang="en-US" sz="2800" dirty="0"/>
              <a:t>→ The firefighter made a </a:t>
            </a:r>
            <a:r>
              <a:rPr lang="en-US" sz="2800" b="1" dirty="0"/>
              <a:t>heroic</a:t>
            </a:r>
            <a:r>
              <a:rPr lang="en-US" sz="2800" dirty="0"/>
              <a:t> rescue.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economy → economic </a:t>
            </a:r>
            <a:r>
              <a:rPr lang="en-US" sz="2800" dirty="0"/>
              <a:t>→ The country is facing </a:t>
            </a:r>
            <a:r>
              <a:rPr lang="en-US" sz="2800" b="1" dirty="0"/>
              <a:t>economic</a:t>
            </a:r>
            <a:r>
              <a:rPr lang="en-US" sz="2800" dirty="0"/>
              <a:t> problems.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romance → romantic </a:t>
            </a:r>
            <a:r>
              <a:rPr lang="en-US" sz="2800" dirty="0"/>
              <a:t>→ They had a </a:t>
            </a:r>
            <a:r>
              <a:rPr lang="en-US" sz="2800" b="1" dirty="0"/>
              <a:t>romantic</a:t>
            </a:r>
            <a:r>
              <a:rPr lang="en-US" sz="2800" dirty="0"/>
              <a:t> dinner by the sea.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class → classic </a:t>
            </a:r>
            <a:r>
              <a:rPr lang="en-US" sz="2800" dirty="0"/>
              <a:t>→ It is a </a:t>
            </a:r>
            <a:r>
              <a:rPr lang="en-US" sz="2800" b="1" dirty="0"/>
              <a:t>classic</a:t>
            </a:r>
            <a:r>
              <a:rPr lang="en-US" sz="2800" dirty="0"/>
              <a:t> example of modern art.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science → scientific </a:t>
            </a:r>
            <a:r>
              <a:rPr lang="en-US" sz="2800" dirty="0"/>
              <a:t>→ She is doing </a:t>
            </a:r>
            <a:r>
              <a:rPr lang="en-US" sz="2800" b="1" dirty="0"/>
              <a:t>scientific</a:t>
            </a:r>
            <a:r>
              <a:rPr lang="en-US" sz="2800" dirty="0"/>
              <a:t> research at university.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art → artistic </a:t>
            </a:r>
            <a:r>
              <a:rPr lang="en-US" sz="2800" dirty="0"/>
              <a:t>→ He has an </a:t>
            </a:r>
            <a:r>
              <a:rPr lang="en-US" sz="2800" b="1" dirty="0"/>
              <a:t>artistic</a:t>
            </a:r>
            <a:r>
              <a:rPr lang="en-US" sz="2800" dirty="0"/>
              <a:t> talent for painting.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history → historic </a:t>
            </a:r>
            <a:r>
              <a:rPr lang="en-US" sz="2800" dirty="0"/>
              <a:t>→ The </a:t>
            </a:r>
            <a:r>
              <a:rPr lang="en-US" sz="2800" b="1" dirty="0"/>
              <a:t>historic</a:t>
            </a:r>
            <a:r>
              <a:rPr lang="en-US" sz="2800" dirty="0"/>
              <a:t> building was restored recently.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poem → poetic </a:t>
            </a:r>
            <a:r>
              <a:rPr lang="en-US" sz="2800" dirty="0"/>
              <a:t>→ The poem has a very </a:t>
            </a:r>
            <a:r>
              <a:rPr lang="en-US" sz="2800" b="1" dirty="0"/>
              <a:t>poetic</a:t>
            </a:r>
            <a:r>
              <a:rPr lang="en-US" sz="2800" dirty="0"/>
              <a:t> style.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plastic → plastic </a:t>
            </a:r>
            <a:r>
              <a:rPr lang="en-US" sz="2800" dirty="0"/>
              <a:t>→ </a:t>
            </a:r>
            <a:r>
              <a:rPr lang="en-US" sz="2800" b="1" dirty="0"/>
              <a:t>Plastic</a:t>
            </a:r>
            <a:r>
              <a:rPr lang="en-US" sz="2800" dirty="0"/>
              <a:t> pollution is a global problem.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drama → dramatic </a:t>
            </a:r>
            <a:r>
              <a:rPr lang="en-US" sz="2800" dirty="0"/>
              <a:t>→ The play was very </a:t>
            </a:r>
            <a:r>
              <a:rPr lang="en-US" sz="2800" b="1" dirty="0"/>
              <a:t>dramatic</a:t>
            </a:r>
            <a:r>
              <a:rPr lang="en-US" sz="2800" dirty="0"/>
              <a:t> and emotional.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441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47BFD-DA0C-C9E0-B3A6-B39650C87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b="1" dirty="0" err="1">
                <a:solidFill>
                  <a:schemeClr val="tx1"/>
                </a:solidFill>
              </a:rPr>
              <a:t>ical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...ga </a:t>
            </a:r>
            <a:r>
              <a:rPr lang="en-US" b="1" dirty="0" err="1">
                <a:solidFill>
                  <a:srgbClr val="FF0000"/>
                </a:solidFill>
              </a:rPr>
              <a:t>oid</a:t>
            </a:r>
            <a:r>
              <a:rPr lang="en-US" b="1" dirty="0">
                <a:solidFill>
                  <a:srgbClr val="FF0000"/>
                </a:solidFill>
              </a:rPr>
              <a:t> ... </a:t>
            </a:r>
            <a:r>
              <a:rPr lang="en-US" b="1" dirty="0" err="1">
                <a:solidFill>
                  <a:srgbClr val="FF0000"/>
                </a:solidFill>
              </a:rPr>
              <a:t>bilan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bog‘liq</a:t>
            </a:r>
            <a:r>
              <a:rPr lang="en-US" dirty="0">
                <a:solidFill>
                  <a:srgbClr val="FF0000"/>
                </a:solidFill>
              </a:rPr>
              <a:t>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 err="1">
                <a:solidFill>
                  <a:srgbClr val="FF0000"/>
                </a:solidFill>
              </a:rPr>
              <a:t>ba’zan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-</a:t>
            </a:r>
            <a:r>
              <a:rPr lang="en-US" b="1" dirty="0" err="1">
                <a:solidFill>
                  <a:srgbClr val="FF0000"/>
                </a:solidFill>
              </a:rPr>
              <a:t>iy</a:t>
            </a:r>
            <a:r>
              <a:rPr lang="en-US" b="1" dirty="0">
                <a:solidFill>
                  <a:srgbClr val="FF0000"/>
                </a:solidFill>
              </a:rPr>
              <a:t> / -</a:t>
            </a:r>
            <a:r>
              <a:rPr lang="en-US" b="1" dirty="0" err="1">
                <a:solidFill>
                  <a:srgbClr val="FF0000"/>
                </a:solidFill>
              </a:rPr>
              <a:t>lik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CA5D0-649F-55C8-D009-48FB4B2B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1465006"/>
            <a:ext cx="11995354" cy="5392994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politic → political </a:t>
            </a:r>
            <a:r>
              <a:rPr lang="en-US" sz="2800" dirty="0"/>
              <a:t>→ </a:t>
            </a:r>
            <a:r>
              <a:rPr lang="en-US" sz="2800" b="1" dirty="0"/>
              <a:t>Political</a:t>
            </a:r>
            <a:r>
              <a:rPr lang="en-US" sz="2800" dirty="0"/>
              <a:t> issues dominate the news.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alphabet → alphabetical </a:t>
            </a:r>
            <a:r>
              <a:rPr lang="en-US" sz="2800" dirty="0"/>
              <a:t>→ Arrange the names in </a:t>
            </a:r>
            <a:r>
              <a:rPr lang="en-US" sz="2800" b="1" dirty="0"/>
              <a:t>alphabetical</a:t>
            </a:r>
            <a:r>
              <a:rPr lang="en-US" sz="2800" dirty="0"/>
              <a:t> order.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history → historical </a:t>
            </a:r>
            <a:r>
              <a:rPr lang="en-US" sz="2800" dirty="0"/>
              <a:t>→ The </a:t>
            </a:r>
            <a:r>
              <a:rPr lang="en-US" sz="2800" b="1" dirty="0"/>
              <a:t>historical</a:t>
            </a:r>
            <a:r>
              <a:rPr lang="en-US" sz="2800" dirty="0"/>
              <a:t> museum is very popular.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mathematics → mathematical </a:t>
            </a:r>
            <a:r>
              <a:rPr lang="en-US" sz="2800" dirty="0"/>
              <a:t>→ He solved a </a:t>
            </a:r>
            <a:r>
              <a:rPr lang="en-US" sz="2800" b="1" dirty="0"/>
              <a:t>mathematical</a:t>
            </a:r>
            <a:r>
              <a:rPr lang="en-US" sz="2800" dirty="0"/>
              <a:t> problem quickly.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music → musical </a:t>
            </a:r>
            <a:r>
              <a:rPr lang="en-US" sz="2800" dirty="0"/>
              <a:t>→ She has great </a:t>
            </a:r>
            <a:r>
              <a:rPr lang="en-US" sz="2800" b="1" dirty="0"/>
              <a:t>musical</a:t>
            </a:r>
            <a:r>
              <a:rPr lang="en-US" sz="2800" dirty="0"/>
              <a:t> talent.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logic → logical </a:t>
            </a:r>
            <a:r>
              <a:rPr lang="en-US" sz="2800" dirty="0"/>
              <a:t>→ That is a </a:t>
            </a:r>
            <a:r>
              <a:rPr lang="en-US" sz="2800" b="1" dirty="0"/>
              <a:t>logical</a:t>
            </a:r>
            <a:r>
              <a:rPr lang="en-US" sz="2800" dirty="0"/>
              <a:t> explanation.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economy → economical </a:t>
            </a:r>
            <a:r>
              <a:rPr lang="en-US" sz="2800" dirty="0"/>
              <a:t>→ This car is very </a:t>
            </a:r>
            <a:r>
              <a:rPr lang="en-US" sz="2800" b="1" dirty="0"/>
              <a:t>economical</a:t>
            </a:r>
            <a:r>
              <a:rPr lang="en-US" sz="2800" dirty="0"/>
              <a:t> to run.</a:t>
            </a:r>
          </a:p>
        </p:txBody>
      </p:sp>
    </p:spTree>
    <p:extLst>
      <p:ext uri="{BB962C8B-B14F-4D97-AF65-F5344CB8AC3E}">
        <p14:creationId xmlns:p14="http://schemas.microsoft.com/office/powerpoint/2010/main" val="3918902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B5C7-3019-2D8F-68B8-8496B0CF7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0121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b="1" dirty="0" err="1">
                <a:solidFill>
                  <a:schemeClr val="tx1"/>
                </a:solidFill>
              </a:rPr>
              <a:t>ish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9F400-DEB5-CCFA-0540-876B4C3E6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3" y="1101213"/>
            <a:ext cx="11484077" cy="575678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/>
              <a:t>Ma’nosi</a:t>
            </a:r>
            <a:r>
              <a:rPr lang="en-US" sz="2800" b="1" dirty="0"/>
              <a:t>: </a:t>
            </a:r>
            <a:r>
              <a:rPr lang="en-US" sz="2800" dirty="0"/>
              <a:t>“...ga </a:t>
            </a:r>
            <a:r>
              <a:rPr lang="en-US" sz="2800" dirty="0" err="1"/>
              <a:t>o‘xshash</a:t>
            </a:r>
            <a:r>
              <a:rPr lang="en-US" sz="2800" dirty="0"/>
              <a:t>” “</a:t>
            </a:r>
            <a:r>
              <a:rPr lang="en-US" sz="2800" dirty="0" err="1"/>
              <a:t>biroz</a:t>
            </a:r>
            <a:r>
              <a:rPr lang="en-US" sz="2800" dirty="0"/>
              <a:t> ..., </a:t>
            </a:r>
            <a:r>
              <a:rPr lang="en-US" sz="2800" dirty="0" err="1"/>
              <a:t>uncha</a:t>
            </a:r>
            <a:r>
              <a:rPr lang="en-US" sz="2800" dirty="0"/>
              <a:t> </a:t>
            </a:r>
            <a:r>
              <a:rPr lang="en-US" sz="2800" dirty="0" err="1"/>
              <a:t>aniq</a:t>
            </a:r>
            <a:r>
              <a:rPr lang="en-US" sz="2800" dirty="0"/>
              <a:t> </a:t>
            </a:r>
            <a:r>
              <a:rPr lang="en-US" sz="2800" dirty="0" err="1"/>
              <a:t>emas</a:t>
            </a:r>
            <a:r>
              <a:rPr lang="en-US" sz="2800" dirty="0"/>
              <a:t>” </a:t>
            </a:r>
            <a:r>
              <a:rPr lang="en-US" sz="2800" dirty="0" err="1"/>
              <a:t>ba’zan</a:t>
            </a:r>
            <a:r>
              <a:rPr lang="en-US" sz="2800" dirty="0"/>
              <a:t> </a:t>
            </a:r>
            <a:r>
              <a:rPr lang="en-US" sz="2800" dirty="0" err="1"/>
              <a:t>millat</a:t>
            </a:r>
            <a:r>
              <a:rPr lang="en-US" sz="2800" dirty="0"/>
              <a:t> </a:t>
            </a:r>
            <a:r>
              <a:rPr lang="en-US" sz="2800" dirty="0" err="1"/>
              <a:t>yoki</a:t>
            </a:r>
            <a:r>
              <a:rPr lang="en-US" sz="2800" dirty="0"/>
              <a:t> </a:t>
            </a:r>
            <a:r>
              <a:rPr lang="en-US" sz="2800" dirty="0" err="1"/>
              <a:t>tegishlilik</a:t>
            </a:r>
            <a:r>
              <a:rPr lang="en-US" sz="2800" dirty="0"/>
              <a:t> (British, Irish)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child → childish </a:t>
            </a:r>
            <a:r>
              <a:rPr lang="en-US" sz="2800" dirty="0"/>
              <a:t>→ Stop being </a:t>
            </a:r>
            <a:r>
              <a:rPr lang="en-US" sz="2800" b="1" dirty="0"/>
              <a:t>childish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b="1" dirty="0">
                <a:solidFill>
                  <a:srgbClr val="00B050"/>
                </a:solidFill>
              </a:rPr>
              <a:t>fool → foolish </a:t>
            </a:r>
            <a:r>
              <a:rPr lang="en-US" sz="2800" dirty="0"/>
              <a:t>→ It was a </a:t>
            </a:r>
            <a:r>
              <a:rPr lang="en-US" sz="2800" b="1" dirty="0"/>
              <a:t>foolish</a:t>
            </a:r>
            <a:r>
              <a:rPr lang="en-US" sz="2800" dirty="0"/>
              <a:t> mistake.</a:t>
            </a:r>
            <a:br>
              <a:rPr lang="en-US" sz="2800" dirty="0"/>
            </a:br>
            <a:r>
              <a:rPr lang="en-US" sz="2800" b="1" dirty="0">
                <a:solidFill>
                  <a:srgbClr val="00B050"/>
                </a:solidFill>
              </a:rPr>
              <a:t>Britain → British </a:t>
            </a:r>
            <a:r>
              <a:rPr lang="en-US" sz="2800" dirty="0"/>
              <a:t>→ He is </a:t>
            </a:r>
            <a:r>
              <a:rPr lang="en-US" sz="2800" b="1" dirty="0"/>
              <a:t>British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b="1" dirty="0">
                <a:solidFill>
                  <a:srgbClr val="00B050"/>
                </a:solidFill>
              </a:rPr>
              <a:t>Ireland → Irish </a:t>
            </a:r>
            <a:r>
              <a:rPr lang="en-US" sz="2800" dirty="0"/>
              <a:t>→ She has an </a:t>
            </a:r>
            <a:r>
              <a:rPr lang="en-US" sz="2800" b="1" dirty="0"/>
              <a:t>Irish</a:t>
            </a:r>
            <a:r>
              <a:rPr lang="en-US" sz="2800" dirty="0"/>
              <a:t> accent.</a:t>
            </a:r>
            <a:br>
              <a:rPr lang="en-US" sz="2800" dirty="0"/>
            </a:br>
            <a:r>
              <a:rPr lang="en-US" sz="2800" b="1" dirty="0">
                <a:solidFill>
                  <a:srgbClr val="00B050"/>
                </a:solidFill>
              </a:rPr>
              <a:t>self → selfish </a:t>
            </a:r>
            <a:r>
              <a:rPr lang="en-US" sz="2800" dirty="0"/>
              <a:t>→ Don’t be so </a:t>
            </a:r>
            <a:r>
              <a:rPr lang="en-US" sz="2800" b="1" dirty="0"/>
              <a:t>selfish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b="1" dirty="0">
                <a:solidFill>
                  <a:srgbClr val="00B050"/>
                </a:solidFill>
              </a:rPr>
              <a:t>book → bookish </a:t>
            </a:r>
            <a:r>
              <a:rPr lang="en-US" sz="2800" dirty="0"/>
              <a:t>→ He has a </a:t>
            </a:r>
            <a:r>
              <a:rPr lang="en-US" sz="2800" b="1" dirty="0"/>
              <a:t>bookish</a:t>
            </a:r>
            <a:r>
              <a:rPr lang="en-US" sz="2800" dirty="0"/>
              <a:t> personality.</a:t>
            </a:r>
            <a:br>
              <a:rPr lang="en-US" sz="2800" dirty="0"/>
            </a:br>
            <a:r>
              <a:rPr lang="en-US" sz="2800" b="1" dirty="0">
                <a:solidFill>
                  <a:srgbClr val="00B050"/>
                </a:solidFill>
              </a:rPr>
              <a:t>yellow → yellowish </a:t>
            </a:r>
            <a:r>
              <a:rPr lang="en-US" sz="2800" dirty="0"/>
              <a:t>→ The light is </a:t>
            </a:r>
            <a:r>
              <a:rPr lang="en-US" sz="2800" b="1" dirty="0"/>
              <a:t>yellowish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b="1" dirty="0">
                <a:solidFill>
                  <a:srgbClr val="00B050"/>
                </a:solidFill>
              </a:rPr>
              <a:t>green → greenish </a:t>
            </a:r>
            <a:r>
              <a:rPr lang="en-US" sz="2800" dirty="0"/>
              <a:t>→ The water looks </a:t>
            </a:r>
            <a:r>
              <a:rPr lang="en-US" sz="2800" b="1" dirty="0"/>
              <a:t>greenish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37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E6E79-76CF-1FA9-1E61-8BBFC13D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32387"/>
          </a:xfrm>
        </p:spPr>
        <p:txBody>
          <a:bodyPr/>
          <a:lstStyle/>
          <a:p>
            <a:pPr algn="ctr"/>
            <a:r>
              <a:rPr lang="en-US" dirty="0"/>
              <a:t>-</a:t>
            </a:r>
            <a:r>
              <a:rPr lang="en-US" dirty="0" err="1"/>
              <a:t>ive</a:t>
            </a:r>
            <a:r>
              <a:rPr lang="en-US" dirty="0"/>
              <a:t>/-</a:t>
            </a:r>
            <a:r>
              <a:rPr lang="en-US" dirty="0" err="1"/>
              <a:t>ative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Adjectives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22B1C-DC4B-F7B9-7801-2214644D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1032387"/>
            <a:ext cx="11906865" cy="5825613"/>
          </a:xfrm>
        </p:spPr>
        <p:txBody>
          <a:bodyPr>
            <a:normAutofit/>
          </a:bodyPr>
          <a:lstStyle/>
          <a:p>
            <a:r>
              <a:rPr lang="en-US" sz="2800" b="1" i="1" dirty="0">
                <a:highlight>
                  <a:srgbClr val="FFFF00"/>
                </a:highlight>
              </a:rPr>
              <a:t>-</a:t>
            </a:r>
            <a:r>
              <a:rPr lang="en-US" sz="2800" b="1" i="1" dirty="0" err="1">
                <a:highlight>
                  <a:srgbClr val="FFFF00"/>
                </a:highlight>
              </a:rPr>
              <a:t>ive</a:t>
            </a:r>
            <a:r>
              <a:rPr lang="en-US" sz="2800" i="1" dirty="0">
                <a:highlight>
                  <a:srgbClr val="FFFF00"/>
                </a:highlight>
              </a:rPr>
              <a:t> → </a:t>
            </a:r>
            <a:r>
              <a:rPr lang="en-US" sz="2800" i="1" dirty="0" err="1">
                <a:highlight>
                  <a:srgbClr val="FFFF00"/>
                </a:highlight>
              </a:rPr>
              <a:t>sifat</a:t>
            </a:r>
            <a:r>
              <a:rPr lang="en-US" sz="2800" i="1" dirty="0">
                <a:highlight>
                  <a:srgbClr val="FFFF00"/>
                </a:highlight>
              </a:rPr>
              <a:t> (</a:t>
            </a:r>
            <a:r>
              <a:rPr lang="en-US" sz="2800" i="1" dirty="0" err="1">
                <a:highlight>
                  <a:srgbClr val="FFFF00"/>
                </a:highlight>
              </a:rPr>
              <a:t>odamning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xususiyati</a:t>
            </a:r>
            <a:r>
              <a:rPr lang="en-US" sz="2800" i="1" dirty="0">
                <a:highlight>
                  <a:srgbClr val="FFFF00"/>
                </a:highlight>
              </a:rPr>
              <a:t>) </a:t>
            </a:r>
            <a:r>
              <a:rPr lang="en-US" sz="2800" b="1" i="1" dirty="0">
                <a:highlight>
                  <a:srgbClr val="FFFF00"/>
                </a:highlight>
              </a:rPr>
              <a:t>-</a:t>
            </a:r>
            <a:r>
              <a:rPr lang="en-US" sz="2800" b="1" i="1" dirty="0" err="1">
                <a:highlight>
                  <a:srgbClr val="FFFF00"/>
                </a:highlight>
              </a:rPr>
              <a:t>ative</a:t>
            </a:r>
            <a:r>
              <a:rPr lang="en-US" sz="2800" i="1" dirty="0">
                <a:highlight>
                  <a:srgbClr val="FFFF00"/>
                </a:highlight>
              </a:rPr>
              <a:t> → </a:t>
            </a:r>
            <a:r>
              <a:rPr lang="en-US" sz="2800" i="1" dirty="0" err="1">
                <a:highlight>
                  <a:srgbClr val="FFFF00"/>
                </a:highlight>
              </a:rPr>
              <a:t>nimadur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qiluvchi</a:t>
            </a:r>
            <a:r>
              <a:rPr lang="en-US" sz="2800" i="1" dirty="0">
                <a:highlight>
                  <a:srgbClr val="FFFF00"/>
                </a:highlight>
              </a:rPr>
              <a:t>”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act → active </a:t>
            </a:r>
            <a:r>
              <a:rPr lang="en-US" sz="2800" dirty="0"/>
              <a:t>→ She is an </a:t>
            </a:r>
            <a:r>
              <a:rPr lang="en-US" sz="2800" b="1" dirty="0"/>
              <a:t>active</a:t>
            </a:r>
            <a:r>
              <a:rPr lang="en-US" sz="2800" dirty="0"/>
              <a:t> student.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create → creative </a:t>
            </a:r>
            <a:r>
              <a:rPr lang="en-US" sz="2800" dirty="0"/>
              <a:t>→ He is a </a:t>
            </a:r>
            <a:r>
              <a:rPr lang="en-US" sz="2800" b="1" dirty="0"/>
              <a:t>creative</a:t>
            </a:r>
            <a:r>
              <a:rPr lang="en-US" sz="2800" dirty="0"/>
              <a:t> designer.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talk → talkative </a:t>
            </a:r>
            <a:r>
              <a:rPr lang="en-US" sz="2800" dirty="0"/>
              <a:t>→ My brother is very </a:t>
            </a:r>
            <a:r>
              <a:rPr lang="en-US" sz="2800" b="1" dirty="0"/>
              <a:t>talkative</a:t>
            </a:r>
            <a:r>
              <a:rPr lang="en-US" sz="2800" dirty="0"/>
              <a:t>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product → productive </a:t>
            </a:r>
            <a:r>
              <a:rPr lang="en-US" sz="2800" dirty="0"/>
              <a:t>→ He is a very </a:t>
            </a:r>
            <a:r>
              <a:rPr lang="en-US" sz="2800" b="1" dirty="0"/>
              <a:t>productive</a:t>
            </a:r>
            <a:r>
              <a:rPr lang="en-US" sz="2800" dirty="0"/>
              <a:t> student.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attract → attractive </a:t>
            </a:r>
            <a:r>
              <a:rPr lang="en-US" sz="2800" dirty="0"/>
              <a:t>→ She is an </a:t>
            </a:r>
            <a:r>
              <a:rPr lang="en-US" sz="2800" b="1" dirty="0"/>
              <a:t>attractive</a:t>
            </a:r>
            <a:r>
              <a:rPr lang="en-US" sz="2800" dirty="0"/>
              <a:t> woman.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inform → informative </a:t>
            </a:r>
            <a:r>
              <a:rPr lang="en-US" sz="2800" dirty="0"/>
              <a:t>→ The lecture was very </a:t>
            </a:r>
            <a:r>
              <a:rPr lang="en-US" sz="2800" b="1" dirty="0"/>
              <a:t>informative</a:t>
            </a:r>
            <a:r>
              <a:rPr lang="en-US" sz="2800" dirty="0"/>
              <a:t>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imagine → imaginative </a:t>
            </a:r>
            <a:r>
              <a:rPr lang="en-US" sz="2800" dirty="0"/>
              <a:t>→ She is an </a:t>
            </a:r>
            <a:r>
              <a:rPr lang="en-US" sz="2800" b="1" dirty="0"/>
              <a:t>imaginative</a:t>
            </a:r>
            <a:r>
              <a:rPr lang="en-US" sz="2800" dirty="0"/>
              <a:t> writer.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educate → educative </a:t>
            </a:r>
            <a:r>
              <a:rPr lang="en-US" sz="2800" dirty="0"/>
              <a:t>→ The documentary was highly </a:t>
            </a:r>
            <a:r>
              <a:rPr lang="en-US" sz="2800" b="1" dirty="0"/>
              <a:t>educative</a:t>
            </a:r>
            <a:r>
              <a:rPr lang="en-US" sz="2800" dirty="0"/>
              <a:t>. </a:t>
            </a:r>
          </a:p>
          <a:p>
            <a:r>
              <a:rPr lang="en-US" sz="2800" b="1" dirty="0">
                <a:solidFill>
                  <a:srgbClr val="00B050"/>
                </a:solidFill>
              </a:rPr>
              <a:t>communicate → communicative </a:t>
            </a:r>
            <a:r>
              <a:rPr lang="en-US" sz="2800" dirty="0"/>
              <a:t>→ She is a </a:t>
            </a:r>
            <a:r>
              <a:rPr lang="en-US" sz="2800" b="1" dirty="0"/>
              <a:t>communicative</a:t>
            </a:r>
            <a:r>
              <a:rPr lang="en-US" sz="2800" dirty="0"/>
              <a:t> person.</a:t>
            </a:r>
          </a:p>
        </p:txBody>
      </p:sp>
    </p:spTree>
    <p:extLst>
      <p:ext uri="{BB962C8B-B14F-4D97-AF65-F5344CB8AC3E}">
        <p14:creationId xmlns:p14="http://schemas.microsoft.com/office/powerpoint/2010/main" val="11476936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2AA2-0D7F-FD39-9504-F550B93A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91381"/>
          </a:xfrm>
        </p:spPr>
        <p:txBody>
          <a:bodyPr/>
          <a:lstStyle/>
          <a:p>
            <a:pPr algn="ctr"/>
            <a:r>
              <a:rPr lang="en-US" b="1" dirty="0" err="1"/>
              <a:t>ous</a:t>
            </a:r>
            <a:r>
              <a:rPr lang="en-US" b="1" dirty="0"/>
              <a:t> / -</a:t>
            </a:r>
            <a:r>
              <a:rPr lang="en-US" b="1" dirty="0" err="1"/>
              <a:t>ious</a:t>
            </a:r>
            <a:r>
              <a:rPr lang="en-US" b="1" dirty="0"/>
              <a:t> / -</a:t>
            </a:r>
            <a:r>
              <a:rPr lang="en-US" b="1" dirty="0" err="1"/>
              <a:t>eous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BD882-2DA2-8303-155F-086B40F33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1091381"/>
            <a:ext cx="11788877" cy="5766619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800" b="1" i="1" dirty="0" err="1">
                <a:highlight>
                  <a:srgbClr val="FFFF00"/>
                </a:highlight>
              </a:rPr>
              <a:t>Ma'nosi</a:t>
            </a:r>
            <a:r>
              <a:rPr lang="en-US" sz="2800" b="1" i="1" dirty="0">
                <a:highlight>
                  <a:srgbClr val="FFFF00"/>
                </a:highlight>
              </a:rPr>
              <a:t>: </a:t>
            </a:r>
            <a:r>
              <a:rPr lang="en-US" sz="2800" i="1" dirty="0" err="1">
                <a:highlight>
                  <a:srgbClr val="FFFF00"/>
                </a:highlight>
              </a:rPr>
              <a:t>Odatda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"...li", "...ga </a:t>
            </a:r>
            <a:r>
              <a:rPr lang="en-US" sz="2800" b="1" i="1" dirty="0" err="1">
                <a:highlight>
                  <a:srgbClr val="FFFF00"/>
                </a:highlight>
              </a:rPr>
              <a:t>ega</a:t>
            </a:r>
            <a:r>
              <a:rPr lang="en-US" sz="2800" b="1" i="1" dirty="0">
                <a:highlight>
                  <a:srgbClr val="FFFF00"/>
                </a:highlight>
              </a:rPr>
              <a:t>", "... </a:t>
            </a:r>
            <a:r>
              <a:rPr lang="en-US" sz="2800" b="1" i="1" dirty="0" err="1">
                <a:highlight>
                  <a:srgbClr val="FFFF00"/>
                </a:highlight>
              </a:rPr>
              <a:t>bilan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to'la</a:t>
            </a:r>
            <a:r>
              <a:rPr lang="en-US" sz="2800" b="1" i="1" dirty="0">
                <a:highlight>
                  <a:srgbClr val="FFFF00"/>
                </a:highlight>
              </a:rPr>
              <a:t>"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degan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ma'nolarni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beradi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fame → famous </a:t>
            </a:r>
            <a:r>
              <a:rPr lang="en-US" sz="2800" dirty="0"/>
              <a:t>→ </a:t>
            </a:r>
            <a:r>
              <a:rPr lang="en-US" sz="2800" dirty="0" err="1"/>
              <a:t>Shuxrat</a:t>
            </a:r>
            <a:r>
              <a:rPr lang="en-US" sz="2800" dirty="0"/>
              <a:t> is very </a:t>
            </a:r>
            <a:r>
              <a:rPr lang="en-US" sz="2800" b="1" dirty="0"/>
              <a:t>famous</a:t>
            </a:r>
            <a:r>
              <a:rPr lang="en-US" sz="2800" dirty="0"/>
              <a:t> among students.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danger → dangerous </a:t>
            </a:r>
            <a:r>
              <a:rPr lang="en-US" sz="2800" dirty="0"/>
              <a:t>→ That road is </a:t>
            </a:r>
            <a:r>
              <a:rPr lang="en-US" sz="2800" b="1" dirty="0"/>
              <a:t>dangerous</a:t>
            </a:r>
            <a:r>
              <a:rPr lang="en-US" sz="2800" dirty="0"/>
              <a:t> at night.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poison → poisonous </a:t>
            </a:r>
            <a:r>
              <a:rPr lang="en-US" sz="2800" dirty="0"/>
              <a:t>→ Some snakes are </a:t>
            </a:r>
            <a:r>
              <a:rPr lang="en-US" sz="2800" b="1" dirty="0"/>
              <a:t>poisonous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mystery → mysterious </a:t>
            </a:r>
            <a:r>
              <a:rPr lang="en-US" sz="2800" dirty="0"/>
              <a:t>→ He received a </a:t>
            </a:r>
            <a:r>
              <a:rPr lang="en-US" sz="2800" b="1" dirty="0"/>
              <a:t>mysterious</a:t>
            </a:r>
            <a:r>
              <a:rPr lang="en-US" sz="2800" dirty="0"/>
              <a:t> letter.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religion → religious </a:t>
            </a:r>
            <a:r>
              <a:rPr lang="en-US" sz="2800" dirty="0"/>
              <a:t>→ She comes from a </a:t>
            </a:r>
            <a:r>
              <a:rPr lang="en-US" sz="2800" b="1" dirty="0"/>
              <a:t>religious</a:t>
            </a:r>
            <a:r>
              <a:rPr lang="en-US" sz="2800" dirty="0"/>
              <a:t> family.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ambition → ambitious </a:t>
            </a:r>
            <a:r>
              <a:rPr lang="en-US" sz="2800" dirty="0"/>
              <a:t>→ He is an </a:t>
            </a:r>
            <a:r>
              <a:rPr lang="en-US" sz="2800" b="1" dirty="0"/>
              <a:t>ambitious</a:t>
            </a:r>
            <a:r>
              <a:rPr lang="en-US" sz="2800" dirty="0"/>
              <a:t> young man.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nerve → nervous </a:t>
            </a:r>
            <a:r>
              <a:rPr lang="en-US" sz="2800" dirty="0"/>
              <a:t>→ She felt </a:t>
            </a:r>
            <a:r>
              <a:rPr lang="en-US" sz="2800" b="1" dirty="0"/>
              <a:t>nervous</a:t>
            </a:r>
            <a:r>
              <a:rPr lang="en-US" sz="2800" dirty="0"/>
              <a:t> before the exam.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humor → humorous </a:t>
            </a:r>
            <a:r>
              <a:rPr lang="en-US" sz="2800" dirty="0"/>
              <a:t>→ He told a </a:t>
            </a:r>
            <a:r>
              <a:rPr lang="en-US" sz="2800" b="1" dirty="0"/>
              <a:t>humorous</a:t>
            </a:r>
            <a:r>
              <a:rPr lang="en-US" sz="2800" dirty="0"/>
              <a:t> story.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envy → envious </a:t>
            </a:r>
            <a:r>
              <a:rPr lang="en-US" sz="2800" dirty="0"/>
              <a:t>→ They were </a:t>
            </a:r>
            <a:r>
              <a:rPr lang="en-US" sz="2800" b="1" dirty="0"/>
              <a:t>envious</a:t>
            </a:r>
            <a:r>
              <a:rPr lang="en-US" sz="2800" dirty="0"/>
              <a:t> of his success.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017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67B89-A534-01BA-0192-CDA7D111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43897"/>
          </a:xfrm>
        </p:spPr>
        <p:txBody>
          <a:bodyPr/>
          <a:lstStyle/>
          <a:p>
            <a:pPr algn="ctr"/>
            <a:r>
              <a:rPr lang="en-US" b="1" dirty="0"/>
              <a:t>-y </a:t>
            </a:r>
            <a:r>
              <a:rPr lang="en-US" b="1" dirty="0">
                <a:solidFill>
                  <a:srgbClr val="FF0000"/>
                </a:solidFill>
              </a:rPr>
              <a:t>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B0E90-7C17-FEC4-B186-138091CC9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943897"/>
            <a:ext cx="11720052" cy="591410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400" b="1" i="1" dirty="0" err="1">
                <a:highlight>
                  <a:srgbClr val="FFFF00"/>
                </a:highlight>
              </a:rPr>
              <a:t>Ma'nosi</a:t>
            </a:r>
            <a:r>
              <a:rPr lang="en-US" sz="3400" b="1" i="1" dirty="0">
                <a:highlight>
                  <a:srgbClr val="FFFF00"/>
                </a:highlight>
              </a:rPr>
              <a:t>: </a:t>
            </a:r>
            <a:r>
              <a:rPr lang="en-US" sz="3400" i="1" dirty="0" err="1">
                <a:highlight>
                  <a:srgbClr val="FFFF00"/>
                </a:highlight>
              </a:rPr>
              <a:t>Odatda</a:t>
            </a:r>
            <a:r>
              <a:rPr lang="en-US" sz="3400" i="1" dirty="0">
                <a:highlight>
                  <a:srgbClr val="FFFF00"/>
                </a:highlight>
              </a:rPr>
              <a:t> </a:t>
            </a:r>
            <a:r>
              <a:rPr lang="en-US" sz="3400" b="1" i="1" dirty="0">
                <a:highlight>
                  <a:srgbClr val="FFFF00"/>
                </a:highlight>
              </a:rPr>
              <a:t>"...li", "...ga </a:t>
            </a:r>
            <a:r>
              <a:rPr lang="en-US" sz="3400" b="1" i="1" dirty="0" err="1">
                <a:highlight>
                  <a:srgbClr val="FFFF00"/>
                </a:highlight>
              </a:rPr>
              <a:t>to‘la</a:t>
            </a:r>
            <a:r>
              <a:rPr lang="en-US" sz="3400" b="1" i="1" dirty="0">
                <a:highlight>
                  <a:srgbClr val="FFFF00"/>
                </a:highlight>
              </a:rPr>
              <a:t>", "...ga </a:t>
            </a:r>
            <a:r>
              <a:rPr lang="en-US" sz="3400" b="1" i="1" dirty="0" err="1">
                <a:highlight>
                  <a:srgbClr val="FFFF00"/>
                </a:highlight>
              </a:rPr>
              <a:t>ega</a:t>
            </a:r>
            <a:r>
              <a:rPr lang="en-US" sz="3400" b="1" i="1" dirty="0">
                <a:highlight>
                  <a:srgbClr val="FFFF00"/>
                </a:highlight>
              </a:rPr>
              <a:t>"</a:t>
            </a:r>
            <a:r>
              <a:rPr lang="en-US" sz="3400" i="1" dirty="0">
                <a:highlight>
                  <a:srgbClr val="FFFF00"/>
                </a:highlight>
              </a:rPr>
              <a:t> </a:t>
            </a:r>
            <a:r>
              <a:rPr lang="en-US" sz="3400" i="1" dirty="0" err="1">
                <a:highlight>
                  <a:srgbClr val="FFFF00"/>
                </a:highlight>
              </a:rPr>
              <a:t>degan</a:t>
            </a:r>
            <a:r>
              <a:rPr lang="en-US" sz="3400" i="1" dirty="0">
                <a:highlight>
                  <a:srgbClr val="FFFF00"/>
                </a:highlight>
              </a:rPr>
              <a:t> </a:t>
            </a:r>
            <a:r>
              <a:rPr lang="en-US" sz="3400" i="1" dirty="0" err="1">
                <a:highlight>
                  <a:srgbClr val="FFFF00"/>
                </a:highlight>
              </a:rPr>
              <a:t>ma'nolarni</a:t>
            </a:r>
            <a:r>
              <a:rPr lang="en-US" sz="3400" i="1" dirty="0">
                <a:highlight>
                  <a:srgbClr val="FFFF00"/>
                </a:highlight>
              </a:rPr>
              <a:t> </a:t>
            </a:r>
            <a:r>
              <a:rPr lang="en-US" sz="3400" i="1" dirty="0" err="1">
                <a:highlight>
                  <a:srgbClr val="FFFF00"/>
                </a:highlight>
              </a:rPr>
              <a:t>beradi</a:t>
            </a:r>
            <a:r>
              <a:rPr lang="en-US" sz="34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400" b="1" dirty="0">
                <a:solidFill>
                  <a:srgbClr val="00B050"/>
                </a:solidFill>
              </a:rPr>
              <a:t>wind → windy </a:t>
            </a:r>
            <a:r>
              <a:rPr lang="en-US" sz="3400" dirty="0"/>
              <a:t>→ It was so </a:t>
            </a:r>
            <a:r>
              <a:rPr lang="en-US" sz="3400" b="1" dirty="0"/>
              <a:t>windy</a:t>
            </a:r>
            <a:r>
              <a:rPr lang="en-US" sz="3400" dirty="0"/>
              <a:t> yesterday. </a:t>
            </a:r>
          </a:p>
          <a:p>
            <a:pPr>
              <a:lnSpc>
                <a:spcPct val="120000"/>
              </a:lnSpc>
            </a:pPr>
            <a:r>
              <a:rPr lang="en-US" sz="3400" b="1" dirty="0">
                <a:solidFill>
                  <a:srgbClr val="00B050"/>
                </a:solidFill>
              </a:rPr>
              <a:t>cloud → cloudy </a:t>
            </a:r>
            <a:r>
              <a:rPr lang="en-US" sz="3400" dirty="0"/>
              <a:t>→ The sky looks </a:t>
            </a:r>
            <a:r>
              <a:rPr lang="en-US" sz="3400" b="1" dirty="0"/>
              <a:t>cloudy</a:t>
            </a:r>
            <a:r>
              <a:rPr lang="en-US" sz="3400" dirty="0"/>
              <a:t>. </a:t>
            </a:r>
          </a:p>
          <a:p>
            <a:pPr>
              <a:lnSpc>
                <a:spcPct val="120000"/>
              </a:lnSpc>
            </a:pPr>
            <a:r>
              <a:rPr lang="en-US" sz="3400" b="1" dirty="0">
                <a:solidFill>
                  <a:srgbClr val="00B050"/>
                </a:solidFill>
              </a:rPr>
              <a:t>snow → snowy </a:t>
            </a:r>
            <a:r>
              <a:rPr lang="en-US" sz="3400" dirty="0"/>
              <a:t>→ We had a </a:t>
            </a:r>
            <a:r>
              <a:rPr lang="en-US" sz="3400" b="1" dirty="0"/>
              <a:t>snowy</a:t>
            </a:r>
            <a:r>
              <a:rPr lang="en-US" sz="3400" dirty="0"/>
              <a:t> winter. </a:t>
            </a:r>
          </a:p>
          <a:p>
            <a:pPr>
              <a:lnSpc>
                <a:spcPct val="120000"/>
              </a:lnSpc>
            </a:pPr>
            <a:r>
              <a:rPr lang="en-US" sz="3400" b="1" dirty="0">
                <a:solidFill>
                  <a:srgbClr val="00B050"/>
                </a:solidFill>
              </a:rPr>
              <a:t>fog → foggy </a:t>
            </a:r>
            <a:r>
              <a:rPr lang="en-US" sz="3400" dirty="0"/>
              <a:t>→ It was </a:t>
            </a:r>
            <a:r>
              <a:rPr lang="en-US" sz="3400" b="1" dirty="0"/>
              <a:t>foggy</a:t>
            </a:r>
            <a:r>
              <a:rPr lang="en-US" sz="3400" dirty="0"/>
              <a:t> in the morning. </a:t>
            </a:r>
          </a:p>
          <a:p>
            <a:pPr>
              <a:lnSpc>
                <a:spcPct val="120000"/>
              </a:lnSpc>
            </a:pPr>
            <a:r>
              <a:rPr lang="en-US" sz="3400" b="1" dirty="0">
                <a:solidFill>
                  <a:srgbClr val="00B050"/>
                </a:solidFill>
              </a:rPr>
              <a:t>dirt → dirty </a:t>
            </a:r>
            <a:r>
              <a:rPr lang="en-US" sz="3400" dirty="0"/>
              <a:t>→ Your shoes are </a:t>
            </a:r>
            <a:r>
              <a:rPr lang="en-US" sz="3400" b="1" dirty="0"/>
              <a:t>dirty</a:t>
            </a:r>
            <a:r>
              <a:rPr lang="en-US" sz="3400" dirty="0"/>
              <a:t>. </a:t>
            </a:r>
          </a:p>
          <a:p>
            <a:pPr>
              <a:lnSpc>
                <a:spcPct val="120000"/>
              </a:lnSpc>
            </a:pPr>
            <a:r>
              <a:rPr lang="en-US" sz="3400" b="1" dirty="0">
                <a:solidFill>
                  <a:srgbClr val="00B050"/>
                </a:solidFill>
              </a:rPr>
              <a:t>fun → funny </a:t>
            </a:r>
            <a:r>
              <a:rPr lang="en-US" sz="3400" dirty="0"/>
              <a:t>→ That movie was really </a:t>
            </a:r>
            <a:r>
              <a:rPr lang="en-US" sz="3400" b="1" dirty="0"/>
              <a:t>funny</a:t>
            </a:r>
            <a:r>
              <a:rPr lang="en-US" sz="3400" dirty="0"/>
              <a:t>. </a:t>
            </a:r>
          </a:p>
          <a:p>
            <a:pPr>
              <a:lnSpc>
                <a:spcPct val="120000"/>
              </a:lnSpc>
            </a:pPr>
            <a:r>
              <a:rPr lang="en-US" sz="3400" b="1" dirty="0">
                <a:solidFill>
                  <a:srgbClr val="00B050"/>
                </a:solidFill>
              </a:rPr>
              <a:t>sleep → sleepy </a:t>
            </a:r>
            <a:r>
              <a:rPr lang="en-US" sz="3400" dirty="0"/>
              <a:t>→ I feel </a:t>
            </a:r>
            <a:r>
              <a:rPr lang="en-US" sz="3400" b="1" dirty="0"/>
              <a:t>sleepy</a:t>
            </a:r>
            <a:r>
              <a:rPr lang="en-US" sz="3400" dirty="0"/>
              <a:t> after lunch. </a:t>
            </a:r>
          </a:p>
          <a:p>
            <a:pPr>
              <a:lnSpc>
                <a:spcPct val="120000"/>
              </a:lnSpc>
            </a:pPr>
            <a:r>
              <a:rPr lang="en-US" sz="3400" b="1" dirty="0">
                <a:solidFill>
                  <a:srgbClr val="00B050"/>
                </a:solidFill>
              </a:rPr>
              <a:t>taste → tasty </a:t>
            </a:r>
            <a:r>
              <a:rPr lang="en-US" sz="3400" dirty="0"/>
              <a:t>→ The cake was very </a:t>
            </a:r>
            <a:r>
              <a:rPr lang="en-US" sz="3400" b="1" dirty="0"/>
              <a:t>tasty</a:t>
            </a:r>
            <a:r>
              <a:rPr lang="en-US" sz="3400" dirty="0"/>
              <a:t>. </a:t>
            </a:r>
          </a:p>
          <a:p>
            <a:pPr>
              <a:lnSpc>
                <a:spcPct val="120000"/>
              </a:lnSpc>
            </a:pPr>
            <a:r>
              <a:rPr lang="en-US" sz="3400" b="1" dirty="0">
                <a:solidFill>
                  <a:srgbClr val="00B050"/>
                </a:solidFill>
              </a:rPr>
              <a:t>ice → icy </a:t>
            </a:r>
            <a:r>
              <a:rPr lang="en-US" sz="3400" dirty="0"/>
              <a:t>→ The roads were </a:t>
            </a:r>
            <a:r>
              <a:rPr lang="en-US" sz="3400" b="1" dirty="0"/>
              <a:t>icy</a:t>
            </a:r>
            <a:r>
              <a:rPr lang="en-US" sz="3400" dirty="0"/>
              <a:t> this morning.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498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81F8A-1EDB-3616-C246-F31C58B8F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20877"/>
          </a:xfrm>
        </p:spPr>
        <p:txBody>
          <a:bodyPr/>
          <a:lstStyle/>
          <a:p>
            <a:pPr algn="ctr"/>
            <a:r>
              <a:rPr lang="en-US" b="1" dirty="0"/>
              <a:t>un- </a:t>
            </a:r>
            <a:r>
              <a:rPr lang="en-US" b="1" dirty="0">
                <a:solidFill>
                  <a:srgbClr val="FF0000"/>
                </a:solidFill>
              </a:rPr>
              <a:t>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B81FF-D90F-C5FC-3AA6-64F7BBF0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1120877"/>
            <a:ext cx="11572568" cy="573712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i="1" dirty="0" err="1">
                <a:highlight>
                  <a:srgbClr val="FFFF00"/>
                </a:highlight>
              </a:rPr>
              <a:t>Ma'nosi</a:t>
            </a:r>
            <a:r>
              <a:rPr lang="en-US" sz="2800" b="1" i="1" dirty="0">
                <a:highlight>
                  <a:srgbClr val="FFFF00"/>
                </a:highlight>
              </a:rPr>
              <a:t>: "</a:t>
            </a:r>
            <a:r>
              <a:rPr lang="en-US" sz="2800" b="1" i="1" dirty="0" err="1">
                <a:highlight>
                  <a:srgbClr val="FFFF00"/>
                </a:highlight>
              </a:rPr>
              <a:t>emas</a:t>
            </a:r>
            <a:r>
              <a:rPr lang="en-US" sz="2800" b="1" i="1" dirty="0">
                <a:highlight>
                  <a:srgbClr val="FFFF00"/>
                </a:highlight>
              </a:rPr>
              <a:t>", "</a:t>
            </a:r>
            <a:r>
              <a:rPr lang="en-US" sz="2800" b="1" i="1" dirty="0" err="1">
                <a:highlight>
                  <a:srgbClr val="FFFF00"/>
                </a:highlight>
              </a:rPr>
              <a:t>yo‘q</a:t>
            </a:r>
            <a:r>
              <a:rPr lang="en-US" sz="2800" b="1" i="1" dirty="0">
                <a:highlight>
                  <a:srgbClr val="FFFF00"/>
                </a:highlight>
              </a:rPr>
              <a:t>", "</a:t>
            </a:r>
            <a:r>
              <a:rPr lang="en-US" sz="2800" b="1" i="1" dirty="0" err="1">
                <a:highlight>
                  <a:srgbClr val="FFFF00"/>
                </a:highlight>
              </a:rPr>
              <a:t>qarama-qarshi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ma'no</a:t>
            </a:r>
            <a:r>
              <a:rPr lang="en-US" sz="2800" b="1" i="1" dirty="0">
                <a:highlight>
                  <a:srgbClr val="FFFF00"/>
                </a:highlight>
              </a:rPr>
              <a:t>"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beradi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happy → unhappy </a:t>
            </a:r>
            <a:r>
              <a:rPr lang="en-US" sz="2800" dirty="0"/>
              <a:t>→ Jasur looks </a:t>
            </a:r>
            <a:r>
              <a:rPr lang="en-US" sz="2800" b="1" dirty="0"/>
              <a:t>unhappy</a:t>
            </a:r>
            <a:r>
              <a:rPr lang="en-US" sz="2800" dirty="0"/>
              <a:t> today.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kind → unkind </a:t>
            </a:r>
            <a:r>
              <a:rPr lang="en-US" sz="2800" dirty="0"/>
              <a:t>→ It was </a:t>
            </a:r>
            <a:r>
              <a:rPr lang="en-US" sz="2800" b="1" dirty="0"/>
              <a:t>unkind</a:t>
            </a:r>
            <a:r>
              <a:rPr lang="en-US" sz="2800" dirty="0"/>
              <a:t> of him to laugh.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fair → unfair </a:t>
            </a:r>
            <a:r>
              <a:rPr lang="en-US" sz="2800" dirty="0"/>
              <a:t>→ The decision was </a:t>
            </a:r>
            <a:r>
              <a:rPr lang="en-US" sz="2800" b="1" dirty="0"/>
              <a:t>unfair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lucky → unlucky </a:t>
            </a:r>
            <a:r>
              <a:rPr lang="en-US" sz="2800" dirty="0"/>
              <a:t>→ He was </a:t>
            </a:r>
            <a:r>
              <a:rPr lang="en-US" sz="2800" b="1" dirty="0"/>
              <a:t>unlucky</a:t>
            </a:r>
            <a:r>
              <a:rPr lang="en-US" sz="2800" dirty="0"/>
              <a:t> in the competition.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friendly → unfriendly </a:t>
            </a:r>
            <a:r>
              <a:rPr lang="en-US" sz="2800" dirty="0"/>
              <a:t>→ The waiter seemed </a:t>
            </a:r>
            <a:r>
              <a:rPr lang="en-US" sz="2800" b="1" dirty="0"/>
              <a:t>unfriendly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usual → unusual </a:t>
            </a:r>
            <a:r>
              <a:rPr lang="en-US" sz="2800" dirty="0"/>
              <a:t>→ That is an </a:t>
            </a:r>
            <a:r>
              <a:rPr lang="en-US" sz="2800" b="1" dirty="0"/>
              <a:t>unusual</a:t>
            </a:r>
            <a:r>
              <a:rPr lang="en-US" sz="2800" dirty="0"/>
              <a:t> situation.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certain → uncertain </a:t>
            </a:r>
            <a:r>
              <a:rPr lang="en-US" sz="2800" dirty="0"/>
              <a:t>→ I am </a:t>
            </a:r>
            <a:r>
              <a:rPr lang="en-US" sz="2800" b="1" dirty="0"/>
              <a:t>uncertain</a:t>
            </a:r>
            <a:r>
              <a:rPr lang="en-US" sz="2800" dirty="0"/>
              <a:t> about the result.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necessary → unnecessary </a:t>
            </a:r>
            <a:r>
              <a:rPr lang="en-US" sz="2800" dirty="0"/>
              <a:t>→ That expense was </a:t>
            </a:r>
            <a:r>
              <a:rPr lang="en-US" sz="2800" b="1" dirty="0"/>
              <a:t>unnecessary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successful → unsuccessful </a:t>
            </a:r>
            <a:r>
              <a:rPr lang="en-US" sz="2800" dirty="0"/>
              <a:t>→ Their attempt was </a:t>
            </a:r>
            <a:r>
              <a:rPr lang="en-US" sz="2800" b="1" dirty="0"/>
              <a:t>unsuccessful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338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F4153-2E35-C67A-9A88-C9E6776E2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ABE3-9EFB-29A0-9213-43B9671D6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83227"/>
          </a:xfrm>
        </p:spPr>
        <p:txBody>
          <a:bodyPr/>
          <a:lstStyle/>
          <a:p>
            <a:pPr algn="ctr"/>
            <a:r>
              <a:rPr lang="en-US" b="1" dirty="0"/>
              <a:t>in- </a:t>
            </a:r>
            <a:r>
              <a:rPr lang="en-US" b="1" dirty="0">
                <a:solidFill>
                  <a:srgbClr val="FF0000"/>
                </a:solidFill>
              </a:rPr>
              <a:t>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59A50-740C-55E4-13CA-1FD423F00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983227"/>
            <a:ext cx="11572568" cy="5874774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2800" b="1" i="1" dirty="0" err="1">
                <a:highlight>
                  <a:srgbClr val="FFFF00"/>
                </a:highlight>
              </a:rPr>
              <a:t>Ma'nosi</a:t>
            </a:r>
            <a:r>
              <a:rPr lang="en-US" sz="2800" b="1" i="1" dirty="0">
                <a:highlight>
                  <a:srgbClr val="FFFF00"/>
                </a:highlight>
              </a:rPr>
              <a:t>: "</a:t>
            </a:r>
            <a:r>
              <a:rPr lang="en-US" sz="2800" b="1" i="1" dirty="0" err="1">
                <a:highlight>
                  <a:srgbClr val="FFFF00"/>
                </a:highlight>
              </a:rPr>
              <a:t>emas</a:t>
            </a:r>
            <a:r>
              <a:rPr lang="en-US" sz="2800" b="1" i="1" dirty="0">
                <a:highlight>
                  <a:srgbClr val="FFFF00"/>
                </a:highlight>
              </a:rPr>
              <a:t>", "</a:t>
            </a:r>
            <a:r>
              <a:rPr lang="en-US" sz="2800" b="1" i="1" dirty="0" err="1">
                <a:highlight>
                  <a:srgbClr val="FFFF00"/>
                </a:highlight>
              </a:rPr>
              <a:t>yo‘q</a:t>
            </a:r>
            <a:r>
              <a:rPr lang="en-US" sz="2800" b="1" i="1" dirty="0">
                <a:highlight>
                  <a:srgbClr val="FFFF00"/>
                </a:highlight>
              </a:rPr>
              <a:t>", "</a:t>
            </a:r>
            <a:r>
              <a:rPr lang="en-US" sz="2800" b="1" i="1" dirty="0" err="1">
                <a:highlight>
                  <a:srgbClr val="FFFF00"/>
                </a:highlight>
              </a:rPr>
              <a:t>qarama-qarshi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ma'no</a:t>
            </a:r>
            <a:r>
              <a:rPr lang="en-US" sz="2800" b="1" i="1" dirty="0">
                <a:highlight>
                  <a:srgbClr val="FFFF00"/>
                </a:highlight>
              </a:rPr>
              <a:t>"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beradi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active → inactive </a:t>
            </a:r>
            <a:r>
              <a:rPr lang="en-US" sz="2800" dirty="0"/>
              <a:t>→ The account is </a:t>
            </a:r>
            <a:r>
              <a:rPr lang="en-US" sz="2800" b="1" dirty="0"/>
              <a:t>inactive</a:t>
            </a:r>
            <a:r>
              <a:rPr lang="en-US" sz="2800" dirty="0"/>
              <a:t>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correct → incorrect </a:t>
            </a:r>
            <a:r>
              <a:rPr lang="en-US" sz="2800" dirty="0"/>
              <a:t>→ Your answer is </a:t>
            </a:r>
            <a:r>
              <a:rPr lang="en-US" sz="2800" b="1" dirty="0"/>
              <a:t>incorrect</a:t>
            </a:r>
            <a:r>
              <a:rPr lang="en-US" sz="2800" dirty="0"/>
              <a:t>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complete → incomplete </a:t>
            </a:r>
            <a:r>
              <a:rPr lang="en-US" sz="2800" dirty="0"/>
              <a:t>→ The report is </a:t>
            </a:r>
            <a:r>
              <a:rPr lang="en-US" sz="2800" b="1" dirty="0"/>
              <a:t>incomplete</a:t>
            </a:r>
            <a:r>
              <a:rPr lang="en-US" sz="2800" dirty="0"/>
              <a:t>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direct → indirect </a:t>
            </a:r>
            <a:r>
              <a:rPr lang="en-US" sz="2800" dirty="0"/>
              <a:t>→ He gave an </a:t>
            </a:r>
            <a:r>
              <a:rPr lang="en-US" sz="2800" b="1" dirty="0"/>
              <a:t>indirect</a:t>
            </a:r>
            <a:r>
              <a:rPr lang="en-US" sz="2800" dirty="0"/>
              <a:t> answer.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visible → invisible </a:t>
            </a:r>
            <a:r>
              <a:rPr lang="en-US" sz="2800" dirty="0"/>
              <a:t>→ The stars were almost </a:t>
            </a:r>
            <a:r>
              <a:rPr lang="en-US" sz="2800" b="1" dirty="0"/>
              <a:t>invisible</a:t>
            </a:r>
            <a:r>
              <a:rPr lang="en-US" sz="2800" dirty="0"/>
              <a:t>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formal → informal </a:t>
            </a:r>
            <a:r>
              <a:rPr lang="en-US" sz="2800" dirty="0"/>
              <a:t>→ He was wearing </a:t>
            </a:r>
            <a:r>
              <a:rPr lang="en-US" sz="2800" b="1" dirty="0"/>
              <a:t>informal</a:t>
            </a:r>
            <a:r>
              <a:rPr lang="en-US" sz="2800" dirty="0"/>
              <a:t> clothes.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accurate → inaccurate </a:t>
            </a:r>
            <a:r>
              <a:rPr lang="en-US" sz="2800" dirty="0"/>
              <a:t>→ The information was </a:t>
            </a:r>
            <a:r>
              <a:rPr lang="en-US" sz="2800" b="1" dirty="0"/>
              <a:t>inaccurate</a:t>
            </a:r>
            <a:r>
              <a:rPr lang="en-US" sz="2800" dirty="0"/>
              <a:t>. </a:t>
            </a: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capable → incapable </a:t>
            </a:r>
            <a:r>
              <a:rPr lang="en-US" sz="2800" dirty="0"/>
              <a:t>→ He is </a:t>
            </a:r>
            <a:r>
              <a:rPr lang="en-US" sz="2800" b="1" dirty="0"/>
              <a:t>incapable</a:t>
            </a:r>
            <a:r>
              <a:rPr lang="en-US" sz="2800" dirty="0"/>
              <a:t> of lying. </a:t>
            </a:r>
          </a:p>
          <a:p>
            <a:pPr>
              <a:lnSpc>
                <a:spcPct val="110000"/>
              </a:lnSpc>
            </a:pPr>
            <a:r>
              <a:rPr lang="en-US" sz="2800" b="1" dirty="0"/>
              <a:t>efficient → inefficient </a:t>
            </a:r>
            <a:r>
              <a:rPr lang="en-US" sz="2800" dirty="0"/>
              <a:t>→ The old system was </a:t>
            </a:r>
            <a:r>
              <a:rPr lang="en-US" sz="2800" b="1" dirty="0"/>
              <a:t>inefficient</a:t>
            </a:r>
            <a:r>
              <a:rPr lang="en-US" sz="2800" dirty="0"/>
              <a:t>.</a:t>
            </a:r>
          </a:p>
          <a:p>
            <a:pPr>
              <a:lnSpc>
                <a:spcPct val="11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04002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25E3-DAEF-BBF7-18C4-ADBFD9BB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39C5-359C-BD87-0F46-98ED87D1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83227"/>
          </a:xfrm>
        </p:spPr>
        <p:txBody>
          <a:bodyPr/>
          <a:lstStyle/>
          <a:p>
            <a:pPr algn="ctr"/>
            <a:r>
              <a:rPr lang="en-US" b="1" dirty="0"/>
              <a:t>im- </a:t>
            </a:r>
            <a:r>
              <a:rPr lang="en-US" b="1" dirty="0">
                <a:solidFill>
                  <a:srgbClr val="FF0000"/>
                </a:solidFill>
              </a:rPr>
              <a:t>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EF427-A71A-0799-14C3-7C0BD71F0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983227"/>
            <a:ext cx="11572568" cy="587477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i="1" dirty="0" err="1">
                <a:highlight>
                  <a:srgbClr val="FFFF00"/>
                </a:highlight>
              </a:rPr>
              <a:t>Ma'nosi</a:t>
            </a:r>
            <a:r>
              <a:rPr lang="en-US" sz="2800" b="1" i="1" dirty="0">
                <a:highlight>
                  <a:srgbClr val="FFFF00"/>
                </a:highlight>
              </a:rPr>
              <a:t>: "</a:t>
            </a:r>
            <a:r>
              <a:rPr lang="en-US" sz="2800" b="1" i="1" dirty="0" err="1">
                <a:highlight>
                  <a:srgbClr val="FFFF00"/>
                </a:highlight>
              </a:rPr>
              <a:t>emas</a:t>
            </a:r>
            <a:r>
              <a:rPr lang="en-US" sz="2800" b="1" i="1" dirty="0">
                <a:highlight>
                  <a:srgbClr val="FFFF00"/>
                </a:highlight>
              </a:rPr>
              <a:t>", "</a:t>
            </a:r>
            <a:r>
              <a:rPr lang="en-US" sz="2800" b="1" i="1" dirty="0" err="1">
                <a:highlight>
                  <a:srgbClr val="FFFF00"/>
                </a:highlight>
              </a:rPr>
              <a:t>yo‘q</a:t>
            </a:r>
            <a:r>
              <a:rPr lang="en-US" sz="2800" b="1" i="1" dirty="0">
                <a:highlight>
                  <a:srgbClr val="FFFF00"/>
                </a:highlight>
              </a:rPr>
              <a:t>", "</a:t>
            </a:r>
            <a:r>
              <a:rPr lang="en-US" sz="2800" b="1" i="1" dirty="0" err="1">
                <a:highlight>
                  <a:srgbClr val="FFFF00"/>
                </a:highlight>
              </a:rPr>
              <a:t>qarama-qarshi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ma'no</a:t>
            </a:r>
            <a:r>
              <a:rPr lang="en-US" sz="2800" b="1" i="1" dirty="0">
                <a:highlight>
                  <a:srgbClr val="FFFF00"/>
                </a:highlight>
              </a:rPr>
              <a:t>"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beradi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polite → impolite </a:t>
            </a:r>
            <a:r>
              <a:rPr lang="en-US" sz="2800" dirty="0"/>
              <a:t>→ He was </a:t>
            </a:r>
            <a:r>
              <a:rPr lang="en-US" sz="2800" b="1" dirty="0"/>
              <a:t>impolite</a:t>
            </a:r>
            <a:r>
              <a:rPr lang="en-US" sz="2800" dirty="0"/>
              <a:t> to the waiter.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patient → impatient </a:t>
            </a:r>
            <a:r>
              <a:rPr lang="en-US" sz="2800" dirty="0"/>
              <a:t>→ The children became </a:t>
            </a:r>
            <a:r>
              <a:rPr lang="en-US" sz="2800" b="1" dirty="0"/>
              <a:t>impatient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perfect → imperfect </a:t>
            </a:r>
            <a:r>
              <a:rPr lang="en-US" sz="2800" dirty="0"/>
              <a:t>→ Nobody is perfect; everyone is </a:t>
            </a:r>
            <a:r>
              <a:rPr lang="en-US" sz="2800" b="1" dirty="0"/>
              <a:t>imperfect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mature → immature </a:t>
            </a:r>
            <a:r>
              <a:rPr lang="en-US" sz="2800" dirty="0"/>
              <a:t>→ His behavior was </a:t>
            </a:r>
            <a:r>
              <a:rPr lang="en-US" sz="2800" b="1" dirty="0"/>
              <a:t>immature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practical → impractical </a:t>
            </a:r>
            <a:r>
              <a:rPr lang="en-US" sz="2800" dirty="0"/>
              <a:t>→ That plan seems </a:t>
            </a:r>
            <a:r>
              <a:rPr lang="en-US" sz="2800" b="1" dirty="0"/>
              <a:t>impractical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personal → impersonal </a:t>
            </a:r>
            <a:r>
              <a:rPr lang="en-US" sz="2800" dirty="0"/>
              <a:t>→ The letter felt </a:t>
            </a:r>
            <a:r>
              <a:rPr lang="en-US" sz="2800" b="1" dirty="0"/>
              <a:t>impersonal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pure → impure </a:t>
            </a:r>
            <a:r>
              <a:rPr lang="en-US" sz="2800" dirty="0"/>
              <a:t>→ The water was </a:t>
            </a:r>
            <a:r>
              <a:rPr lang="en-US" sz="2800" b="1" dirty="0"/>
              <a:t>impure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precise → imprecise </a:t>
            </a:r>
            <a:r>
              <a:rPr lang="en-US" sz="2800" dirty="0"/>
              <a:t>→ His explanation was </a:t>
            </a:r>
            <a:r>
              <a:rPr lang="en-US" sz="2800" b="1" dirty="0"/>
              <a:t>imprecise</a:t>
            </a:r>
            <a:r>
              <a:rPr lang="en-US" sz="2800" dirty="0"/>
              <a:t>. </a:t>
            </a:r>
          </a:p>
          <a:p>
            <a:pPr>
              <a:lnSpc>
                <a:spcPct val="11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61213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C8115-9BEE-D3BF-2DEC-95CA517C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0430C-5F2B-0A38-418E-2ED2AF3E7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83227"/>
          </a:xfrm>
        </p:spPr>
        <p:txBody>
          <a:bodyPr/>
          <a:lstStyle/>
          <a:p>
            <a:pPr algn="ctr"/>
            <a:r>
              <a:rPr lang="en-US" b="1" dirty="0"/>
              <a:t>im- </a:t>
            </a:r>
            <a:r>
              <a:rPr lang="en-US" b="1" dirty="0">
                <a:solidFill>
                  <a:srgbClr val="FF0000"/>
                </a:solidFill>
              </a:rPr>
              <a:t>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85D08-A5D4-9D92-4EEB-F33A005A9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32" y="983227"/>
            <a:ext cx="11572568" cy="587477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i="1" dirty="0" err="1">
                <a:highlight>
                  <a:srgbClr val="FFFF00"/>
                </a:highlight>
              </a:rPr>
              <a:t>Ma'nosi</a:t>
            </a:r>
            <a:r>
              <a:rPr lang="en-US" sz="2800" b="1" i="1" dirty="0">
                <a:highlight>
                  <a:srgbClr val="FFFF00"/>
                </a:highlight>
              </a:rPr>
              <a:t>: "</a:t>
            </a:r>
            <a:r>
              <a:rPr lang="en-US" sz="2800" b="1" i="1" dirty="0" err="1">
                <a:highlight>
                  <a:srgbClr val="FFFF00"/>
                </a:highlight>
              </a:rPr>
              <a:t>emas</a:t>
            </a:r>
            <a:r>
              <a:rPr lang="en-US" sz="2800" b="1" i="1" dirty="0">
                <a:highlight>
                  <a:srgbClr val="FFFF00"/>
                </a:highlight>
              </a:rPr>
              <a:t>", "</a:t>
            </a:r>
            <a:r>
              <a:rPr lang="en-US" sz="2800" b="1" i="1" dirty="0" err="1">
                <a:highlight>
                  <a:srgbClr val="FFFF00"/>
                </a:highlight>
              </a:rPr>
              <a:t>yo‘q</a:t>
            </a:r>
            <a:r>
              <a:rPr lang="en-US" sz="2800" b="1" i="1" dirty="0">
                <a:highlight>
                  <a:srgbClr val="FFFF00"/>
                </a:highlight>
              </a:rPr>
              <a:t>", "</a:t>
            </a:r>
            <a:r>
              <a:rPr lang="en-US" sz="2800" b="1" i="1" dirty="0" err="1">
                <a:highlight>
                  <a:srgbClr val="FFFF00"/>
                </a:highlight>
              </a:rPr>
              <a:t>qarama-qarshi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ma'no</a:t>
            </a:r>
            <a:r>
              <a:rPr lang="en-US" sz="2800" b="1" i="1" dirty="0">
                <a:highlight>
                  <a:srgbClr val="FFFF00"/>
                </a:highlight>
              </a:rPr>
              <a:t>"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beradi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polite → impolite </a:t>
            </a:r>
            <a:r>
              <a:rPr lang="en-US" sz="2800" dirty="0"/>
              <a:t>→ He was </a:t>
            </a:r>
            <a:r>
              <a:rPr lang="en-US" sz="2800" b="1" dirty="0"/>
              <a:t>impolite</a:t>
            </a:r>
            <a:r>
              <a:rPr lang="en-US" sz="2800" dirty="0"/>
              <a:t> to the waiter.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patient → impatient </a:t>
            </a:r>
            <a:r>
              <a:rPr lang="en-US" sz="2800" dirty="0"/>
              <a:t>→ The children became </a:t>
            </a:r>
            <a:r>
              <a:rPr lang="en-US" sz="2800" b="1" dirty="0"/>
              <a:t>impatient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perfect → imperfect </a:t>
            </a:r>
            <a:r>
              <a:rPr lang="en-US" sz="2800" dirty="0"/>
              <a:t>→ Nobody is perfect; everyone is </a:t>
            </a:r>
            <a:r>
              <a:rPr lang="en-US" sz="2800" b="1" dirty="0"/>
              <a:t>imperfect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mature → immature </a:t>
            </a:r>
            <a:r>
              <a:rPr lang="en-US" sz="2800" dirty="0"/>
              <a:t>→ His behavior was </a:t>
            </a:r>
            <a:r>
              <a:rPr lang="en-US" sz="2800" b="1" dirty="0"/>
              <a:t>immature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practical → impractical </a:t>
            </a:r>
            <a:r>
              <a:rPr lang="en-US" sz="2800" dirty="0"/>
              <a:t>→ That plan seems </a:t>
            </a:r>
            <a:r>
              <a:rPr lang="en-US" sz="2800" b="1" dirty="0"/>
              <a:t>impractical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personal → impersonal </a:t>
            </a:r>
            <a:r>
              <a:rPr lang="en-US" sz="2800" dirty="0"/>
              <a:t>→ The letter felt </a:t>
            </a:r>
            <a:r>
              <a:rPr lang="en-US" sz="2800" b="1" dirty="0"/>
              <a:t>impersonal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pure → impure </a:t>
            </a:r>
            <a:r>
              <a:rPr lang="en-US" sz="2800" dirty="0"/>
              <a:t>→ The water was </a:t>
            </a:r>
            <a:r>
              <a:rPr lang="en-US" sz="2800" b="1" dirty="0"/>
              <a:t>impure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precise → imprecise </a:t>
            </a:r>
            <a:r>
              <a:rPr lang="en-US" sz="2800" dirty="0"/>
              <a:t>→ His explanation was </a:t>
            </a:r>
            <a:r>
              <a:rPr lang="en-US" sz="2800" b="1" dirty="0"/>
              <a:t>imprecise</a:t>
            </a:r>
            <a:r>
              <a:rPr lang="en-US" sz="2800" dirty="0"/>
              <a:t>. </a:t>
            </a:r>
          </a:p>
          <a:p>
            <a:pPr>
              <a:lnSpc>
                <a:spcPct val="11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3667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532B-973A-BC29-5C87-DAD82E580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A376C-F6C1-0285-9257-148FD2D7B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83227"/>
          </a:xfrm>
        </p:spPr>
        <p:txBody>
          <a:bodyPr/>
          <a:lstStyle/>
          <a:p>
            <a:pPr algn="ctr"/>
            <a:r>
              <a:rPr lang="en-US" b="1" dirty="0" err="1"/>
              <a:t>ir</a:t>
            </a:r>
            <a:r>
              <a:rPr lang="en-US" b="1" dirty="0"/>
              <a:t>- </a:t>
            </a:r>
            <a:r>
              <a:rPr lang="en-US" b="1" dirty="0">
                <a:solidFill>
                  <a:srgbClr val="FF0000"/>
                </a:solidFill>
              </a:rPr>
              <a:t>Adjectives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95194-A892-2B72-E487-D8CF9684E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983227"/>
            <a:ext cx="11838039" cy="587477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i="1" dirty="0" err="1">
                <a:highlight>
                  <a:srgbClr val="FFFF00"/>
                </a:highlight>
              </a:rPr>
              <a:t>Ma'nosi</a:t>
            </a:r>
            <a:r>
              <a:rPr lang="en-US" sz="2800" b="1" i="1" dirty="0">
                <a:highlight>
                  <a:srgbClr val="FFFF00"/>
                </a:highlight>
              </a:rPr>
              <a:t>: "</a:t>
            </a:r>
            <a:r>
              <a:rPr lang="en-US" sz="2800" b="1" i="1" dirty="0" err="1">
                <a:highlight>
                  <a:srgbClr val="FFFF00"/>
                </a:highlight>
              </a:rPr>
              <a:t>emas</a:t>
            </a:r>
            <a:r>
              <a:rPr lang="en-US" sz="2800" b="1" i="1" dirty="0">
                <a:highlight>
                  <a:srgbClr val="FFFF00"/>
                </a:highlight>
              </a:rPr>
              <a:t>", "</a:t>
            </a:r>
            <a:r>
              <a:rPr lang="en-US" sz="2800" b="1" i="1" dirty="0" err="1">
                <a:highlight>
                  <a:srgbClr val="FFFF00"/>
                </a:highlight>
              </a:rPr>
              <a:t>yo‘q</a:t>
            </a:r>
            <a:r>
              <a:rPr lang="en-US" sz="2800" b="1" i="1" dirty="0">
                <a:highlight>
                  <a:srgbClr val="FFFF00"/>
                </a:highlight>
              </a:rPr>
              <a:t>", "</a:t>
            </a:r>
            <a:r>
              <a:rPr lang="en-US" sz="2800" b="1" i="1" dirty="0" err="1">
                <a:highlight>
                  <a:srgbClr val="FFFF00"/>
                </a:highlight>
              </a:rPr>
              <a:t>qarama-qarshi</a:t>
            </a:r>
            <a:r>
              <a:rPr lang="en-US" sz="2800" b="1" i="1" dirty="0">
                <a:highlight>
                  <a:srgbClr val="FFFF00"/>
                </a:highlight>
              </a:rPr>
              <a:t> </a:t>
            </a:r>
            <a:r>
              <a:rPr lang="en-US" sz="2800" b="1" i="1" dirty="0" err="1">
                <a:highlight>
                  <a:srgbClr val="FFFF00"/>
                </a:highlight>
              </a:rPr>
              <a:t>ma'no</a:t>
            </a:r>
            <a:r>
              <a:rPr lang="en-US" sz="2800" b="1" i="1" dirty="0">
                <a:highlight>
                  <a:srgbClr val="FFFF00"/>
                </a:highlight>
              </a:rPr>
              <a:t>"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beradi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regular → irregular </a:t>
            </a:r>
            <a:r>
              <a:rPr lang="en-US" sz="2800" dirty="0"/>
              <a:t>→ His attendance is </a:t>
            </a:r>
            <a:r>
              <a:rPr lang="en-US" sz="2800" b="1" dirty="0"/>
              <a:t>irregular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reducible → irreducible </a:t>
            </a:r>
            <a:r>
              <a:rPr lang="en-US" sz="2800" dirty="0"/>
              <a:t>→ This fraction is </a:t>
            </a:r>
            <a:r>
              <a:rPr lang="en-US" sz="2800" b="1" dirty="0"/>
              <a:t>irreducible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replaceable → irreplaceable </a:t>
            </a:r>
            <a:r>
              <a:rPr lang="en-US" sz="2800" dirty="0"/>
              <a:t>→ Family support is </a:t>
            </a:r>
            <a:r>
              <a:rPr lang="en-US" sz="2800" b="1" dirty="0"/>
              <a:t>irreplaceable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reversible → irreversible </a:t>
            </a:r>
            <a:r>
              <a:rPr lang="en-US" sz="2800" dirty="0"/>
              <a:t>→ The damage was </a:t>
            </a:r>
            <a:r>
              <a:rPr lang="en-US" sz="2800" b="1" dirty="0"/>
              <a:t>irreversible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resistible → irresistible </a:t>
            </a:r>
            <a:r>
              <a:rPr lang="en-US" sz="2800" dirty="0"/>
              <a:t>→ The smell of fresh bread was </a:t>
            </a:r>
            <a:r>
              <a:rPr lang="en-US" sz="2800" b="1" dirty="0"/>
              <a:t>irresistible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rational → irrational </a:t>
            </a:r>
            <a:r>
              <a:rPr lang="en-US" sz="2800" dirty="0"/>
              <a:t>→ His fear of cats is </a:t>
            </a:r>
            <a:r>
              <a:rPr lang="en-US" sz="2800" b="1" dirty="0"/>
              <a:t>irrational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b="1" dirty="0" err="1"/>
              <a:t>Eslatma</a:t>
            </a:r>
            <a:r>
              <a:rPr lang="en-US" sz="2800" b="1" dirty="0"/>
              <a:t>: </a:t>
            </a:r>
            <a:r>
              <a:rPr lang="en-US" sz="2800" b="1" dirty="0" err="1"/>
              <a:t>ir</a:t>
            </a:r>
            <a:r>
              <a:rPr lang="en-US" sz="2800" b="1" dirty="0"/>
              <a:t>-</a:t>
            </a:r>
            <a:r>
              <a:rPr lang="en-US" sz="2800" dirty="0"/>
              <a:t> </a:t>
            </a:r>
            <a:r>
              <a:rPr lang="en-US" sz="2800" dirty="0" err="1"/>
              <a:t>odatda</a:t>
            </a:r>
            <a:r>
              <a:rPr lang="en-US" sz="2800" dirty="0"/>
              <a:t> </a:t>
            </a:r>
            <a:r>
              <a:rPr lang="en-US" sz="2800" b="1" dirty="0"/>
              <a:t>"r"</a:t>
            </a:r>
            <a:r>
              <a:rPr lang="en-US" sz="2800" dirty="0"/>
              <a:t> </a:t>
            </a:r>
            <a:r>
              <a:rPr lang="en-US" sz="2800" dirty="0" err="1"/>
              <a:t>harfi</a:t>
            </a:r>
            <a:r>
              <a:rPr lang="en-US" sz="2800" dirty="0"/>
              <a:t> </a:t>
            </a:r>
            <a:r>
              <a:rPr lang="en-US" sz="2800" dirty="0" err="1"/>
              <a:t>bilan</a:t>
            </a:r>
            <a:r>
              <a:rPr lang="en-US" sz="2800" dirty="0"/>
              <a:t> </a:t>
            </a:r>
            <a:r>
              <a:rPr lang="en-US" sz="2800" dirty="0" err="1"/>
              <a:t>boshlanuvchi</a:t>
            </a:r>
            <a:r>
              <a:rPr lang="en-US" sz="2800" dirty="0"/>
              <a:t> </a:t>
            </a:r>
            <a:r>
              <a:rPr lang="en-US" sz="2800" dirty="0" err="1"/>
              <a:t>sifatlar</a:t>
            </a:r>
            <a:r>
              <a:rPr lang="en-US" sz="2800" dirty="0"/>
              <a:t> </a:t>
            </a:r>
            <a:r>
              <a:rPr lang="en-US" sz="2800" dirty="0" err="1"/>
              <a:t>oldida</a:t>
            </a:r>
            <a:r>
              <a:rPr lang="en-US" sz="2800" dirty="0"/>
              <a:t> </a:t>
            </a:r>
            <a:r>
              <a:rPr lang="en-US" sz="2800" dirty="0" err="1"/>
              <a:t>ishlatiladi</a:t>
            </a:r>
            <a:r>
              <a:rPr lang="en-US" sz="2800" dirty="0"/>
              <a:t>:</a:t>
            </a:r>
          </a:p>
          <a:p>
            <a:pPr>
              <a:lnSpc>
                <a:spcPct val="11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92200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07817-2CA4-8D19-7CAA-7F825B311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338" y="0"/>
            <a:ext cx="10058400" cy="89473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Adjectives: Order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AB4E-9844-0712-AB3A-5846C1F48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48" y="894735"/>
            <a:ext cx="11415252" cy="59632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Adjectives: Order (</a:t>
            </a:r>
            <a:r>
              <a:rPr lang="en-US" sz="2800" b="1" dirty="0" err="1"/>
              <a:t>Sifatlarning</a:t>
            </a:r>
            <a:r>
              <a:rPr lang="en-US" sz="2800" b="1" dirty="0"/>
              <a:t> </a:t>
            </a:r>
            <a:r>
              <a:rPr lang="en-US" sz="2800" b="1" dirty="0" err="1"/>
              <a:t>Tartibi</a:t>
            </a:r>
            <a:r>
              <a:rPr lang="en-US" sz="28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800" i="1" dirty="0" err="1">
                <a:highlight>
                  <a:srgbClr val="FFFF00"/>
                </a:highlight>
              </a:rPr>
              <a:t>Ingliz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tilida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oldidan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nechta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sifat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kelsa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ular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odatda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ma'lum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bir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tartibda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joylashadi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✅ </a:t>
            </a:r>
            <a:r>
              <a:rPr lang="en-US" sz="2800" b="1" dirty="0"/>
              <a:t>an amazing red coat</a:t>
            </a:r>
            <a:br>
              <a:rPr lang="en-US" sz="2800" dirty="0"/>
            </a:br>
            <a:r>
              <a:rPr lang="en-US" sz="2800" dirty="0"/>
              <a:t>❌ </a:t>
            </a:r>
            <a:r>
              <a:rPr lang="en-US" sz="2800" b="1" dirty="0"/>
              <a:t>a red amazing coat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Bu </a:t>
            </a:r>
            <a:r>
              <a:rPr lang="en-US" sz="2800" dirty="0" err="1"/>
              <a:t>yerda</a:t>
            </a:r>
            <a:r>
              <a:rPr lang="en-US" sz="2800" dirty="0"/>
              <a:t> </a:t>
            </a:r>
            <a:r>
              <a:rPr lang="en-US" sz="2800" b="1" dirty="0"/>
              <a:t>amazing</a:t>
            </a:r>
            <a:r>
              <a:rPr lang="en-US" sz="2800" dirty="0"/>
              <a:t> (</a:t>
            </a:r>
            <a:r>
              <a:rPr lang="en-US" sz="2800" dirty="0" err="1"/>
              <a:t>fikr</a:t>
            </a:r>
            <a:r>
              <a:rPr lang="en-US" sz="2800" dirty="0"/>
              <a:t>, baho) </a:t>
            </a:r>
            <a:r>
              <a:rPr lang="en-US" sz="2800" b="1" dirty="0"/>
              <a:t>red</a:t>
            </a:r>
            <a:r>
              <a:rPr lang="en-US" sz="2800" dirty="0"/>
              <a:t> (rang) dan </a:t>
            </a:r>
            <a:r>
              <a:rPr lang="en-US" sz="2800" dirty="0" err="1"/>
              <a:t>oldin</a:t>
            </a:r>
            <a:r>
              <a:rPr lang="en-US" sz="2800" dirty="0"/>
              <a:t> </a:t>
            </a:r>
            <a:r>
              <a:rPr lang="en-US" sz="2800" dirty="0" err="1"/>
              <a:t>keladi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</a:rPr>
              <a:t>Opinion → Size → Physical Quality → Shape → Age → </a:t>
            </a:r>
            <a:r>
              <a:rPr lang="en-US" sz="2800" b="1" dirty="0" err="1">
                <a:solidFill>
                  <a:srgbClr val="00B0F0"/>
                </a:solidFill>
              </a:rPr>
              <a:t>Colour</a:t>
            </a:r>
            <a:r>
              <a:rPr lang="en-US" sz="2800" b="1" dirty="0">
                <a:solidFill>
                  <a:srgbClr val="00B0F0"/>
                </a:solidFill>
              </a:rPr>
              <a:t> → Origin → Material → Type → Purpose + Noun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3824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2F9E-EE65-1A04-1A4A-3E2DDCF52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93406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Adjectives Order Formula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D689A3-AEB2-BB2C-9641-73CB91D58C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6921410"/>
              </p:ext>
            </p:extLst>
          </p:nvPr>
        </p:nvGraphicFramePr>
        <p:xfrm>
          <a:off x="0" y="796412"/>
          <a:ext cx="12192000" cy="6061588"/>
        </p:xfrm>
        <a:graphic>
          <a:graphicData uri="http://schemas.openxmlformats.org/drawingml/2006/table">
            <a:tbl>
              <a:tblPr/>
              <a:tblGrid>
                <a:gridCol w="1101213">
                  <a:extLst>
                    <a:ext uri="{9D8B030D-6E8A-4147-A177-3AD203B41FA5}">
                      <a16:colId xmlns:a16="http://schemas.microsoft.com/office/drawing/2014/main" val="2922044555"/>
                    </a:ext>
                  </a:extLst>
                </a:gridCol>
                <a:gridCol w="4857135">
                  <a:extLst>
                    <a:ext uri="{9D8B030D-6E8A-4147-A177-3AD203B41FA5}">
                      <a16:colId xmlns:a16="http://schemas.microsoft.com/office/drawing/2014/main" val="3710578026"/>
                    </a:ext>
                  </a:extLst>
                </a:gridCol>
                <a:gridCol w="6233652">
                  <a:extLst>
                    <a:ext uri="{9D8B030D-6E8A-4147-A177-3AD203B41FA5}">
                      <a16:colId xmlns:a16="http://schemas.microsoft.com/office/drawing/2014/main" val="3803514553"/>
                    </a:ext>
                  </a:extLst>
                </a:gridCol>
              </a:tblGrid>
              <a:tr h="493781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500" b="1"/>
                        <a:t>№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/>
                        <a:t>Categories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/>
                        <a:t>Examples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029658"/>
                  </a:ext>
                </a:extLst>
              </a:tr>
              <a:tr h="665219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500"/>
                        <a:t>1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Opinion (</a:t>
                      </a:r>
                      <a:r>
                        <a:rPr lang="en-US" sz="2500" dirty="0" err="1"/>
                        <a:t>fikr</a:t>
                      </a:r>
                      <a:r>
                        <a:rPr lang="en-US" sz="2500" dirty="0"/>
                        <a:t>)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beautiful, lovely, amazing, wonderful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401430"/>
                  </a:ext>
                </a:extLst>
              </a:tr>
              <a:tr h="493781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500"/>
                        <a:t>2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Size (o'lcham)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big, small, tall, huge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024185"/>
                  </a:ext>
                </a:extLst>
              </a:tr>
              <a:tr h="623033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500"/>
                        <a:t>3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Physical Quality (</a:t>
                      </a:r>
                      <a:r>
                        <a:rPr lang="en-US" sz="2500" dirty="0" err="1"/>
                        <a:t>jismoniy</a:t>
                      </a:r>
                      <a:r>
                        <a:rPr lang="en-US" sz="2500" dirty="0"/>
                        <a:t> </a:t>
                      </a:r>
                      <a:r>
                        <a:rPr lang="en-US" sz="2500" dirty="0" err="1"/>
                        <a:t>sifat</a:t>
                      </a:r>
                      <a:r>
                        <a:rPr lang="en-US" sz="2500" dirty="0"/>
                        <a:t>)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thin, rough, untidy, clean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706932"/>
                  </a:ext>
                </a:extLst>
              </a:tr>
              <a:tr h="493781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500"/>
                        <a:t>4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Shape (</a:t>
                      </a:r>
                      <a:r>
                        <a:rPr lang="en-US" sz="2500" dirty="0" err="1"/>
                        <a:t>shakl</a:t>
                      </a:r>
                      <a:r>
                        <a:rPr lang="en-US" sz="2500" dirty="0"/>
                        <a:t>)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round, square, rectangular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48379"/>
                  </a:ext>
                </a:extLst>
              </a:tr>
              <a:tr h="493781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500"/>
                        <a:t>5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Age (yosh)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young, old, new, ancient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023623"/>
                  </a:ext>
                </a:extLst>
              </a:tr>
              <a:tr h="493781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500"/>
                        <a:t>6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Colour (rang)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red, blue, green, black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631117"/>
                  </a:ext>
                </a:extLst>
              </a:tr>
              <a:tr h="665219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500"/>
                        <a:t>7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Origin (kelib chiqish)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Uzbek, Japanese, Turkish, Italian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603129"/>
                  </a:ext>
                </a:extLst>
              </a:tr>
              <a:tr h="605586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500"/>
                        <a:t>8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Material (material)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wooden, metal, plastic, cotton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585754"/>
                  </a:ext>
                </a:extLst>
              </a:tr>
              <a:tr h="539845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500"/>
                        <a:t>9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Type (tur)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U-shaped, four-sided, bread-like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900299"/>
                  </a:ext>
                </a:extLst>
              </a:tr>
              <a:tr h="493781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500" dirty="0"/>
                        <a:t>10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Purpose (maqsad)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cooking, cleaning, sleeping</a:t>
                      </a:r>
                    </a:p>
                  </a:txBody>
                  <a:tcPr marL="76440" marR="76440" marT="38220" marB="382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778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3497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750A1-BF18-8526-9787-CD12F4660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674" y="0"/>
            <a:ext cx="10058400" cy="105205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Adjectives After a Linking Verb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7B68A-A345-EB64-0536-480F2049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53" y="1052052"/>
            <a:ext cx="12054348" cy="580594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Agar </a:t>
            </a:r>
            <a:r>
              <a:rPr lang="en-US" sz="2800" i="1" dirty="0" err="1">
                <a:highlight>
                  <a:srgbClr val="FFFF00"/>
                </a:highlight>
              </a:rPr>
              <a:t>sifatlar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be, seem, look, feel, become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kabi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fe'llardan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keyin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kelsa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oxirgi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ikki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sifat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orasiga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b="1" i="1" dirty="0">
                <a:highlight>
                  <a:srgbClr val="FFFF00"/>
                </a:highlight>
              </a:rPr>
              <a:t>and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qo'yiladi</a:t>
            </a:r>
            <a:r>
              <a:rPr lang="en-US" sz="2800" i="1" dirty="0">
                <a:highlight>
                  <a:srgbClr val="FFFF00"/>
                </a:highlight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Formula:  </a:t>
            </a:r>
            <a:r>
              <a:rPr lang="en-US" sz="2800" b="1" dirty="0">
                <a:solidFill>
                  <a:srgbClr val="00B0F0"/>
                </a:solidFill>
              </a:rPr>
              <a:t>adjective + adjective + and + adjective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The room was large, bright </a:t>
            </a:r>
            <a:r>
              <a:rPr lang="en-US" sz="2800" b="1" dirty="0"/>
              <a:t>and</a:t>
            </a:r>
            <a:r>
              <a:rPr lang="en-US" sz="2800" dirty="0"/>
              <a:t> comfortable. (Xona </a:t>
            </a:r>
            <a:r>
              <a:rPr lang="en-US" sz="2800" dirty="0" err="1"/>
              <a:t>katta</a:t>
            </a:r>
            <a:r>
              <a:rPr lang="en-US" sz="2800" dirty="0"/>
              <a:t>, </a:t>
            </a:r>
            <a:r>
              <a:rPr lang="en-US" sz="2800" dirty="0" err="1"/>
              <a:t>yorug</a:t>
            </a:r>
            <a:r>
              <a:rPr lang="en-US" sz="2800" dirty="0"/>
              <a:t>‘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qulay</a:t>
            </a:r>
            <a:r>
              <a:rPr lang="en-US" sz="2800" dirty="0"/>
              <a:t> </a:t>
            </a:r>
            <a:r>
              <a:rPr lang="en-US" sz="2800" dirty="0" err="1"/>
              <a:t>edi</a:t>
            </a:r>
            <a:r>
              <a:rPr lang="en-US" sz="2800" dirty="0"/>
              <a:t>.)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Home was warm, welcoming </a:t>
            </a:r>
            <a:r>
              <a:rPr lang="en-US" sz="2800" b="1" dirty="0"/>
              <a:t>and</a:t>
            </a:r>
            <a:r>
              <a:rPr lang="en-US" sz="2800" dirty="0"/>
              <a:t> peaceful. (Uy </a:t>
            </a:r>
            <a:r>
              <a:rPr lang="en-US" sz="2800" dirty="0" err="1"/>
              <a:t>iliq</a:t>
            </a:r>
            <a:r>
              <a:rPr lang="en-US" sz="2800" dirty="0"/>
              <a:t>, </a:t>
            </a:r>
            <a:r>
              <a:rPr lang="en-US" sz="2800" dirty="0" err="1"/>
              <a:t>mehmondo‘st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tinch</a:t>
            </a:r>
            <a:r>
              <a:rPr lang="en-US" sz="2800" dirty="0"/>
              <a:t> </a:t>
            </a:r>
            <a:r>
              <a:rPr lang="en-US" sz="2800" dirty="0" err="1"/>
              <a:t>edi</a:t>
            </a:r>
            <a:r>
              <a:rPr lang="en-US" sz="2800" dirty="0"/>
              <a:t>.)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 weather was cold, windy </a:t>
            </a:r>
            <a:r>
              <a:rPr lang="en-US" sz="2800" b="1" dirty="0"/>
              <a:t>and</a:t>
            </a:r>
            <a:r>
              <a:rPr lang="en-US" sz="2800" dirty="0"/>
              <a:t> rainy. (Havo </a:t>
            </a:r>
            <a:r>
              <a:rPr lang="en-US" sz="2800" dirty="0" err="1"/>
              <a:t>sovuq</a:t>
            </a:r>
            <a:r>
              <a:rPr lang="en-US" sz="2800" dirty="0"/>
              <a:t>, </a:t>
            </a:r>
            <a:r>
              <a:rPr lang="en-US" sz="2800" dirty="0" err="1"/>
              <a:t>shamolli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yomg‘irli</a:t>
            </a:r>
            <a:r>
              <a:rPr lang="en-US" sz="2800" dirty="0"/>
              <a:t> </a:t>
            </a:r>
            <a:r>
              <a:rPr lang="en-US" sz="2800" dirty="0" err="1"/>
              <a:t>edi</a:t>
            </a:r>
            <a:r>
              <a:rPr lang="en-US" sz="2800" dirty="0"/>
              <a:t>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065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24073-52E7-61C6-FC23-754CE2D1E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2087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Adjective Phrase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5294B-97E4-7178-EC6C-B1063EFA8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1032387"/>
            <a:ext cx="11759381" cy="58256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Bir </a:t>
            </a:r>
            <a:r>
              <a:rPr lang="en-US" sz="2800" i="1" dirty="0" err="1">
                <a:highlight>
                  <a:srgbClr val="FFFF00"/>
                </a:highlight>
              </a:rPr>
              <a:t>nechta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so‘zdan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iborat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bo‘ladi</a:t>
            </a:r>
            <a:r>
              <a:rPr lang="en-US" sz="2800" i="1" dirty="0">
                <a:highlight>
                  <a:srgbClr val="FFFF00"/>
                </a:highlight>
              </a:rPr>
              <a:t>, </a:t>
            </a:r>
            <a:r>
              <a:rPr lang="en-US" sz="2800" i="1" dirty="0" err="1">
                <a:highlight>
                  <a:srgbClr val="FFFF00"/>
                </a:highlight>
              </a:rPr>
              <a:t>ko‘proq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ma’lumot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beradi</a:t>
            </a:r>
            <a:endParaRPr lang="en-US" sz="2800" i="1" dirty="0">
              <a:highlight>
                <a:srgbClr val="FF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She has a dog </a:t>
            </a:r>
            <a:r>
              <a:rPr lang="en-US" sz="2800" b="1" dirty="0"/>
              <a:t>with big ears</a:t>
            </a:r>
            <a:r>
              <a:rPr lang="en-US" sz="2800" dirty="0"/>
              <a:t>. (</a:t>
            </a:r>
            <a:r>
              <a:rPr lang="en-US" sz="2800" dirty="0" err="1"/>
              <a:t>Uning</a:t>
            </a:r>
            <a:r>
              <a:rPr lang="en-US" sz="2800" dirty="0"/>
              <a:t> </a:t>
            </a:r>
            <a:r>
              <a:rPr lang="en-US" sz="2800" dirty="0" err="1"/>
              <a:t>katta</a:t>
            </a:r>
            <a:r>
              <a:rPr lang="en-US" sz="2800" dirty="0"/>
              <a:t> </a:t>
            </a:r>
            <a:r>
              <a:rPr lang="en-US" sz="2800" dirty="0" err="1"/>
              <a:t>quloqli</a:t>
            </a:r>
            <a:r>
              <a:rPr lang="en-US" sz="2800" dirty="0"/>
              <a:t> </a:t>
            </a:r>
            <a:r>
              <a:rPr lang="en-US" sz="2800" dirty="0" err="1"/>
              <a:t>iti</a:t>
            </a:r>
            <a:r>
              <a:rPr lang="en-US" sz="2800" dirty="0"/>
              <a:t> bor.)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 bought a car </a:t>
            </a:r>
            <a:r>
              <a:rPr lang="en-US" sz="2800" b="1" dirty="0"/>
              <a:t>that is red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 is a child </a:t>
            </a:r>
            <a:r>
              <a:rPr lang="en-US" sz="2800" b="1" dirty="0"/>
              <a:t>extremely happy about the surprise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That is a man </a:t>
            </a:r>
            <a:r>
              <a:rPr lang="en-US" sz="2800" b="1" dirty="0"/>
              <a:t>with a tall stature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It was a watch </a:t>
            </a:r>
            <a:r>
              <a:rPr lang="en-US" sz="2800" b="1" dirty="0"/>
              <a:t>that costs a fortune</a:t>
            </a:r>
            <a:r>
              <a:rPr lang="en-US" sz="2800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004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7B10-E0A7-6B84-E301-C24A8022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20936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26A7C-8BED-6629-64AF-70E317382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7" y="1120877"/>
            <a:ext cx="11552903" cy="5737123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800" b="1" dirty="0"/>
              <a:t>1) </a:t>
            </a:r>
            <a:r>
              <a:rPr lang="en-US" sz="2800" dirty="0"/>
              <a:t>Adjective: She wore a </a:t>
            </a:r>
            <a:r>
              <a:rPr lang="en-US" sz="2800" b="1" dirty="0"/>
              <a:t>blue dress</a:t>
            </a:r>
            <a:r>
              <a:rPr lang="en-US" sz="2800" dirty="0"/>
              <a:t>. </a:t>
            </a:r>
          </a:p>
          <a:p>
            <a:pPr lvl="1">
              <a:lnSpc>
                <a:spcPct val="170000"/>
              </a:lnSpc>
            </a:pPr>
            <a:r>
              <a:rPr lang="en-US" sz="2800" dirty="0"/>
              <a:t>Adjective phrase: She wore a dress </a:t>
            </a:r>
            <a:r>
              <a:rPr lang="en-US" sz="2800" b="1" dirty="0"/>
              <a:t>of a deep blue color</a:t>
            </a:r>
            <a:r>
              <a:rPr lang="en-US" sz="2800" dirty="0"/>
              <a:t>. </a:t>
            </a:r>
          </a:p>
          <a:p>
            <a:pPr>
              <a:lnSpc>
                <a:spcPct val="170000"/>
              </a:lnSpc>
            </a:pPr>
            <a:r>
              <a:rPr lang="en-US" sz="2800" b="1" dirty="0"/>
              <a:t>2)</a:t>
            </a:r>
            <a:r>
              <a:rPr lang="en-US" sz="2800" dirty="0"/>
              <a:t>Adjective: He is a </a:t>
            </a:r>
            <a:r>
              <a:rPr lang="en-US" sz="2800" b="1" dirty="0"/>
              <a:t>strong man</a:t>
            </a:r>
            <a:r>
              <a:rPr lang="en-US" sz="2800" dirty="0"/>
              <a:t>. </a:t>
            </a:r>
          </a:p>
          <a:p>
            <a:pPr lvl="1">
              <a:lnSpc>
                <a:spcPct val="170000"/>
              </a:lnSpc>
            </a:pPr>
            <a:r>
              <a:rPr lang="en-US" sz="2800" dirty="0"/>
              <a:t>Adjective phrase: He is a man </a:t>
            </a:r>
            <a:r>
              <a:rPr lang="en-US" sz="2800" b="1" dirty="0"/>
              <a:t>with great physical strength</a:t>
            </a:r>
            <a:r>
              <a:rPr lang="en-US" sz="2800" dirty="0"/>
              <a:t>. </a:t>
            </a:r>
          </a:p>
          <a:p>
            <a:pPr>
              <a:lnSpc>
                <a:spcPct val="170000"/>
              </a:lnSpc>
            </a:pPr>
            <a:r>
              <a:rPr lang="en-US" sz="2800" b="1" dirty="0"/>
              <a:t>3)</a:t>
            </a:r>
            <a:r>
              <a:rPr lang="en-US" sz="2800" dirty="0"/>
              <a:t>Adjective: It was a </a:t>
            </a:r>
            <a:r>
              <a:rPr lang="en-US" sz="2800" b="1" dirty="0"/>
              <a:t>cold day</a:t>
            </a:r>
            <a:r>
              <a:rPr lang="en-US" sz="2800" dirty="0"/>
              <a:t>. </a:t>
            </a:r>
          </a:p>
          <a:p>
            <a:pPr lvl="1">
              <a:lnSpc>
                <a:spcPct val="170000"/>
              </a:lnSpc>
            </a:pPr>
            <a:r>
              <a:rPr lang="en-US" sz="2800" dirty="0"/>
              <a:t>Adjective phrase: It was a day </a:t>
            </a:r>
            <a:r>
              <a:rPr lang="en-US" sz="2800" b="1" dirty="0"/>
              <a:t>full of cold wind</a:t>
            </a:r>
            <a:r>
              <a:rPr lang="en-US" sz="2800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8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363</TotalTime>
  <Words>3221</Words>
  <Application>Microsoft Office PowerPoint</Application>
  <PresentationFormat>Widescreen</PresentationFormat>
  <Paragraphs>407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Arial Black</vt:lpstr>
      <vt:lpstr>Wingdings</vt:lpstr>
      <vt:lpstr>Wood Type</vt:lpstr>
      <vt:lpstr>ADJECTIVES</vt:lpstr>
      <vt:lpstr>ADJECTIVES (SIFATLAR)</vt:lpstr>
      <vt:lpstr>Adjectives qayerda keladi?</vt:lpstr>
      <vt:lpstr>Adjectives qayerda keladi?</vt:lpstr>
      <vt:lpstr>Adjectivesning ma'nolariga ko‘ra turlari</vt:lpstr>
      <vt:lpstr>Relationship Adjectives</vt:lpstr>
      <vt:lpstr>PowerPoint Presentation</vt:lpstr>
      <vt:lpstr>Descriptions of actions</vt:lpstr>
      <vt:lpstr>Permanent Features</vt:lpstr>
      <vt:lpstr>Temporary States</vt:lpstr>
      <vt:lpstr>Classifying Adjectives</vt:lpstr>
      <vt:lpstr>OPPOSITES (ANTONYMS)</vt:lpstr>
      <vt:lpstr>GRADABLE ADJECTIVES</vt:lpstr>
      <vt:lpstr>UNGRADABLE ADJECTIVES</vt:lpstr>
      <vt:lpstr>Common Intensifiers for Ungradable Adjectives</vt:lpstr>
      <vt:lpstr>ADJECTIVES: FORMS</vt:lpstr>
      <vt:lpstr>Adjectivesni qanday aniqlash mumkin?</vt:lpstr>
      <vt:lpstr>-able / -ible adjectives</vt:lpstr>
      <vt:lpstr>-al | -ial adjectives</vt:lpstr>
      <vt:lpstr>-al | -ial adjectives</vt:lpstr>
      <vt:lpstr>-ful adjectives</vt:lpstr>
      <vt:lpstr>-less (…siz / without …)</vt:lpstr>
      <vt:lpstr>-ic “...ga oid”, “...ga tegishli”</vt:lpstr>
      <vt:lpstr>-ical ...ga oid ... bilan bog‘liq  ba’zan -iy / -lik</vt:lpstr>
      <vt:lpstr>-ish Adjectives</vt:lpstr>
      <vt:lpstr>-ive/-ative Adjectives</vt:lpstr>
      <vt:lpstr>ous / -ious / -eous Adjectives</vt:lpstr>
      <vt:lpstr>-y Adjectives</vt:lpstr>
      <vt:lpstr>un- Adjectives</vt:lpstr>
      <vt:lpstr>in- Adjectives</vt:lpstr>
      <vt:lpstr>im- Adjectives</vt:lpstr>
      <vt:lpstr>im- Adjectives</vt:lpstr>
      <vt:lpstr>ir- Adjectives</vt:lpstr>
      <vt:lpstr>Adjectives: Order</vt:lpstr>
      <vt:lpstr>Adjectives Order Formula</vt:lpstr>
      <vt:lpstr>Adjectives After a Linking Verb</vt:lpstr>
      <vt:lpstr>Adjective Phrase</vt:lpstr>
      <vt:lpstr>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52</cp:revision>
  <dcterms:created xsi:type="dcterms:W3CDTF">2026-06-08T04:38:24Z</dcterms:created>
  <dcterms:modified xsi:type="dcterms:W3CDTF">2026-06-08T10:41:49Z</dcterms:modified>
</cp:coreProperties>
</file>