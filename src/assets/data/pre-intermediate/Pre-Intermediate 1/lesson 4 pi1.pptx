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7900F-34D7-4674-B54C-6909AB69351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B5A324AF-9F99-48BB-A199-89B7935D2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695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7900F-34D7-4674-B54C-6909AB69351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24AF-9F99-48BB-A199-89B7935D2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46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0B7900F-34D7-4674-B54C-6909AB69351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B5A324AF-9F99-48BB-A199-89B7935D2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86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7900F-34D7-4674-B54C-6909AB69351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24AF-9F99-48BB-A199-89B7935D2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60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7900F-34D7-4674-B54C-6909AB69351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24AF-9F99-48BB-A199-89B7935D2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37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7900F-34D7-4674-B54C-6909AB69351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24AF-9F99-48BB-A199-89B7935D2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07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7900F-34D7-4674-B54C-6909AB69351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24AF-9F99-48BB-A199-89B7935D2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540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7900F-34D7-4674-B54C-6909AB69351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24AF-9F99-48BB-A199-89B7935D2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23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7900F-34D7-4674-B54C-6909AB693516}" type="datetimeFigureOut">
              <a:rPr lang="en-US" smtClean="0"/>
              <a:t>5/19/2026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24AF-9F99-48BB-A199-89B7935D2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6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7900F-34D7-4674-B54C-6909AB69351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24AF-9F99-48BB-A199-89B7935D2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42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7900F-34D7-4674-B54C-6909AB69351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A324AF-9F99-48BB-A199-89B7935D2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654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0B7900F-34D7-4674-B54C-6909AB693516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B5A324AF-9F99-48BB-A199-89B7935D2F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18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8947-7A9F-C687-36F2-5F1E0EF147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000" dirty="0">
                <a:solidFill>
                  <a:srgbClr val="FF0000"/>
                </a:solidFill>
              </a:rPr>
              <a:t>BOTH / NEITHER / EITHER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B394F-2006-AC15-0F31-D198734581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Both winners and losers can study in the same class.</a:t>
            </a:r>
          </a:p>
        </p:txBody>
      </p:sp>
    </p:spTree>
    <p:extLst>
      <p:ext uri="{BB962C8B-B14F-4D97-AF65-F5344CB8AC3E}">
        <p14:creationId xmlns:p14="http://schemas.microsoft.com/office/powerpoint/2010/main" val="4166046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18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8AA513D-0A10-C1B4-8D20-7EBED0DDD1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37088"/>
              </p:ext>
            </p:extLst>
          </p:nvPr>
        </p:nvGraphicFramePr>
        <p:xfrm>
          <a:off x="501445" y="1625558"/>
          <a:ext cx="10623755" cy="2877616"/>
        </p:xfrm>
        <a:graphic>
          <a:graphicData uri="http://schemas.openxmlformats.org/drawingml/2006/table">
            <a:tbl>
              <a:tblPr/>
              <a:tblGrid>
                <a:gridCol w="3068738">
                  <a:extLst>
                    <a:ext uri="{9D8B030D-6E8A-4147-A177-3AD203B41FA5}">
                      <a16:colId xmlns:a16="http://schemas.microsoft.com/office/drawing/2014/main" val="2080926782"/>
                    </a:ext>
                  </a:extLst>
                </a:gridCol>
                <a:gridCol w="7555017">
                  <a:extLst>
                    <a:ext uri="{9D8B030D-6E8A-4147-A177-3AD203B41FA5}">
                      <a16:colId xmlns:a16="http://schemas.microsoft.com/office/drawing/2014/main" val="3645014414"/>
                    </a:ext>
                  </a:extLst>
                </a:gridCol>
              </a:tblGrid>
              <a:tr h="719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092293"/>
                  </a:ext>
                </a:extLst>
              </a:tr>
              <a:tr h="719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two together (</a:t>
                      </a:r>
                      <a:r>
                        <a:rPr lang="en-US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ikkalasi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ham)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956670"/>
                  </a:ext>
                </a:extLst>
              </a:tr>
              <a:tr h="719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neither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one and not the other (</a:t>
                      </a:r>
                      <a:r>
                        <a:rPr lang="en-US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hech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qaysisi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072857"/>
                  </a:ext>
                </a:extLst>
              </a:tr>
              <a:tr h="7194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either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one of two (</a:t>
                      </a:r>
                      <a:r>
                        <a:rPr lang="en-US" sz="28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bittasi</a:t>
                      </a: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723717"/>
                  </a:ext>
                </a:extLst>
              </a:tr>
            </a:tbl>
          </a:graphicData>
        </a:graphic>
      </p:graphicFrame>
      <p:sp>
        <p:nvSpPr>
          <p:cNvPr id="8" name="Title 7">
            <a:extLst>
              <a:ext uri="{FF2B5EF4-FFF2-40B4-BE49-F238E27FC236}">
                <a16:creationId xmlns:a16="http://schemas.microsoft.com/office/drawing/2014/main" id="{9D73D7CB-981B-082D-DD62-46CC1A23B5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6645" y="334824"/>
            <a:ext cx="11995355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cap="none" dirty="0">
                <a:solidFill>
                  <a:srgbClr val="FF0000"/>
                </a:solidFill>
              </a:rPr>
              <a:t>We use these words when we talk about </a:t>
            </a:r>
            <a:r>
              <a:rPr lang="en-US" sz="3600" b="1" cap="none" dirty="0">
                <a:solidFill>
                  <a:srgbClr val="FF0000"/>
                </a:solidFill>
              </a:rPr>
              <a:t>two things or two people</a:t>
            </a:r>
            <a:r>
              <a:rPr lang="en-US" sz="3600" cap="none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10969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13D8E-A954-2D72-2D49-E60159D84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BOTH = two things together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CE37A-BE92-555C-C38E-2A2C2128B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06013"/>
            <a:ext cx="10058400" cy="53290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Structure: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 + noun + and + noun</a:t>
            </a:r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like both tea and coffee.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She speaks both English and Korean.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He is both a teacher and a writer.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visited both London and Paris.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18387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50"/>
                            </p:stCondLst>
                            <p:childTnLst>
                              <p:par>
                                <p:cTn id="12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910"/>
                            </p:stCondLst>
                            <p:childTnLst>
                              <p:par>
                                <p:cTn id="17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590"/>
                            </p:stCondLst>
                            <p:childTnLst>
                              <p:par>
                                <p:cTn id="22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910"/>
                            </p:stCondLst>
                            <p:childTnLst>
                              <p:par>
                                <p:cTn id="27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750"/>
                            </p:stCondLst>
                            <p:childTnLst>
                              <p:par>
                                <p:cTn id="32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910"/>
                            </p:stCondLst>
                            <p:childTnLst>
                              <p:par>
                                <p:cTn id="37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1950"/>
                            </p:stCondLst>
                            <p:childTnLst>
                              <p:par>
                                <p:cTn id="42" presetID="16" presetClass="emph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61510-1CF4-31A2-1168-2F13A6640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0121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BOTH + VERB / ADVERB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7D00A-055D-CB44-B32F-758B496454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012723"/>
            <a:ext cx="10058400" cy="515947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BOTH can come before verbs/adverbs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He both plays football and swims.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She both sings and dances.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They both arrived late.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both agreed with the decision.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03885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3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35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350" fill="hold">
                                          <p:stCondLst>
                                            <p:cond delay="10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350" fill="hold">
                                          <p:stCondLst>
                                            <p:cond delay="1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50"/>
                            </p:stCondLst>
                            <p:childTnLst>
                              <p:par>
                                <p:cTn id="12" presetID="10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750"/>
                            </p:stCondLst>
                            <p:childTnLst>
                              <p:par>
                                <p:cTn id="15" presetID="10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6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750"/>
                            </p:stCondLst>
                            <p:childTnLst>
                              <p:par>
                                <p:cTn id="18" presetID="10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750"/>
                            </p:stCondLst>
                            <p:childTnLst>
                              <p:par>
                                <p:cTn id="21" presetID="10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9750"/>
                            </p:stCondLst>
                            <p:childTnLst>
                              <p:par>
                                <p:cTn id="24" presetID="10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25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1750"/>
                            </p:stCondLst>
                            <p:childTnLst>
                              <p:par>
                                <p:cTn id="27" presetID="10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34305-A2E2-5565-D825-C126C0CC8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BOTH WITH PRONOUNS / PEOPLE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B169D3-E04E-3F4F-91F4-3FAA6C9F4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356853"/>
            <a:ext cx="10058400" cy="532908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noun/pronoun + both OR both + noun/pronoun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both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know him.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They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both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like pizza.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Mike and Tom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both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study English.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 girls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both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passed the exam.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63666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76CC9-526F-F230-2465-2E4BCC62C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111045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NEITHER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6FB9E-7FF4-12FC-C323-8BC7FEA07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917" y="1111045"/>
            <a:ext cx="10795818" cy="574695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NEITHER = not one and not the other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Structure: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neither + noun + nor + noun</a:t>
            </a:r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Neither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John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came to class. 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Neither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coffee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is ready. 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Neither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 mother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 father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drives a car. 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Neither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teacher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students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were late.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0708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B3F63-2498-4A5F-B71F-13C3E764E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NEITHER + VERB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C20CF-457B-5B04-57F8-DA526319A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609344"/>
            <a:ext cx="10058400" cy="4562856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neither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called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emailed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me.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They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neither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played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studied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yesterday.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She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neither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smiled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spoke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neither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like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this book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understand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30194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 0.02755 L 0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5000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DD03A-40F1-BEE4-1B22-F428DDFC1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265471"/>
            <a:ext cx="10058400" cy="104221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EITHER = one of two options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A4436-3443-11B3-0BF9-E77290840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15845"/>
            <a:ext cx="10058400" cy="536841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Structure: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either + noun + or + noun</a:t>
            </a:r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You can have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either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juice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Either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Monday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Tuesday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is fine. </a:t>
            </a:r>
          </a:p>
          <a:p>
            <a:pPr lvl="1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Either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Karim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will come.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will buy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either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car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bike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73612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355F5-4005-BEA1-22AC-91675A1AD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0492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EITHER IN NEGATIVE SENTENCES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D6984-F558-6AC8-F276-9CFD97454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6" y="1150373"/>
            <a:ext cx="11651226" cy="545690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either = negative meaning (not one, not the other)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Either/neither + </a:t>
            </a:r>
            <a:r>
              <a:rPr lang="en-US" sz="2800" b="1" strike="sngStrike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plural noun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= Wrong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don’t like either option</a:t>
            </a:r>
            <a:r>
              <a:rPr lang="en-US" sz="2800" strike="sngStrike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= I like neither option</a:t>
            </a:r>
            <a:r>
              <a:rPr lang="en-US" sz="2800" strike="sngStrike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She didn’t invite either of them. = She invites neither of them.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don’t need either book. = We need neither book.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He doesn’t know either answer. = He knows neither answer.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1534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 0.04838 L 0 -1.48148E-6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727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06FAE-98FB-001B-0BE8-721F30F9D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COMMON PATTERN FIX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D22C9-79E6-5C45-390A-8A5378CE9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435509"/>
            <a:ext cx="10058400" cy="498495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WRONG: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He neither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wrote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phoned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❌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CORRECT: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He neither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wrote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nor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phoned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✔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He didn’t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phone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✔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42476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 -1.11111E-6 L 0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2D1BB-5D7F-D137-A3FE-286A6F43C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445342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VERB AGREEMENT (IMPORTANT)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D24D2-319B-A5BC-5AB5-89E9A845E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651819"/>
            <a:ext cx="10058400" cy="452038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With NEITHER…NOR: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Neither Tom nor his </a:t>
            </a: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friends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ready. (plural)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Neither Tom nor his </a:t>
            </a: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brother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ready. (singular)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Verb agrees with </a:t>
            </a:r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closest noun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70199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-4.16667E-7 -4.07407E-6 L -4.16667E-7 -0.07222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61FA0-8C9C-2B1B-A98A-69BE70307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609344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PRACTICE EXAMPLES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6E90A-7470-4F13-3218-0C81D5D4E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268361"/>
            <a:ext cx="10058400" cy="532908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Fill in the gaps: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like ___ apples ___ oranges.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___ Ali ___ Bob came to school.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You can choose ___ tea ___ coffee.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She ___ sings ___ dances.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 didn’t invite ___ of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7403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186</TotalTime>
  <Words>505</Words>
  <Application>Microsoft Office PowerPoint</Application>
  <PresentationFormat>Widescreen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Rockwell</vt:lpstr>
      <vt:lpstr>Rockwell Condensed</vt:lpstr>
      <vt:lpstr>Wingdings</vt:lpstr>
      <vt:lpstr>Wood Type</vt:lpstr>
      <vt:lpstr>BOTH / NEITHER / EITHER</vt:lpstr>
      <vt:lpstr>We use these words when we talk about two things or two people.</vt:lpstr>
      <vt:lpstr>BOTH = two things together</vt:lpstr>
      <vt:lpstr>BOTH + VERB / ADVERB</vt:lpstr>
      <vt:lpstr>BOTH WITH PRONOUNS / PEOPLE</vt:lpstr>
      <vt:lpstr>NEITHER</vt:lpstr>
      <vt:lpstr>NEITHER + VERB</vt:lpstr>
      <vt:lpstr>EITHER = one of two options</vt:lpstr>
      <vt:lpstr>EITHER IN NEGATIVE SENTENCES</vt:lpstr>
      <vt:lpstr>COMMON PATTERN FIX</vt:lpstr>
      <vt:lpstr>VERB AGREEMENT (IMPORTANT)</vt:lpstr>
      <vt:lpstr>PRACTICE EXAMPLES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11</cp:revision>
  <dcterms:created xsi:type="dcterms:W3CDTF">2026-05-19T06:17:44Z</dcterms:created>
  <dcterms:modified xsi:type="dcterms:W3CDTF">2026-05-19T09:24:10Z</dcterms:modified>
</cp:coreProperties>
</file>