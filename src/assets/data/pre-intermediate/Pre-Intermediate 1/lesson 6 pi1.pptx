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7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6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4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2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5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1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4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8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9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6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D60A2E1-10FC-4A9D-AD2C-0687B5A2420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79057302-2250-4357-92C9-88413F57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9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2DD3-D1D6-EECF-44C9-A5894F16A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700" b="1" dirty="0">
                <a:solidFill>
                  <a:srgbClr val="FF0000"/>
                </a:solidFill>
              </a:rPr>
              <a:t>OTHER, OTHERS, </a:t>
            </a:r>
            <a:br>
              <a:rPr lang="en-US" sz="6700" b="1" dirty="0">
                <a:solidFill>
                  <a:srgbClr val="FF0000"/>
                </a:solidFill>
              </a:rPr>
            </a:br>
            <a:r>
              <a:rPr lang="en-US" sz="6700" b="1" dirty="0">
                <a:solidFill>
                  <a:srgbClr val="FF0000"/>
                </a:solidFill>
              </a:rPr>
              <a:t>THE OTHER, ANOTHER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4347E-33C3-EF93-848D-EAA4861C43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7826-FE49-32F8-39E1-8D2615D5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80624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C76FE-9224-B78B-A9B6-03DB680F8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806245"/>
            <a:ext cx="11434916" cy="60517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Other</a:t>
            </a:r>
            <a:r>
              <a:rPr lang="en-US" sz="2800" i="1" dirty="0">
                <a:highlight>
                  <a:srgbClr val="FFFF00"/>
                </a:highlight>
              </a:rPr>
              <a:t> = </a:t>
            </a:r>
            <a:r>
              <a:rPr lang="en-US" sz="2800" i="1" dirty="0" err="1">
                <a:highlight>
                  <a:srgbClr val="FFFF00"/>
                </a:highlight>
              </a:rPr>
              <a:t>boshqa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qo'shimcha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yana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xil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turdagi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Other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odatda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determiner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sifatida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va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undan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keyin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Formula:  </a:t>
            </a:r>
            <a:r>
              <a:rPr lang="en-US" sz="2800" b="1" dirty="0">
                <a:solidFill>
                  <a:srgbClr val="00B0F0"/>
                </a:solidFill>
              </a:rPr>
              <a:t>other + plural noun | other + uncountable noun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Other students arrived later. </a:t>
            </a:r>
            <a:r>
              <a:rPr lang="en-US" sz="2800" i="1" dirty="0"/>
              <a:t>(</a:t>
            </a:r>
            <a:r>
              <a:rPr lang="en-US" sz="2800" i="1" dirty="0" err="1"/>
              <a:t>Boshqa</a:t>
            </a:r>
            <a:r>
              <a:rPr lang="en-US" sz="2800" i="1" dirty="0"/>
              <a:t> </a:t>
            </a:r>
            <a:r>
              <a:rPr lang="en-US" sz="2800" i="1" dirty="0" err="1"/>
              <a:t>talabalar</a:t>
            </a:r>
            <a:r>
              <a:rPr lang="en-US" sz="2800" i="1" dirty="0"/>
              <a:t> </a:t>
            </a:r>
            <a:r>
              <a:rPr lang="en-US" sz="2800" i="1" dirty="0" err="1"/>
              <a:t>keyinroq</a:t>
            </a:r>
            <a:r>
              <a:rPr lang="en-US" sz="2800" i="1" dirty="0"/>
              <a:t> </a:t>
            </a:r>
            <a:r>
              <a:rPr lang="en-US" sz="2800" i="1" dirty="0" err="1"/>
              <a:t>kelishdi</a:t>
            </a:r>
            <a:r>
              <a:rPr lang="en-US" sz="2800" i="1" dirty="0"/>
              <a:t>.)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Other people disagreed with him. </a:t>
            </a:r>
            <a:r>
              <a:rPr lang="en-US" sz="2800" i="1" dirty="0"/>
              <a:t>(</a:t>
            </a:r>
            <a:r>
              <a:rPr lang="en-US" sz="2800" i="1" dirty="0" err="1"/>
              <a:t>Boshqa</a:t>
            </a:r>
            <a:r>
              <a:rPr lang="en-US" sz="2800" i="1" dirty="0"/>
              <a:t> </a:t>
            </a:r>
            <a:r>
              <a:rPr lang="en-US" sz="2800" i="1" dirty="0" err="1"/>
              <a:t>odamlar</a:t>
            </a:r>
            <a:r>
              <a:rPr lang="en-US" sz="2800" i="1" dirty="0"/>
              <a:t> </a:t>
            </a:r>
            <a:r>
              <a:rPr lang="en-US" sz="2800" i="1" dirty="0" err="1"/>
              <a:t>unga</a:t>
            </a:r>
            <a:r>
              <a:rPr lang="en-US" sz="2800" i="1" dirty="0"/>
              <a:t> </a:t>
            </a:r>
            <a:r>
              <a:rPr lang="en-US" sz="2800" i="1" dirty="0" err="1"/>
              <a:t>qo'shilmadi</a:t>
            </a:r>
            <a:r>
              <a:rPr lang="en-US" sz="2800" i="1" dirty="0"/>
              <a:t>.)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Other information is available online.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Other countries have similar laws.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15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0120-F28D-73FF-417F-DF0A9E4E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SINGULAR NOUN BILAN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D29BD-FED1-389A-64AF-9F804C3F3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347019"/>
            <a:ext cx="11906865" cy="551098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Agar </a:t>
            </a:r>
            <a:r>
              <a:rPr lang="en-US" sz="2800" b="1" i="1" dirty="0">
                <a:highlight>
                  <a:srgbClr val="FFFF00"/>
                </a:highlight>
              </a:rPr>
              <a:t>other</a:t>
            </a:r>
            <a:r>
              <a:rPr lang="en-US" sz="2800" i="1" dirty="0">
                <a:highlight>
                  <a:srgbClr val="FFFF00"/>
                </a:highlight>
              </a:rPr>
              <a:t> dan </a:t>
            </a:r>
            <a:r>
              <a:rPr lang="en-US" sz="2800" i="1" dirty="0" err="1">
                <a:highlight>
                  <a:srgbClr val="FFFF00"/>
                </a:highlight>
              </a:rPr>
              <a:t>keyin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birlikdagi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sanaladigan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ot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kelsa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undan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oldin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yana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bir</a:t>
            </a:r>
            <a:r>
              <a:rPr lang="en-US" sz="2800" i="1" dirty="0">
                <a:highlight>
                  <a:srgbClr val="FFFF00"/>
                </a:highlight>
              </a:rPr>
              <a:t> determiner </a:t>
            </a:r>
            <a:r>
              <a:rPr lang="en-US" sz="2800" i="1" dirty="0" err="1">
                <a:highlight>
                  <a:srgbClr val="FFFF00"/>
                </a:highlight>
              </a:rPr>
              <a:t>kerak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Formula:   </a:t>
            </a:r>
            <a:r>
              <a:rPr lang="en-US" sz="2800" b="1" dirty="0">
                <a:solidFill>
                  <a:srgbClr val="00B0F0"/>
                </a:solidFill>
              </a:rPr>
              <a:t>the / my / this / that / no + other + singular noun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 prefer the other </a:t>
            </a:r>
            <a:r>
              <a:rPr lang="en-US" sz="2800" dirty="0" err="1"/>
              <a:t>colour</a:t>
            </a:r>
            <a:r>
              <a:rPr lang="en-US" sz="2800" dirty="0"/>
              <a:t>. </a:t>
            </a:r>
            <a:r>
              <a:rPr lang="en-US" sz="2800" i="1" dirty="0"/>
              <a:t>(Men </a:t>
            </a:r>
            <a:r>
              <a:rPr lang="en-US" sz="2800" i="1" dirty="0" err="1"/>
              <a:t>boshqa</a:t>
            </a:r>
            <a:r>
              <a:rPr lang="en-US" sz="2800" i="1" dirty="0"/>
              <a:t> </a:t>
            </a:r>
            <a:r>
              <a:rPr lang="en-US" sz="2800" i="1" dirty="0" err="1"/>
              <a:t>rangni</a:t>
            </a:r>
            <a:r>
              <a:rPr lang="en-US" sz="2800" i="1" dirty="0"/>
              <a:t> </a:t>
            </a:r>
            <a:r>
              <a:rPr lang="en-US" sz="2800" i="1" dirty="0" err="1"/>
              <a:t>afzal</a:t>
            </a:r>
            <a:r>
              <a:rPr lang="en-US" sz="2800" i="1" dirty="0"/>
              <a:t> </a:t>
            </a:r>
            <a:r>
              <a:rPr lang="en-US" sz="2800" i="1" dirty="0" err="1"/>
              <a:t>ko'raman</a:t>
            </a:r>
            <a:r>
              <a:rPr lang="en-US" sz="2800" i="1" dirty="0"/>
              <a:t>.)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other brother lives in Canada. </a:t>
            </a:r>
            <a:r>
              <a:rPr lang="en-US" sz="2800" i="1" dirty="0"/>
              <a:t>(Mening </a:t>
            </a:r>
            <a:r>
              <a:rPr lang="en-US" sz="2800" i="1" dirty="0" err="1"/>
              <a:t>boshqa</a:t>
            </a:r>
            <a:r>
              <a:rPr lang="en-US" sz="2800" i="1" dirty="0"/>
              <a:t> </a:t>
            </a:r>
            <a:r>
              <a:rPr lang="en-US" sz="2800" i="1" dirty="0" err="1"/>
              <a:t>akam</a:t>
            </a:r>
            <a:r>
              <a:rPr lang="en-US" sz="2800" i="1" dirty="0"/>
              <a:t> </a:t>
            </a:r>
            <a:r>
              <a:rPr lang="en-US" sz="2800" i="1" dirty="0" err="1"/>
              <a:t>Kanadada</a:t>
            </a:r>
            <a:r>
              <a:rPr lang="en-US" sz="2800" i="1" dirty="0"/>
              <a:t> </a:t>
            </a:r>
            <a:r>
              <a:rPr lang="en-US" sz="2800" i="1" dirty="0" err="1"/>
              <a:t>yashaydi</a:t>
            </a:r>
            <a:r>
              <a:rPr lang="en-US" sz="2800" i="1" dirty="0"/>
              <a:t>.)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 other student knew the answer. </a:t>
            </a:r>
            <a:r>
              <a:rPr lang="en-US" sz="2800" i="1" dirty="0"/>
              <a:t>(</a:t>
            </a:r>
            <a:r>
              <a:rPr lang="en-US" sz="2800" i="1" dirty="0" err="1"/>
              <a:t>Boshqa</a:t>
            </a:r>
            <a:r>
              <a:rPr lang="en-US" sz="2800" i="1" dirty="0"/>
              <a:t> </a:t>
            </a:r>
            <a:r>
              <a:rPr lang="en-US" sz="2800" i="1" dirty="0" err="1"/>
              <a:t>hech</a:t>
            </a:r>
            <a:r>
              <a:rPr lang="en-US" sz="2800" i="1" dirty="0"/>
              <a:t> </a:t>
            </a:r>
            <a:r>
              <a:rPr lang="en-US" sz="2800" i="1" dirty="0" err="1"/>
              <a:t>bir</a:t>
            </a:r>
            <a:r>
              <a:rPr lang="en-US" sz="2800" i="1" dirty="0"/>
              <a:t> </a:t>
            </a:r>
            <a:r>
              <a:rPr lang="en-US" sz="2800" i="1" dirty="0" err="1"/>
              <a:t>talaba</a:t>
            </a:r>
            <a:r>
              <a:rPr lang="en-US" sz="2800" i="1" dirty="0"/>
              <a:t> </a:t>
            </a:r>
            <a:r>
              <a:rPr lang="en-US" sz="2800" i="1" dirty="0" err="1"/>
              <a:t>javobni</a:t>
            </a:r>
            <a:r>
              <a:rPr lang="en-US" sz="2800" i="1" dirty="0"/>
              <a:t> </a:t>
            </a:r>
            <a:r>
              <a:rPr lang="en-US" sz="2800" i="1" dirty="0" err="1"/>
              <a:t>bilmadi</a:t>
            </a:r>
            <a:r>
              <a:rPr lang="en-US" sz="2800" i="1" dirty="0"/>
              <a:t>.)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other option seems better.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I prefer other </a:t>
            </a:r>
            <a:r>
              <a:rPr lang="en-US" sz="2800" dirty="0" err="1"/>
              <a:t>colour</a:t>
            </a:r>
            <a:r>
              <a:rPr lang="en-US" sz="2800" dirty="0"/>
              <a:t>. ✔ I prefer the other </a:t>
            </a:r>
            <a:r>
              <a:rPr lang="en-US" sz="2800" dirty="0" err="1"/>
              <a:t>colour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164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7D51-64AF-4439-6854-C55AA0A4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0456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OTHERS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3E735-F548-3D9C-DF1F-27CD34A09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766916"/>
            <a:ext cx="11818374" cy="60910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Others</a:t>
            </a:r>
            <a:r>
              <a:rPr lang="en-US" sz="2800" i="1" dirty="0">
                <a:highlight>
                  <a:srgbClr val="FFFF00"/>
                </a:highlight>
              </a:rPr>
              <a:t> = </a:t>
            </a:r>
            <a:r>
              <a:rPr lang="en-US" sz="2800" i="1" dirty="0" err="1">
                <a:highlight>
                  <a:srgbClr val="FFFF00"/>
                </a:highlight>
              </a:rPr>
              <a:t>boshqalar</a:t>
            </a:r>
            <a:r>
              <a:rPr lang="en-US" sz="2800" i="1" dirty="0">
                <a:highlight>
                  <a:srgbClr val="FFFF00"/>
                </a:highlight>
              </a:rPr>
              <a:t>. Bu </a:t>
            </a:r>
            <a:r>
              <a:rPr lang="en-US" sz="2800" b="1" i="1" dirty="0">
                <a:highlight>
                  <a:srgbClr val="FFFF00"/>
                </a:highlight>
              </a:rPr>
              <a:t>pronoun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hisoblanadi</a:t>
            </a:r>
            <a:r>
              <a:rPr lang="en-US" sz="2800" i="1" dirty="0">
                <a:highlight>
                  <a:srgbClr val="FFFF00"/>
                </a:highlight>
              </a:rPr>
              <a:t>. </a:t>
            </a:r>
            <a:r>
              <a:rPr lang="en-US" sz="2800" i="1" dirty="0" err="1">
                <a:highlight>
                  <a:srgbClr val="FFFF00"/>
                </a:highlight>
              </a:rPr>
              <a:t>Undan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keyin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kelmaydi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Formula: </a:t>
            </a:r>
            <a:r>
              <a:rPr lang="en-US" sz="2800" b="1" dirty="0">
                <a:solidFill>
                  <a:srgbClr val="00B0F0"/>
                </a:solidFill>
              </a:rPr>
              <a:t>Others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Some students passed the exam, but others failed. </a:t>
            </a:r>
            <a:r>
              <a:rPr lang="en-US" sz="2800" i="1" dirty="0"/>
              <a:t>(</a:t>
            </a:r>
            <a:r>
              <a:rPr lang="en-US" sz="2800" i="1" dirty="0" err="1"/>
              <a:t>Ba'zi</a:t>
            </a:r>
            <a:r>
              <a:rPr lang="en-US" sz="2800" i="1" dirty="0"/>
              <a:t> </a:t>
            </a:r>
            <a:r>
              <a:rPr lang="en-US" sz="2800" i="1" dirty="0" err="1"/>
              <a:t>talabalar</a:t>
            </a:r>
            <a:r>
              <a:rPr lang="en-US" sz="2800" i="1" dirty="0"/>
              <a:t> </a:t>
            </a:r>
            <a:r>
              <a:rPr lang="en-US" sz="2800" i="1" dirty="0" err="1"/>
              <a:t>imtihondan</a:t>
            </a:r>
            <a:r>
              <a:rPr lang="en-US" sz="2800" i="1" dirty="0"/>
              <a:t> </a:t>
            </a:r>
            <a:r>
              <a:rPr lang="en-US" sz="2800" i="1" dirty="0" err="1"/>
              <a:t>o'tdi</a:t>
            </a:r>
            <a:r>
              <a:rPr lang="en-US" sz="2800" i="1" dirty="0"/>
              <a:t>, </a:t>
            </a:r>
            <a:r>
              <a:rPr lang="en-US" sz="2800" i="1" dirty="0" err="1"/>
              <a:t>boshqalari</a:t>
            </a:r>
            <a:r>
              <a:rPr lang="en-US" sz="2800" i="1" dirty="0"/>
              <a:t> </a:t>
            </a:r>
            <a:r>
              <a:rPr lang="en-US" sz="2800" i="1" dirty="0" err="1"/>
              <a:t>yiqildi</a:t>
            </a:r>
            <a:r>
              <a:rPr lang="en-US" sz="2800" i="1" dirty="0"/>
              <a:t>.)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Some people like coffee; others prefer tea.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will send some photos today and others tomorrow.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Some books are easy to read, while others are challenging.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107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1700-35CB-FC95-4FE3-994C9185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Other va Others farqi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EFEF-F299-23AB-7007-3291832E3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229033"/>
            <a:ext cx="10058400" cy="562896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Other - </a:t>
            </a:r>
            <a:r>
              <a:rPr lang="en-US" sz="2800" i="1" dirty="0">
                <a:highlight>
                  <a:srgbClr val="FFFF00"/>
                </a:highlight>
              </a:rPr>
              <a:t>Ot </a:t>
            </a:r>
            <a:r>
              <a:rPr lang="en-US" sz="2800" i="1" dirty="0" err="1">
                <a:highlight>
                  <a:srgbClr val="FFFF00"/>
                </a:highlight>
              </a:rPr>
              <a:t>bilan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other students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other people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other books </a:t>
            </a:r>
          </a:p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Others - </a:t>
            </a:r>
            <a:r>
              <a:rPr lang="en-US" sz="2800" i="1" dirty="0">
                <a:highlight>
                  <a:srgbClr val="FFFF00"/>
                </a:highlight>
              </a:rPr>
              <a:t>Ot </a:t>
            </a:r>
            <a:r>
              <a:rPr lang="en-US" sz="2800" i="1" dirty="0" err="1">
                <a:highlight>
                  <a:srgbClr val="FFFF00"/>
                </a:highlight>
              </a:rPr>
              <a:t>ishlatilmaydi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Others arrived late.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Others disagreed.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</a:t>
            </a:r>
            <a:r>
              <a:rPr lang="en-US" sz="2800" strike="sngStrike" dirty="0"/>
              <a:t>Others students  </a:t>
            </a:r>
            <a:r>
              <a:rPr lang="en-US" sz="2800" dirty="0"/>
              <a:t>✔ Other students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83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6B45-DA98-6EB2-E144-9F7DBC050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3238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THE OTHER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1006F-79CC-C066-0C6E-3A828356A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884903"/>
            <a:ext cx="11759381" cy="59730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The other</a:t>
            </a:r>
            <a:r>
              <a:rPr lang="en-US" sz="2800" i="1" dirty="0">
                <a:highlight>
                  <a:srgbClr val="FFFF00"/>
                </a:highlight>
              </a:rPr>
              <a:t> = </a:t>
            </a:r>
            <a:r>
              <a:rPr lang="en-US" sz="2800" i="1" dirty="0" err="1">
                <a:highlight>
                  <a:srgbClr val="FFFF00"/>
                </a:highlight>
              </a:rPr>
              <a:t>ikkinchisi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qolgani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b="1" i="1" dirty="0" err="1">
                <a:highlight>
                  <a:srgbClr val="FFFF00"/>
                </a:highlight>
              </a:rPr>
              <a:t>Ikkitadan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bittasi</a:t>
            </a:r>
            <a:endParaRPr lang="en-US" sz="2800" b="1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Agar </a:t>
            </a:r>
            <a:r>
              <a:rPr lang="en-US" sz="2800" i="1" dirty="0" err="1">
                <a:highlight>
                  <a:srgbClr val="FFFF00"/>
                </a:highlight>
              </a:rPr>
              <a:t>faqat</a:t>
            </a:r>
            <a:r>
              <a:rPr lang="en-US" sz="2800" i="1" dirty="0">
                <a:highlight>
                  <a:srgbClr val="FFFF00"/>
                </a:highlight>
              </a:rPr>
              <a:t> 2 ta </a:t>
            </a:r>
            <a:r>
              <a:rPr lang="en-US" sz="2800" i="1" dirty="0" err="1">
                <a:highlight>
                  <a:srgbClr val="FFFF00"/>
                </a:highlight>
              </a:rPr>
              <a:t>narsa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yoki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odam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bo'lsa</a:t>
            </a:r>
            <a:r>
              <a:rPr lang="en-US" sz="2800" i="1" dirty="0">
                <a:highlight>
                  <a:srgbClr val="FFFF00"/>
                </a:highlight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Formula:  </a:t>
            </a:r>
            <a:r>
              <a:rPr lang="en-US" sz="2800" b="1" dirty="0">
                <a:solidFill>
                  <a:srgbClr val="00B0F0"/>
                </a:solidFill>
              </a:rPr>
              <a:t>one ... the other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 have two dogs. One is black and the other is white.</a:t>
            </a:r>
            <a:br>
              <a:rPr lang="en-US" sz="2800" dirty="0"/>
            </a:br>
            <a:r>
              <a:rPr lang="en-US" sz="2800" i="1" dirty="0"/>
              <a:t>(Menda </a:t>
            </a:r>
            <a:r>
              <a:rPr lang="en-US" sz="2800" i="1" dirty="0" err="1"/>
              <a:t>ikkita</a:t>
            </a:r>
            <a:r>
              <a:rPr lang="en-US" sz="2800" i="1" dirty="0"/>
              <a:t> it bor. Biri </a:t>
            </a:r>
            <a:r>
              <a:rPr lang="en-US" sz="2800" i="1" dirty="0" err="1"/>
              <a:t>qora</a:t>
            </a:r>
            <a:r>
              <a:rPr lang="en-US" sz="2800" i="1" dirty="0"/>
              <a:t>, </a:t>
            </a:r>
            <a:r>
              <a:rPr lang="en-US" sz="2800" i="1" dirty="0" err="1"/>
              <a:t>ikkinchisi</a:t>
            </a:r>
            <a:r>
              <a:rPr lang="en-US" sz="2800" i="1" dirty="0"/>
              <a:t> </a:t>
            </a:r>
            <a:r>
              <a:rPr lang="en-US" sz="2800" i="1" dirty="0" err="1"/>
              <a:t>oq</a:t>
            </a:r>
            <a:r>
              <a:rPr lang="en-US" sz="2800" i="1" dirty="0"/>
              <a:t>.)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held a phone in one hand and a bag in the other.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One twin is tall and the other is short.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24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D547-B9BC-3A57-D990-42B073D5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8154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THE OTHER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4DCB-6BFE-77CE-76FF-63740BAF1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1081548"/>
            <a:ext cx="11405420" cy="577645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Qolganlari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degan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manoni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200000"/>
              </a:lnSpc>
            </a:pPr>
            <a:r>
              <a:rPr lang="en-US" sz="2800" b="1" dirty="0"/>
              <a:t>Formula:   </a:t>
            </a:r>
            <a:r>
              <a:rPr lang="en-US" sz="2800" b="1" dirty="0">
                <a:solidFill>
                  <a:srgbClr val="00B0F0"/>
                </a:solidFill>
              </a:rPr>
              <a:t>the other + plural noun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800" dirty="0"/>
              <a:t>Where are the other students?</a:t>
            </a:r>
            <a:r>
              <a:rPr lang="en-US" sz="2800" i="1" dirty="0"/>
              <a:t>(</a:t>
            </a:r>
            <a:r>
              <a:rPr lang="en-US" sz="2800" i="1" dirty="0" err="1"/>
              <a:t>Qolgan</a:t>
            </a:r>
            <a:r>
              <a:rPr lang="en-US" sz="2800" i="1" dirty="0"/>
              <a:t> </a:t>
            </a:r>
            <a:r>
              <a:rPr lang="en-US" sz="2800" i="1" dirty="0" err="1"/>
              <a:t>talabalar</a:t>
            </a:r>
            <a:r>
              <a:rPr lang="en-US" sz="2800" i="1" dirty="0"/>
              <a:t> </a:t>
            </a:r>
            <a:r>
              <a:rPr lang="en-US" sz="2800" i="1" dirty="0" err="1"/>
              <a:t>qayerda</a:t>
            </a:r>
            <a:r>
              <a:rPr lang="en-US" sz="2800" i="1" dirty="0"/>
              <a:t>?)</a:t>
            </a:r>
            <a:r>
              <a:rPr lang="en-US" sz="2800" dirty="0"/>
              <a:t>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The other players were waiting outside.</a:t>
            </a:r>
            <a:br>
              <a:rPr lang="en-US" sz="2800" dirty="0"/>
            </a:br>
            <a:r>
              <a:rPr lang="en-US" sz="2800" dirty="0"/>
              <a:t>I found four books, but where are the other two?</a:t>
            </a:r>
            <a:br>
              <a:rPr lang="en-US" sz="2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8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78B7-A6B2-4817-AFD5-8B741C09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"/>
            <a:ext cx="10058400" cy="98322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ANOTHER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3FFA6-0886-5F2B-F346-0ADC3B57F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983227"/>
            <a:ext cx="11670890" cy="58747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Another - </a:t>
            </a:r>
            <a:r>
              <a:rPr lang="en-US" sz="2800" i="1" dirty="0" err="1">
                <a:highlight>
                  <a:srgbClr val="FFFF00"/>
                </a:highlight>
              </a:rPr>
              <a:t>Ma'nolari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i="1" dirty="0" err="1">
                <a:highlight>
                  <a:srgbClr val="FFFF00"/>
                </a:highlight>
              </a:rPr>
              <a:t>yana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bitta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qo'shimcha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boshqa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Formula:  </a:t>
            </a:r>
            <a:r>
              <a:rPr lang="en-US" sz="2800" b="1" dirty="0">
                <a:solidFill>
                  <a:srgbClr val="00B0F0"/>
                </a:solidFill>
              </a:rPr>
              <a:t>Another + singular noun 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Would you like another cup of tea? </a:t>
            </a:r>
            <a:r>
              <a:rPr lang="en-US" sz="2800" i="1" dirty="0"/>
              <a:t>(Yana </a:t>
            </a:r>
            <a:r>
              <a:rPr lang="en-US" sz="2800" i="1" dirty="0" err="1"/>
              <a:t>bir</a:t>
            </a:r>
            <a:r>
              <a:rPr lang="en-US" sz="2800" i="1" dirty="0"/>
              <a:t> </a:t>
            </a:r>
            <a:r>
              <a:rPr lang="en-US" sz="2800" i="1" dirty="0" err="1"/>
              <a:t>piyola</a:t>
            </a:r>
            <a:r>
              <a:rPr lang="en-US" sz="2800" i="1" dirty="0"/>
              <a:t> choy </a:t>
            </a:r>
            <a:r>
              <a:rPr lang="en-US" sz="2800" i="1" dirty="0" err="1"/>
              <a:t>xohlaysizmi</a:t>
            </a:r>
            <a:r>
              <a:rPr lang="en-US" sz="2800" i="1" dirty="0"/>
              <a:t>?)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need another pen. </a:t>
            </a:r>
            <a:r>
              <a:rPr lang="en-US" sz="2800" i="1" dirty="0"/>
              <a:t>(Menga </a:t>
            </a:r>
            <a:r>
              <a:rPr lang="en-US" sz="2800" i="1" dirty="0" err="1"/>
              <a:t>yana</a:t>
            </a:r>
            <a:r>
              <a:rPr lang="en-US" sz="2800" i="1" dirty="0"/>
              <a:t> </a:t>
            </a:r>
            <a:r>
              <a:rPr lang="en-US" sz="2800" i="1" dirty="0" err="1"/>
              <a:t>bir</a:t>
            </a:r>
            <a:r>
              <a:rPr lang="en-US" sz="2800" i="1" dirty="0"/>
              <a:t> </a:t>
            </a:r>
            <a:r>
              <a:rPr lang="en-US" sz="2800" i="1" dirty="0" err="1"/>
              <a:t>ruchka</a:t>
            </a:r>
            <a:r>
              <a:rPr lang="en-US" sz="2800" i="1" dirty="0"/>
              <a:t> </a:t>
            </a:r>
            <a:r>
              <a:rPr lang="en-US" sz="2800" i="1" dirty="0" err="1"/>
              <a:t>kerak</a:t>
            </a:r>
            <a:r>
              <a:rPr lang="en-US" sz="2800" i="1" dirty="0"/>
              <a:t>.)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Let's try another restaurant.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bought another car last month.</a:t>
            </a:r>
          </a:p>
        </p:txBody>
      </p:sp>
    </p:spTree>
    <p:extLst>
      <p:ext uri="{BB962C8B-B14F-4D97-AF65-F5344CB8AC3E}">
        <p14:creationId xmlns:p14="http://schemas.microsoft.com/office/powerpoint/2010/main" val="341342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E5FF-544D-AD00-B2CC-A6A26DD09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Another pronoun </a:t>
            </a:r>
            <a:r>
              <a:rPr lang="en-US" b="1" dirty="0" err="1">
                <a:solidFill>
                  <a:srgbClr val="FF0000"/>
                </a:solidFill>
              </a:rPr>
              <a:t>sifatida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44BB-3130-85D8-372E-4CA471767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297858"/>
            <a:ext cx="11729884" cy="55601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Another</a:t>
            </a:r>
            <a:r>
              <a:rPr lang="en-US" sz="2800" i="1" dirty="0">
                <a:highlight>
                  <a:srgbClr val="FFFF00"/>
                </a:highlight>
              </a:rPr>
              <a:t> pronoun (</a:t>
            </a:r>
            <a:r>
              <a:rPr lang="en-US" sz="2800" i="1" dirty="0" err="1">
                <a:highlight>
                  <a:srgbClr val="FFFF00"/>
                </a:highlight>
              </a:rPr>
              <a:t>olmosh</a:t>
            </a:r>
            <a:r>
              <a:rPr lang="en-US" sz="2800" i="1" dirty="0">
                <a:highlight>
                  <a:srgbClr val="FFFF00"/>
                </a:highlight>
              </a:rPr>
              <a:t>) </a:t>
            </a:r>
            <a:r>
              <a:rPr lang="en-US" sz="2800" i="1" dirty="0" err="1">
                <a:highlight>
                  <a:srgbClr val="FFFF00"/>
                </a:highlight>
              </a:rPr>
              <a:t>bo‘lib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kelganda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otning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o‘rnini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bosadi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shuning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uchun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undan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keyin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kelmaydi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another</a:t>
            </a:r>
            <a:r>
              <a:rPr lang="en-US" sz="2800" i="1" dirty="0">
                <a:highlight>
                  <a:srgbClr val="FFFF00"/>
                </a:highlight>
              </a:rPr>
              <a:t> = </a:t>
            </a:r>
            <a:r>
              <a:rPr lang="en-US" sz="2800" i="1" dirty="0" err="1">
                <a:highlight>
                  <a:srgbClr val="FFFF00"/>
                </a:highlight>
              </a:rPr>
              <a:t>yana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bittasi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boshqasi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yana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biri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This cake is delicious. Can I have </a:t>
            </a:r>
            <a:r>
              <a:rPr lang="en-US" sz="2800" b="1" dirty="0"/>
              <a:t>another</a:t>
            </a:r>
            <a:r>
              <a:rPr lang="en-US" sz="2800" dirty="0"/>
              <a:t>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another = another cake.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One team finished the task and </a:t>
            </a:r>
            <a:r>
              <a:rPr lang="en-US" sz="2800" b="1" dirty="0"/>
              <a:t>another</a:t>
            </a:r>
            <a:r>
              <a:rPr lang="en-US" sz="2800" dirty="0"/>
              <a:t> started working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lost my pen, so I borrowed </a:t>
            </a:r>
            <a:r>
              <a:rPr lang="en-US" sz="2800" b="1" dirty="0"/>
              <a:t>another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62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37</TotalTime>
  <Words>522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Wingdings</vt:lpstr>
      <vt:lpstr>Wood Type</vt:lpstr>
      <vt:lpstr>OTHER, OTHERS,  THE OTHER, ANOTHER</vt:lpstr>
      <vt:lpstr>OTHER</vt:lpstr>
      <vt:lpstr>SINGULAR NOUN BILAN</vt:lpstr>
      <vt:lpstr>OTHERS</vt:lpstr>
      <vt:lpstr>Other va Others farqi</vt:lpstr>
      <vt:lpstr>THE OTHER</vt:lpstr>
      <vt:lpstr>THE OTHER</vt:lpstr>
      <vt:lpstr>ANOTHER</vt:lpstr>
      <vt:lpstr>Another pronoun sifatida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7</cp:revision>
  <dcterms:created xsi:type="dcterms:W3CDTF">2026-06-08T03:57:19Z</dcterms:created>
  <dcterms:modified xsi:type="dcterms:W3CDTF">2026-06-08T04:34:37Z</dcterms:modified>
</cp:coreProperties>
</file>