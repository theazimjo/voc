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367293-B808-4CA9-B378-1A3D77563767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21FD5A-AF97-40A1-96C6-22C3B075E7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786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FD5A-AF97-40A1-96C6-22C3B075E7F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376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21FD5A-AF97-40A1-96C6-22C3B075E7F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0231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0669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61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597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61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0340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350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5997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8127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060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637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550A071-A73D-40C5-8163-11ECDEF726AF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15547048-3252-4634-AE5F-A6BEE95E65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23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0E885-0E77-0D49-E915-5ACE9D91AD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1559" y="1432223"/>
            <a:ext cx="10275201" cy="3035808"/>
          </a:xfrm>
        </p:spPr>
        <p:txBody>
          <a:bodyPr/>
          <a:lstStyle/>
          <a:p>
            <a:r>
              <a:rPr lang="en-US" sz="4800" b="1" cap="none" dirty="0">
                <a:solidFill>
                  <a:srgbClr val="FF0000"/>
                </a:solidFill>
              </a:rPr>
              <a:t>All </a:t>
            </a:r>
            <a:br>
              <a:rPr lang="en-US" sz="4800" b="1" cap="none" dirty="0">
                <a:solidFill>
                  <a:srgbClr val="FF0000"/>
                </a:solidFill>
              </a:rPr>
            </a:br>
            <a:r>
              <a:rPr lang="en-US" sz="4800" b="1" cap="none" dirty="0">
                <a:solidFill>
                  <a:srgbClr val="FF0000"/>
                </a:solidFill>
              </a:rPr>
              <a:t>some  </a:t>
            </a:r>
            <a:br>
              <a:rPr lang="en-US" sz="4800" b="1" cap="none" dirty="0">
                <a:solidFill>
                  <a:srgbClr val="FF0000"/>
                </a:solidFill>
              </a:rPr>
            </a:br>
            <a:r>
              <a:rPr lang="en-US" sz="4800" b="1" cap="none" dirty="0">
                <a:solidFill>
                  <a:srgbClr val="FF0000"/>
                </a:solidFill>
              </a:rPr>
              <a:t>any  </a:t>
            </a:r>
            <a:br>
              <a:rPr lang="en-US" sz="4800" b="1" cap="none" dirty="0">
                <a:solidFill>
                  <a:srgbClr val="FF0000"/>
                </a:solidFill>
              </a:rPr>
            </a:br>
            <a:r>
              <a:rPr lang="en-US" sz="4800" b="1" cap="none" dirty="0">
                <a:solidFill>
                  <a:srgbClr val="FF0000"/>
                </a:solidFill>
              </a:rPr>
              <a:t>most</a:t>
            </a:r>
            <a:br>
              <a:rPr lang="en-US" sz="4800" b="1" cap="none" dirty="0">
                <a:solidFill>
                  <a:srgbClr val="FF0000"/>
                </a:solidFill>
              </a:rPr>
            </a:br>
            <a:r>
              <a:rPr lang="en-US" sz="4800" b="1" cap="none" dirty="0">
                <a:solidFill>
                  <a:srgbClr val="FF0000"/>
                </a:solidFill>
              </a:rPr>
              <a:t>no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18C9D3B-77A3-5651-9C69-719232B62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88815" y="2596166"/>
            <a:ext cx="8437945" cy="1069848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Quantifiers in English Grammar</a:t>
            </a:r>
          </a:p>
        </p:txBody>
      </p:sp>
    </p:spTree>
    <p:extLst>
      <p:ext uri="{BB962C8B-B14F-4D97-AF65-F5344CB8AC3E}">
        <p14:creationId xmlns:p14="http://schemas.microsoft.com/office/powerpoint/2010/main" val="3745260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6" dur="1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7" dur="300" fill="hold">
                                          <p:stCondLst>
                                            <p:cond delay="3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" dur="3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" dur="3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0" dur="3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0E561F-7D1C-223D-C6B8-9E1C7D2C5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8155"/>
            <a:ext cx="10058400" cy="727587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What are Quantifiers?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573D14-946D-F271-2EAA-A9410DCF7E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83227"/>
            <a:ext cx="8949223" cy="5766618"/>
          </a:xfrm>
        </p:spPr>
        <p:txBody>
          <a:bodyPr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Quantifiers show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quantity (how much / how many)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We use </a:t>
            </a: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quantifiers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 with:</a:t>
            </a:r>
          </a:p>
          <a:p>
            <a:pPr lvl="1">
              <a:lnSpc>
                <a:spcPct val="160000"/>
              </a:lnSpc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Countable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nouns (books, students) </a:t>
            </a:r>
          </a:p>
          <a:p>
            <a:pPr lvl="1">
              <a:lnSpc>
                <a:spcPct val="160000"/>
              </a:lnSpc>
            </a:pPr>
            <a:r>
              <a:rPr lang="en-US" sz="26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Uncountable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nouns (water, money) </a:t>
            </a:r>
          </a:p>
          <a:p>
            <a:pPr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pPr lvl="1">
              <a:lnSpc>
                <a:spcPct val="16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some water </a:t>
            </a:r>
          </a:p>
          <a:p>
            <a:pPr lvl="1">
              <a:lnSpc>
                <a:spcPct val="16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many students </a:t>
            </a:r>
          </a:p>
          <a:p>
            <a:pPr lvl="1">
              <a:lnSpc>
                <a:spcPct val="160000"/>
              </a:lnSpc>
            </a:pP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all people</a:t>
            </a:r>
          </a:p>
          <a:p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74E83A-05B1-7E96-1C42-0C416A1064F8}"/>
              </a:ext>
            </a:extLst>
          </p:cNvPr>
          <p:cNvSpPr txBox="1">
            <a:spLocks/>
          </p:cNvSpPr>
          <p:nvPr/>
        </p:nvSpPr>
        <p:spPr>
          <a:xfrm>
            <a:off x="7844274" y="2074606"/>
            <a:ext cx="3993765" cy="45228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0000"/>
              </a:lnSpc>
              <a:spcBef>
                <a:spcPts val="1200"/>
              </a:spcBef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chemeClr val="accent1">
                  <a:lumMod val="75000"/>
                </a:schemeClr>
              </a:buClr>
              <a:buSzPct val="85000"/>
              <a:buFont typeface="Wingdings" pitchFamily="2" charset="2"/>
              <a:buChar char="§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Quantifier + noun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 students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some water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any books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most people 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no time</a:t>
            </a:r>
          </a:p>
          <a:p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151476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821E5-6E5D-B09A-0B5D-C16BF1E43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1307690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AAF69-228F-0032-B0C6-D003515D8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924232"/>
            <a:ext cx="10058400" cy="593376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6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 + plural noun / uncountable noun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Or</a:t>
            </a:r>
          </a:p>
          <a:p>
            <a:pPr lvl="1"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 of + the/my/this/those + noun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Meaning: 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hamma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3200" dirty="0" err="1">
                <a:latin typeface="Arial" panose="020B0604020202020204" pitchFamily="34" charset="0"/>
                <a:cs typeface="Arial" panose="020B0604020202020204" pitchFamily="34" charset="0"/>
              </a:rPr>
              <a:t>barcha</a:t>
            </a:r>
            <a:r>
              <a:rPr lang="en-US" sz="3200" dirty="0">
                <a:latin typeface="Arial" panose="020B0604020202020204" pitchFamily="34" charset="0"/>
                <a:cs typeface="Arial" panose="020B0604020202020204" pitchFamily="34" charset="0"/>
              </a:rPr>
              <a:t> (100%)</a:t>
            </a:r>
          </a:p>
          <a:p>
            <a:pPr>
              <a:lnSpc>
                <a:spcPct val="16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those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students are here. /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 of those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students have a laptop.</a:t>
            </a:r>
          </a:p>
          <a:p>
            <a:pPr lvl="1"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water is clean. /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 of the water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in this region is toxic. </a:t>
            </a:r>
          </a:p>
          <a:p>
            <a:pPr lvl="1"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 of this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is yours. / You bought much food. Can you eat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 of it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85782265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15B240-9A83-D97E-D277-1A47D3066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ALL – USAGE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FA2A2-C13A-F52B-72CA-1C9816A3BA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6477" y="2121408"/>
            <a:ext cx="5447071" cy="405079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✔ General truth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✔ Whole group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📌 EXAMPLE: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All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animals need food.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Meaning: every animal in the world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347BB6-6465-2419-7781-0429F833D58C}"/>
              </a:ext>
            </a:extLst>
          </p:cNvPr>
          <p:cNvSpPr txBox="1"/>
          <p:nvPr/>
        </p:nvSpPr>
        <p:spPr>
          <a:xfrm>
            <a:off x="5358580" y="2166198"/>
            <a:ext cx="6764594" cy="2597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/ this /that… = all the / this / that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students = all the students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milk = all the milk 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all </a:t>
            </a: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those people = all those people </a:t>
            </a:r>
          </a:p>
        </p:txBody>
      </p:sp>
    </p:spTree>
    <p:extLst>
      <p:ext uri="{BB962C8B-B14F-4D97-AF65-F5344CB8AC3E}">
        <p14:creationId xmlns:p14="http://schemas.microsoft.com/office/powerpoint/2010/main" val="4560909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DD96-2B3A-74B5-9682-8725E0508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7" y="0"/>
            <a:ext cx="10058400" cy="1088529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MOST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4AA03-48A3-25A0-93B3-CA4DBC87AC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7" y="914400"/>
            <a:ext cx="10483055" cy="5943600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+ plural noun / uncountable noun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Most of + the/my/these/them/us/you + noun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Meaning: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lvl="1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Ko‘pchilik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(more than 50%)</a:t>
            </a: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students passed from entry exams.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Most of them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were from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Uchkurgan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water is safe.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Most of you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don’t drink enough water. 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Most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of these children are happy.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811903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E4EA9C-F7FD-6F19-010F-4F9058C0C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855406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SOME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159E69-9B8D-6B9E-BC8F-30F852D3F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88258"/>
            <a:ext cx="12329651" cy="6169742"/>
          </a:xfrm>
        </p:spPr>
        <p:txBody>
          <a:bodyPr numCol="2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+ plural noun / uncountable noun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of + the/my/these + noun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+ singular countable noun</a:t>
            </a:r>
            <a:endParaRPr lang="en-US" sz="24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Meaning:</a:t>
            </a:r>
          </a:p>
          <a:p>
            <a:pPr lvl="1">
              <a:lnSpc>
                <a:spcPct val="150000"/>
              </a:lnSpc>
            </a:pP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Ba’zi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oz (unspecified amount)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qandaydir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bir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notanish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Some students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absent today.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need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some water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because I am thirsty. 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Some of the books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new in our library. 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Some idiot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parked his car in my place.</a:t>
            </a:r>
          </a:p>
          <a:p>
            <a:pPr lvl="1"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Some girl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asked Bobur’s number outside. 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Some – usage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✔ Positive sentences (+)</a:t>
            </a:r>
          </a:p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have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some friends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✔ Unknown quantity</a:t>
            </a:r>
          </a:p>
        </p:txBody>
      </p:sp>
    </p:spTree>
    <p:extLst>
      <p:ext uri="{BB962C8B-B14F-4D97-AF65-F5344CB8AC3E}">
        <p14:creationId xmlns:p14="http://schemas.microsoft.com/office/powerpoint/2010/main" val="358157331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prestige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38E4F-290D-17F1-B890-6058728D0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91341"/>
            <a:ext cx="10058400" cy="852555"/>
          </a:xfrm>
        </p:spPr>
        <p:txBody>
          <a:bodyPr>
            <a:noAutofit/>
          </a:bodyPr>
          <a:lstStyle/>
          <a:p>
            <a:pPr lvl="1"/>
            <a:r>
              <a:rPr lang="en-US" sz="36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Any + plural /singular / uncountable noun</a:t>
            </a:r>
            <a:br>
              <a:rPr lang="en-US" sz="36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FF0000"/>
                </a:solidFill>
                <a:latin typeface="+mj-lt"/>
                <a:cs typeface="Arial" panose="020B0604020202020204" pitchFamily="34" charset="0"/>
              </a:rPr>
              <a:t>Any of + the/my/these + noun</a:t>
            </a:r>
            <a:endParaRPr lang="en-US" sz="3600" dirty="0">
              <a:solidFill>
                <a:srgbClr val="FF0000"/>
              </a:solidFill>
              <a:latin typeface="+mj-lt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68053-F2C3-147D-F9B0-534C943314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19" y="943896"/>
            <a:ext cx="12064181" cy="5914104"/>
          </a:xfrm>
        </p:spPr>
        <p:txBody>
          <a:bodyPr numCol="2">
            <a:normAutofit lnSpcReduction="10000"/>
          </a:bodyPr>
          <a:lstStyle/>
          <a:p>
            <a:pPr>
              <a:lnSpc>
                <a:spcPct val="16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Meaning:</a:t>
            </a:r>
          </a:p>
          <a:p>
            <a:pPr lvl="1">
              <a:lnSpc>
                <a:spcPct val="160000"/>
              </a:lnSpc>
            </a:pP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umuman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yo‘q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xohlagan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biri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en-US" sz="2000" dirty="0" err="1">
                <a:latin typeface="Arial" panose="020B0604020202020204" pitchFamily="34" charset="0"/>
                <a:cs typeface="Arial" panose="020B0604020202020204" pitchFamily="34" charset="0"/>
              </a:rPr>
              <a:t>birorta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 you have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any money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 (question) 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don’t have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any time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. (negative) </a:t>
            </a:r>
          </a:p>
          <a:p>
            <a:pPr>
              <a:lnSpc>
                <a:spcPct val="16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Any book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can help you to improve your knowledge. (positive) (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istalgan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Do you have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any books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 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 don’t have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any friends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here. 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Are there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any students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in the classroom?</a:t>
            </a:r>
          </a:p>
          <a:p>
            <a:pPr>
              <a:lnSpc>
                <a:spcPct val="16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We need 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any volunteers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? ❌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(wrong in normal sentences)</a:t>
            </a:r>
          </a:p>
          <a:p>
            <a:pPr lvl="1">
              <a:lnSpc>
                <a:spcPct val="16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With negative meaning words:</a:t>
            </a:r>
          </a:p>
          <a:p>
            <a:pPr lvl="2">
              <a:lnSpc>
                <a:spcPct val="160000"/>
              </a:lnSpc>
            </a:pPr>
            <a:r>
              <a:rPr lang="en-US" sz="1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hardly any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deyarli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yo’q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60000"/>
              </a:lnSpc>
            </a:pPr>
            <a:r>
              <a:rPr lang="en-US" sz="1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scarcely any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deyarli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yo’q</a:t>
            </a:r>
            <a:endParaRPr lang="en-US" sz="1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>
              <a:lnSpc>
                <a:spcPct val="160000"/>
              </a:lnSpc>
            </a:pPr>
            <a:r>
              <a:rPr lang="en-US" sz="19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without any 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–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deyarli</a:t>
            </a:r>
            <a:r>
              <a:rPr lang="en-US" sz="19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900" dirty="0" err="1">
                <a:latin typeface="Arial" panose="020B0604020202020204" pitchFamily="34" charset="0"/>
                <a:cs typeface="Arial" panose="020B0604020202020204" pitchFamily="34" charset="0"/>
              </a:rPr>
              <a:t>yo’q</a:t>
            </a:r>
            <a:endParaRPr lang="en-US" sz="19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6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6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 have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hardly any time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  <a:p>
            <a:pPr lvl="1">
              <a:lnSpc>
                <a:spcPct val="160000"/>
              </a:lnSpc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She came </a:t>
            </a: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without any help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16767033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726C3-1AED-B28B-DFB7-98A2E677F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884903"/>
          </a:xfrm>
        </p:spPr>
        <p:txBody>
          <a:bodyPr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NO vs NOT ANY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25829-D3AD-3B41-B996-9A8C3FD78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796414"/>
            <a:ext cx="10058400" cy="5791200"/>
          </a:xfrm>
        </p:spPr>
        <p:txBody>
          <a:bodyPr numCol="2">
            <a:normAutofit fontScale="92500"/>
          </a:bodyPr>
          <a:lstStyle/>
          <a:p>
            <a:pPr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Structure:</a:t>
            </a:r>
          </a:p>
          <a:p>
            <a:pPr lvl="1">
              <a:lnSpc>
                <a:spcPct val="160000"/>
              </a:lnSpc>
            </a:pPr>
            <a:r>
              <a:rPr lang="en-US" sz="28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+ noun (singular, plural)</a:t>
            </a:r>
          </a:p>
          <a:p>
            <a:pPr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Meaning:</a:t>
            </a:r>
          </a:p>
          <a:p>
            <a:pPr lvl="1">
              <a:lnSpc>
                <a:spcPct val="160000"/>
              </a:lnSpc>
            </a:pP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Umuman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yo‘q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(0)</a:t>
            </a:r>
          </a:p>
          <a:p>
            <a:pPr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6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are no students. </a:t>
            </a:r>
          </a:p>
          <a:p>
            <a:pPr lvl="1">
              <a:lnSpc>
                <a:spcPct val="16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have no money. </a:t>
            </a:r>
          </a:p>
          <a:p>
            <a:pPr lvl="1">
              <a:lnSpc>
                <a:spcPct val="16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There is no milk. </a:t>
            </a:r>
          </a:p>
          <a:p>
            <a:pPr>
              <a:lnSpc>
                <a:spcPct val="16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No = not any:</a:t>
            </a:r>
          </a:p>
          <a:p>
            <a:pPr lvl="1">
              <a:lnSpc>
                <a:spcPct val="16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have no money. </a:t>
            </a:r>
          </a:p>
          <a:p>
            <a:pPr lvl="1">
              <a:lnSpc>
                <a:spcPct val="16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I don’t have any money. </a:t>
            </a:r>
          </a:p>
          <a:p>
            <a:pPr lvl="1">
              <a:lnSpc>
                <a:spcPct val="160000"/>
              </a:lnSpc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Both = 0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11826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000">
        <p15:prstTrans prst="curtains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DD4605-8073-54CF-A567-A86FD3E33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8155"/>
            <a:ext cx="10058400" cy="1632155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ALL / SOME / MOST / ANY + OF</a:t>
            </a:r>
            <a:br>
              <a:rPr lang="en-US" b="1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A6E63-9EA0-0AC1-3CE2-660E11838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755" y="1199535"/>
            <a:ext cx="10410493" cy="49726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Quantifier + of + the/my/your/these/those + noun</a:t>
            </a:r>
            <a:endParaRPr lang="en-US" sz="3200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EXAMPLES: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All of the students passed.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Some of the water is cold.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Most of the people agreed.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None of the answers are correct. 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Any of those books is fine.</a:t>
            </a:r>
          </a:p>
          <a:p>
            <a:pPr>
              <a:lnSpc>
                <a:spcPct val="150000"/>
              </a:lnSpc>
            </a:pP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23337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racture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96D338-DFD2-654C-671A-11EB1C883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60710"/>
          </a:xfrm>
        </p:spPr>
        <p:txBody>
          <a:bodyPr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QUICK COMPARISON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67BD4B3-CEFA-603D-1BDD-3FE4813F84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6033985"/>
              </p:ext>
            </p:extLst>
          </p:nvPr>
        </p:nvGraphicFramePr>
        <p:xfrm>
          <a:off x="776749" y="1594095"/>
          <a:ext cx="10599174" cy="3548178"/>
        </p:xfrm>
        <a:graphic>
          <a:graphicData uri="http://schemas.openxmlformats.org/drawingml/2006/table">
            <a:tbl>
              <a:tblPr/>
              <a:tblGrid>
                <a:gridCol w="3533058">
                  <a:extLst>
                    <a:ext uri="{9D8B030D-6E8A-4147-A177-3AD203B41FA5}">
                      <a16:colId xmlns:a16="http://schemas.microsoft.com/office/drawing/2014/main" val="2793575131"/>
                    </a:ext>
                  </a:extLst>
                </a:gridCol>
                <a:gridCol w="3533058">
                  <a:extLst>
                    <a:ext uri="{9D8B030D-6E8A-4147-A177-3AD203B41FA5}">
                      <a16:colId xmlns:a16="http://schemas.microsoft.com/office/drawing/2014/main" val="1292630974"/>
                    </a:ext>
                  </a:extLst>
                </a:gridCol>
                <a:gridCol w="3533058">
                  <a:extLst>
                    <a:ext uri="{9D8B030D-6E8A-4147-A177-3AD203B41FA5}">
                      <a16:colId xmlns:a16="http://schemas.microsoft.com/office/drawing/2014/main" val="1515905487"/>
                    </a:ext>
                  </a:extLst>
                </a:gridCol>
              </a:tblGrid>
              <a:tr h="59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Meaning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Usage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253251"/>
                  </a:ext>
                </a:extLst>
              </a:tr>
              <a:tr h="59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hamma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5556807"/>
                  </a:ext>
                </a:extLst>
              </a:tr>
              <a:tr h="59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ko‘pchilik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&gt;50%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758482"/>
                  </a:ext>
                </a:extLst>
              </a:tr>
              <a:tr h="59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SOME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ba’zi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positive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9064755"/>
                  </a:ext>
                </a:extLst>
              </a:tr>
              <a:tr h="59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yo‘q / har qanday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questions/negative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7638866"/>
                  </a:ext>
                </a:extLst>
              </a:tr>
              <a:tr h="5913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umuman yo‘q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8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708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231792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33AB-4020-60EF-18E2-8BAFE31E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0"/>
            <a:ext cx="10058400" cy="924232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PRACTICE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FC60C-45EA-A205-513F-66CD8C608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60206"/>
            <a:ext cx="10058400" cy="501199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Fill in gaps: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I don’t have ___ money. 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___ students passed the exam. 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There are ___ apples. 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___ animals can fly. </a:t>
            </a:r>
          </a:p>
          <a:p>
            <a:pPr lvl="1">
              <a:lnSpc>
                <a:spcPct val="150000"/>
              </a:lnSpc>
            </a:pPr>
            <a:r>
              <a:rPr lang="en-US" sz="3000" dirty="0">
                <a:latin typeface="Arial" panose="020B0604020202020204" pitchFamily="34" charset="0"/>
                <a:cs typeface="Arial" panose="020B0604020202020204" pitchFamily="34" charset="0"/>
              </a:rPr>
              <a:t>Jamshid has ___ friends.</a:t>
            </a:r>
          </a:p>
          <a:p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687933E-9F7A-7335-D905-9D42118ECCE9}"/>
              </a:ext>
            </a:extLst>
          </p:cNvPr>
          <p:cNvSpPr txBox="1"/>
          <p:nvPr/>
        </p:nvSpPr>
        <p:spPr>
          <a:xfrm>
            <a:off x="7954296" y="1482698"/>
            <a:ext cx="4070556" cy="3892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ANSWERS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any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most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some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some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some / no (context)</a:t>
            </a:r>
          </a:p>
        </p:txBody>
      </p:sp>
    </p:spTree>
    <p:extLst>
      <p:ext uri="{BB962C8B-B14F-4D97-AF65-F5344CB8AC3E}">
        <p14:creationId xmlns:p14="http://schemas.microsoft.com/office/powerpoint/2010/main" val="4228602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1061</TotalTime>
  <Words>718</Words>
  <Application>Microsoft Office PowerPoint</Application>
  <PresentationFormat>Widescreen</PresentationFormat>
  <Paragraphs>141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Rockwell</vt:lpstr>
      <vt:lpstr>Rockwell Condensed</vt:lpstr>
      <vt:lpstr>Wingdings</vt:lpstr>
      <vt:lpstr>Wood Type</vt:lpstr>
      <vt:lpstr>All  some   any   most no</vt:lpstr>
      <vt:lpstr>What are Quantifiers?</vt:lpstr>
      <vt:lpstr>ALL</vt:lpstr>
      <vt:lpstr>ALL – USAGE</vt:lpstr>
      <vt:lpstr>MOST</vt:lpstr>
      <vt:lpstr>SOME</vt:lpstr>
      <vt:lpstr>Any + plural /singular / uncountable noun Any of + the/my/these + noun</vt:lpstr>
      <vt:lpstr>NO vs NOT ANY</vt:lpstr>
      <vt:lpstr>ALL / SOME / MOST / ANY + OF </vt:lpstr>
      <vt:lpstr>QUICK COMPARISON</vt:lpstr>
      <vt:lpstr>PRACTICE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Tura Huja</dc:creator>
  <cp:lastModifiedBy>Tura Huja</cp:lastModifiedBy>
  <cp:revision>20</cp:revision>
  <dcterms:created xsi:type="dcterms:W3CDTF">2026-05-18T10:29:36Z</dcterms:created>
  <dcterms:modified xsi:type="dcterms:W3CDTF">2026-05-19T04:11:34Z</dcterms:modified>
</cp:coreProperties>
</file>