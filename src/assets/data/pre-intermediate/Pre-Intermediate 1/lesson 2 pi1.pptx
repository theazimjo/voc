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C50C3-F18C-421F-97FB-16FA1047FB4E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AC316FD1-696B-42C2-B558-BAF303F65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064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C50C3-F18C-421F-97FB-16FA1047FB4E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6FD1-696B-42C2-B558-BAF303F65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347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7F2C50C3-F18C-421F-97FB-16FA1047FB4E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AC316FD1-696B-42C2-B558-BAF303F65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345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C50C3-F18C-421F-97FB-16FA1047FB4E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6FD1-696B-42C2-B558-BAF303F65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577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C50C3-F18C-421F-97FB-16FA1047FB4E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6FD1-696B-42C2-B558-BAF303F65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875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C50C3-F18C-421F-97FB-16FA1047FB4E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6FD1-696B-42C2-B558-BAF303F65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239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C50C3-F18C-421F-97FB-16FA1047FB4E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6FD1-696B-42C2-B558-BAF303F65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812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C50C3-F18C-421F-97FB-16FA1047FB4E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6FD1-696B-42C2-B558-BAF303F65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089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C50C3-F18C-421F-97FB-16FA1047FB4E}" type="datetimeFigureOut">
              <a:rPr lang="en-US" smtClean="0"/>
              <a:t>5/19/2026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6FD1-696B-42C2-B558-BAF303F65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508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C50C3-F18C-421F-97FB-16FA1047FB4E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6FD1-696B-42C2-B558-BAF303F65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769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C50C3-F18C-421F-97FB-16FA1047FB4E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6FD1-696B-42C2-B558-BAF303F65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306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7F2C50C3-F18C-421F-97FB-16FA1047FB4E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AC316FD1-696B-42C2-B558-BAF303F65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353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86A6C-38F9-4111-F40B-C8C115F43A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No / None / Not any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E87DE5-B7F6-26E6-1414-4AED372DAB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9" y="4389120"/>
            <a:ext cx="8986683" cy="1069848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one is greater than you, they have just spent more time than you. </a:t>
            </a:r>
          </a:p>
        </p:txBody>
      </p:sp>
    </p:spTree>
    <p:extLst>
      <p:ext uri="{BB962C8B-B14F-4D97-AF65-F5344CB8AC3E}">
        <p14:creationId xmlns:p14="http://schemas.microsoft.com/office/powerpoint/2010/main" val="482774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150"/>
                            </p:stCondLst>
                            <p:childTnLst>
                              <p:par>
                                <p:cTn id="12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D021F-23CF-AAF4-73D3-8D1958B84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09138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NO (adjective) + SCN / PCN / UN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0582D-CD6E-3159-231F-2B1A5950B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626" y="1091381"/>
            <a:ext cx="10754622" cy="576661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no air / place / books / teachers / water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No work was done.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We expected letters, but none came. there by eight.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have no apples. I had some last year but I have none this year.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went to the shop to get some oranges but they had none. </a:t>
            </a:r>
          </a:p>
          <a:p>
            <a:pPr>
              <a:lnSpc>
                <a:spcPct val="150000"/>
              </a:lnSpc>
            </a:pPr>
            <a:r>
              <a:rPr lang="en-US" sz="2800" b="1" strike="sngStrike" dirty="0"/>
              <a:t>none</a:t>
            </a:r>
            <a:r>
              <a:rPr lang="en-US" sz="2800" b="1" dirty="0"/>
              <a:t> + noun / no + noun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No</a:t>
            </a:r>
            <a:r>
              <a:rPr lang="en-US" sz="2800" dirty="0"/>
              <a:t> letter(s) arrived.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There is </a:t>
            </a:r>
            <a:r>
              <a:rPr lang="en-US" sz="2800" b="1" dirty="0"/>
              <a:t>no</a:t>
            </a:r>
            <a:r>
              <a:rPr lang="en-US" sz="2800" dirty="0"/>
              <a:t> chance of escaping from the lesson.  </a:t>
            </a:r>
          </a:p>
        </p:txBody>
      </p:sp>
    </p:spTree>
    <p:extLst>
      <p:ext uri="{BB962C8B-B14F-4D97-AF65-F5344CB8AC3E}">
        <p14:creationId xmlns:p14="http://schemas.microsoft.com/office/powerpoint/2010/main" val="14297817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0AFBE-EE43-521F-4C7A-ECD170C9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794" y="0"/>
            <a:ext cx="11641393" cy="1799303"/>
          </a:xfrm>
        </p:spPr>
        <p:txBody>
          <a:bodyPr>
            <a:noAutofit/>
          </a:bodyPr>
          <a:lstStyle/>
          <a:p>
            <a:r>
              <a:rPr lang="en-US" sz="4400" cap="none" dirty="0">
                <a:solidFill>
                  <a:srgbClr val="FF0000"/>
                </a:solidFill>
              </a:rPr>
              <a:t>None of + the/my/these/those/us/them + noun/pronoun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95336-84E1-BBBF-5813-BB143C501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514168"/>
            <a:ext cx="10058400" cy="465803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None of the students passed.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None of my friends smoke.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None of them understood the lesson.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None of us were late.</a:t>
            </a:r>
          </a:p>
        </p:txBody>
      </p:sp>
    </p:spTree>
    <p:extLst>
      <p:ext uri="{BB962C8B-B14F-4D97-AF65-F5344CB8AC3E}">
        <p14:creationId xmlns:p14="http://schemas.microsoft.com/office/powerpoint/2010/main" val="110850196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26968-995F-1992-DEDB-69D398D37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NONE – in short answers: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D7AB6-0588-634B-6F62-0E9A52514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81" y="2121408"/>
            <a:ext cx="11179277" cy="40507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How many </a:t>
            </a:r>
            <a:r>
              <a:rPr lang="en-US" sz="2800" dirty="0"/>
              <a:t>passengers hurt badly in the crash? - </a:t>
            </a:r>
            <a:r>
              <a:rPr lang="en-US" sz="2800" b="1" dirty="0"/>
              <a:t>None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Did you have </a:t>
            </a:r>
            <a:r>
              <a:rPr lang="en-US" sz="2800" b="1" dirty="0"/>
              <a:t>any idea </a:t>
            </a:r>
            <a:r>
              <a:rPr lang="en-US" sz="2800" dirty="0"/>
              <a:t>what was happening at the time? - </a:t>
            </a:r>
            <a:r>
              <a:rPr lang="en-US" sz="2800" b="1" dirty="0"/>
              <a:t>None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How much </a:t>
            </a:r>
            <a:r>
              <a:rPr lang="en-US" sz="2800" dirty="0"/>
              <a:t>did you pay for it? - </a:t>
            </a:r>
            <a:r>
              <a:rPr lang="en-US" sz="2800" b="1" dirty="0"/>
              <a:t>None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845425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B25E3-091B-91E8-E9FD-8DDB10304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150374"/>
          </a:xfrm>
        </p:spPr>
        <p:txBody>
          <a:bodyPr>
            <a:normAutofit/>
          </a:bodyPr>
          <a:lstStyle/>
          <a:p>
            <a:r>
              <a:rPr lang="it-IT" sz="4000" cap="none" dirty="0">
                <a:solidFill>
                  <a:srgbClr val="FF0000"/>
                </a:solidFill>
              </a:rPr>
              <a:t>Negative verb + any = positive verb + no… / none </a:t>
            </a:r>
            <a:endParaRPr lang="en-US" sz="4000" cap="none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5FE91-A892-0D8D-355E-C3B0447FE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1012723"/>
            <a:ext cx="11985523" cy="5845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There was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not any food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left by the time we got there. = There was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no food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(no food =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none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left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by the time we got there.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 am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not in any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hurry. = I am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in no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hurry.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He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hasn’t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made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any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mistake. = He has made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mistake (= none).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One third of the students do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pay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any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tuition fees. = One third of the students pay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tuition fees (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tuition fees =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none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She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doesn’t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have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any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understanding of politics. = She has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understanding of politics.</a:t>
            </a:r>
          </a:p>
        </p:txBody>
      </p:sp>
    </p:spTree>
    <p:extLst>
      <p:ext uri="{BB962C8B-B14F-4D97-AF65-F5344CB8AC3E}">
        <p14:creationId xmlns:p14="http://schemas.microsoft.com/office/powerpoint/2010/main" val="77418197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D4B75-A1A2-3FCB-1432-6E6D0C204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216310"/>
            <a:ext cx="10058400" cy="1002890"/>
          </a:xfrm>
        </p:spPr>
        <p:txBody>
          <a:bodyPr>
            <a:normAutofit fontScale="90000"/>
          </a:bodyPr>
          <a:lstStyle/>
          <a:p>
            <a:r>
              <a:rPr lang="en-US" sz="4400" cap="none" dirty="0">
                <a:solidFill>
                  <a:srgbClr val="FF0000"/>
                </a:solidFill>
              </a:rPr>
              <a:t>Negative verb + any of...= Positive verb + none of....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EFE2DD1-1A5C-64F3-0F3E-8C186231C4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7534951"/>
              </p:ext>
            </p:extLst>
          </p:nvPr>
        </p:nvGraphicFramePr>
        <p:xfrm>
          <a:off x="398206" y="1219200"/>
          <a:ext cx="11395588" cy="3158820"/>
        </p:xfrm>
        <a:graphic>
          <a:graphicData uri="http://schemas.openxmlformats.org/drawingml/2006/table">
            <a:tbl>
              <a:tblPr/>
              <a:tblGrid>
                <a:gridCol w="5697794">
                  <a:extLst>
                    <a:ext uri="{9D8B030D-6E8A-4147-A177-3AD203B41FA5}">
                      <a16:colId xmlns:a16="http://schemas.microsoft.com/office/drawing/2014/main" val="380868084"/>
                    </a:ext>
                  </a:extLst>
                </a:gridCol>
                <a:gridCol w="5697794">
                  <a:extLst>
                    <a:ext uri="{9D8B030D-6E8A-4147-A177-3AD203B41FA5}">
                      <a16:colId xmlns:a16="http://schemas.microsoft.com/office/drawing/2014/main" val="226201473"/>
                    </a:ext>
                  </a:extLst>
                </a:gridCol>
              </a:tblGrid>
              <a:tr h="631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Negative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Positive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634815"/>
                  </a:ext>
                </a:extLst>
              </a:tr>
              <a:tr h="631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 </a:t>
                      </a:r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don’t</a:t>
                      </a: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like </a:t>
                      </a:r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any</a:t>
                      </a: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of them.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 like </a:t>
                      </a:r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of them.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096429"/>
                  </a:ext>
                </a:extLst>
              </a:tr>
              <a:tr h="631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 </a:t>
                      </a:r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didn’t</a:t>
                      </a: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see </a:t>
                      </a:r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any</a:t>
                      </a: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of the students.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 saw </a:t>
                      </a:r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of the students.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052631"/>
                  </a:ext>
                </a:extLst>
              </a:tr>
              <a:tr h="631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She </a:t>
                      </a:r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doesn’t</a:t>
                      </a: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know </a:t>
                      </a:r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any</a:t>
                      </a: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of us.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She knows </a:t>
                      </a:r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of us.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616722"/>
                  </a:ext>
                </a:extLst>
              </a:tr>
              <a:tr h="631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They </a:t>
                      </a:r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don’t</a:t>
                      </a: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have </a:t>
                      </a:r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any</a:t>
                      </a: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of the books.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They have </a:t>
                      </a:r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of the books.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62691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3E21257-B0B4-A72F-A9E1-8B0494A11306}"/>
              </a:ext>
            </a:extLst>
          </p:cNvPr>
          <p:cNvSpPr txBox="1"/>
          <p:nvPr/>
        </p:nvSpPr>
        <p:spPr>
          <a:xfrm>
            <a:off x="617563" y="4946302"/>
            <a:ext cx="794633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Important note</a:t>
            </a:r>
          </a:p>
          <a:p>
            <a:pPr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❌ Double negative is WRONG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 don’t know none of them. ❌</a:t>
            </a:r>
          </a:p>
        </p:txBody>
      </p:sp>
    </p:spTree>
    <p:extLst>
      <p:ext uri="{BB962C8B-B14F-4D97-AF65-F5344CB8AC3E}">
        <p14:creationId xmlns:p14="http://schemas.microsoft.com/office/powerpoint/2010/main" val="151729857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700"/>
                            </p:stCondLst>
                            <p:childTnLst>
                              <p:par>
                                <p:cTn id="12" presetID="16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0F14F-0F5F-EA0D-5DA3-DAA1417B4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cap="none" dirty="0">
                <a:solidFill>
                  <a:srgbClr val="FF0000"/>
                </a:solidFill>
              </a:rPr>
              <a:t>None of + plural countable noun + plural verb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FB053-866B-D624-4F1D-A60414654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None of the guesses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were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right.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None of the other children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play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with her.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None of the army’s helicopters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have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Red Cross markings.</a:t>
            </a:r>
          </a:p>
        </p:txBody>
      </p:sp>
    </p:spTree>
    <p:extLst>
      <p:ext uri="{BB962C8B-B14F-4D97-AF65-F5344CB8AC3E}">
        <p14:creationId xmlns:p14="http://schemas.microsoft.com/office/powerpoint/2010/main" val="23209120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213D3-226C-A1F5-8402-8A0AE949C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344168"/>
          </a:xfrm>
        </p:spPr>
        <p:txBody>
          <a:bodyPr>
            <a:normAutofit/>
          </a:bodyPr>
          <a:lstStyle/>
          <a:p>
            <a:r>
              <a:rPr lang="en-US" sz="4400" cap="none" dirty="0">
                <a:solidFill>
                  <a:srgbClr val="FF0000"/>
                </a:solidFill>
              </a:rPr>
              <a:t>None of + uncountable noun + singular verb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5C0CC-30DD-3DBB-EE63-E27D93F59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None of the furniture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was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any good.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None of his work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supports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his ideas.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None of the stolen money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has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been found yet.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655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56</TotalTime>
  <Words>477</Words>
  <Application>Microsoft Office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Rockwell</vt:lpstr>
      <vt:lpstr>Rockwell Condensed</vt:lpstr>
      <vt:lpstr>Wingdings</vt:lpstr>
      <vt:lpstr>Wood Type</vt:lpstr>
      <vt:lpstr>No / None / Not any</vt:lpstr>
      <vt:lpstr>NO (adjective) + SCN / PCN / UN</vt:lpstr>
      <vt:lpstr>None of + the/my/these/those/us/them + noun/pronoun</vt:lpstr>
      <vt:lpstr>NONE – in short answers: </vt:lpstr>
      <vt:lpstr>Negative verb + any = positive verb + no… / none </vt:lpstr>
      <vt:lpstr>Negative verb + any of...= Positive verb + none of....</vt:lpstr>
      <vt:lpstr>None of + plural countable noun + plural verb</vt:lpstr>
      <vt:lpstr>None of + uncountable noun + singular verb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Tura Huja</dc:creator>
  <cp:lastModifiedBy>Tura Huja</cp:lastModifiedBy>
  <cp:revision>3</cp:revision>
  <dcterms:created xsi:type="dcterms:W3CDTF">2026-05-19T04:20:17Z</dcterms:created>
  <dcterms:modified xsi:type="dcterms:W3CDTF">2026-05-19T05:16:49Z</dcterms:modified>
</cp:coreProperties>
</file>