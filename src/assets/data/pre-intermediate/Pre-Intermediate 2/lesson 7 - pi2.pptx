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9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6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4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86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5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7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6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70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12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4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0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6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F044501-F1C1-494C-B82B-583C5264847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3D7C6CA2-205E-4C1C-A1DF-4805C64B9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15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F412-6E87-AD53-E29D-53426540D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735" y="1432223"/>
            <a:ext cx="10227418" cy="3035808"/>
          </a:xfrm>
        </p:spPr>
        <p:txBody>
          <a:bodyPr/>
          <a:lstStyle/>
          <a:p>
            <a:r>
              <a:rPr lang="en-US" sz="6600" b="1" dirty="0">
                <a:solidFill>
                  <a:srgbClr val="FF0000"/>
                </a:solidFill>
              </a:rPr>
              <a:t>SENTENCE ADVERBS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66CB9-F06E-FCB8-444C-044FE12A6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7" y="4389120"/>
            <a:ext cx="8841069" cy="246888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30225-80CB-4D66-4A23-72EA6B6F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3238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Are Sentence Adverbs?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FB075-2A58-88AF-3C54-C725B707B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1032387"/>
            <a:ext cx="11602065" cy="582561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Sentence adverbs</a:t>
            </a:r>
            <a:r>
              <a:rPr lang="en-US" sz="2800" i="1" dirty="0">
                <a:highlight>
                  <a:srgbClr val="FFFF00"/>
                </a:highlight>
              </a:rPr>
              <a:t> are adverbs that express the </a:t>
            </a:r>
            <a:r>
              <a:rPr lang="en-US" sz="2800" b="1" i="1" dirty="0">
                <a:highlight>
                  <a:srgbClr val="FFFF00"/>
                </a:highlight>
              </a:rPr>
              <a:t>speaker's opinion, attitude, judgment, or comment about the whole sentence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Unlike adverbs of manner, place, or time, they do </a:t>
            </a:r>
            <a:r>
              <a:rPr lang="en-US" sz="2800" b="1" i="1" dirty="0">
                <a:highlight>
                  <a:srgbClr val="FFFF00"/>
                </a:highlight>
              </a:rPr>
              <a:t>not describe how, where, or when an action happens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Adverb of Manner - </a:t>
            </a:r>
            <a:r>
              <a:rPr lang="en-US" sz="2800" dirty="0"/>
              <a:t>He answered </a:t>
            </a:r>
            <a:r>
              <a:rPr lang="en-US" sz="2800" b="1" dirty="0"/>
              <a:t>carefully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"</a:t>
            </a:r>
            <a:r>
              <a:rPr lang="en-US" sz="2800" b="1" dirty="0"/>
              <a:t>carefully</a:t>
            </a:r>
            <a:r>
              <a:rPr lang="en-US" sz="2800" dirty="0"/>
              <a:t>" describes </a:t>
            </a:r>
            <a:r>
              <a:rPr lang="en-US" sz="2800" b="1" dirty="0"/>
              <a:t>how</a:t>
            </a:r>
            <a:r>
              <a:rPr lang="en-US" sz="2800" dirty="0"/>
              <a:t> he answered.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Sentence Adverb - </a:t>
            </a:r>
            <a:r>
              <a:rPr lang="en-US" sz="2800" dirty="0"/>
              <a:t>He </a:t>
            </a:r>
            <a:r>
              <a:rPr lang="en-US" sz="2800" b="1" dirty="0"/>
              <a:t>obviously</a:t>
            </a:r>
            <a:r>
              <a:rPr lang="en-US" sz="2800" dirty="0"/>
              <a:t> knows the answer.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"</a:t>
            </a:r>
            <a:r>
              <a:rPr lang="en-US" sz="2800" b="1" dirty="0"/>
              <a:t>obviously</a:t>
            </a:r>
            <a:r>
              <a:rPr lang="en-US" sz="2800" dirty="0"/>
              <a:t>" expresses the speaker's opinion about the whole statement.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604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1A3F-20DE-13C0-8B47-229D383E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70039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Common Sentence Adverbs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D1D46E-CC62-B6BF-0162-C75FB957BC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704404"/>
              </p:ext>
            </p:extLst>
          </p:nvPr>
        </p:nvGraphicFramePr>
        <p:xfrm>
          <a:off x="0" y="1170039"/>
          <a:ext cx="5869858" cy="5699760"/>
        </p:xfrm>
        <a:graphic>
          <a:graphicData uri="http://schemas.openxmlformats.org/drawingml/2006/table">
            <a:tbl>
              <a:tblPr/>
              <a:tblGrid>
                <a:gridCol w="2934929">
                  <a:extLst>
                    <a:ext uri="{9D8B030D-6E8A-4147-A177-3AD203B41FA5}">
                      <a16:colId xmlns:a16="http://schemas.microsoft.com/office/drawing/2014/main" val="4258723654"/>
                    </a:ext>
                  </a:extLst>
                </a:gridCol>
                <a:gridCol w="2934929">
                  <a:extLst>
                    <a:ext uri="{9D8B030D-6E8A-4147-A177-3AD203B41FA5}">
                      <a16:colId xmlns:a16="http://schemas.microsoft.com/office/drawing/2014/main" val="27432829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b="1"/>
                        <a:t>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427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actually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aslida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36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apparently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ko‘rinishidan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9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dirty="0"/>
                        <a:t>certainly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albatta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2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clearly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aniqki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531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evidently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ravshanki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58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obviously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yaqqol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884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presumably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taxminan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15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probably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ehtimol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21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undoubtedly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shubhasiz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585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dirty="0"/>
                        <a:t>definitely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mutlaqo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aniq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3800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F4E2D9-B027-75CF-5DC1-D14463A95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475824"/>
              </p:ext>
            </p:extLst>
          </p:nvPr>
        </p:nvGraphicFramePr>
        <p:xfrm>
          <a:off x="5869858" y="1170038"/>
          <a:ext cx="6322144" cy="5687966"/>
        </p:xfrm>
        <a:graphic>
          <a:graphicData uri="http://schemas.openxmlformats.org/drawingml/2006/table">
            <a:tbl>
              <a:tblPr/>
              <a:tblGrid>
                <a:gridCol w="2851355">
                  <a:extLst>
                    <a:ext uri="{9D8B030D-6E8A-4147-A177-3AD203B41FA5}">
                      <a16:colId xmlns:a16="http://schemas.microsoft.com/office/drawing/2014/main" val="2690296358"/>
                    </a:ext>
                  </a:extLst>
                </a:gridCol>
                <a:gridCol w="3470789">
                  <a:extLst>
                    <a:ext uri="{9D8B030D-6E8A-4147-A177-3AD203B41FA5}">
                      <a16:colId xmlns:a16="http://schemas.microsoft.com/office/drawing/2014/main" val="2308651625"/>
                    </a:ext>
                  </a:extLst>
                </a:gridCol>
              </a:tblGrid>
              <a:tr h="522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906663"/>
                  </a:ext>
                </a:extLst>
              </a:tr>
              <a:tr h="57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fortunately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baxtga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ko‘ra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987716"/>
                  </a:ext>
                </a:extLst>
              </a:tr>
              <a:tr h="57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unfortunately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afsuski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413283"/>
                  </a:ext>
                </a:extLst>
              </a:tr>
              <a:tr h="57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luckily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omadimizga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950175"/>
                  </a:ext>
                </a:extLst>
              </a:tr>
              <a:tr h="57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unluckily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omadsizlikka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ko‘ra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178844"/>
                  </a:ext>
                </a:extLst>
              </a:tr>
              <a:tr h="57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frankly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ochig‘ini aytganda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29764"/>
                  </a:ext>
                </a:extLst>
              </a:tr>
              <a:tr h="57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honestly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rostini aytganda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95439"/>
                  </a:ext>
                </a:extLst>
              </a:tr>
              <a:tr h="57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naturally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tabiiyki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741231"/>
                  </a:ext>
                </a:extLst>
              </a:tr>
              <a:tr h="57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officially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rasmiy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ravishda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577195"/>
                  </a:ext>
                </a:extLst>
              </a:tr>
              <a:tr h="57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admittedly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tan </a:t>
                      </a:r>
                      <a:r>
                        <a:rPr lang="en-US" sz="2800" dirty="0" err="1"/>
                        <a:t>olish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kerakki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37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46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95D4-ED21-824E-D3C1-87999BE8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903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Position in a Sentence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A149-2F36-D8B7-D2B8-08B8AA02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101213"/>
            <a:ext cx="11572568" cy="57567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After the Verb "BE"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be + sentence adverb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is </a:t>
            </a:r>
            <a:r>
              <a:rPr lang="en-US" sz="2800" b="1" dirty="0"/>
              <a:t>obviously</a:t>
            </a:r>
            <a:r>
              <a:rPr lang="en-US" sz="2800" dirty="0"/>
              <a:t> intelligent.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answer is </a:t>
            </a:r>
            <a:r>
              <a:rPr lang="en-US" sz="2800" b="1" dirty="0"/>
              <a:t>clearly</a:t>
            </a:r>
            <a:r>
              <a:rPr lang="en-US" sz="2800" dirty="0"/>
              <a:t> correct.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is </a:t>
            </a:r>
            <a:r>
              <a:rPr lang="en-US" sz="2800" b="1" dirty="0"/>
              <a:t>certainly</a:t>
            </a:r>
            <a:r>
              <a:rPr lang="en-US" sz="2800" dirty="0"/>
              <a:t> talented.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book is </a:t>
            </a:r>
            <a:r>
              <a:rPr lang="en-US" sz="2800" b="1" dirty="0"/>
              <a:t>definitely</a:t>
            </a:r>
            <a:r>
              <a:rPr lang="en-US" sz="2800" dirty="0"/>
              <a:t> useful.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82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F60D-3009-F48D-89D0-18C88C57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626C-1BDB-9C34-E021-8D05AC319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903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Position in a Sentence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10FA-661B-7190-FB99-69FFC6A84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101213"/>
            <a:ext cx="11572568" cy="5756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Before Other Main Verbs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sentence adverb + main verb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</a:t>
            </a:r>
            <a:r>
              <a:rPr lang="en-US" sz="2800" b="1" dirty="0"/>
              <a:t>certainly work</a:t>
            </a:r>
            <a:r>
              <a:rPr lang="en-US" sz="2800" dirty="0"/>
              <a:t> hard.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actually lives</a:t>
            </a:r>
            <a:r>
              <a:rPr lang="en-US" sz="2800" dirty="0"/>
              <a:t> next door.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Mary </a:t>
            </a:r>
            <a:r>
              <a:rPr lang="en-US" sz="2800" b="1" dirty="0"/>
              <a:t>obviously knows</a:t>
            </a:r>
            <a:r>
              <a:rPr lang="en-US" sz="2800" dirty="0"/>
              <a:t> the answer.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</a:t>
            </a:r>
            <a:r>
              <a:rPr lang="en-US" sz="2800" b="1" dirty="0"/>
              <a:t>probably need</a:t>
            </a:r>
            <a:r>
              <a:rPr lang="en-US" sz="2800" dirty="0"/>
              <a:t> more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17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6DF7-0EB4-F649-5F49-147AB0A4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7B6E-ACBD-3067-D70B-4FC61885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903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Position in a Sentence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C92A2-5A95-45CE-AC5C-7AA19A36D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101213"/>
            <a:ext cx="11572568" cy="57567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Between </a:t>
            </a:r>
            <a:r>
              <a:rPr lang="en-US" sz="2800" b="1" i="1" dirty="0">
                <a:highlight>
                  <a:srgbClr val="FFFF00"/>
                </a:highlight>
              </a:rPr>
              <a:t>auxiliary</a:t>
            </a:r>
            <a:r>
              <a:rPr lang="en-US" sz="2800" i="1" dirty="0">
                <a:highlight>
                  <a:srgbClr val="FFFF00"/>
                </a:highlight>
              </a:rPr>
              <a:t> and </a:t>
            </a:r>
            <a:r>
              <a:rPr lang="en-US" sz="2800" b="1" i="1" dirty="0">
                <a:highlight>
                  <a:srgbClr val="FFFF00"/>
                </a:highlight>
              </a:rPr>
              <a:t>main Verb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auxiliary + sentence adverb + main verb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have </a:t>
            </a:r>
            <a:r>
              <a:rPr lang="en-US" sz="2800" b="1" dirty="0"/>
              <a:t>presumably sold</a:t>
            </a:r>
            <a:r>
              <a:rPr lang="en-US" sz="2800" dirty="0"/>
              <a:t> their house.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has </a:t>
            </a:r>
            <a:r>
              <a:rPr lang="en-US" sz="2800" b="1" dirty="0"/>
              <a:t>certainly improved</a:t>
            </a:r>
            <a:r>
              <a:rPr lang="en-US" sz="2800" dirty="0"/>
              <a:t> her English.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have </a:t>
            </a:r>
            <a:r>
              <a:rPr lang="en-US" sz="2800" b="1" dirty="0"/>
              <a:t>obviously misunderstood</a:t>
            </a:r>
            <a:r>
              <a:rPr lang="en-US" sz="2800" dirty="0"/>
              <a:t> the instructions.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has </a:t>
            </a:r>
            <a:r>
              <a:rPr lang="en-US" sz="2800" b="1" dirty="0"/>
              <a:t>undoubtedly answered</a:t>
            </a:r>
            <a:r>
              <a:rPr lang="en-US" sz="2800" dirty="0"/>
              <a:t> correctly.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704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028E8-5884-938B-7C4C-62E50798B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B2837-36CC-FB3E-1CDD-7FCE9C8F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903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Position in Questions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B802-DB62-4D31-AE36-FC30D790A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101213"/>
            <a:ext cx="11572568" cy="57567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Sentence adverbs usually come </a:t>
            </a:r>
            <a:r>
              <a:rPr lang="en-US" sz="2800" b="1" i="1" dirty="0">
                <a:highlight>
                  <a:srgbClr val="FFFF00"/>
                </a:highlight>
              </a:rPr>
              <a:t>before the main verb </a:t>
            </a:r>
            <a:r>
              <a:rPr lang="en-US" sz="2800" i="1" dirty="0">
                <a:highlight>
                  <a:srgbClr val="FFFF00"/>
                </a:highlight>
              </a:rPr>
              <a:t>in questions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Have you </a:t>
            </a:r>
            <a:r>
              <a:rPr lang="en-US" sz="2800" b="1" dirty="0"/>
              <a:t>definitely decided</a:t>
            </a:r>
            <a:r>
              <a:rPr lang="en-US" sz="2800" dirty="0"/>
              <a:t> to go?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Has she </a:t>
            </a:r>
            <a:r>
              <a:rPr lang="en-US" sz="2800" b="1" dirty="0"/>
              <a:t>actually finished</a:t>
            </a:r>
            <a:r>
              <a:rPr lang="en-US" sz="2800" dirty="0"/>
              <a:t> the project?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Are they </a:t>
            </a:r>
            <a:r>
              <a:rPr lang="en-US" sz="2800" b="1" dirty="0"/>
              <a:t>certainly coming</a:t>
            </a:r>
            <a:r>
              <a:rPr lang="en-US" sz="2800" dirty="0"/>
              <a:t> tomorrow?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70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8929-2189-4410-61EE-F03A0D7A9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313E-0D11-8CE3-0BFA-12C8F5E0E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903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Position in Negative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A0D8-839C-5010-93D5-82B4FAEC9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101213"/>
            <a:ext cx="11572568" cy="5756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Sentence adverbs </a:t>
            </a:r>
            <a:r>
              <a:rPr lang="en-US" sz="2800" i="1" dirty="0">
                <a:highlight>
                  <a:srgbClr val="FFFF00"/>
                </a:highlight>
              </a:rPr>
              <a:t>usually come </a:t>
            </a:r>
            <a:r>
              <a:rPr lang="en-US" sz="2800" b="1" i="1" dirty="0">
                <a:highlight>
                  <a:srgbClr val="FFFF00"/>
                </a:highlight>
              </a:rPr>
              <a:t>before the negative form </a:t>
            </a:r>
            <a:r>
              <a:rPr lang="en-US" sz="2800" i="1" dirty="0">
                <a:highlight>
                  <a:srgbClr val="FFFF00"/>
                </a:highlight>
              </a:rPr>
              <a:t>because they comment on the whole sentence.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Natural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You </a:t>
            </a:r>
            <a:r>
              <a:rPr lang="en-US" sz="2600" b="1" dirty="0"/>
              <a:t>apparently didn't submit</a:t>
            </a:r>
            <a:r>
              <a:rPr lang="en-US" sz="2600" dirty="0"/>
              <a:t> the report.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He </a:t>
            </a:r>
            <a:r>
              <a:rPr lang="en-US" sz="2600" b="1" dirty="0"/>
              <a:t>obviously isn't ready</a:t>
            </a:r>
            <a:r>
              <a:rPr lang="en-US" sz="26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They </a:t>
            </a:r>
            <a:r>
              <a:rPr lang="en-US" sz="2600" b="1" dirty="0"/>
              <a:t>probably won't come</a:t>
            </a:r>
            <a:r>
              <a:rPr lang="en-US" sz="2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Less Natural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You didn't apparently submit the report.</a:t>
            </a:r>
          </a:p>
        </p:txBody>
      </p:sp>
    </p:spTree>
    <p:extLst>
      <p:ext uri="{BB962C8B-B14F-4D97-AF65-F5344CB8AC3E}">
        <p14:creationId xmlns:p14="http://schemas.microsoft.com/office/powerpoint/2010/main" val="491516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5710-A159-E910-F35E-25587B08B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532D-2F5D-A6AC-0651-27E4D0E4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90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Sentence-Initial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5AEFF-C19F-9386-41B0-35D278DDD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1101213"/>
            <a:ext cx="11936361" cy="575678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Many sentence adverbs can be placed </a:t>
            </a:r>
            <a:r>
              <a:rPr lang="en-US" sz="2800" b="1" i="1" dirty="0">
                <a:highlight>
                  <a:srgbClr val="FFFF00"/>
                </a:highlight>
              </a:rPr>
              <a:t>at the beginning </a:t>
            </a:r>
            <a:r>
              <a:rPr lang="en-US" sz="2800" i="1" dirty="0">
                <a:highlight>
                  <a:srgbClr val="FFFF00"/>
                </a:highlight>
              </a:rPr>
              <a:t>of a sentence.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Sentence Adverb + comma + sentence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Apparently</a:t>
            </a:r>
            <a:r>
              <a:rPr lang="en-US" sz="2800" dirty="0"/>
              <a:t>, he knew the town well.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Actually</a:t>
            </a:r>
            <a:r>
              <a:rPr lang="en-US" sz="2800" dirty="0"/>
              <a:t>, it would be better to wait.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Certainly</a:t>
            </a:r>
            <a:r>
              <a:rPr lang="en-US" sz="2800" dirty="0"/>
              <a:t>, education is important.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Clearly</a:t>
            </a:r>
            <a:r>
              <a:rPr lang="en-US" sz="2800" dirty="0"/>
              <a:t>, this plan will cost more.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Evidently</a:t>
            </a:r>
            <a:r>
              <a:rPr lang="en-US" sz="2800" dirty="0"/>
              <a:t>, she knew nothing about it.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Obviously</a:t>
            </a:r>
            <a:r>
              <a:rPr lang="en-US" sz="2600" dirty="0"/>
              <a:t>, we need more information.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1588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DEF12-66CF-A102-9B42-A047C6A66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08FB-E24D-9ECB-1E99-BCE97152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90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DEFINITELY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30B7-44CD-8ECA-5AF4-B457B8473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1101213"/>
            <a:ext cx="11936361" cy="5756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Important Exception: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"Definitely" is rarely used </a:t>
            </a:r>
            <a:r>
              <a:rPr lang="en-US" sz="2800" b="1" dirty="0"/>
              <a:t>at the beginning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Natural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They will </a:t>
            </a:r>
            <a:r>
              <a:rPr lang="en-US" sz="2600" b="1" dirty="0"/>
              <a:t>definitely</a:t>
            </a:r>
            <a:r>
              <a:rPr lang="en-US" sz="2600" dirty="0"/>
              <a:t> miss the train.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Unnatural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❌ </a:t>
            </a:r>
            <a:r>
              <a:rPr lang="en-US" sz="2600" b="1" dirty="0"/>
              <a:t>Definitely</a:t>
            </a:r>
            <a:r>
              <a:rPr lang="en-US" sz="2600" dirty="0"/>
              <a:t>, they will miss the train.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84291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49EC9-0A97-9675-FF17-080639F6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325D-66AF-5E42-3E3C-5F96B283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90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DEFINITELY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87A00-6851-74A1-6B5F-57AA7C346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1101213"/>
            <a:ext cx="11936361" cy="5756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Important Exception: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"Definitely" is rarely used </a:t>
            </a:r>
            <a:r>
              <a:rPr lang="en-US" sz="2800" b="1" dirty="0"/>
              <a:t>at the beginning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Natural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They will </a:t>
            </a:r>
            <a:r>
              <a:rPr lang="en-US" sz="2600" b="1" dirty="0"/>
              <a:t>definitely</a:t>
            </a:r>
            <a:r>
              <a:rPr lang="en-US" sz="2600" dirty="0"/>
              <a:t> miss the train.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Unnatural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❌ </a:t>
            </a:r>
            <a:r>
              <a:rPr lang="en-US" sz="2600" b="1" dirty="0"/>
              <a:t>Definitely</a:t>
            </a:r>
            <a:r>
              <a:rPr lang="en-US" sz="2600" dirty="0"/>
              <a:t>, they will miss the train.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13445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33B0-76B4-431B-B1AD-EC48F1523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1FD2-0DDF-C527-E731-D9C5E1D0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90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Sentence Adverbs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47C94-88C1-683C-D90C-C010F6458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1101213"/>
            <a:ext cx="11936361" cy="57567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Sentence Adverbs Usually Separated by Commas: </a:t>
            </a:r>
            <a:r>
              <a:rPr lang="en-US" sz="2800" i="1" dirty="0">
                <a:highlight>
                  <a:srgbClr val="FFFF00"/>
                </a:highlight>
              </a:rPr>
              <a:t>These adverbs often appear </a:t>
            </a:r>
            <a:r>
              <a:rPr lang="en-US" sz="2800" b="1" i="1" dirty="0">
                <a:highlight>
                  <a:srgbClr val="FFFF00"/>
                </a:highlight>
              </a:rPr>
              <a:t>at the beginning </a:t>
            </a:r>
            <a:r>
              <a:rPr lang="en-US" sz="2800" i="1" dirty="0">
                <a:highlight>
                  <a:srgbClr val="FFFF00"/>
                </a:highlight>
              </a:rPr>
              <a:t>or </a:t>
            </a:r>
            <a:r>
              <a:rPr lang="en-US" sz="2800" b="1" i="1" dirty="0">
                <a:highlight>
                  <a:srgbClr val="FFFF00"/>
                </a:highlight>
              </a:rPr>
              <a:t>end</a:t>
            </a:r>
            <a:r>
              <a:rPr lang="en-US" sz="2800" i="1" dirty="0">
                <a:highlight>
                  <a:srgbClr val="FFFF00"/>
                </a:highlight>
              </a:rPr>
              <a:t> and are separated by commas.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Fortunately</a:t>
            </a:r>
            <a:r>
              <a:rPr lang="en-US" sz="2800" dirty="0"/>
              <a:t>, we arrived on time.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Unfortunately</a:t>
            </a:r>
            <a:r>
              <a:rPr lang="en-US" sz="2800" dirty="0"/>
              <a:t>, the meeting was cancelled.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Luckily</a:t>
            </a:r>
            <a:r>
              <a:rPr lang="en-US" sz="2800" dirty="0"/>
              <a:t>, I had my passport.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Frankly</a:t>
            </a:r>
            <a:r>
              <a:rPr lang="en-US" sz="2800" dirty="0"/>
              <a:t>, I disagree with you.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Honestly</a:t>
            </a:r>
            <a:r>
              <a:rPr lang="en-US" sz="2800" dirty="0"/>
              <a:t>, I don't know the answer.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Admittedly</a:t>
            </a:r>
            <a:r>
              <a:rPr lang="en-US" sz="2800" dirty="0"/>
              <a:t>, the task was difficult.</a:t>
            </a:r>
          </a:p>
        </p:txBody>
      </p:sp>
    </p:spTree>
    <p:extLst>
      <p:ext uri="{BB962C8B-B14F-4D97-AF65-F5344CB8AC3E}">
        <p14:creationId xmlns:p14="http://schemas.microsoft.com/office/powerpoint/2010/main" val="1715987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4596E9-2887-263B-4664-1CCD4F6429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250961"/>
              </p:ext>
            </p:extLst>
          </p:nvPr>
        </p:nvGraphicFramePr>
        <p:xfrm>
          <a:off x="707922" y="423450"/>
          <a:ext cx="10776155" cy="6011100"/>
        </p:xfrm>
        <a:graphic>
          <a:graphicData uri="http://schemas.openxmlformats.org/drawingml/2006/table">
            <a:tbl>
              <a:tblPr/>
              <a:tblGrid>
                <a:gridCol w="6430932">
                  <a:extLst>
                    <a:ext uri="{9D8B030D-6E8A-4147-A177-3AD203B41FA5}">
                      <a16:colId xmlns:a16="http://schemas.microsoft.com/office/drawing/2014/main" val="2744130849"/>
                    </a:ext>
                  </a:extLst>
                </a:gridCol>
                <a:gridCol w="4345223">
                  <a:extLst>
                    <a:ext uri="{9D8B030D-6E8A-4147-A177-3AD203B41FA5}">
                      <a16:colId xmlns:a16="http://schemas.microsoft.com/office/drawing/2014/main" val="435725127"/>
                    </a:ext>
                  </a:extLst>
                </a:gridCol>
              </a:tblGrid>
              <a:tr h="667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Sentence 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559735"/>
                  </a:ext>
                </a:extLst>
              </a:tr>
              <a:tr h="667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Honestly, I don't know her.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Rostini aytsam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10927"/>
                  </a:ext>
                </a:extLst>
              </a:tr>
              <a:tr h="667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Frankly, this is wrong.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Ochig‘ini aytsam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959081"/>
                  </a:ext>
                </a:extLst>
              </a:tr>
              <a:tr h="667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Fortunately, we succeeded.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Baxtimizga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5060"/>
                  </a:ext>
                </a:extLst>
              </a:tr>
              <a:tr h="667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Unfortunately, you failed the test.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Afsuski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771702"/>
                  </a:ext>
                </a:extLst>
              </a:tr>
              <a:tr h="667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Obviously, he is right.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Yaqqol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99626"/>
                  </a:ext>
                </a:extLst>
              </a:tr>
              <a:tr h="667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Clearly, this won't work.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Aniqki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19139"/>
                  </a:ext>
                </a:extLst>
              </a:tr>
              <a:tr h="667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Apparently, </a:t>
                      </a:r>
                      <a:r>
                        <a:rPr lang="en-US" sz="2800" dirty="0" err="1"/>
                        <a:t>Nozima</a:t>
                      </a:r>
                      <a:r>
                        <a:rPr lang="en-US" sz="2800" dirty="0"/>
                        <a:t> left early.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Ko‘rinishidan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490008"/>
                  </a:ext>
                </a:extLst>
              </a:tr>
              <a:tr h="6679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Probably, they will come next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/>
                        <a:t>Ehtimol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626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996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02722-DD6B-CB1A-82ED-CD27C9835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C64DD2-C7A6-CBB7-383E-D6143BBA2B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4806825"/>
              </p:ext>
            </p:extLst>
          </p:nvPr>
        </p:nvGraphicFramePr>
        <p:xfrm>
          <a:off x="1066800" y="1401384"/>
          <a:ext cx="10058400" cy="4567241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7254296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8110088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/>
                        <a:t>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0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After 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She is </a:t>
                      </a:r>
                      <a:r>
                        <a:rPr lang="en-US" sz="2800" b="1" dirty="0"/>
                        <a:t>obviously</a:t>
                      </a:r>
                      <a:r>
                        <a:rPr lang="en-US" sz="2800" dirty="0"/>
                        <a:t> tired.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403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Before main 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He </a:t>
                      </a:r>
                      <a:r>
                        <a:rPr lang="en-US" sz="2800" b="1" dirty="0"/>
                        <a:t>certainly</a:t>
                      </a:r>
                      <a:r>
                        <a:rPr lang="en-US" sz="2800" dirty="0"/>
                        <a:t> works hard.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After auxiliary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They have </a:t>
                      </a:r>
                      <a:r>
                        <a:rPr lang="en-US" sz="2800" b="1" dirty="0"/>
                        <a:t>probably</a:t>
                      </a:r>
                      <a:r>
                        <a:rPr lang="en-US" sz="2800" dirty="0"/>
                        <a:t> left.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988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Beginning of sentence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Clearly</a:t>
                      </a:r>
                      <a:r>
                        <a:rPr lang="en-US" sz="2800" dirty="0"/>
                        <a:t>, we need help.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60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Negative sentence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He </a:t>
                      </a:r>
                      <a:r>
                        <a:rPr lang="en-US" sz="2800" b="1" dirty="0"/>
                        <a:t>apparently</a:t>
                      </a:r>
                      <a:r>
                        <a:rPr lang="en-US" sz="2800" dirty="0"/>
                        <a:t> didn't call.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5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With commas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Fortunately</a:t>
                      </a:r>
                      <a:r>
                        <a:rPr lang="en-US" sz="2800" dirty="0"/>
                        <a:t>, we arrived early.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174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497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40</TotalTime>
  <Words>676</Words>
  <Application>Microsoft Office PowerPoint</Application>
  <PresentationFormat>Widescreen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Wingdings</vt:lpstr>
      <vt:lpstr>Wood Type</vt:lpstr>
      <vt:lpstr>SENTENCE ADVERBS</vt:lpstr>
      <vt:lpstr>What Are Sentence Adverbs?</vt:lpstr>
      <vt:lpstr>Common Sentence Adverbs</vt:lpstr>
      <vt:lpstr>Position in a Sentence</vt:lpstr>
      <vt:lpstr>Position in a Sentence</vt:lpstr>
      <vt:lpstr>Position in a Sentence</vt:lpstr>
      <vt:lpstr>Position in Questions</vt:lpstr>
      <vt:lpstr>Position in Negative Sentences</vt:lpstr>
      <vt:lpstr>Sentence-Initial Position</vt:lpstr>
      <vt:lpstr>DEFINITELY</vt:lpstr>
      <vt:lpstr>DEFINITELY</vt:lpstr>
      <vt:lpstr>Sentence Adverbs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9</cp:revision>
  <dcterms:created xsi:type="dcterms:W3CDTF">2026-06-09T10:13:29Z</dcterms:created>
  <dcterms:modified xsi:type="dcterms:W3CDTF">2026-06-09T10:54:20Z</dcterms:modified>
</cp:coreProperties>
</file>