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4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6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8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5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6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5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2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6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6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C47F9A9-B9D9-41FB-8AE3-48938DCD1EF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78C452A0-E753-4027-A6E5-7DCA8FC5B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3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C37C-FF1C-F6F2-7662-29D945E44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Adverbs of Frequency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D58AC-9768-B16C-9BD4-F2B66FE2D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Adverbs of frequency</a:t>
            </a:r>
            <a:r>
              <a:rPr lang="en-US" dirty="0"/>
              <a:t> tell us </a:t>
            </a:r>
            <a:r>
              <a:rPr lang="en-US" b="1" dirty="0"/>
              <a:t>how often</a:t>
            </a:r>
            <a:r>
              <a:rPr lang="en-US" dirty="0"/>
              <a:t> an action happens.</a:t>
            </a:r>
            <a:br>
              <a:rPr lang="en-US" dirty="0"/>
            </a:br>
            <a:r>
              <a:rPr lang="en-US" b="1" dirty="0"/>
              <a:t>Question: How often?</a:t>
            </a:r>
            <a:r>
              <a:rPr lang="en-US" dirty="0"/>
              <a:t> (</a:t>
            </a:r>
            <a:r>
              <a:rPr lang="en-US" dirty="0" err="1"/>
              <a:t>Qanchalik</a:t>
            </a:r>
            <a:r>
              <a:rPr lang="en-US" dirty="0"/>
              <a:t> </a:t>
            </a:r>
            <a:r>
              <a:rPr lang="en-US" dirty="0" err="1"/>
              <a:t>tez-tez</a:t>
            </a:r>
            <a:r>
              <a:rPr lang="en-US" dirty="0"/>
              <a:t>?)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1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ABF6-3DA6-ADB7-8D33-AEC5FD8C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57316"/>
            <a:ext cx="10058400" cy="11012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Common Adverbs of Frequency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DD72-553E-FED4-A2EC-FE3DAAB51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4" y="1336209"/>
            <a:ext cx="7895303" cy="4017658"/>
          </a:xfrm>
        </p:spPr>
        <p:txBody>
          <a:bodyPr>
            <a:normAutofit/>
          </a:bodyPr>
          <a:lstStyle/>
          <a:p>
            <a:r>
              <a:rPr lang="en-US" sz="2800" b="1" dirty="0"/>
              <a:t>Group A (Positive Frequency)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always</a:t>
            </a:r>
            <a:r>
              <a:rPr lang="en-US" sz="2800" dirty="0"/>
              <a:t> wake up early.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usually</a:t>
            </a:r>
            <a:r>
              <a:rPr lang="en-US" sz="2800" dirty="0"/>
              <a:t> walks to school.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often</a:t>
            </a:r>
            <a:r>
              <a:rPr lang="en-US" sz="2800" dirty="0"/>
              <a:t> visit our grandparents.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sometimes</a:t>
            </a:r>
            <a:r>
              <a:rPr lang="en-US" sz="2800" dirty="0"/>
              <a:t> eat out.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DE1628-3732-AA36-5BCB-16D5CAFD9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655780"/>
              </p:ext>
            </p:extLst>
          </p:nvPr>
        </p:nvGraphicFramePr>
        <p:xfrm>
          <a:off x="6095999" y="1336209"/>
          <a:ext cx="6096002" cy="5521791"/>
        </p:xfrm>
        <a:graphic>
          <a:graphicData uri="http://schemas.openxmlformats.org/drawingml/2006/table">
            <a:tbl>
              <a:tblPr/>
              <a:tblGrid>
                <a:gridCol w="3048001">
                  <a:extLst>
                    <a:ext uri="{9D8B030D-6E8A-4147-A177-3AD203B41FA5}">
                      <a16:colId xmlns:a16="http://schemas.microsoft.com/office/drawing/2014/main" val="3087193957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254617899"/>
                    </a:ext>
                  </a:extLst>
                </a:gridCol>
              </a:tblGrid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49567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always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har doim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50808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usually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odatda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608888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frequently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tez-tez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070879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often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ko‘pincha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996200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sometimes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ba'zan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84084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occasionally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vaqti-vaqti bilan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918938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periodically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davriy ravishda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699062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repeatedly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qayta-qayta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2647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continually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 err="1"/>
                        <a:t>uzluksiz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25079"/>
                  </a:ext>
                </a:extLst>
              </a:tr>
              <a:tr h="50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 err="1"/>
                        <a:t>bir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marta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63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0EFC-A9D2-4B2E-280C-8EC24875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F34B-AE84-DCDE-6E3D-17500D44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57316"/>
            <a:ext cx="10058400" cy="11012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Common Adverbs of Frequency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815C-105B-1BB5-34BF-18CF6752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1465008"/>
            <a:ext cx="7895303" cy="4696083"/>
          </a:xfrm>
        </p:spPr>
        <p:txBody>
          <a:bodyPr>
            <a:normAutofit/>
          </a:bodyPr>
          <a:lstStyle/>
          <a:p>
            <a:r>
              <a:rPr lang="en-US" sz="2800" b="1" dirty="0"/>
              <a:t>Group B (Negative Frequency)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occasionally</a:t>
            </a:r>
            <a:r>
              <a:rPr lang="en-US" sz="2800" dirty="0"/>
              <a:t> calls me.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never</a:t>
            </a:r>
            <a:r>
              <a:rPr lang="en-US" sz="2800" dirty="0"/>
              <a:t> drink coffee.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rarely</a:t>
            </a:r>
            <a:r>
              <a:rPr lang="en-US" sz="2800" dirty="0"/>
              <a:t> watches TV.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seldom</a:t>
            </a:r>
            <a:r>
              <a:rPr lang="en-US" sz="2800" dirty="0"/>
              <a:t> arrives late.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hardly ever</a:t>
            </a:r>
            <a:r>
              <a:rPr lang="en-US" sz="2800" dirty="0"/>
              <a:t> travel abroad.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066122-8966-C538-AC21-BB07178A6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43370"/>
              </p:ext>
            </p:extLst>
          </p:nvPr>
        </p:nvGraphicFramePr>
        <p:xfrm>
          <a:off x="6395310" y="1465008"/>
          <a:ext cx="5796690" cy="5363496"/>
        </p:xfrm>
        <a:graphic>
          <a:graphicData uri="http://schemas.openxmlformats.org/drawingml/2006/table">
            <a:tbl>
              <a:tblPr/>
              <a:tblGrid>
                <a:gridCol w="2379980">
                  <a:extLst>
                    <a:ext uri="{9D8B030D-6E8A-4147-A177-3AD203B41FA5}">
                      <a16:colId xmlns:a16="http://schemas.microsoft.com/office/drawing/2014/main" val="3087193957"/>
                    </a:ext>
                  </a:extLst>
                </a:gridCol>
                <a:gridCol w="3416710">
                  <a:extLst>
                    <a:ext uri="{9D8B030D-6E8A-4147-A177-3AD203B41FA5}">
                      <a16:colId xmlns:a16="http://schemas.microsoft.com/office/drawing/2014/main" val="3254617899"/>
                    </a:ext>
                  </a:extLst>
                </a:gridCol>
              </a:tblGrid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49567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hech qachon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50808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hardly 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deyarli hech qachon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608888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scarcely 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deyarli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hech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qachon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070879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barely 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juda kam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996200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rarely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kamdan-kam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84084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seldom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kamdan-kam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918938"/>
                  </a:ext>
                </a:extLst>
              </a:tr>
              <a:tr h="67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qachondir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umuman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69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26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5393-9B36-CF57-78E4-3F861311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"/>
            <a:ext cx="10058400" cy="11897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with "BE"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7278-0098-81B9-839C-F44BDF351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91381"/>
            <a:ext cx="11122152" cy="5766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When the main verb is </a:t>
            </a:r>
            <a:r>
              <a:rPr lang="en-US" sz="2800" b="1" i="1" dirty="0">
                <a:highlight>
                  <a:srgbClr val="FFFF00"/>
                </a:highlight>
              </a:rPr>
              <a:t>be</a:t>
            </a:r>
            <a:r>
              <a:rPr lang="en-US" sz="2800" i="1" dirty="0">
                <a:highlight>
                  <a:srgbClr val="FFFF00"/>
                </a:highlight>
              </a:rPr>
              <a:t>, the adverb comes after </a:t>
            </a:r>
            <a:r>
              <a:rPr lang="en-US" sz="2800" b="1" i="1" dirty="0">
                <a:highlight>
                  <a:srgbClr val="FFFF00"/>
                </a:highlight>
              </a:rPr>
              <a:t>be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 </a:t>
            </a:r>
            <a:r>
              <a:rPr lang="en-US" sz="2800" b="1" dirty="0">
                <a:solidFill>
                  <a:srgbClr val="00B0F0"/>
                </a:solidFill>
              </a:rPr>
              <a:t>Subject + be + adverb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He is </a:t>
            </a:r>
            <a:r>
              <a:rPr lang="en-US" sz="2800" b="1" dirty="0"/>
              <a:t>always</a:t>
            </a:r>
            <a:r>
              <a:rPr lang="en-US" sz="2800" dirty="0"/>
              <a:t> on time.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are </a:t>
            </a:r>
            <a:r>
              <a:rPr lang="en-US" sz="2800" b="1" dirty="0"/>
              <a:t>often</a:t>
            </a:r>
            <a:r>
              <a:rPr lang="en-US" sz="2800" dirty="0"/>
              <a:t> busy.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was </a:t>
            </a:r>
            <a:r>
              <a:rPr lang="en-US" sz="2800" b="1" dirty="0"/>
              <a:t>never</a:t>
            </a:r>
            <a:r>
              <a:rPr lang="en-US" sz="2800" dirty="0"/>
              <a:t> rude.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children are </a:t>
            </a:r>
            <a:r>
              <a:rPr lang="en-US" sz="2800" b="1" dirty="0"/>
              <a:t>usually</a:t>
            </a:r>
            <a:r>
              <a:rPr lang="en-US" sz="2800" dirty="0"/>
              <a:t> hungry.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am </a:t>
            </a:r>
            <a:r>
              <a:rPr lang="en-US" sz="2800" b="1" dirty="0"/>
              <a:t>rarely</a:t>
            </a:r>
            <a:r>
              <a:rPr lang="en-US" sz="2800" dirty="0"/>
              <a:t> tired.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59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8E7F-D3D8-BE64-5B73-D4C68670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with Other 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63B8-6299-E997-D54C-52336E812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297858"/>
            <a:ext cx="10473223" cy="55601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 Simple Tenses, the adverb comes before the main 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adverb +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occasionally meet</a:t>
            </a:r>
            <a:r>
              <a:rPr lang="en-US" sz="2800" dirty="0"/>
              <a:t> after work.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sometimes stay</a:t>
            </a:r>
            <a:r>
              <a:rPr lang="en-US" sz="2800" dirty="0"/>
              <a:t> up all night.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once met</a:t>
            </a:r>
            <a:r>
              <a:rPr lang="en-US" sz="2800" dirty="0"/>
              <a:t> your mother.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seldom goes</a:t>
            </a:r>
            <a:r>
              <a:rPr lang="en-US" sz="2800" dirty="0"/>
              <a:t> to the cinema.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always checks</a:t>
            </a:r>
            <a:r>
              <a:rPr lang="en-US" sz="2800" dirty="0"/>
              <a:t> his email.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77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59A6-FAF6-7576-C4C2-E66EEFA0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Position in Compound Tenses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37C8-E207-AF8E-F358-60AD3DBC1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337187"/>
            <a:ext cx="10994333" cy="55208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 compound tenses, adverbs come before the main 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 </a:t>
            </a:r>
            <a:r>
              <a:rPr lang="en-US" sz="2800" b="1" dirty="0">
                <a:solidFill>
                  <a:srgbClr val="00B0F0"/>
                </a:solidFill>
              </a:rPr>
              <a:t>Subject + auxiliary + adverb + main verb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have </a:t>
            </a:r>
            <a:r>
              <a:rPr lang="en-US" sz="2800" b="1" dirty="0"/>
              <a:t>often been told</a:t>
            </a:r>
            <a:r>
              <a:rPr lang="en-US" sz="2800" dirty="0"/>
              <a:t> not to do that.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have </a:t>
            </a:r>
            <a:r>
              <a:rPr lang="en-US" sz="2800" b="1" dirty="0"/>
              <a:t>never seen</a:t>
            </a:r>
            <a:r>
              <a:rPr lang="en-US" sz="2800" dirty="0"/>
              <a:t> such a thing.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have </a:t>
            </a:r>
            <a:r>
              <a:rPr lang="en-US" sz="2800" b="1" dirty="0"/>
              <a:t>frequently visited</a:t>
            </a:r>
            <a:r>
              <a:rPr lang="en-US" sz="2800" dirty="0"/>
              <a:t> 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Have you </a:t>
            </a:r>
            <a:r>
              <a:rPr lang="en-US" sz="2800" b="1" dirty="0"/>
              <a:t>ever ridden</a:t>
            </a:r>
            <a:r>
              <a:rPr lang="en-US" sz="2800" dirty="0"/>
              <a:t> a camel?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1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2FBE-4DEB-6583-5A4B-D1F8C40F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6551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Special Cases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E666-6C68-7975-98ED-9786A6F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071716"/>
            <a:ext cx="10414229" cy="57862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A. Used To - </a:t>
            </a:r>
            <a:r>
              <a:rPr lang="en-US" sz="2800" i="1" dirty="0">
                <a:highlight>
                  <a:srgbClr val="FFFF00"/>
                </a:highlight>
              </a:rPr>
              <a:t>The adverb comes before </a:t>
            </a:r>
            <a:r>
              <a:rPr lang="en-US" sz="2800" b="1" i="1" dirty="0">
                <a:highlight>
                  <a:srgbClr val="FFFF00"/>
                </a:highlight>
              </a:rPr>
              <a:t>used to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hardly ever used to</a:t>
            </a:r>
            <a:r>
              <a:rPr lang="en-US" sz="2800" dirty="0"/>
              <a:t> like vegetables.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often used to</a:t>
            </a:r>
            <a:r>
              <a:rPr lang="en-US" sz="2800" dirty="0"/>
              <a:t> visit us. 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B. Have To - </a:t>
            </a:r>
            <a:r>
              <a:rPr lang="en-US" sz="2800" i="1" dirty="0">
                <a:highlight>
                  <a:srgbClr val="FFFF00"/>
                </a:highlight>
              </a:rPr>
              <a:t>The adverb comes before </a:t>
            </a:r>
            <a:r>
              <a:rPr lang="en-US" sz="2800" b="1" i="1" dirty="0">
                <a:highlight>
                  <a:srgbClr val="FFFF00"/>
                </a:highlight>
              </a:rPr>
              <a:t>have to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You </a:t>
            </a:r>
            <a:r>
              <a:rPr lang="en-US" sz="2800" b="1" dirty="0"/>
              <a:t>hardly ever have to</a:t>
            </a:r>
            <a:r>
              <a:rPr lang="en-US" sz="2800" dirty="0"/>
              <a:t> remind him.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often have to</a:t>
            </a:r>
            <a:r>
              <a:rPr lang="en-US" sz="2800" dirty="0"/>
              <a:t> work late.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22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1B42-44CA-8F45-BCA0-6F28ACFB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Auxiliary Verb Used Alone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BD902-286F-364F-5517-3747AE360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474839"/>
            <a:ext cx="11965857" cy="53831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 short answers or additions, the adverb can come before the auxiliary.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Can you swim? Yes, I </a:t>
            </a:r>
            <a:r>
              <a:rPr lang="en-US" sz="2800" b="1" dirty="0"/>
              <a:t>usually can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know I should exercise, but I </a:t>
            </a:r>
            <a:r>
              <a:rPr lang="en-US" sz="2800" b="1" dirty="0"/>
              <a:t>never do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1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A4D2-6B25-8082-5244-48E865A6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Emphasis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53C5B-004B-3ED8-F020-F4CCFA5BA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5628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To emphasize the adverb, place it before the auxiliary.</a:t>
            </a:r>
            <a:endParaRPr lang="en-US" sz="2800" b="1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never can</a:t>
            </a:r>
            <a:r>
              <a:rPr lang="en-US" sz="2800" dirty="0"/>
              <a:t> remember names.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hardly ever has</a:t>
            </a:r>
            <a:r>
              <a:rPr lang="en-US" sz="2800" dirty="0"/>
              <a:t> met him.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always do</a:t>
            </a:r>
            <a:r>
              <a:rPr lang="en-US" sz="2800" dirty="0"/>
              <a:t> arrive on time!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4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AE23-7412-83FA-628E-9AD1DBF9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9785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Beginning of a Sentence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F5E0-D26C-8342-5F2C-9BCD2D8C4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97858"/>
            <a:ext cx="10058400" cy="48743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Most Group A adverbs can start a sentence</a:t>
            </a:r>
            <a:r>
              <a:rPr lang="en-US" sz="2800" dirty="0"/>
              <a:t>.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b="1" dirty="0"/>
              <a:t>Usually</a:t>
            </a:r>
            <a:r>
              <a:rPr lang="en-US" sz="2800" dirty="0"/>
              <a:t>, we go by car.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Sometimes</a:t>
            </a:r>
            <a:r>
              <a:rPr lang="en-US" sz="2800" dirty="0"/>
              <a:t>, he writes to me.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Occasionally</a:t>
            </a:r>
            <a:r>
              <a:rPr lang="en-US" sz="2800" dirty="0"/>
              <a:t>, we eat at a Chinese restaurant.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Periodically</a:t>
            </a:r>
            <a:r>
              <a:rPr lang="en-US" sz="2800" dirty="0"/>
              <a:t>, the committee meets.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03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D261-1CE5-2ED8-68D1-55E5F090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7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Exception: ALWAYS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BBD0-D9E8-0DFA-664F-486EA56AA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68361"/>
            <a:ext cx="10058400" cy="55896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Always</a:t>
            </a:r>
            <a:r>
              <a:rPr lang="en-US" sz="2800" i="1" dirty="0">
                <a:highlight>
                  <a:srgbClr val="FFFF00"/>
                </a:highlight>
              </a:rPr>
              <a:t> normally does NOT begin a sentence.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Correct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always</a:t>
            </a:r>
            <a:r>
              <a:rPr lang="en-US" sz="2800" dirty="0"/>
              <a:t> arrives at 7.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children </a:t>
            </a:r>
            <a:r>
              <a:rPr lang="en-US" sz="2800" b="1" dirty="0"/>
              <a:t>always</a:t>
            </a:r>
            <a:r>
              <a:rPr lang="en-US" sz="2800" dirty="0"/>
              <a:t> seem hungry.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Imperatives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Always</a:t>
            </a:r>
            <a:r>
              <a:rPr lang="en-US" sz="2800" dirty="0"/>
              <a:t> lock your car.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Always</a:t>
            </a:r>
            <a:r>
              <a:rPr lang="en-US" sz="2800" dirty="0"/>
              <a:t> wash your hands before eating.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60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7E40-9064-2B0C-CDC5-928ECB92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371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OFTEN at the End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6729-0E8E-14AA-54CB-8A4C5D48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337187"/>
            <a:ext cx="10335571" cy="54372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Often</a:t>
            </a:r>
            <a:r>
              <a:rPr lang="en-US" sz="2800" i="1" dirty="0">
                <a:highlight>
                  <a:srgbClr val="FFFF00"/>
                </a:highlight>
              </a:rPr>
              <a:t> is usually not used alone at the end.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Incorrect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Anvar walks </a:t>
            </a:r>
            <a:r>
              <a:rPr lang="en-US" sz="2800" b="1" dirty="0"/>
              <a:t>often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Correct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✅ Anvar walks </a:t>
            </a:r>
            <a:r>
              <a:rPr lang="en-US" sz="2800" b="1" dirty="0"/>
              <a:t>quite often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✅ Anvar walks </a:t>
            </a:r>
            <a:r>
              <a:rPr lang="en-US" sz="2800" b="1" dirty="0"/>
              <a:t>very often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8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6112-4A5B-9176-FB77-A344489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0"/>
            <a:ext cx="11130116" cy="160934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Inversion with Negative Frequency Adverbs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BA90-5E8A-3D8E-4E56-BD56B0301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356852"/>
            <a:ext cx="11897032" cy="55011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When these adverbs begin a sentence, inversion occurs.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Common Words: </a:t>
            </a:r>
            <a:r>
              <a:rPr lang="en-US" sz="2800" b="1" dirty="0">
                <a:solidFill>
                  <a:srgbClr val="00B050"/>
                </a:solidFill>
              </a:rPr>
              <a:t>never | seldom | rarely | hardly ever | scarcely ever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Structure:  </a:t>
            </a:r>
            <a:r>
              <a:rPr lang="en-US" sz="2800" b="1" dirty="0">
                <a:solidFill>
                  <a:srgbClr val="0070C0"/>
                </a:solidFill>
              </a:rPr>
              <a:t>Adverb + auxiliary + subject + verb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1" dirty="0"/>
              <a:t>Never</a:t>
            </a:r>
            <a:r>
              <a:rPr lang="en-US" sz="2800" dirty="0"/>
              <a:t> have I seen such a view.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Seldom</a:t>
            </a:r>
            <a:r>
              <a:rPr lang="en-US" sz="2800" dirty="0"/>
              <a:t> does he arrive on time.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Rarely</a:t>
            </a:r>
            <a:r>
              <a:rPr lang="en-US" sz="2800" dirty="0"/>
              <a:t> do we get such opportunities.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Hardly</a:t>
            </a:r>
            <a:r>
              <a:rPr lang="en-US" sz="2800" dirty="0"/>
              <a:t> ever did they remain unnoticed.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Never</a:t>
            </a:r>
            <a:r>
              <a:rPr lang="en-US" sz="2800" dirty="0"/>
              <a:t> have I encountered such hardship.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0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C798A-87DF-F716-0645-ABBBA4E5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76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NEVER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84221-16C1-CB31-CB11-400D5CD9F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729" y="865240"/>
            <a:ext cx="10772604" cy="59927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 - </a:t>
            </a:r>
            <a:r>
              <a:rPr lang="en-US" sz="2800" i="1" dirty="0">
                <a:highlight>
                  <a:srgbClr val="FFFF00"/>
                </a:highlight>
              </a:rPr>
              <a:t>At no time -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qachon</a:t>
            </a:r>
            <a:endParaRPr lang="en-US" sz="2800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never</a:t>
            </a:r>
            <a:r>
              <a:rPr lang="en-US" sz="2800" dirty="0"/>
              <a:t> drink tea.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never</a:t>
            </a:r>
            <a:r>
              <a:rPr lang="en-US" sz="2800" dirty="0"/>
              <a:t> calls me.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have </a:t>
            </a:r>
            <a:r>
              <a:rPr lang="en-US" sz="2800" b="1" dirty="0"/>
              <a:t>never</a:t>
            </a:r>
            <a:r>
              <a:rPr lang="en-US" sz="2800" dirty="0"/>
              <a:t> been there.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never</a:t>
            </a:r>
            <a:r>
              <a:rPr lang="en-US" sz="2800" dirty="0"/>
              <a:t> eat meat. 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NEVER in Questions - </a:t>
            </a:r>
            <a:r>
              <a:rPr lang="en-US" sz="2800" i="1" dirty="0">
                <a:highlight>
                  <a:srgbClr val="FFFF00"/>
                </a:highlight>
              </a:rPr>
              <a:t>Shows surprise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Has he </a:t>
            </a:r>
            <a:r>
              <a:rPr lang="en-US" sz="2800" b="1" dirty="0"/>
              <a:t>never</a:t>
            </a:r>
            <a:r>
              <a:rPr lang="en-US" sz="2800" dirty="0"/>
              <a:t> been to Japan?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Have you </a:t>
            </a:r>
            <a:r>
              <a:rPr lang="en-US" sz="2800" b="1" dirty="0"/>
              <a:t>never</a:t>
            </a:r>
            <a:r>
              <a:rPr lang="en-US" sz="2800" dirty="0"/>
              <a:t> received an award?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Has she </a:t>
            </a:r>
            <a:r>
              <a:rPr lang="en-US" sz="2800" b="1" dirty="0"/>
              <a:t>never</a:t>
            </a:r>
            <a:r>
              <a:rPr lang="en-US" sz="2800" dirty="0"/>
              <a:t> tried sushi? 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- </a:t>
            </a:r>
            <a:r>
              <a:rPr lang="en-US" sz="2800" i="1" dirty="0" err="1">
                <a:highlight>
                  <a:srgbClr val="FFFF00"/>
                </a:highlight>
              </a:rPr>
              <a:t>Rostdan</a:t>
            </a:r>
            <a:r>
              <a:rPr lang="en-US" sz="2800" i="1" dirty="0">
                <a:highlight>
                  <a:srgbClr val="FFFF00"/>
                </a:highlight>
              </a:rPr>
              <a:t> ham 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qachon</a:t>
            </a:r>
            <a:r>
              <a:rPr lang="en-US" sz="2800" i="1" dirty="0">
                <a:highlight>
                  <a:srgbClr val="FFFF00"/>
                </a:highlight>
              </a:rPr>
              <a:t> ... </a:t>
            </a:r>
            <a:r>
              <a:rPr lang="en-US" sz="2800" i="1" dirty="0" err="1">
                <a:highlight>
                  <a:srgbClr val="FFFF00"/>
                </a:highlight>
              </a:rPr>
              <a:t>qilmaganmi</a:t>
            </a:r>
            <a:r>
              <a:rPr lang="en-US" sz="2800" i="1" dirty="0">
                <a:highlight>
                  <a:srgbClr val="FFFF00"/>
                </a:highlight>
              </a:rPr>
              <a:t>?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95307-EAAB-D913-17AF-FA7E223F78C8}"/>
              </a:ext>
            </a:extLst>
          </p:cNvPr>
          <p:cNvSpPr txBox="1"/>
          <p:nvPr/>
        </p:nvSpPr>
        <p:spPr>
          <a:xfrm>
            <a:off x="9075175" y="865240"/>
            <a:ext cx="3578942" cy="5563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Always (100%)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Usually (90%)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Frequently (80%)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Often (70%)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Sometimes (50%)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Occasionally (30%)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Rarely (10%)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Seldom (5%)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Hardly ever (2%)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Never (0%)</a:t>
            </a:r>
          </a:p>
        </p:txBody>
      </p:sp>
    </p:spTree>
    <p:extLst>
      <p:ext uri="{BB962C8B-B14F-4D97-AF65-F5344CB8AC3E}">
        <p14:creationId xmlns:p14="http://schemas.microsoft.com/office/powerpoint/2010/main" val="41079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E789-4BA0-9F1D-E3F4-08917995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9138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99B5-C352-CCDC-AA91-F2B5E5A4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963560"/>
            <a:ext cx="11739716" cy="5894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 - </a:t>
            </a:r>
            <a:r>
              <a:rPr lang="en-US" sz="2800" i="1" dirty="0">
                <a:highlight>
                  <a:srgbClr val="FFFF00"/>
                </a:highlight>
              </a:rPr>
              <a:t>At any time – </a:t>
            </a:r>
            <a:r>
              <a:rPr lang="en-US" sz="2800" i="1" dirty="0" err="1">
                <a:highlight>
                  <a:srgbClr val="FFFF00"/>
                </a:highlight>
              </a:rPr>
              <a:t>Qachondir</a:t>
            </a:r>
            <a:r>
              <a:rPr lang="en-US" sz="2800" i="1" dirty="0">
                <a:highlight>
                  <a:srgbClr val="FFFF00"/>
                </a:highlight>
              </a:rPr>
              <a:t> - Used mainly in questions.</a:t>
            </a:r>
            <a:endParaRPr lang="en-US" sz="2800" b="1" i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Have you </a:t>
            </a:r>
            <a:r>
              <a:rPr lang="en-US" sz="2800" b="1" dirty="0"/>
              <a:t>ever</a:t>
            </a:r>
            <a:r>
              <a:rPr lang="en-US" sz="2800" dirty="0"/>
              <a:t> been to Rome? | Has he </a:t>
            </a:r>
            <a:r>
              <a:rPr lang="en-US" sz="2800" b="1" dirty="0"/>
              <a:t>ever</a:t>
            </a:r>
            <a:r>
              <a:rPr lang="en-US" sz="2800" dirty="0"/>
              <a:t> driven a truck?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Do you </a:t>
            </a:r>
            <a:r>
              <a:rPr lang="en-US" sz="2800" b="1" dirty="0"/>
              <a:t>ever</a:t>
            </a:r>
            <a:r>
              <a:rPr lang="en-US" sz="2800" dirty="0"/>
              <a:t> get tired? | Have they </a:t>
            </a:r>
            <a:r>
              <a:rPr lang="en-US" sz="2800" b="1" dirty="0"/>
              <a:t>ever</a:t>
            </a:r>
            <a:r>
              <a:rPr lang="en-US" sz="2800" dirty="0"/>
              <a:t> thought about moving? 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EVER in Negative Contexts - </a:t>
            </a:r>
            <a:r>
              <a:rPr lang="en-US" sz="2800" i="1" dirty="0">
                <a:highlight>
                  <a:srgbClr val="FFFF00"/>
                </a:highlight>
              </a:rPr>
              <a:t>Ever can replace "never" when another negative word exists.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have</a:t>
            </a:r>
            <a:r>
              <a:rPr lang="en-US" sz="2800" b="1" dirty="0"/>
              <a:t>n't</a:t>
            </a:r>
            <a:r>
              <a:rPr lang="en-US" sz="2800" dirty="0"/>
              <a:t> </a:t>
            </a:r>
            <a:r>
              <a:rPr lang="en-US" sz="2800" b="1" dirty="0"/>
              <a:t>ever</a:t>
            </a:r>
            <a:r>
              <a:rPr lang="en-US" sz="2800" dirty="0"/>
              <a:t> eaten snails. | </a:t>
            </a:r>
            <a:r>
              <a:rPr lang="en-US" sz="2800" b="1" dirty="0"/>
              <a:t>Nothing</a:t>
            </a:r>
            <a:r>
              <a:rPr lang="en-US" sz="2800" dirty="0"/>
              <a:t> </a:t>
            </a:r>
            <a:r>
              <a:rPr lang="en-US" sz="2800" b="1" dirty="0"/>
              <a:t>ever</a:t>
            </a:r>
            <a:r>
              <a:rPr lang="en-US" sz="2800" dirty="0"/>
              <a:t> happens here.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Nobody</a:t>
            </a:r>
            <a:r>
              <a:rPr lang="en-US" sz="2800" dirty="0"/>
              <a:t> </a:t>
            </a:r>
            <a:r>
              <a:rPr lang="en-US" sz="2800" b="1" dirty="0"/>
              <a:t>ever</a:t>
            </a:r>
            <a:r>
              <a:rPr lang="en-US" sz="2800" dirty="0"/>
              <a:t> visits us. | </a:t>
            </a:r>
            <a:r>
              <a:rPr lang="en-US" sz="2800" b="1" dirty="0"/>
              <a:t>Nothing</a:t>
            </a:r>
            <a:r>
              <a:rPr lang="en-US" sz="2800" dirty="0"/>
              <a:t> </a:t>
            </a:r>
            <a:r>
              <a:rPr lang="en-US" sz="2800" b="1" dirty="0"/>
              <a:t>ever</a:t>
            </a:r>
            <a:r>
              <a:rPr lang="en-US" sz="2800" dirty="0"/>
              <a:t> makes him angry.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No</a:t>
            </a:r>
            <a:r>
              <a:rPr lang="en-US" sz="2800" dirty="0"/>
              <a:t> one </a:t>
            </a:r>
            <a:r>
              <a:rPr lang="en-US" sz="2800" b="1" dirty="0"/>
              <a:t>ever</a:t>
            </a:r>
            <a:r>
              <a:rPr lang="en-US" sz="2800" dirty="0"/>
              <a:t> reached that mountain peak.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91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12DA-0218-5151-7D0B-FC9E71A1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9785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NEVER vs EVER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DB88EE-7775-8F3A-592F-5F9F8BE2C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844699"/>
              </p:ext>
            </p:extLst>
          </p:nvPr>
        </p:nvGraphicFramePr>
        <p:xfrm>
          <a:off x="340083" y="1393518"/>
          <a:ext cx="11511834" cy="3778250"/>
        </p:xfrm>
        <a:graphic>
          <a:graphicData uri="http://schemas.openxmlformats.org/drawingml/2006/table">
            <a:tbl>
              <a:tblPr/>
              <a:tblGrid>
                <a:gridCol w="5755917">
                  <a:extLst>
                    <a:ext uri="{9D8B030D-6E8A-4147-A177-3AD203B41FA5}">
                      <a16:colId xmlns:a16="http://schemas.microsoft.com/office/drawing/2014/main" val="62378666"/>
                    </a:ext>
                  </a:extLst>
                </a:gridCol>
                <a:gridCol w="5755917">
                  <a:extLst>
                    <a:ext uri="{9D8B030D-6E8A-4147-A177-3AD203B41FA5}">
                      <a16:colId xmlns:a16="http://schemas.microsoft.com/office/drawing/2014/main" val="556344756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NEVER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850047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negative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neutral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6589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hech qachon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qachondir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838040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I </a:t>
                      </a:r>
                      <a:r>
                        <a:rPr lang="en-US" sz="2800" b="1" dirty="0"/>
                        <a:t>never</a:t>
                      </a:r>
                      <a:r>
                        <a:rPr lang="en-US" sz="2800" dirty="0"/>
                        <a:t> smoke.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Have you </a:t>
                      </a:r>
                      <a:r>
                        <a:rPr lang="en-US" sz="2800" b="1" dirty="0"/>
                        <a:t>ever</a:t>
                      </a:r>
                      <a:r>
                        <a:rPr lang="en-US" sz="2800" dirty="0"/>
                        <a:t> smoked?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21970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She has </a:t>
                      </a:r>
                      <a:r>
                        <a:rPr lang="en-US" sz="2800" b="1" dirty="0"/>
                        <a:t>never</a:t>
                      </a:r>
                      <a:r>
                        <a:rPr lang="en-US" sz="2800" dirty="0"/>
                        <a:t> been abroad.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Has she </a:t>
                      </a:r>
                      <a:r>
                        <a:rPr lang="en-US" sz="2800" b="1" dirty="0"/>
                        <a:t>ever</a:t>
                      </a:r>
                      <a:r>
                        <a:rPr lang="en-US" sz="2800" dirty="0"/>
                        <a:t> been abroad?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6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32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7B90A5-B274-B079-F076-538064F97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788082"/>
              </p:ext>
            </p:extLst>
          </p:nvPr>
        </p:nvGraphicFramePr>
        <p:xfrm>
          <a:off x="245806" y="204021"/>
          <a:ext cx="11700388" cy="644995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4306529">
                  <a:extLst>
                    <a:ext uri="{9D8B030D-6E8A-4147-A177-3AD203B41FA5}">
                      <a16:colId xmlns:a16="http://schemas.microsoft.com/office/drawing/2014/main" val="1911854026"/>
                    </a:ext>
                  </a:extLst>
                </a:gridCol>
                <a:gridCol w="7393859">
                  <a:extLst>
                    <a:ext uri="{9D8B030D-6E8A-4147-A177-3AD203B41FA5}">
                      <a16:colId xmlns:a16="http://schemas.microsoft.com/office/drawing/2014/main" val="981159145"/>
                    </a:ext>
                  </a:extLst>
                </a:gridCol>
              </a:tblGrid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b="1" dirty="0"/>
                        <a:t>Adverb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Position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72096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always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116454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usually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589918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often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84102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sometimes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581766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never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57583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rarely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02536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ever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mainly in questions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904872"/>
                  </a:ext>
                </a:extLst>
              </a:tr>
              <a:tr h="71666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seldom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after be / before other verbs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3199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54</TotalTime>
  <Words>917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Wingdings</vt:lpstr>
      <vt:lpstr>Wood Type</vt:lpstr>
      <vt:lpstr>Adverbs of Frequency</vt:lpstr>
      <vt:lpstr>Common Adverbs of Frequency </vt:lpstr>
      <vt:lpstr>Common Adverbs of Frequency </vt:lpstr>
      <vt:lpstr>Position with "BE"</vt:lpstr>
      <vt:lpstr>Position with Other Verbs</vt:lpstr>
      <vt:lpstr>Position in Compound Tenses</vt:lpstr>
      <vt:lpstr>Special Cases</vt:lpstr>
      <vt:lpstr>Auxiliary Verb Used Alone</vt:lpstr>
      <vt:lpstr>Emphasis</vt:lpstr>
      <vt:lpstr>Beginning of a Sentence</vt:lpstr>
      <vt:lpstr>Exception: ALWAYS</vt:lpstr>
      <vt:lpstr>OFTEN at the End</vt:lpstr>
      <vt:lpstr>Inversion with Negative Frequency Adverbs</vt:lpstr>
      <vt:lpstr>NEVER</vt:lpstr>
      <vt:lpstr>EVER</vt:lpstr>
      <vt:lpstr>NEVER vs EVER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12</cp:revision>
  <dcterms:created xsi:type="dcterms:W3CDTF">2026-06-09T09:16:16Z</dcterms:created>
  <dcterms:modified xsi:type="dcterms:W3CDTF">2026-06-09T10:11:14Z</dcterms:modified>
</cp:coreProperties>
</file>