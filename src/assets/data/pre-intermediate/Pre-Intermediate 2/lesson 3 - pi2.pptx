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2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4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38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3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9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4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9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7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73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1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B63488E-52B0-4823-9712-792118F78BB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EFE59E67-8423-489D-8FCF-F1449E8B4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5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90F7-B24C-7BB0-EBFB-E873E69375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Adverbs of Manner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C8B48-D33E-8DE5-8E1E-01C81FF8D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7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C13A-CA9F-6F78-ADD5-2AD10AD8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0"/>
            <a:ext cx="11552903" cy="118970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Adverbs of Manner (How?)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E8CB7-0AE9-4768-278C-44CAAE4E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45" y="1189703"/>
            <a:ext cx="11385755" cy="202544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Adverbs of manner</a:t>
            </a:r>
            <a:r>
              <a:rPr lang="en-US" sz="2800" i="1" dirty="0">
                <a:highlight>
                  <a:srgbClr val="FFFF00"/>
                </a:highlight>
              </a:rPr>
              <a:t> describe </a:t>
            </a:r>
            <a:r>
              <a:rPr lang="en-US" sz="2800" b="1" i="1" dirty="0">
                <a:highlight>
                  <a:srgbClr val="FFFF00"/>
                </a:highlight>
              </a:rPr>
              <a:t>how an action is done</a:t>
            </a:r>
            <a:r>
              <a:rPr lang="en-US" sz="2800" i="1" dirty="0">
                <a:highlight>
                  <a:srgbClr val="FFFF00"/>
                </a:highlight>
              </a:rPr>
              <a:t>. They usually answer the question </a:t>
            </a:r>
            <a:r>
              <a:rPr lang="en-US" sz="2800" b="1" i="1" dirty="0">
                <a:highlight>
                  <a:srgbClr val="FFFF00"/>
                </a:highlight>
              </a:rPr>
              <a:t>"How?"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en-US" sz="2800" dirty="0"/>
              <a:t>She danced </a:t>
            </a:r>
            <a:r>
              <a:rPr lang="en-US" sz="2800" b="1" dirty="0"/>
              <a:t>beautifully</a:t>
            </a:r>
            <a:r>
              <a:rPr lang="en-US" sz="2800" dirty="0"/>
              <a:t>. (Qanday </a:t>
            </a:r>
            <a:r>
              <a:rPr lang="en-US" sz="2800" dirty="0" err="1"/>
              <a:t>raqs</a:t>
            </a:r>
            <a:r>
              <a:rPr lang="en-US" sz="2800" dirty="0"/>
              <a:t> </a:t>
            </a:r>
            <a:r>
              <a:rPr lang="en-US" sz="2800" dirty="0" err="1"/>
              <a:t>tushdi</a:t>
            </a:r>
            <a:r>
              <a:rPr lang="en-US" sz="2800" dirty="0"/>
              <a:t>? — </a:t>
            </a:r>
            <a:r>
              <a:rPr lang="en-US" sz="2800" dirty="0" err="1"/>
              <a:t>Chiroyli</a:t>
            </a:r>
            <a:r>
              <a:rPr lang="en-US" sz="2800" dirty="0"/>
              <a:t>)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He drives </a:t>
            </a:r>
            <a:r>
              <a:rPr lang="en-US" sz="2800" b="1" dirty="0"/>
              <a:t>carefully</a:t>
            </a:r>
            <a:r>
              <a:rPr lang="en-US" sz="2800" dirty="0"/>
              <a:t>. (Qanday </a:t>
            </a:r>
            <a:r>
              <a:rPr lang="en-US" sz="2800" dirty="0" err="1"/>
              <a:t>haydaydi</a:t>
            </a:r>
            <a:r>
              <a:rPr lang="en-US" sz="2800" dirty="0"/>
              <a:t>? — </a:t>
            </a:r>
            <a:r>
              <a:rPr lang="en-US" sz="2800" dirty="0" err="1"/>
              <a:t>Ehtiyotkorlik</a:t>
            </a:r>
            <a:r>
              <a:rPr lang="en-US" sz="2800" dirty="0"/>
              <a:t> </a:t>
            </a:r>
            <a:r>
              <a:rPr lang="en-US" sz="2800" dirty="0" err="1"/>
              <a:t>bilan</a:t>
            </a:r>
            <a:r>
              <a:rPr lang="en-US" sz="2800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3D2E4F-BFC7-AC77-E1C1-B4507A6C1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384383"/>
              </p:ext>
            </p:extLst>
          </p:nvPr>
        </p:nvGraphicFramePr>
        <p:xfrm>
          <a:off x="511275" y="3429001"/>
          <a:ext cx="11385756" cy="3334891"/>
        </p:xfrm>
        <a:graphic>
          <a:graphicData uri="http://schemas.openxmlformats.org/drawingml/2006/table">
            <a:tbl>
              <a:tblPr/>
              <a:tblGrid>
                <a:gridCol w="5692878">
                  <a:extLst>
                    <a:ext uri="{9D8B030D-6E8A-4147-A177-3AD203B41FA5}">
                      <a16:colId xmlns:a16="http://schemas.microsoft.com/office/drawing/2014/main" val="1357257544"/>
                    </a:ext>
                  </a:extLst>
                </a:gridCol>
                <a:gridCol w="5692878">
                  <a:extLst>
                    <a:ext uri="{9D8B030D-6E8A-4147-A177-3AD203B41FA5}">
                      <a16:colId xmlns:a16="http://schemas.microsoft.com/office/drawing/2014/main" val="3345383650"/>
                    </a:ext>
                  </a:extLst>
                </a:gridCol>
              </a:tblGrid>
              <a:tr h="476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Adjective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531632"/>
                  </a:ext>
                </a:extLst>
              </a:tr>
              <a:tr h="476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beautiful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beautifully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79101"/>
                  </a:ext>
                </a:extLst>
              </a:tr>
              <a:tr h="476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careful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carefully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009174"/>
                  </a:ext>
                </a:extLst>
              </a:tr>
              <a:tr h="476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quiet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quietly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016464"/>
                  </a:ext>
                </a:extLst>
              </a:tr>
              <a:tr h="476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slowly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737915"/>
                  </a:ext>
                </a:extLst>
              </a:tr>
              <a:tr h="476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happy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happily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688656"/>
                  </a:ext>
                </a:extLst>
              </a:tr>
              <a:tr h="476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skillful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skillfully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871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35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AF8E-AD1E-B8D6-A6AC-7A389D94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Basic Position: After the Verb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3D0D4-258C-E087-C96A-C471B2734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60206"/>
            <a:ext cx="11122152" cy="56977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The most common position is </a:t>
            </a:r>
            <a:r>
              <a:rPr lang="en-US" sz="2800" b="1" i="1" dirty="0">
                <a:highlight>
                  <a:srgbClr val="FFFF00"/>
                </a:highlight>
              </a:rPr>
              <a:t>after the verb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Verb + Adverb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Susan smiled </a:t>
            </a:r>
            <a:r>
              <a:rPr lang="en-US" sz="2800" b="1" dirty="0"/>
              <a:t>cheerfully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Sam speaks </a:t>
            </a:r>
            <a:r>
              <a:rPr lang="en-US" sz="2800" b="1" dirty="0"/>
              <a:t>softly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writes </a:t>
            </a:r>
            <a:r>
              <a:rPr lang="en-US" sz="2800" b="1" dirty="0"/>
              <a:t>carelessly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baby slept </a:t>
            </a:r>
            <a:r>
              <a:rPr lang="en-US" sz="2800" b="1" dirty="0"/>
              <a:t>peacefully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Aziz answered </a:t>
            </a:r>
            <a:r>
              <a:rPr lang="en-US" sz="2800" b="1" dirty="0"/>
              <a:t>politely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07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8161-EA78-240D-7952-05DB174B9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After the Object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409D-D5A0-16CB-16AB-AECF957C0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1356852"/>
            <a:ext cx="11670890" cy="550114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If there is an object after the verb, the adverb usually comes after the object.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Verb + Object + Adverb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He gave </a:t>
            </a:r>
            <a:r>
              <a:rPr lang="en-US" sz="2800" u="sng" dirty="0"/>
              <a:t>the money </a:t>
            </a:r>
            <a:r>
              <a:rPr lang="en-US" sz="2800" b="1" dirty="0"/>
              <a:t>reluctantly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speak </a:t>
            </a:r>
            <a:r>
              <a:rPr lang="en-US" sz="2800" u="sng" dirty="0"/>
              <a:t>English</a:t>
            </a:r>
            <a:r>
              <a:rPr lang="en-US" sz="2800" dirty="0"/>
              <a:t> </a:t>
            </a:r>
            <a:r>
              <a:rPr lang="en-US" sz="2800" b="1" dirty="0"/>
              <a:t>well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entered </a:t>
            </a:r>
            <a:r>
              <a:rPr lang="en-US" sz="2800" u="sng" dirty="0"/>
              <a:t>the classroom </a:t>
            </a:r>
            <a:r>
              <a:rPr lang="en-US" sz="2800" b="1" dirty="0"/>
              <a:t>quietly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old man carves </a:t>
            </a:r>
            <a:r>
              <a:rPr lang="en-US" sz="2800" u="sng" dirty="0"/>
              <a:t>wooden figures </a:t>
            </a:r>
            <a:r>
              <a:rPr lang="en-US" sz="2800" b="1" dirty="0"/>
              <a:t>skillfully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Dilshod completed </a:t>
            </a:r>
            <a:r>
              <a:rPr lang="en-US" sz="2800" u="sng" dirty="0"/>
              <a:t>the task </a:t>
            </a:r>
            <a:r>
              <a:rPr lang="en-US" sz="2800" b="1" dirty="0"/>
              <a:t>quickly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7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FE0B-FDD1-1386-AEA0-98709805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6188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Verb + Preposition + Object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4FB0-1846-C2D9-8FFE-25D62DBA0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061884"/>
            <a:ext cx="11720052" cy="57961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When we have -</a:t>
            </a:r>
            <a:r>
              <a:rPr lang="en-US" sz="2800" b="1" i="1" dirty="0">
                <a:highlight>
                  <a:srgbClr val="FFFF00"/>
                </a:highlight>
              </a:rPr>
              <a:t> Verb + Preposition + Object - </a:t>
            </a:r>
            <a:r>
              <a:rPr lang="en-US" sz="2800" i="1" dirty="0">
                <a:highlight>
                  <a:srgbClr val="FFFF00"/>
                </a:highlight>
              </a:rPr>
              <a:t>the adverb can be in two positions.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Position 1: </a:t>
            </a:r>
            <a:r>
              <a:rPr lang="en-US" sz="2800" b="1" dirty="0">
                <a:solidFill>
                  <a:srgbClr val="00B0F0"/>
                </a:solidFill>
              </a:rPr>
              <a:t>Verb + Preposition + Object + Adverb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He looked at </a:t>
            </a:r>
            <a:r>
              <a:rPr lang="en-US" sz="2800" u="sng" dirty="0"/>
              <a:t>me</a:t>
            </a:r>
            <a:r>
              <a:rPr lang="en-US" sz="2800" dirty="0"/>
              <a:t> </a:t>
            </a:r>
            <a:r>
              <a:rPr lang="en-US" sz="2800" b="1" dirty="0"/>
              <a:t>suspiciously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John listened to </a:t>
            </a:r>
            <a:r>
              <a:rPr lang="en-US" sz="2800" u="sng" dirty="0"/>
              <a:t>him</a:t>
            </a:r>
            <a:r>
              <a:rPr lang="en-US" sz="2800" dirty="0"/>
              <a:t> </a:t>
            </a:r>
            <a:r>
              <a:rPr lang="en-US" sz="2800" b="1" dirty="0"/>
              <a:t>attentively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Position 2: </a:t>
            </a:r>
            <a:r>
              <a:rPr lang="en-US" sz="2800" b="1" dirty="0">
                <a:solidFill>
                  <a:srgbClr val="00B0F0"/>
                </a:solidFill>
              </a:rPr>
              <a:t>Verb + Adverb + Preposition + Object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He looked </a:t>
            </a:r>
            <a:r>
              <a:rPr lang="en-US" sz="2800" b="1" dirty="0"/>
              <a:t>suspiciously</a:t>
            </a:r>
            <a:r>
              <a:rPr lang="en-US" sz="2800" dirty="0"/>
              <a:t> at </a:t>
            </a:r>
            <a:r>
              <a:rPr lang="en-US" sz="2800" u="sng" dirty="0"/>
              <a:t>me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John listened </a:t>
            </a:r>
            <a:r>
              <a:rPr lang="en-US" sz="2800" b="1" dirty="0"/>
              <a:t>attentively</a:t>
            </a:r>
            <a:r>
              <a:rPr lang="en-US" sz="2800" dirty="0"/>
              <a:t> to </a:t>
            </a:r>
            <a:r>
              <a:rPr lang="en-US" sz="2800" u="sng" dirty="0"/>
              <a:t>him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Both are correct.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7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C886-97C8-8FCB-EFE9-C052021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89703"/>
          </a:xfrm>
        </p:spPr>
        <p:txBody>
          <a:bodyPr/>
          <a:lstStyle/>
          <a:p>
            <a:pPr algn="ctr"/>
            <a:r>
              <a:rPr lang="en-US" b="1" dirty="0"/>
              <a:t>Long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94B1-6515-927D-252A-CC972C774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" y="1189703"/>
            <a:ext cx="11503742" cy="566829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If the object is long (contains a clause or another verb), put the adverb before the preposition.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Verb + Adverb + </a:t>
            </a:r>
            <a:r>
              <a:rPr lang="en-US" sz="2800" b="1" u="sng" dirty="0">
                <a:solidFill>
                  <a:srgbClr val="00B0F0"/>
                </a:solidFill>
              </a:rPr>
              <a:t>Long Object</a:t>
            </a:r>
            <a:endParaRPr lang="en-US" sz="2800" u="sng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He looked </a:t>
            </a:r>
            <a:r>
              <a:rPr lang="en-US" sz="2800" b="1" dirty="0"/>
              <a:t>suspiciously</a:t>
            </a:r>
            <a:r>
              <a:rPr lang="en-US" sz="2800" dirty="0"/>
              <a:t> at </a:t>
            </a:r>
            <a:r>
              <a:rPr lang="en-US" sz="2800" u="sng" dirty="0"/>
              <a:t>everyone who got off the plane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John listened </a:t>
            </a:r>
            <a:r>
              <a:rPr lang="en-US" sz="2800" b="1" dirty="0"/>
              <a:t>attentively</a:t>
            </a:r>
            <a:r>
              <a:rPr lang="en-US" sz="2800" dirty="0"/>
              <a:t> to </a:t>
            </a:r>
            <a:r>
              <a:rPr lang="en-US" sz="2800" u="sng" dirty="0"/>
              <a:t>every word his teacher told him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Nigora listened </a:t>
            </a:r>
            <a:r>
              <a:rPr lang="en-US" sz="2800" b="1" dirty="0"/>
              <a:t>carefully</a:t>
            </a:r>
            <a:r>
              <a:rPr lang="en-US" sz="2800" dirty="0"/>
              <a:t> to </a:t>
            </a:r>
            <a:r>
              <a:rPr lang="en-US" sz="2800" u="sng" dirty="0"/>
              <a:t>everything the professor explained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Not Natural: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He looked at </a:t>
            </a:r>
            <a:r>
              <a:rPr lang="en-US" sz="2800" u="sng" dirty="0"/>
              <a:t>everyone who got off the plane </a:t>
            </a:r>
            <a:r>
              <a:rPr lang="en-US" sz="2800" dirty="0"/>
              <a:t>suspiciously.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8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684B-350C-81A4-086B-53055612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0"/>
            <a:ext cx="11680723" cy="103238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Long Objects in Verb + Object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9296-9D9E-6098-CCD0-BD72DE5B2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53729"/>
            <a:ext cx="11122152" cy="59042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Short Object - </a:t>
            </a:r>
            <a:r>
              <a:rPr lang="en-US" sz="2800" i="1" dirty="0">
                <a:highlight>
                  <a:srgbClr val="FFFF00"/>
                </a:highlight>
              </a:rPr>
              <a:t>Adverb comes after the object.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picked up </a:t>
            </a:r>
            <a:r>
              <a:rPr lang="en-US" sz="2800" u="sng" dirty="0"/>
              <a:t>the glass </a:t>
            </a:r>
            <a:r>
              <a:rPr lang="en-US" sz="2800" b="1" dirty="0"/>
              <a:t>carefully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opened </a:t>
            </a:r>
            <a:r>
              <a:rPr lang="en-US" sz="2800" u="sng" dirty="0"/>
              <a:t>the door </a:t>
            </a:r>
            <a:r>
              <a:rPr lang="en-US" sz="2800" b="1" dirty="0"/>
              <a:t>slowly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Long Object - </a:t>
            </a:r>
            <a:r>
              <a:rPr lang="en-US" sz="2800" i="1" dirty="0">
                <a:highlight>
                  <a:srgbClr val="FFFF00"/>
                </a:highlight>
              </a:rPr>
              <a:t>Adverb comes before the verb.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carefully</a:t>
            </a:r>
            <a:r>
              <a:rPr lang="en-US" sz="2800" dirty="0"/>
              <a:t> picked up </a:t>
            </a:r>
            <a:r>
              <a:rPr lang="en-US" sz="2800" u="sng" dirty="0"/>
              <a:t>all the bits of broken glass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angrily</a:t>
            </a:r>
            <a:r>
              <a:rPr lang="en-US" sz="2800" dirty="0"/>
              <a:t> denied </a:t>
            </a:r>
            <a:r>
              <a:rPr lang="en-US" sz="2800" u="sng" dirty="0"/>
              <a:t>that he had stolen the documents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</a:t>
            </a:r>
            <a:r>
              <a:rPr lang="en-US" sz="2800" b="1" dirty="0"/>
              <a:t>secretly</a:t>
            </a:r>
            <a:r>
              <a:rPr lang="en-US" sz="2800" dirty="0"/>
              <a:t> decided to leave the town.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984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EF392-3D53-BEE9-C30D-90CAA8D8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0"/>
            <a:ext cx="10972800" cy="111104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Meaning Changes Depending on Position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B243C-723D-44E6-A2ED-234549ACC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1111045"/>
            <a:ext cx="11670890" cy="574695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He </a:t>
            </a:r>
            <a:r>
              <a:rPr lang="en-US" sz="2800" b="1" dirty="0">
                <a:solidFill>
                  <a:srgbClr val="0070C0"/>
                </a:solidFill>
              </a:rPr>
              <a:t>angrily</a:t>
            </a:r>
            <a:r>
              <a:rPr lang="en-US" sz="2800" dirty="0">
                <a:solidFill>
                  <a:srgbClr val="0070C0"/>
                </a:solidFill>
              </a:rPr>
              <a:t> denied </a:t>
            </a:r>
            <a:r>
              <a:rPr lang="en-US" sz="2800" u="sng" dirty="0">
                <a:solidFill>
                  <a:srgbClr val="0070C0"/>
                </a:solidFill>
              </a:rPr>
              <a:t>that he had stolen the documents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Meaning: (</a:t>
            </a:r>
            <a:r>
              <a:rPr lang="en-US" sz="2600" dirty="0" err="1"/>
              <a:t>Uning</a:t>
            </a:r>
            <a:r>
              <a:rPr lang="en-US" sz="2600" dirty="0"/>
              <a:t> </a:t>
            </a:r>
            <a:r>
              <a:rPr lang="en-US" sz="2600" dirty="0" err="1"/>
              <a:t>inkori</a:t>
            </a:r>
            <a:r>
              <a:rPr lang="en-US" sz="2600" dirty="0"/>
              <a:t> </a:t>
            </a:r>
            <a:r>
              <a:rPr lang="en-US" sz="2600" dirty="0" err="1"/>
              <a:t>jahldor</a:t>
            </a:r>
            <a:r>
              <a:rPr lang="en-US" sz="2600" dirty="0"/>
              <a:t> </a:t>
            </a:r>
            <a:r>
              <a:rPr lang="en-US" sz="2600" dirty="0" err="1"/>
              <a:t>edi</a:t>
            </a:r>
            <a:r>
              <a:rPr lang="en-US" sz="26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He denied </a:t>
            </a:r>
            <a:r>
              <a:rPr lang="en-US" sz="2800" u="sng" dirty="0">
                <a:solidFill>
                  <a:srgbClr val="0070C0"/>
                </a:solidFill>
              </a:rPr>
              <a:t>that he had stolen the documents </a:t>
            </a:r>
            <a:r>
              <a:rPr lang="en-US" sz="2800" b="1" dirty="0">
                <a:solidFill>
                  <a:srgbClr val="0070C0"/>
                </a:solidFill>
              </a:rPr>
              <a:t>angrily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Meaning: (U </a:t>
            </a:r>
            <a:r>
              <a:rPr lang="en-US" sz="2600" dirty="0" err="1"/>
              <a:t>o‘g‘irlikni</a:t>
            </a:r>
            <a:r>
              <a:rPr lang="en-US" sz="2600" dirty="0"/>
              <a:t> </a:t>
            </a:r>
            <a:r>
              <a:rPr lang="en-US" sz="2600" dirty="0" err="1"/>
              <a:t>jahldor</a:t>
            </a:r>
            <a:r>
              <a:rPr lang="en-US" sz="2600" dirty="0"/>
              <a:t> </a:t>
            </a:r>
            <a:r>
              <a:rPr lang="en-US" sz="2600" dirty="0" err="1"/>
              <a:t>tarzda</a:t>
            </a:r>
            <a:r>
              <a:rPr lang="en-US" sz="2600" dirty="0"/>
              <a:t> </a:t>
            </a:r>
            <a:r>
              <a:rPr lang="en-US" sz="2600" dirty="0" err="1"/>
              <a:t>qilganini</a:t>
            </a:r>
            <a:r>
              <a:rPr lang="en-US" sz="2600" dirty="0"/>
              <a:t> </a:t>
            </a:r>
            <a:r>
              <a:rPr lang="en-US" sz="2600" dirty="0" err="1"/>
              <a:t>inkor</a:t>
            </a:r>
            <a:r>
              <a:rPr lang="en-US" sz="2600" dirty="0"/>
              <a:t> </a:t>
            </a:r>
            <a:r>
              <a:rPr lang="en-US" sz="2600" dirty="0" err="1"/>
              <a:t>qildi</a:t>
            </a:r>
            <a:r>
              <a:rPr lang="en-US" sz="26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They </a:t>
            </a:r>
            <a:r>
              <a:rPr lang="en-US" sz="2800" b="1" dirty="0">
                <a:solidFill>
                  <a:srgbClr val="0070C0"/>
                </a:solidFill>
              </a:rPr>
              <a:t>secretly</a:t>
            </a:r>
            <a:r>
              <a:rPr lang="en-US" sz="2800" dirty="0">
                <a:solidFill>
                  <a:srgbClr val="0070C0"/>
                </a:solidFill>
              </a:rPr>
              <a:t> decided </a:t>
            </a:r>
            <a:r>
              <a:rPr lang="en-US" sz="2800" u="sng" dirty="0">
                <a:solidFill>
                  <a:srgbClr val="0070C0"/>
                </a:solidFill>
              </a:rPr>
              <a:t>to leave the town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Meaning: (Ular </a:t>
            </a:r>
            <a:r>
              <a:rPr lang="en-US" sz="2600" dirty="0" err="1"/>
              <a:t>yashirincha</a:t>
            </a:r>
            <a:r>
              <a:rPr lang="en-US" sz="2600" dirty="0"/>
              <a:t> </a:t>
            </a:r>
            <a:r>
              <a:rPr lang="en-US" sz="2600" dirty="0" err="1"/>
              <a:t>qaror</a:t>
            </a:r>
            <a:r>
              <a:rPr lang="en-US" sz="2600" dirty="0"/>
              <a:t> </a:t>
            </a:r>
            <a:r>
              <a:rPr lang="en-US" sz="2600" dirty="0" err="1"/>
              <a:t>qilishdi</a:t>
            </a:r>
            <a:r>
              <a:rPr lang="en-US" sz="2600" dirty="0"/>
              <a:t>.)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</a:rPr>
              <a:t>They decided </a:t>
            </a:r>
            <a:r>
              <a:rPr lang="en-US" sz="2600" u="sng" dirty="0">
                <a:solidFill>
                  <a:srgbClr val="0070C0"/>
                </a:solidFill>
              </a:rPr>
              <a:t>to leave the town </a:t>
            </a:r>
            <a:r>
              <a:rPr lang="en-US" sz="2600" b="1" dirty="0">
                <a:solidFill>
                  <a:srgbClr val="0070C0"/>
                </a:solidFill>
              </a:rPr>
              <a:t>secretly</a:t>
            </a:r>
            <a:r>
              <a:rPr lang="en-US" sz="2600" dirty="0">
                <a:solidFill>
                  <a:srgbClr val="0070C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Meaning: (Ular </a:t>
            </a:r>
            <a:r>
              <a:rPr lang="en-US" sz="2800" dirty="0" err="1"/>
              <a:t>shahardan</a:t>
            </a:r>
            <a:r>
              <a:rPr lang="en-US" sz="2800" dirty="0"/>
              <a:t> </a:t>
            </a:r>
            <a:r>
              <a:rPr lang="en-US" sz="2800" dirty="0" err="1"/>
              <a:t>yashirincha</a:t>
            </a:r>
            <a:r>
              <a:rPr lang="en-US" sz="2800" dirty="0"/>
              <a:t> </a:t>
            </a:r>
            <a:r>
              <a:rPr lang="en-US" sz="2800" dirty="0" err="1"/>
              <a:t>ketishga</a:t>
            </a:r>
            <a:r>
              <a:rPr lang="en-US" sz="2800" dirty="0"/>
              <a:t> </a:t>
            </a:r>
            <a:r>
              <a:rPr lang="en-US" sz="2800" dirty="0" err="1"/>
              <a:t>qaror</a:t>
            </a:r>
            <a:r>
              <a:rPr lang="en-US" sz="2800" dirty="0"/>
              <a:t> </a:t>
            </a:r>
            <a:r>
              <a:rPr lang="en-US" sz="2800" dirty="0" err="1"/>
              <a:t>qilishdi</a:t>
            </a:r>
            <a:r>
              <a:rPr lang="en-US" sz="2800" dirty="0"/>
              <a:t>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2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2F07-D208-C76D-C518-E1CD8E16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0"/>
            <a:ext cx="11139947" cy="983226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Character and Intelligence Adverbs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1C86F-AB47-2676-44C7-7C6AC43D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83226"/>
            <a:ext cx="10640370" cy="5874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Some adverbs describe whether the action itself was wise, foolish, kind, generous, etc.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Foolishly  |  kindly  |  generously  |  sensibly  |  stupidly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carelessly  |  bravely  |  selfishly  |  cruelly  |  unreasonably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 foolishly forgot my passport. </a:t>
            </a:r>
            <a:r>
              <a:rPr lang="en-US" sz="2800" dirty="0"/>
              <a:t>(</a:t>
            </a:r>
            <a:r>
              <a:rPr lang="en-US" sz="2800" dirty="0" err="1"/>
              <a:t>O‘zimni</a:t>
            </a:r>
            <a:r>
              <a:rPr lang="en-US" sz="2800" dirty="0"/>
              <a:t> </a:t>
            </a:r>
            <a:r>
              <a:rPr lang="en-US" sz="2800" dirty="0" err="1"/>
              <a:t>ahmoqona</a:t>
            </a:r>
            <a:r>
              <a:rPr lang="en-US" sz="2800" dirty="0"/>
              <a:t> </a:t>
            </a:r>
            <a:r>
              <a:rPr lang="en-US" sz="2800" dirty="0" err="1"/>
              <a:t>tutib</a:t>
            </a:r>
            <a:r>
              <a:rPr lang="en-US" sz="2800" dirty="0"/>
              <a:t> </a:t>
            </a:r>
            <a:r>
              <a:rPr lang="en-US" sz="2800" dirty="0" err="1"/>
              <a:t>pasportimni</a:t>
            </a:r>
            <a:r>
              <a:rPr lang="en-US" sz="2800" dirty="0"/>
              <a:t> </a:t>
            </a:r>
            <a:r>
              <a:rPr lang="en-US" sz="2800" dirty="0" err="1"/>
              <a:t>unutdim</a:t>
            </a:r>
            <a:r>
              <a:rPr lang="en-US" sz="28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He generously paid for all of us. </a:t>
            </a:r>
            <a:r>
              <a:rPr lang="en-US" sz="2800" dirty="0"/>
              <a:t>(U </a:t>
            </a:r>
            <a:r>
              <a:rPr lang="en-US" sz="2800" dirty="0" err="1"/>
              <a:t>hammamiz</a:t>
            </a:r>
            <a:r>
              <a:rPr lang="en-US" sz="2800" dirty="0"/>
              <a:t> </a:t>
            </a:r>
            <a:r>
              <a:rPr lang="en-US" sz="2800" dirty="0" err="1"/>
              <a:t>uchun</a:t>
            </a:r>
            <a:r>
              <a:rPr lang="en-US" sz="2800" dirty="0"/>
              <a:t> </a:t>
            </a:r>
            <a:r>
              <a:rPr lang="en-US" sz="2800" dirty="0" err="1"/>
              <a:t>saxiylik</a:t>
            </a:r>
            <a:r>
              <a:rPr lang="en-US" sz="2800" dirty="0"/>
              <a:t> </a:t>
            </a:r>
            <a:r>
              <a:rPr lang="en-US" sz="2800" dirty="0" err="1"/>
              <a:t>bilan</a:t>
            </a:r>
            <a:r>
              <a:rPr lang="en-US" sz="2800" dirty="0"/>
              <a:t> </a:t>
            </a:r>
            <a:r>
              <a:rPr lang="en-US" sz="2800" dirty="0" err="1"/>
              <a:t>to‘ladi</a:t>
            </a:r>
            <a:r>
              <a:rPr lang="en-US" sz="2800" dirty="0"/>
              <a:t>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9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E73F-5F16-EFC0-C24A-145D0487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012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Equivalent "It was ... of somebody ..." Structure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06BD-B646-031C-B93B-98BDA7C72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22555"/>
            <a:ext cx="12673780" cy="583544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These sentences can often be rewritten.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 foolishly forgot my passport. = </a:t>
            </a:r>
            <a:r>
              <a:rPr lang="en-US" sz="2800" b="1" dirty="0"/>
              <a:t>It was foolish of me </a:t>
            </a:r>
            <a:r>
              <a:rPr lang="en-US" sz="2800" dirty="0"/>
              <a:t>to forget my passport.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He </a:t>
            </a:r>
            <a:r>
              <a:rPr lang="en-US" sz="2800" b="1" dirty="0"/>
              <a:t>kindly</a:t>
            </a:r>
            <a:r>
              <a:rPr lang="en-US" sz="2800" dirty="0"/>
              <a:t> waited for me. = </a:t>
            </a:r>
            <a:r>
              <a:rPr lang="en-US" sz="2800" b="1" dirty="0"/>
              <a:t>It was kind of him </a:t>
            </a:r>
            <a:r>
              <a:rPr lang="en-US" sz="2800" dirty="0"/>
              <a:t>to wait for me.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She </a:t>
            </a:r>
            <a:r>
              <a:rPr lang="en-US" sz="2800" b="1" dirty="0"/>
              <a:t>generously</a:t>
            </a:r>
            <a:r>
              <a:rPr lang="en-US" sz="2800" dirty="0"/>
              <a:t> helped us. = </a:t>
            </a:r>
            <a:r>
              <a:rPr lang="en-US" sz="2800" b="1" dirty="0"/>
              <a:t>It was generous of </a:t>
            </a:r>
            <a:r>
              <a:rPr lang="en-US" sz="2800" dirty="0"/>
              <a:t>her to help 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54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AFB9-CA59-AAB3-7CC6-58342140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1341"/>
            <a:ext cx="10058400" cy="132450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End Position Changes Meaning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FF1E2-23BD-9DBB-3917-DD3F3DB2F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1032387"/>
            <a:ext cx="12064181" cy="58256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He spoke </a:t>
            </a:r>
            <a:r>
              <a:rPr lang="en-US" sz="2800" b="1" dirty="0"/>
              <a:t>kindly. </a:t>
            </a:r>
            <a:r>
              <a:rPr lang="en-US" sz="2800" dirty="0"/>
              <a:t>(U </a:t>
            </a:r>
            <a:r>
              <a:rPr lang="en-US" sz="2800" dirty="0" err="1"/>
              <a:t>mehribon</a:t>
            </a:r>
            <a:r>
              <a:rPr lang="en-US" sz="2800" dirty="0"/>
              <a:t> </a:t>
            </a:r>
            <a:r>
              <a:rPr lang="en-US" sz="2800" dirty="0" err="1"/>
              <a:t>ohangda</a:t>
            </a:r>
            <a:r>
              <a:rPr lang="en-US" sz="2800" dirty="0"/>
              <a:t> </a:t>
            </a:r>
            <a:r>
              <a:rPr lang="en-US" sz="2800" dirty="0" err="1"/>
              <a:t>gapirdi</a:t>
            </a:r>
            <a:r>
              <a:rPr lang="en-US" sz="28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kindly</a:t>
            </a:r>
            <a:r>
              <a:rPr lang="en-US" sz="2800" dirty="0"/>
              <a:t> spoke to 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(</a:t>
            </a:r>
            <a:r>
              <a:rPr lang="en-US" sz="2800" dirty="0" err="1"/>
              <a:t>Uning</a:t>
            </a:r>
            <a:r>
              <a:rPr lang="en-US" sz="2800" dirty="0"/>
              <a:t> men </a:t>
            </a:r>
            <a:r>
              <a:rPr lang="en-US" sz="2800" dirty="0" err="1"/>
              <a:t>bilan</a:t>
            </a:r>
            <a:r>
              <a:rPr lang="en-US" sz="2800" dirty="0"/>
              <a:t> </a:t>
            </a:r>
            <a:r>
              <a:rPr lang="en-US" sz="2800" dirty="0" err="1"/>
              <a:t>gaplashishi</a:t>
            </a:r>
            <a:r>
              <a:rPr lang="en-US" sz="2800" dirty="0"/>
              <a:t> </a:t>
            </a:r>
            <a:r>
              <a:rPr lang="en-US" sz="2800" dirty="0" err="1"/>
              <a:t>mehribonlik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answered the questions </a:t>
            </a:r>
            <a:r>
              <a:rPr lang="en-US" sz="2800" b="1" dirty="0"/>
              <a:t>foolishly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(</a:t>
            </a:r>
            <a:r>
              <a:rPr lang="en-US" sz="2800" dirty="0" err="1"/>
              <a:t>Uning</a:t>
            </a:r>
            <a:r>
              <a:rPr lang="en-US" sz="2800" dirty="0"/>
              <a:t> </a:t>
            </a:r>
            <a:r>
              <a:rPr lang="en-US" sz="2800" dirty="0" err="1"/>
              <a:t>javoblari</a:t>
            </a:r>
            <a:r>
              <a:rPr lang="en-US" sz="2800" dirty="0"/>
              <a:t> </a:t>
            </a:r>
            <a:r>
              <a:rPr lang="en-US" sz="2800" dirty="0" err="1"/>
              <a:t>ahmoqona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foolishly</a:t>
            </a:r>
            <a:r>
              <a:rPr lang="en-US" sz="2800" dirty="0"/>
              <a:t> answered the questions.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(</a:t>
            </a:r>
            <a:r>
              <a:rPr lang="en-US" sz="2800" dirty="0" err="1"/>
              <a:t>Savollarga</a:t>
            </a:r>
            <a:r>
              <a:rPr lang="en-US" sz="2800" dirty="0"/>
              <a:t> </a:t>
            </a:r>
            <a:r>
              <a:rPr lang="en-US" sz="2800" dirty="0" err="1"/>
              <a:t>javob</a:t>
            </a:r>
            <a:r>
              <a:rPr lang="en-US" sz="2800" dirty="0"/>
              <a:t> </a:t>
            </a:r>
            <a:r>
              <a:rPr lang="en-US" sz="2800" dirty="0" err="1"/>
              <a:t>berishning</a:t>
            </a:r>
            <a:r>
              <a:rPr lang="en-US" sz="2800" dirty="0"/>
              <a:t> </a:t>
            </a:r>
            <a:r>
              <a:rPr lang="en-US" sz="2800" dirty="0" err="1"/>
              <a:t>o‘zi</a:t>
            </a:r>
            <a:r>
              <a:rPr lang="en-US" sz="2800" dirty="0"/>
              <a:t> </a:t>
            </a:r>
            <a:r>
              <a:rPr lang="en-US" sz="2800" dirty="0" err="1"/>
              <a:t>ahmoqona</a:t>
            </a:r>
            <a:r>
              <a:rPr lang="en-US" sz="2800" dirty="0"/>
              <a:t> </a:t>
            </a:r>
            <a:r>
              <a:rPr lang="en-US" sz="2800" dirty="0" err="1"/>
              <a:t>ish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04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BA5F-5667-8A38-A9B6-8D1B1B39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0"/>
            <a:ext cx="10058400" cy="107171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02A20C-DB82-D59D-5025-938C47590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838995"/>
              </p:ext>
            </p:extLst>
          </p:nvPr>
        </p:nvGraphicFramePr>
        <p:xfrm>
          <a:off x="0" y="943897"/>
          <a:ext cx="12192000" cy="604404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1060776959"/>
                    </a:ext>
                  </a:extLst>
                </a:gridCol>
                <a:gridCol w="4935794">
                  <a:extLst>
                    <a:ext uri="{9D8B030D-6E8A-4147-A177-3AD203B41FA5}">
                      <a16:colId xmlns:a16="http://schemas.microsoft.com/office/drawing/2014/main" val="1605741577"/>
                    </a:ext>
                  </a:extLst>
                </a:gridCol>
                <a:gridCol w="3293806">
                  <a:extLst>
                    <a:ext uri="{9D8B030D-6E8A-4147-A177-3AD203B41FA5}">
                      <a16:colId xmlns:a16="http://schemas.microsoft.com/office/drawing/2014/main" val="1689164810"/>
                    </a:ext>
                  </a:extLst>
                </a:gridCol>
              </a:tblGrid>
              <a:tr h="69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737276"/>
                  </a:ext>
                </a:extLst>
              </a:tr>
              <a:tr h="69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After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She smiled </a:t>
                      </a:r>
                      <a:r>
                        <a:rPr lang="en-US" sz="2400" b="1" dirty="0"/>
                        <a:t>happily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How she smiled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158047"/>
                  </a:ext>
                </a:extLst>
              </a:tr>
              <a:tr h="69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After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He finished the work </a:t>
                      </a:r>
                      <a:r>
                        <a:rPr lang="en-US" sz="2400" b="1" dirty="0"/>
                        <a:t>quickly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How he finished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66610"/>
                  </a:ext>
                </a:extLst>
              </a:tr>
              <a:tr h="69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Before preposition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He looked </a:t>
                      </a:r>
                      <a:r>
                        <a:rPr lang="en-US" sz="2400" b="1" dirty="0"/>
                        <a:t>suspiciously</a:t>
                      </a:r>
                      <a:r>
                        <a:rPr lang="en-US" sz="2400" dirty="0"/>
                        <a:t> at 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How he looked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371070"/>
                  </a:ext>
                </a:extLst>
              </a:tr>
              <a:tr h="751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Before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He </a:t>
                      </a:r>
                      <a:r>
                        <a:rPr lang="en-US" sz="2400" b="1" dirty="0"/>
                        <a:t>angrily</a:t>
                      </a:r>
                      <a:r>
                        <a:rPr lang="en-US" sz="2400" dirty="0"/>
                        <a:t> denied the accusation.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Anger describes denial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28121"/>
                  </a:ext>
                </a:extLst>
              </a:tr>
              <a:tr h="76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End of sentence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He denied the accusation </a:t>
                      </a:r>
                      <a:r>
                        <a:rPr lang="en-US" sz="2400" b="1" dirty="0"/>
                        <a:t>angrily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May change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295176"/>
                  </a:ext>
                </a:extLst>
              </a:tr>
              <a:tr h="69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Character adverb before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He </a:t>
                      </a:r>
                      <a:r>
                        <a:rPr lang="en-US" sz="2400" b="1" dirty="0"/>
                        <a:t>foolishly</a:t>
                      </a:r>
                      <a:r>
                        <a:rPr lang="en-US" sz="2400" dirty="0"/>
                        <a:t> forgot his keys.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The action was foolish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8880"/>
                  </a:ext>
                </a:extLst>
              </a:tr>
              <a:tr h="936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Character adverb after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He spoke </a:t>
                      </a:r>
                      <a:r>
                        <a:rPr lang="en-US" sz="2400" b="1" dirty="0"/>
                        <a:t>foolishly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The speech was foolish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69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937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91</TotalTime>
  <Words>748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Wingdings</vt:lpstr>
      <vt:lpstr>Wood Type</vt:lpstr>
      <vt:lpstr>Adverbs of Manner</vt:lpstr>
      <vt:lpstr>Adverbs of Manner (How?)</vt:lpstr>
      <vt:lpstr>Basic Position: After the Verb</vt:lpstr>
      <vt:lpstr>After the Object</vt:lpstr>
      <vt:lpstr>Verb + Preposition + Object</vt:lpstr>
      <vt:lpstr>Long Objects</vt:lpstr>
      <vt:lpstr>Long Objects in Verb + Object Structures</vt:lpstr>
      <vt:lpstr>Meaning Changes Depending on Position</vt:lpstr>
      <vt:lpstr>Character and Intelligence Adverbs</vt:lpstr>
      <vt:lpstr>Equivalent "It was ... of somebody ..." Structure</vt:lpstr>
      <vt:lpstr>End Position Changes Meaning </vt:lpstr>
      <vt:lpstr>Summary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11</cp:revision>
  <dcterms:created xsi:type="dcterms:W3CDTF">2026-06-09T04:17:55Z</dcterms:created>
  <dcterms:modified xsi:type="dcterms:W3CDTF">2026-06-09T05:49:22Z</dcterms:modified>
</cp:coreProperties>
</file>