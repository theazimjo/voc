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4" r:id="rId3"/>
    <p:sldId id="257" r:id="rId4"/>
    <p:sldId id="272" r:id="rId5"/>
    <p:sldId id="259" r:id="rId6"/>
    <p:sldId id="258" r:id="rId7"/>
    <p:sldId id="260" r:id="rId8"/>
    <p:sldId id="288" r:id="rId9"/>
    <p:sldId id="287" r:id="rId10"/>
    <p:sldId id="290" r:id="rId11"/>
    <p:sldId id="289" r:id="rId12"/>
    <p:sldId id="292" r:id="rId13"/>
    <p:sldId id="291" r:id="rId14"/>
    <p:sldId id="293" r:id="rId15"/>
    <p:sldId id="294" r:id="rId16"/>
    <p:sldId id="262" r:id="rId17"/>
    <p:sldId id="263" r:id="rId18"/>
    <p:sldId id="295" r:id="rId19"/>
    <p:sldId id="296" r:id="rId20"/>
    <p:sldId id="298" r:id="rId21"/>
    <p:sldId id="297" r:id="rId22"/>
    <p:sldId id="264" r:id="rId23"/>
    <p:sldId id="265" r:id="rId24"/>
    <p:sldId id="266" r:id="rId25"/>
    <p:sldId id="268" r:id="rId26"/>
    <p:sldId id="269" r:id="rId27"/>
    <p:sldId id="267" r:id="rId28"/>
    <p:sldId id="275" r:id="rId29"/>
    <p:sldId id="286" r:id="rId30"/>
    <p:sldId id="276" r:id="rId31"/>
    <p:sldId id="282" r:id="rId32"/>
    <p:sldId id="277" r:id="rId33"/>
    <p:sldId id="283" r:id="rId34"/>
    <p:sldId id="278" r:id="rId35"/>
    <p:sldId id="281" r:id="rId36"/>
    <p:sldId id="279" r:id="rId37"/>
    <p:sldId id="280" r:id="rId38"/>
    <p:sldId id="284" r:id="rId39"/>
    <p:sldId id="285" r:id="rId40"/>
    <p:sldId id="27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39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4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16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0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16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1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4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12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80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6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3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80D32C1-B6CA-4FAE-8E09-5DD6055D3B2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3B4C5C65-0D86-4AA8-9E7E-5EA07D5D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7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EED2-8884-B672-0B60-2C0E3E81CE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1500" b="1" dirty="0">
                <a:solidFill>
                  <a:srgbClr val="FF0000"/>
                </a:solidFill>
              </a:rPr>
              <a:t>INVERSION</a:t>
            </a:r>
            <a:endParaRPr lang="en-US" sz="115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127D6-B8A2-6C6A-D9C7-F42555958D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 err="1"/>
              <a:t>Teskari</a:t>
            </a:r>
            <a:r>
              <a:rPr lang="en-US" sz="2800" b="1" dirty="0"/>
              <a:t> </a:t>
            </a:r>
            <a:r>
              <a:rPr lang="en-US" sz="2800" b="1" dirty="0" err="1"/>
              <a:t>So‘z</a:t>
            </a:r>
            <a:r>
              <a:rPr lang="en-US" sz="2800" b="1" dirty="0"/>
              <a:t> </a:t>
            </a:r>
            <a:r>
              <a:rPr lang="en-US" sz="2800" b="1" dirty="0" err="1"/>
              <a:t>Tartibi</a:t>
            </a:r>
            <a:r>
              <a:rPr lang="en-US" sz="2800" b="1" dirty="0"/>
              <a:t> — Inversion</a:t>
            </a:r>
            <a:r>
              <a:rPr lang="en-US" sz="2800" dirty="0"/>
              <a:t> — </a:t>
            </a:r>
            <a:r>
              <a:rPr lang="en-US" sz="2800" dirty="0" err="1"/>
              <a:t>bu</a:t>
            </a:r>
            <a:r>
              <a:rPr lang="en-US" sz="2800" dirty="0"/>
              <a:t> </a:t>
            </a:r>
            <a:r>
              <a:rPr lang="en-US" sz="2800" dirty="0" err="1"/>
              <a:t>gapda</a:t>
            </a:r>
            <a:r>
              <a:rPr lang="en-US" sz="2800" dirty="0"/>
              <a:t> </a:t>
            </a:r>
            <a:r>
              <a:rPr lang="en-US" sz="2800" dirty="0" err="1"/>
              <a:t>odatdagi</a:t>
            </a:r>
            <a:r>
              <a:rPr lang="en-US" sz="2800" dirty="0"/>
              <a:t> </a:t>
            </a:r>
            <a:r>
              <a:rPr lang="en-US" sz="2800" dirty="0" err="1"/>
              <a:t>so‘z</a:t>
            </a:r>
            <a:r>
              <a:rPr lang="en-US" sz="2800" dirty="0"/>
              <a:t> </a:t>
            </a:r>
            <a:r>
              <a:rPr lang="en-US" sz="2800" dirty="0" err="1"/>
              <a:t>tartibining</a:t>
            </a:r>
            <a:r>
              <a:rPr lang="en-US" sz="2800" dirty="0"/>
              <a:t> </a:t>
            </a:r>
            <a:r>
              <a:rPr lang="en-US" sz="2800" dirty="0" err="1"/>
              <a:t>o‘zgarishi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70507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0B37-E74C-A06A-1D57-840554BD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0371"/>
            <a:ext cx="10058400" cy="160934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How to invert?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B6553-EBB5-ABA9-8664-5909ACA4F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925053"/>
            <a:ext cx="10058400" cy="49329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Odatda</a:t>
            </a:r>
            <a:r>
              <a:rPr lang="en-US" sz="2800" dirty="0"/>
              <a:t> </a:t>
            </a:r>
            <a:r>
              <a:rPr lang="en-US" sz="2800" dirty="0" err="1"/>
              <a:t>ingliz</a:t>
            </a:r>
            <a:r>
              <a:rPr lang="en-US" sz="2800" dirty="0"/>
              <a:t> </a:t>
            </a:r>
            <a:r>
              <a:rPr lang="en-US" sz="2800" dirty="0" err="1"/>
              <a:t>tilida</a:t>
            </a:r>
            <a:r>
              <a:rPr lang="en-US" sz="2800" dirty="0"/>
              <a:t>: </a:t>
            </a:r>
            <a:r>
              <a:rPr lang="en-US" sz="2800" b="1" dirty="0"/>
              <a:t>Subject + Verb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Tom is here.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have never seen it. 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Inversionda</a:t>
            </a:r>
            <a:r>
              <a:rPr lang="en-US" sz="2800" dirty="0"/>
              <a:t> </a:t>
            </a:r>
            <a:r>
              <a:rPr lang="en-US" sz="2800" dirty="0" err="1"/>
              <a:t>esa</a:t>
            </a:r>
            <a:r>
              <a:rPr lang="en-US" sz="2800" dirty="0"/>
              <a:t>: </a:t>
            </a:r>
            <a:r>
              <a:rPr lang="en-US" sz="2800" b="1" dirty="0"/>
              <a:t>Verb/Auxiliary + Subject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Here is Tom.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Never have I seen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990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584E6-2D06-FBED-5A36-726E342D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9144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Negative Adverbs at the Beginning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7A3DD-B0E5-D751-ED09-43A91CC3B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131" y="914400"/>
            <a:ext cx="11989869" cy="59436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Quyidagi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so‘zlar</a:t>
            </a:r>
            <a:r>
              <a:rPr lang="en-US" sz="2800" i="1" dirty="0">
                <a:highlight>
                  <a:srgbClr val="FFFF00"/>
                </a:highlight>
              </a:rPr>
              <a:t> gap </a:t>
            </a:r>
            <a:r>
              <a:rPr lang="en-US" sz="2800" i="1" dirty="0" err="1">
                <a:highlight>
                  <a:srgbClr val="FFFF00"/>
                </a:highlight>
              </a:rPr>
              <a:t>boshida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kelsa</a:t>
            </a:r>
            <a:r>
              <a:rPr lang="en-US" sz="2800" i="1" dirty="0">
                <a:highlight>
                  <a:srgbClr val="FFFF00"/>
                </a:highlight>
              </a:rPr>
              <a:t> inversion </a:t>
            </a:r>
            <a:r>
              <a:rPr lang="en-US" sz="2800" i="1" dirty="0" err="1">
                <a:highlight>
                  <a:srgbClr val="FFFF00"/>
                </a:highlight>
              </a:rPr>
              <a:t>bo‘ladi</a:t>
            </a:r>
            <a:r>
              <a:rPr lang="en-US" sz="2800" i="1" dirty="0">
                <a:highlight>
                  <a:srgbClr val="FFFF00"/>
                </a:highlight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B050"/>
                </a:solidFill>
              </a:rPr>
              <a:t>never | seldom | rarely | hardly ever | scarcely ever | barely | nowhere | little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Negative adverb + auxiliary + subject + 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Never</a:t>
            </a:r>
            <a:r>
              <a:rPr lang="en-US" sz="2800" dirty="0"/>
              <a:t> have I seen such beauty. = I have never seen such beauty.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Rarely</a:t>
            </a:r>
            <a:r>
              <a:rPr lang="en-US" sz="2800" dirty="0"/>
              <a:t> do we meet such people. = We rarely meet such people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seldom arrives on time. = </a:t>
            </a:r>
            <a:r>
              <a:rPr lang="en-US" sz="2800" b="1" dirty="0"/>
              <a:t>Seldom</a:t>
            </a:r>
            <a:r>
              <a:rPr lang="en-US" sz="2800" dirty="0"/>
              <a:t> does he arrive on time.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knew little what would happen.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can’t find better roses anywhere. →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4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385C2-F8FC-00D8-540E-05DCE1EC6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5372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Frequency Adverbs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54EA4-FD3E-A2F5-D11C-CC230D299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1" y="953729"/>
            <a:ext cx="12103510" cy="59042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Negative / limiting adverb + auxiliary verb + subject + main verb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b="1" dirty="0"/>
              <a:t>Common frequency adverbs used in inversion: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never | rarely | seldom | hardly ever | barely | scarcely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have never seen such a movie. → </a:t>
            </a:r>
            <a:r>
              <a:rPr lang="en-US" sz="2800" b="1" dirty="0"/>
              <a:t>Never</a:t>
            </a:r>
            <a:r>
              <a:rPr lang="en-US" sz="2800" dirty="0"/>
              <a:t> have I seen such a movie.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rarely makes mistakes. → </a:t>
            </a:r>
            <a:r>
              <a:rPr lang="en-US" sz="2800" b="1" dirty="0"/>
              <a:t>Rarely</a:t>
            </a:r>
            <a:r>
              <a:rPr lang="en-US" sz="2800" dirty="0"/>
              <a:t> does she make mistakes.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seldom see him at work. → </a:t>
            </a:r>
            <a:r>
              <a:rPr lang="en-US" sz="2800" b="1" dirty="0"/>
              <a:t>Seldom</a:t>
            </a:r>
            <a:r>
              <a:rPr lang="en-US" sz="2800" dirty="0"/>
              <a:t> do we see him at work.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had barely arrived when it started raining.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hardly ever calls me. →</a:t>
            </a:r>
          </a:p>
          <a:p>
            <a:pPr lvl="1">
              <a:lnSpc>
                <a:spcPct val="150000"/>
              </a:lnSpc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489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E17A5-7806-40FA-9898-EEE2E49E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81607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No Sooner ... Than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D8360-5EEF-E8D0-35E0-AD15D28DA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816077"/>
            <a:ext cx="11769213" cy="6041923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No sooner had + subject + past participle + than ...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60000"/>
              </a:lnSpc>
            </a:pPr>
            <a:r>
              <a:rPr lang="en-US" sz="2800" dirty="0"/>
              <a:t>As soon as I had sat down, the phone rang. </a:t>
            </a:r>
          </a:p>
          <a:p>
            <a:pPr lvl="1">
              <a:lnSpc>
                <a:spcPct val="160000"/>
              </a:lnSpc>
            </a:pPr>
            <a:r>
              <a:rPr lang="en-US" sz="2800" dirty="0"/>
              <a:t>→ </a:t>
            </a:r>
            <a:r>
              <a:rPr lang="en-US" sz="2800" b="1" dirty="0"/>
              <a:t>No sooner </a:t>
            </a:r>
            <a:r>
              <a:rPr lang="en-US" sz="2800" dirty="0"/>
              <a:t>had I sat down </a:t>
            </a:r>
            <a:r>
              <a:rPr lang="en-US" sz="2800" b="1" dirty="0"/>
              <a:t>than</a:t>
            </a:r>
            <a:r>
              <a:rPr lang="en-US" sz="2800" dirty="0"/>
              <a:t> the phone rang. </a:t>
            </a:r>
          </a:p>
          <a:p>
            <a:pPr lvl="1">
              <a:lnSpc>
                <a:spcPct val="160000"/>
              </a:lnSpc>
            </a:pPr>
            <a:r>
              <a:rPr lang="en-US" sz="2800" dirty="0"/>
              <a:t>After they had arrived, it started raining. </a:t>
            </a:r>
          </a:p>
          <a:p>
            <a:pPr lvl="1">
              <a:lnSpc>
                <a:spcPct val="160000"/>
              </a:lnSpc>
            </a:pPr>
            <a:r>
              <a:rPr lang="en-US" sz="2800" dirty="0"/>
              <a:t>→ </a:t>
            </a:r>
            <a:r>
              <a:rPr lang="en-US" sz="2800" b="1" dirty="0"/>
              <a:t>No sooner </a:t>
            </a:r>
            <a:r>
              <a:rPr lang="en-US" sz="2800" dirty="0"/>
              <a:t>had they arrived </a:t>
            </a:r>
            <a:r>
              <a:rPr lang="en-US" sz="2800" b="1" dirty="0"/>
              <a:t>than</a:t>
            </a:r>
            <a:r>
              <a:rPr lang="en-US" sz="2800" dirty="0"/>
              <a:t> it started raining. </a:t>
            </a:r>
          </a:p>
          <a:p>
            <a:pPr lvl="1">
              <a:lnSpc>
                <a:spcPct val="160000"/>
              </a:lnSpc>
            </a:pPr>
            <a:r>
              <a:rPr lang="en-US" sz="2800" dirty="0"/>
              <a:t>As soon as she had opened the door, the dog ran out. → </a:t>
            </a:r>
          </a:p>
          <a:p>
            <a:pPr lvl="1">
              <a:lnSpc>
                <a:spcPct val="160000"/>
              </a:lnSpc>
            </a:pPr>
            <a:r>
              <a:rPr lang="en-US" sz="2800" dirty="0"/>
              <a:t>When you finish your work, you can you. →</a:t>
            </a:r>
          </a:p>
          <a:p>
            <a:pPr lvl="1">
              <a:lnSpc>
                <a:spcPct val="160000"/>
              </a:lnSpc>
            </a:pPr>
            <a:r>
              <a:rPr lang="en-US" sz="2800" dirty="0"/>
              <a:t>As soon as he gets IELTS, he can start his career as a support. →</a:t>
            </a:r>
          </a:p>
          <a:p>
            <a:pPr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07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91DD-6592-2C55-FAE0-762E3E3D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6" y="0"/>
            <a:ext cx="10184972" cy="101065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Hardly / Scarcely / Barely ... When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A422F-547C-81FF-FA26-BEA135B93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35" y="1010653"/>
            <a:ext cx="11835865" cy="58473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Hardly/Scarcely/Barely + had + subject + past participle + when ...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 had hardly arrived when it started raining.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→ </a:t>
            </a:r>
            <a:r>
              <a:rPr lang="en-US" sz="2800" b="1" dirty="0"/>
              <a:t>Hardly</a:t>
            </a:r>
            <a:r>
              <a:rPr lang="en-US" sz="2800" dirty="0"/>
              <a:t> had I arrived when it started raining.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had scarcely entered when the phone rang.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→ </a:t>
            </a:r>
            <a:r>
              <a:rPr lang="en-US" sz="2800" b="1" dirty="0"/>
              <a:t>Scarcely</a:t>
            </a:r>
            <a:r>
              <a:rPr lang="en-US" sz="2800" dirty="0"/>
              <a:t> had she entered when the phone rang.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They had barely left when the accident happened.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Nigina started crying just after I had asked her homework. →</a:t>
            </a:r>
          </a:p>
          <a:p>
            <a:pPr lvl="1"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86766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774F-0511-937A-8F43-9F534583A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7802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Only + Expression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5ECCC-4BB2-6972-3024-A8143ECE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387" y="924025"/>
            <a:ext cx="11739613" cy="59339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Agar </a:t>
            </a:r>
            <a:r>
              <a:rPr lang="en-US" sz="2800" b="1" i="1" dirty="0">
                <a:highlight>
                  <a:srgbClr val="FFFF00"/>
                </a:highlight>
              </a:rPr>
              <a:t>Only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bilan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boshlangan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ibora</a:t>
            </a:r>
            <a:r>
              <a:rPr lang="en-US" sz="2800" i="1" dirty="0">
                <a:highlight>
                  <a:srgbClr val="FFFF00"/>
                </a:highlight>
              </a:rPr>
              <a:t> gap </a:t>
            </a:r>
            <a:r>
              <a:rPr lang="en-US" sz="2800" i="1" dirty="0" err="1">
                <a:highlight>
                  <a:srgbClr val="FFFF00"/>
                </a:highlight>
              </a:rPr>
              <a:t>boshida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kelsa</a:t>
            </a:r>
            <a:r>
              <a:rPr lang="en-US" sz="2800" i="1" dirty="0">
                <a:highlight>
                  <a:srgbClr val="FFFF00"/>
                </a:highlight>
              </a:rPr>
              <a:t> inversion </a:t>
            </a:r>
            <a:r>
              <a:rPr lang="en-US" sz="2800" i="1" dirty="0" err="1">
                <a:highlight>
                  <a:srgbClr val="FFFF00"/>
                </a:highlight>
              </a:rPr>
              <a:t>ishlatiladi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Only then </a:t>
            </a:r>
            <a:r>
              <a:rPr lang="en-US" sz="2800" dirty="0"/>
              <a:t>did I understand.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Only later </a:t>
            </a:r>
            <a:r>
              <a:rPr lang="en-US" sz="2800" dirty="0"/>
              <a:t>did she tell the truth.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Only after </a:t>
            </a:r>
            <a:r>
              <a:rPr lang="en-US" sz="2800" dirty="0"/>
              <a:t>the meeting did we realize the problem.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Only by working </a:t>
            </a:r>
            <a:r>
              <a:rPr lang="en-US" sz="2800" dirty="0"/>
              <a:t>hard can you succeed.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Only when </a:t>
            </a:r>
            <a:r>
              <a:rPr lang="en-US" sz="2800" dirty="0"/>
              <a:t>he arrived did we start dinner.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Only in spring </a:t>
            </a:r>
            <a:r>
              <a:rPr lang="en-US" sz="2800" dirty="0"/>
              <a:t>do flowers bloom. </a:t>
            </a:r>
            <a:endParaRPr lang="en-U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10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3C6F-C381-3235-FE66-22AF24DD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0EDB-67CE-C3AA-D940-7B5DC9714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2255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Only after noun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910F8-836F-C162-DA2A-F32AB4F43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1022555"/>
            <a:ext cx="11857703" cy="583544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Only after + noun/Ving + auxiliary + subject + main verb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can go only after the lesson.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after </a:t>
            </a:r>
            <a:r>
              <a:rPr lang="en-US" sz="2800" dirty="0"/>
              <a:t>the lesson can you go.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can get rewards only after collecting coins.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after </a:t>
            </a:r>
            <a:r>
              <a:rPr lang="en-US" sz="2800" dirty="0"/>
              <a:t>collecting coins can you get rewards.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can enter only after showing your ID. →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can play only after finishing homework.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can relax only after finishing work. →</a:t>
            </a:r>
          </a:p>
        </p:txBody>
      </p:sp>
    </p:spTree>
    <p:extLst>
      <p:ext uri="{BB962C8B-B14F-4D97-AF65-F5344CB8AC3E}">
        <p14:creationId xmlns:p14="http://schemas.microsoft.com/office/powerpoint/2010/main" val="3951062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8EFF-BEB2-0377-E78E-551705055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2255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Only after clause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B780A-D56B-AF9C-2097-5E9EA6E39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1022555"/>
            <a:ext cx="11857703" cy="583544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Only after + clause + auxiliary + subject + main verb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realized the truth only after he left.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after </a:t>
            </a:r>
            <a:r>
              <a:rPr lang="en-US" sz="2800" dirty="0"/>
              <a:t>he left did I realize the truth.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came to class only after the teacher called her.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after </a:t>
            </a:r>
            <a:r>
              <a:rPr lang="en-US" sz="2800" dirty="0"/>
              <a:t>the teacher called her did she come to class.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understood the problem only after they explained it. →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knew the truth only after he told her.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started the work only after the manager arrived. →</a:t>
            </a:r>
          </a:p>
        </p:txBody>
      </p:sp>
    </p:spTree>
    <p:extLst>
      <p:ext uri="{BB962C8B-B14F-4D97-AF65-F5344CB8AC3E}">
        <p14:creationId xmlns:p14="http://schemas.microsoft.com/office/powerpoint/2010/main" val="3229181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EF7B-78CC-B7A5-87EF-3FF23923B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79889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Only when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E0F92-3F23-BA8E-FD85-90B78172F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712269"/>
            <a:ext cx="11926529" cy="614573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Ma’nosi</a:t>
            </a:r>
            <a:r>
              <a:rPr lang="en-US" sz="2800" i="1" dirty="0">
                <a:highlight>
                  <a:srgbClr val="FFFF00"/>
                </a:highlight>
              </a:rPr>
              <a:t>: “</a:t>
            </a:r>
            <a:r>
              <a:rPr lang="en-US" sz="2800" i="1" dirty="0" err="1">
                <a:highlight>
                  <a:srgbClr val="FFFF00"/>
                </a:highlight>
              </a:rPr>
              <a:t>faqat</a:t>
            </a:r>
            <a:r>
              <a:rPr lang="en-US" sz="2800" i="1" dirty="0">
                <a:highlight>
                  <a:srgbClr val="FFFF00"/>
                </a:highlight>
              </a:rPr>
              <a:t> … </a:t>
            </a:r>
            <a:r>
              <a:rPr lang="en-US" sz="2800" i="1" dirty="0" err="1">
                <a:highlight>
                  <a:srgbClr val="FFFF00"/>
                </a:highlight>
              </a:rPr>
              <a:t>paytda</a:t>
            </a:r>
            <a:r>
              <a:rPr lang="en-US" sz="2800" i="1" dirty="0">
                <a:highlight>
                  <a:srgbClr val="FFFF00"/>
                </a:highlight>
              </a:rPr>
              <a:t> / </a:t>
            </a:r>
            <a:r>
              <a:rPr lang="en-US" sz="2800" i="1" dirty="0" err="1">
                <a:highlight>
                  <a:srgbClr val="FFFF00"/>
                </a:highlight>
              </a:rPr>
              <a:t>faqat</a:t>
            </a:r>
            <a:r>
              <a:rPr lang="en-US" sz="2800" i="1" dirty="0">
                <a:highlight>
                  <a:srgbClr val="FFFF00"/>
                </a:highlight>
              </a:rPr>
              <a:t> … </a:t>
            </a:r>
            <a:r>
              <a:rPr lang="en-US" sz="2800" i="1" dirty="0" err="1">
                <a:highlight>
                  <a:srgbClr val="FFFF00"/>
                </a:highlight>
              </a:rPr>
              <a:t>bo‘lgandagina</a:t>
            </a:r>
            <a:r>
              <a:rPr lang="en-US" sz="2800" i="1" dirty="0">
                <a:highlight>
                  <a:srgbClr val="FFFF00"/>
                </a:highlight>
              </a:rPr>
              <a:t> / </a:t>
            </a:r>
            <a:r>
              <a:rPr lang="en-US" sz="2800" i="1" dirty="0" err="1">
                <a:highlight>
                  <a:srgbClr val="FFFF00"/>
                </a:highlight>
              </a:rPr>
              <a:t>shundagina</a:t>
            </a:r>
            <a:r>
              <a:rPr lang="en-US" sz="2800" i="1" dirty="0">
                <a:highlight>
                  <a:srgbClr val="FFFF00"/>
                </a:highlight>
              </a:rPr>
              <a:t>”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Only when + clause + auxiliary + subject + 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 understood the lesson only when the teacher explained it.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when </a:t>
            </a:r>
            <a:r>
              <a:rPr lang="en-US" sz="2800" dirty="0"/>
              <a:t>the teacher explained it did I understand the lesson.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felt happy only when she saw her results.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when </a:t>
            </a:r>
            <a:r>
              <a:rPr lang="en-US" sz="2800" dirty="0"/>
              <a:t>she saw her results did she feel happy.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started the lesson only when Sardor arrived. →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Aziza became confident only when she practiced a lot. →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Malika left only when the rain stopped. →</a:t>
            </a:r>
          </a:p>
        </p:txBody>
      </p:sp>
    </p:spTree>
    <p:extLst>
      <p:ext uri="{BB962C8B-B14F-4D97-AF65-F5344CB8AC3E}">
        <p14:creationId xmlns:p14="http://schemas.microsoft.com/office/powerpoint/2010/main" val="3450360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1135-66E0-E150-6799-090690136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0225D-4ED4-9EDE-8AC8-30BCEB9D2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2255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Only then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304C6-A456-E8EF-CB7C-AACF33755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894735"/>
            <a:ext cx="11857703" cy="596326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Only then + auxiliary + subject + Verb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told me everything. I realized the truth only then.</a:t>
            </a:r>
            <a:br>
              <a:rPr lang="en-US" sz="2800" dirty="0"/>
            </a:br>
            <a:r>
              <a:rPr lang="en-US" sz="2800" dirty="0"/>
              <a:t>→ She told me everything. </a:t>
            </a:r>
            <a:r>
              <a:rPr lang="en-US" sz="2800" b="1" dirty="0"/>
              <a:t>Only then </a:t>
            </a:r>
            <a:r>
              <a:rPr lang="en-US" sz="2800" dirty="0"/>
              <a:t>did I realize the truth.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explained the situation. She understood the problem only then.</a:t>
            </a:r>
            <a:br>
              <a:rPr lang="en-US" sz="2800" dirty="0"/>
            </a:br>
            <a:r>
              <a:rPr lang="en-US" sz="2800" dirty="0"/>
              <a:t>→ I explained the situation. </a:t>
            </a:r>
            <a:r>
              <a:rPr lang="en-US" sz="2800" b="1" dirty="0"/>
              <a:t>Only then </a:t>
            </a:r>
            <a:r>
              <a:rPr lang="en-US" sz="2800" dirty="0"/>
              <a:t>did she understand the problem.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teacher helped us. We found the answer only then.</a:t>
            </a:r>
            <a:br>
              <a:rPr lang="en-US" sz="2800" dirty="0"/>
            </a:br>
            <a:r>
              <a:rPr lang="en-US" sz="2800" dirty="0"/>
              <a:t>→ The teacher helped us. </a:t>
            </a:r>
            <a:r>
              <a:rPr lang="en-US" sz="2800" b="1" dirty="0"/>
              <a:t>Only then </a:t>
            </a:r>
            <a:r>
              <a:rPr lang="en-US" sz="2800" dirty="0"/>
              <a:t>did we find the answer.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reviewed the topic twice. He noticed the mistake </a:t>
            </a:r>
            <a:r>
              <a:rPr lang="en-US" sz="2800" b="1" dirty="0"/>
              <a:t>only then</a:t>
            </a:r>
            <a:r>
              <a:rPr lang="en-US" sz="2800" dirty="0"/>
              <a:t>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students annoyed the teacher. He punished them </a:t>
            </a:r>
            <a:r>
              <a:rPr lang="en-US" sz="2800" b="1" dirty="0"/>
              <a:t>only then</a:t>
            </a:r>
            <a:r>
              <a:rPr lang="en-US" sz="2800" dirty="0"/>
              <a:t>. →</a:t>
            </a:r>
          </a:p>
        </p:txBody>
      </p:sp>
    </p:spTree>
    <p:extLst>
      <p:ext uri="{BB962C8B-B14F-4D97-AF65-F5344CB8AC3E}">
        <p14:creationId xmlns:p14="http://schemas.microsoft.com/office/powerpoint/2010/main" val="417202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5D7C-E526-9891-6C6F-479D43AF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86523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Only later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AD1C3-CB5B-7014-D6F1-EB42F51CC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865239"/>
            <a:ext cx="11680723" cy="599276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Ma’nosi</a:t>
            </a:r>
            <a:r>
              <a:rPr lang="en-US" sz="2800" i="1" dirty="0">
                <a:highlight>
                  <a:srgbClr val="FFFF00"/>
                </a:highlight>
              </a:rPr>
              <a:t>: “</a:t>
            </a:r>
            <a:r>
              <a:rPr lang="en-US" sz="2800" i="1" dirty="0" err="1">
                <a:highlight>
                  <a:srgbClr val="FFFF00"/>
                </a:highlight>
              </a:rPr>
              <a:t>faqat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keyin</a:t>
            </a:r>
            <a:r>
              <a:rPr lang="en-US" sz="2800" i="1" dirty="0">
                <a:highlight>
                  <a:srgbClr val="FFFF00"/>
                </a:highlight>
              </a:rPr>
              <a:t> / </a:t>
            </a:r>
            <a:r>
              <a:rPr lang="en-US" sz="2800" i="1" dirty="0" err="1">
                <a:highlight>
                  <a:srgbClr val="FFFF00"/>
                </a:highlight>
              </a:rPr>
              <a:t>ancha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keyin</a:t>
            </a:r>
            <a:r>
              <a:rPr lang="en-US" sz="2800" i="1" dirty="0">
                <a:highlight>
                  <a:srgbClr val="FFFF00"/>
                </a:highlight>
              </a:rPr>
              <a:t> / </a:t>
            </a:r>
            <a:r>
              <a:rPr lang="en-US" sz="2800" i="1" dirty="0" err="1">
                <a:highlight>
                  <a:srgbClr val="FFFF00"/>
                </a:highlight>
              </a:rPr>
              <a:t>keyinchalikgina</a:t>
            </a:r>
            <a:r>
              <a:rPr lang="en-US" sz="2800" i="1" dirty="0">
                <a:highlight>
                  <a:srgbClr val="FFFF00"/>
                </a:highlight>
              </a:rPr>
              <a:t>”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Only later + auxiliary + subject + verb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 understood the problem only later.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later </a:t>
            </a:r>
            <a:r>
              <a:rPr lang="en-US" sz="2800" dirty="0"/>
              <a:t>did I understand the problem.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realized her mistake only later.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later </a:t>
            </a:r>
            <a:r>
              <a:rPr lang="en-US" sz="2800" dirty="0"/>
              <a:t>did she realize her mistake.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found the answer only later. →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discovered the truth only later. →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They arrived only later. →</a:t>
            </a:r>
          </a:p>
        </p:txBody>
      </p:sp>
    </p:spTree>
    <p:extLst>
      <p:ext uri="{BB962C8B-B14F-4D97-AF65-F5344CB8AC3E}">
        <p14:creationId xmlns:p14="http://schemas.microsoft.com/office/powerpoint/2010/main" val="2600471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75EBC-CF69-B607-99F1-8B2756F2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Only by + V-</a:t>
            </a:r>
            <a:r>
              <a:rPr lang="en-US" b="1" dirty="0" err="1">
                <a:solidFill>
                  <a:srgbClr val="FF0000"/>
                </a:solidFill>
              </a:rPr>
              <a:t>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4742E-A621-6182-CAD0-235E22CA9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012723"/>
            <a:ext cx="11572568" cy="584527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Ma’nosi</a:t>
            </a:r>
            <a:r>
              <a:rPr lang="en-US" sz="2800" i="1" dirty="0">
                <a:highlight>
                  <a:srgbClr val="FFFF00"/>
                </a:highlight>
              </a:rPr>
              <a:t>: “</a:t>
            </a:r>
            <a:r>
              <a:rPr lang="en-US" sz="2800" i="1" dirty="0" err="1">
                <a:highlight>
                  <a:srgbClr val="FFFF00"/>
                </a:highlight>
              </a:rPr>
              <a:t>faqat</a:t>
            </a:r>
            <a:r>
              <a:rPr lang="en-US" sz="2800" i="1" dirty="0">
                <a:highlight>
                  <a:srgbClr val="FFFF00"/>
                </a:highlight>
              </a:rPr>
              <a:t> … </a:t>
            </a:r>
            <a:r>
              <a:rPr lang="en-US" sz="2800" i="1" dirty="0" err="1">
                <a:highlight>
                  <a:srgbClr val="FFFF00"/>
                </a:highlight>
              </a:rPr>
              <a:t>orqali</a:t>
            </a:r>
            <a:r>
              <a:rPr lang="en-US" sz="2800" i="1" dirty="0">
                <a:highlight>
                  <a:srgbClr val="FFFF00"/>
                </a:highlight>
              </a:rPr>
              <a:t> / </a:t>
            </a:r>
            <a:r>
              <a:rPr lang="en-US" sz="2800" i="1" dirty="0" err="1">
                <a:highlight>
                  <a:srgbClr val="FFFF00"/>
                </a:highlight>
              </a:rPr>
              <a:t>faqat</a:t>
            </a:r>
            <a:r>
              <a:rPr lang="en-US" sz="2800" i="1" dirty="0">
                <a:highlight>
                  <a:srgbClr val="FFFF00"/>
                </a:highlight>
              </a:rPr>
              <a:t> … </a:t>
            </a:r>
            <a:r>
              <a:rPr lang="en-US" sz="2800" i="1" dirty="0" err="1">
                <a:highlight>
                  <a:srgbClr val="FFFF00"/>
                </a:highlight>
              </a:rPr>
              <a:t>qilibgina</a:t>
            </a:r>
            <a:r>
              <a:rPr lang="en-US" sz="2800" i="1" dirty="0">
                <a:highlight>
                  <a:srgbClr val="FFFF00"/>
                </a:highlight>
              </a:rPr>
              <a:t> / </a:t>
            </a:r>
            <a:r>
              <a:rPr lang="en-US" sz="2800" i="1" dirty="0" err="1">
                <a:highlight>
                  <a:srgbClr val="FFFF00"/>
                </a:highlight>
              </a:rPr>
              <a:t>shunday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yo‘l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bilan</a:t>
            </a:r>
            <a:r>
              <a:rPr lang="en-US" sz="2800" i="1" dirty="0">
                <a:highlight>
                  <a:srgbClr val="FFFF00"/>
                </a:highlight>
              </a:rPr>
              <a:t>”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Only by + Ving + auxiliary + subject + verb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You can succeed only by working hard.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by working </a:t>
            </a:r>
            <a:r>
              <a:rPr lang="en-US" sz="2800" dirty="0"/>
              <a:t>hard can you succeed.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can improve only by practicing every day.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by practicing </a:t>
            </a:r>
            <a:r>
              <a:rPr lang="en-US" sz="2800" dirty="0"/>
              <a:t>every day can we improve.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could pass the exam only by studying harder. →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They can solve the problem only by cooperating.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learned English only by watching movies. →</a:t>
            </a:r>
          </a:p>
        </p:txBody>
      </p:sp>
    </p:spTree>
    <p:extLst>
      <p:ext uri="{BB962C8B-B14F-4D97-AF65-F5344CB8AC3E}">
        <p14:creationId xmlns:p14="http://schemas.microsoft.com/office/powerpoint/2010/main" val="2844431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6AE63-BE67-D38E-6F64-A1B4E249F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8849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Only in + noun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84E5E-D523-6A0C-2C2E-BCD15D1A3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884903"/>
            <a:ext cx="11769213" cy="597309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/>
              <a:t>Ma’nosi</a:t>
            </a:r>
            <a:r>
              <a:rPr lang="en-US" sz="2800" i="1" dirty="0"/>
              <a:t>: “</a:t>
            </a:r>
            <a:r>
              <a:rPr lang="en-US" sz="2800" i="1" dirty="0" err="1"/>
              <a:t>faqat</a:t>
            </a:r>
            <a:r>
              <a:rPr lang="en-US" sz="2800" i="1" dirty="0"/>
              <a:t> ...da / </a:t>
            </a:r>
            <a:r>
              <a:rPr lang="en-US" sz="2800" i="1" dirty="0" err="1"/>
              <a:t>faqat</a:t>
            </a:r>
            <a:r>
              <a:rPr lang="en-US" sz="2800" i="1" dirty="0"/>
              <a:t> ... </a:t>
            </a:r>
            <a:r>
              <a:rPr lang="en-US" sz="2800" i="1" dirty="0" err="1"/>
              <a:t>paytida</a:t>
            </a:r>
            <a:r>
              <a:rPr lang="en-US" sz="2800" i="1" dirty="0"/>
              <a:t> / </a:t>
            </a:r>
            <a:r>
              <a:rPr lang="en-US" sz="2800" i="1" dirty="0" err="1"/>
              <a:t>faqat</a:t>
            </a:r>
            <a:r>
              <a:rPr lang="en-US" sz="2800" i="1" dirty="0"/>
              <a:t> ... </a:t>
            </a:r>
            <a:r>
              <a:rPr lang="en-US" sz="2800" i="1" dirty="0" err="1"/>
              <a:t>mavsumida</a:t>
            </a:r>
            <a:r>
              <a:rPr lang="en-US" sz="2800" i="1" dirty="0"/>
              <a:t>”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Only in + noun + auxiliary + subject + 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You can buy these fruits only in season.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in season </a:t>
            </a:r>
            <a:r>
              <a:rPr lang="en-US" sz="2800" dirty="0"/>
              <a:t>can you buy these fruits.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can see these flowers only in spring.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Only in spring </a:t>
            </a:r>
            <a:r>
              <a:rPr lang="en-US" sz="2800" dirty="0"/>
              <a:t>can you see these flowers.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People can swim here only in summer.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road is open only in dry weather.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can find this bird only in this region. →</a:t>
            </a:r>
          </a:p>
        </p:txBody>
      </p:sp>
    </p:spTree>
    <p:extLst>
      <p:ext uri="{BB962C8B-B14F-4D97-AF65-F5344CB8AC3E}">
        <p14:creationId xmlns:p14="http://schemas.microsoft.com/office/powerpoint/2010/main" val="3381798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AD9D-E6FB-1ADB-69AB-8C25B621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81607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Not until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62675-FB82-9393-3C46-2473FFBFE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737419"/>
            <a:ext cx="11759381" cy="612058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Ma'nosi</a:t>
            </a:r>
            <a:r>
              <a:rPr lang="en-US" sz="2800" i="1" dirty="0">
                <a:highlight>
                  <a:srgbClr val="FFFF00"/>
                </a:highlight>
              </a:rPr>
              <a:t>: "...</a:t>
            </a:r>
            <a:r>
              <a:rPr lang="en-US" sz="2800" i="1" dirty="0" err="1">
                <a:highlight>
                  <a:srgbClr val="FFFF00"/>
                </a:highlight>
              </a:rPr>
              <a:t>gacha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emas</a:t>
            </a:r>
            <a:r>
              <a:rPr lang="en-US" sz="2800" i="1" dirty="0">
                <a:highlight>
                  <a:srgbClr val="FFFF00"/>
                </a:highlight>
              </a:rPr>
              <a:t>", "...dan </a:t>
            </a:r>
            <a:r>
              <a:rPr lang="en-US" sz="2800" i="1" dirty="0" err="1">
                <a:highlight>
                  <a:srgbClr val="FFFF00"/>
                </a:highlight>
              </a:rPr>
              <a:t>keyingina</a:t>
            </a:r>
            <a:r>
              <a:rPr lang="en-US" sz="2800" i="1" dirty="0">
                <a:highlight>
                  <a:srgbClr val="FFFF00"/>
                </a:highlight>
              </a:rPr>
              <a:t>", "</a:t>
            </a:r>
            <a:r>
              <a:rPr lang="en-US" sz="2800" i="1" dirty="0" err="1">
                <a:highlight>
                  <a:srgbClr val="FFFF00"/>
                </a:highlight>
              </a:rPr>
              <a:t>faqat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shundan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keyingina</a:t>
            </a:r>
            <a:r>
              <a:rPr lang="en-US" sz="2800" i="1" dirty="0">
                <a:highlight>
                  <a:srgbClr val="FFFF00"/>
                </a:highlight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Not until + time/</a:t>
            </a:r>
            <a:r>
              <a:rPr lang="en-US" sz="2800" b="1" u="sng" dirty="0">
                <a:solidFill>
                  <a:srgbClr val="00B0F0"/>
                </a:solidFill>
              </a:rPr>
              <a:t>clause</a:t>
            </a:r>
            <a:r>
              <a:rPr lang="en-US" sz="2800" b="1" dirty="0">
                <a:solidFill>
                  <a:srgbClr val="00B0F0"/>
                </a:solidFill>
              </a:rPr>
              <a:t> + auxiliary + subject + 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 didn't understand the lesson until the teacher explained it.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Not until </a:t>
            </a:r>
            <a:r>
              <a:rPr lang="en-US" sz="2800" u="sng" dirty="0"/>
              <a:t>the teacher explained it </a:t>
            </a:r>
            <a:r>
              <a:rPr lang="en-US" sz="2800" dirty="0"/>
              <a:t>did I understand the lesson.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didn't go to bed until midnight.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Not until </a:t>
            </a:r>
            <a:r>
              <a:rPr lang="en-US" sz="2800" dirty="0"/>
              <a:t>midnight did she go to bed.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didn't start the meeting until the manager arrived.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didn't realize his mistake until later.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didn't leave until the rain stopped.</a:t>
            </a:r>
          </a:p>
        </p:txBody>
      </p:sp>
    </p:spTree>
    <p:extLst>
      <p:ext uri="{BB962C8B-B14F-4D97-AF65-F5344CB8AC3E}">
        <p14:creationId xmlns:p14="http://schemas.microsoft.com/office/powerpoint/2010/main" val="1972987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FA47-002A-3E59-F5BB-0FC33F4B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8849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Not Only ... But Also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90F25-0D40-739B-3ED0-278BE1927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884903"/>
            <a:ext cx="11897031" cy="597309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 err="1">
                <a:highlight>
                  <a:srgbClr val="FFFF00"/>
                </a:highlight>
              </a:rPr>
              <a:t>Nafaqat</a:t>
            </a:r>
            <a:r>
              <a:rPr lang="en-US" sz="2800" b="1" i="1" dirty="0">
                <a:highlight>
                  <a:srgbClr val="FFFF00"/>
                </a:highlight>
              </a:rPr>
              <a:t> ... </a:t>
            </a:r>
            <a:r>
              <a:rPr lang="en-US" sz="2800" b="1" i="1" dirty="0" err="1">
                <a:highlight>
                  <a:srgbClr val="FFFF00"/>
                </a:highlight>
              </a:rPr>
              <a:t>balki</a:t>
            </a:r>
            <a:r>
              <a:rPr lang="en-US" sz="2800" b="1" i="1" dirty="0">
                <a:highlight>
                  <a:srgbClr val="FFFF00"/>
                </a:highlight>
              </a:rPr>
              <a:t> ... Ham. </a:t>
            </a:r>
            <a:r>
              <a:rPr lang="en-US" sz="2800" i="1" dirty="0" err="1">
                <a:highlight>
                  <a:srgbClr val="FFFF00"/>
                </a:highlight>
              </a:rPr>
              <a:t>birinchi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qismda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inversion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ishlatiladi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Not only + auxiliary + subject + verb ..., but also ...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He speaks not only English but also Korean.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Not only </a:t>
            </a:r>
            <a:r>
              <a:rPr lang="en-US" sz="2800" dirty="0"/>
              <a:t>does he speak English, </a:t>
            </a:r>
            <a:r>
              <a:rPr lang="en-US" sz="2800" b="1" dirty="0"/>
              <a:t>but</a:t>
            </a:r>
            <a:r>
              <a:rPr lang="en-US" sz="2800" dirty="0"/>
              <a:t> he </a:t>
            </a:r>
            <a:r>
              <a:rPr lang="en-US" sz="2800" b="1" dirty="0"/>
              <a:t>also</a:t>
            </a:r>
            <a:r>
              <a:rPr lang="en-US" sz="2800" dirty="0"/>
              <a:t> speaks Korean.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is not only intelligent but also hardworking.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Not only </a:t>
            </a:r>
            <a:r>
              <a:rPr lang="en-US" sz="2800" dirty="0"/>
              <a:t>is she intelligent, </a:t>
            </a:r>
            <a:r>
              <a:rPr lang="en-US" sz="2800" b="1" dirty="0"/>
              <a:t>but</a:t>
            </a:r>
            <a:r>
              <a:rPr lang="en-US" sz="2800" dirty="0"/>
              <a:t> she is </a:t>
            </a:r>
            <a:r>
              <a:rPr lang="en-US" sz="2800" b="1" dirty="0"/>
              <a:t>also</a:t>
            </a:r>
            <a:r>
              <a:rPr lang="en-US" sz="2800" dirty="0"/>
              <a:t> hardworking.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not only won the match but also broke a record.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have not only finished the project but also submitted it.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course not only improved my English but also increased my confidence.</a:t>
            </a:r>
            <a:r>
              <a:rPr lang="en-US" dirty="0"/>
              <a:t> </a:t>
            </a:r>
            <a:r>
              <a:rPr lang="en-US" sz="2600" dirty="0"/>
              <a:t>→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074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79596-A800-FE2F-19F4-C97C33C6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34" y="0"/>
            <a:ext cx="11521439" cy="100289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Under No Circumstances / On No Account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11405-42C7-AC38-2E3B-0CE5558D9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002890"/>
            <a:ext cx="12192000" cy="585510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Ma'nosi</a:t>
            </a:r>
            <a:r>
              <a:rPr lang="en-US" sz="2800" i="1" dirty="0">
                <a:highlight>
                  <a:srgbClr val="FFFF00"/>
                </a:highlight>
              </a:rPr>
              <a:t>: = </a:t>
            </a:r>
            <a:r>
              <a:rPr lang="en-US" sz="2800" i="1" dirty="0" err="1">
                <a:highlight>
                  <a:srgbClr val="FFFF00"/>
                </a:highlight>
              </a:rPr>
              <a:t>hech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qanday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sharoitda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hech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qachon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har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qanday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holatda</a:t>
            </a:r>
            <a:r>
              <a:rPr lang="en-US" sz="2800" i="1" dirty="0">
                <a:highlight>
                  <a:srgbClr val="FFFF00"/>
                </a:highlight>
              </a:rPr>
              <a:t> ham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Under no circumstances / On no account + auxiliary + subject + verb…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You must not tell anyone the password.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Under no circumstances </a:t>
            </a:r>
            <a:r>
              <a:rPr lang="en-US" sz="2800" dirty="0"/>
              <a:t>must you tell anyone the password.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should not leave the room.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On no account </a:t>
            </a:r>
            <a:r>
              <a:rPr lang="en-US" sz="2800" dirty="0"/>
              <a:t>should you leave the room.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Students must not use their phones during the exam.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can never open this door.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Students must not cheat in the exam.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089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8F81D-D86E-85B2-BCF7-A1A8A9F23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6356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At no time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3DD60-5EB6-1D95-884D-E4053B0D6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963561"/>
            <a:ext cx="10058400" cy="589443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Ma'nosi</a:t>
            </a:r>
            <a:r>
              <a:rPr lang="en-US" sz="2800" i="1" dirty="0">
                <a:highlight>
                  <a:srgbClr val="FFFF00"/>
                </a:highlight>
              </a:rPr>
              <a:t>: </a:t>
            </a:r>
            <a:r>
              <a:rPr lang="en-US" sz="2800" i="1" dirty="0" err="1">
                <a:highlight>
                  <a:srgbClr val="FFFF00"/>
                </a:highlight>
              </a:rPr>
              <a:t>hech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qachon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biror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vaqtda</a:t>
            </a:r>
            <a:r>
              <a:rPr lang="en-US" sz="2800" i="1" dirty="0">
                <a:highlight>
                  <a:srgbClr val="FFFF00"/>
                </a:highlight>
              </a:rPr>
              <a:t> ham </a:t>
            </a:r>
            <a:r>
              <a:rPr lang="en-US" sz="2800" i="1" dirty="0" err="1">
                <a:highlight>
                  <a:srgbClr val="FFFF00"/>
                </a:highlight>
              </a:rPr>
              <a:t>emas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At no time + auxiliary + subject + verb…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 was never in danger.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At no time </a:t>
            </a:r>
            <a:r>
              <a:rPr lang="en-US" sz="2800" dirty="0"/>
              <a:t>was I in danger.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didn’t complain about the system.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At no time </a:t>
            </a:r>
            <a:r>
              <a:rPr lang="en-US" sz="2800" dirty="0"/>
              <a:t>did he complain about the system.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never considered giving up.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doesn’t lose control at all.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don’t help each other. →</a:t>
            </a:r>
          </a:p>
        </p:txBody>
      </p:sp>
    </p:spTree>
    <p:extLst>
      <p:ext uri="{BB962C8B-B14F-4D97-AF65-F5344CB8AC3E}">
        <p14:creationId xmlns:p14="http://schemas.microsoft.com/office/powerpoint/2010/main" val="2886882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D62F-773E-86EE-D7CD-64EC24924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Not once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79D84-53ED-734A-23C7-594C8F44D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3" y="688258"/>
            <a:ext cx="11700387" cy="616974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 err="1">
                <a:highlight>
                  <a:srgbClr val="FFFF00"/>
                </a:highlight>
              </a:rPr>
              <a:t>Ma'nosi</a:t>
            </a:r>
            <a:r>
              <a:rPr lang="en-US" sz="2800" b="1" i="1" dirty="0">
                <a:highlight>
                  <a:srgbClr val="FFFF00"/>
                </a:highlight>
              </a:rPr>
              <a:t>: </a:t>
            </a:r>
            <a:r>
              <a:rPr lang="en-US" sz="2800" b="1" i="1" dirty="0" err="1">
                <a:highlight>
                  <a:srgbClr val="FFFF00"/>
                </a:highlight>
              </a:rPr>
              <a:t>bir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marta</a:t>
            </a:r>
            <a:r>
              <a:rPr lang="en-US" sz="2800" b="1" i="1" dirty="0">
                <a:highlight>
                  <a:srgbClr val="FFFF00"/>
                </a:highlight>
              </a:rPr>
              <a:t> ham </a:t>
            </a:r>
            <a:r>
              <a:rPr lang="en-US" sz="2800" b="1" i="1" dirty="0" err="1">
                <a:highlight>
                  <a:srgbClr val="FFFF00"/>
                </a:highlight>
              </a:rPr>
              <a:t>emas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Not once + auxiliary + subject + 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He didn't apologize even once.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Not once </a:t>
            </a:r>
            <a:r>
              <a:rPr lang="en-US" sz="2800" dirty="0"/>
              <a:t>did he apologize.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never called me.</a:t>
            </a:r>
            <a:br>
              <a:rPr lang="en-US" sz="2800" dirty="0"/>
            </a:br>
            <a:r>
              <a:rPr lang="en-US" sz="2800" dirty="0"/>
              <a:t>→</a:t>
            </a:r>
            <a:r>
              <a:rPr lang="en-US" sz="2800" b="1" dirty="0"/>
              <a:t> Not once </a:t>
            </a:r>
            <a:r>
              <a:rPr lang="en-US" sz="2800" dirty="0"/>
              <a:t>did she call me.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don’t doubt my friends even once.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Davron doesn’t ask for help at all.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didn't make a mistake even once. →</a:t>
            </a:r>
          </a:p>
        </p:txBody>
      </p:sp>
    </p:spTree>
    <p:extLst>
      <p:ext uri="{BB962C8B-B14F-4D97-AF65-F5344CB8AC3E}">
        <p14:creationId xmlns:p14="http://schemas.microsoft.com/office/powerpoint/2010/main" val="2332529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4A1FA-9B65-54CF-054E-C082AA97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AB25-6186-2762-59AA-CFD144886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By no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C17BF-E8EB-FF6D-8D5A-2EDD4DB74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3" y="727587"/>
            <a:ext cx="11700387" cy="613041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Ma'nosi</a:t>
            </a:r>
            <a:r>
              <a:rPr lang="en-US" sz="2800" i="1" dirty="0">
                <a:highlight>
                  <a:srgbClr val="FFFF00"/>
                </a:highlight>
              </a:rPr>
              <a:t>: </a:t>
            </a:r>
            <a:r>
              <a:rPr lang="en-US" sz="2800" i="1" dirty="0" err="1">
                <a:highlight>
                  <a:srgbClr val="FFFF00"/>
                </a:highlight>
              </a:rPr>
              <a:t>hech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qachon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emas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aslo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emas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mutlaqo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emas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By no means + auxiliary + subject + 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The task is not easy.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By no means </a:t>
            </a:r>
            <a:r>
              <a:rPr lang="en-US" sz="2800" dirty="0"/>
              <a:t>is the task easy.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isn't a beginner.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By no means </a:t>
            </a:r>
            <a:r>
              <a:rPr lang="en-US" sz="2800" dirty="0"/>
              <a:t>is she a beginner.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problem isn't solved.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are not finished yet.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project wasn't a failure.</a:t>
            </a:r>
          </a:p>
        </p:txBody>
      </p:sp>
    </p:spTree>
    <p:extLst>
      <p:ext uri="{BB962C8B-B14F-4D97-AF65-F5344CB8AC3E}">
        <p14:creationId xmlns:p14="http://schemas.microsoft.com/office/powerpoint/2010/main" val="1482469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2BD8-E5C1-08D7-131F-1D0E59A9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190" y="0"/>
            <a:ext cx="10058400" cy="94389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 no way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6A099-A6C5-7860-738C-D1A80BB6E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845574"/>
            <a:ext cx="11936361" cy="601242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Ma'nosi</a:t>
            </a:r>
            <a:r>
              <a:rPr lang="en-US" sz="2800" i="1" dirty="0">
                <a:highlight>
                  <a:srgbClr val="FFFF00"/>
                </a:highlight>
              </a:rPr>
              <a:t>: </a:t>
            </a:r>
            <a:r>
              <a:rPr lang="en-US" sz="2800" i="1" dirty="0" err="1">
                <a:highlight>
                  <a:srgbClr val="FFFF00"/>
                </a:highlight>
              </a:rPr>
              <a:t>hech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qanday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tarzda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emas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aslo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emas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In no way + auxiliary + subject + verb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This is not your fault at all.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In no way </a:t>
            </a:r>
            <a:r>
              <a:rPr lang="en-US" sz="2800" dirty="0"/>
              <a:t>is this your fault.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don't agree with that idea.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In no way </a:t>
            </a:r>
            <a:r>
              <a:rPr lang="en-US" sz="2800" dirty="0"/>
              <a:t>do I agree with that idea.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change didn't affect our plans.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is not responsible for the problem.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Their decision didn't help the situation. →</a:t>
            </a:r>
          </a:p>
        </p:txBody>
      </p:sp>
    </p:spTree>
    <p:extLst>
      <p:ext uri="{BB962C8B-B14F-4D97-AF65-F5344CB8AC3E}">
        <p14:creationId xmlns:p14="http://schemas.microsoft.com/office/powerpoint/2010/main" val="3352646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6005-6F42-11E5-CAFD-BD591424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74282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At No Time / In No Way / By No Means + aux + 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D5C47-DDAE-C6FF-F78F-7B10678A7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25" y="1463040"/>
            <a:ext cx="6209898" cy="47091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He didn’t apologize.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am not responsible.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is not easy by any means.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Abbos didn’t take part in my lessons.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Kamola can’t swim.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3E3D1A-0233-7DC9-A558-661171E444DF}"/>
              </a:ext>
            </a:extLst>
          </p:cNvPr>
          <p:cNvSpPr txBox="1">
            <a:spLocks/>
          </p:cNvSpPr>
          <p:nvPr/>
        </p:nvSpPr>
        <p:spPr>
          <a:xfrm>
            <a:off x="6204154" y="1463040"/>
            <a:ext cx="5987845" cy="4709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/>
              <a:t>At no time </a:t>
            </a:r>
            <a:r>
              <a:rPr lang="en-US" sz="2800" dirty="0"/>
              <a:t>did he apologize.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 no way </a:t>
            </a:r>
            <a:r>
              <a:rPr lang="en-US" sz="2800" dirty="0"/>
              <a:t>am I responsible.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By no means </a:t>
            </a:r>
            <a:r>
              <a:rPr lang="en-US" sz="2800" dirty="0"/>
              <a:t>is this easy.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At no time </a:t>
            </a:r>
            <a:r>
              <a:rPr lang="en-US" sz="2800" dirty="0"/>
              <a:t>did he take part in my…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 no way </a:t>
            </a:r>
            <a:r>
              <a:rPr lang="en-US" sz="2800" dirty="0"/>
              <a:t>can Kamola swim.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03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82317-9568-C664-9780-31C5B3DFC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93365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So + Adjective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7EE54-8986-E3E0-6C4E-FAD2711FB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97" y="702645"/>
            <a:ext cx="11393103" cy="615535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So + adjective + be + subject + that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The view was </a:t>
            </a:r>
            <a:r>
              <a:rPr lang="en-US" sz="2800" b="1" dirty="0"/>
              <a:t>so beautiful that</a:t>
            </a:r>
            <a:r>
              <a:rPr lang="en-US" sz="2800" dirty="0"/>
              <a:t> everyone stopped.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is </a:t>
            </a:r>
            <a:r>
              <a:rPr lang="en-US" sz="2800" b="1" dirty="0"/>
              <a:t>so talented that</a:t>
            </a:r>
            <a:r>
              <a:rPr lang="en-US" sz="2800" dirty="0"/>
              <a:t> everyone admires her.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exam will be </a:t>
            </a:r>
            <a:r>
              <a:rPr lang="en-US" sz="2800" b="1" dirty="0"/>
              <a:t>so tricky that</a:t>
            </a:r>
            <a:r>
              <a:rPr lang="en-US" sz="2800" dirty="0"/>
              <a:t> some of you may fail.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Inverted form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So beautiful </a:t>
            </a:r>
            <a:r>
              <a:rPr lang="en-US" sz="2800" dirty="0"/>
              <a:t>was the view </a:t>
            </a:r>
            <a:r>
              <a:rPr lang="en-US" sz="2800" b="1" dirty="0"/>
              <a:t>that</a:t>
            </a:r>
            <a:r>
              <a:rPr lang="en-US" sz="2800" dirty="0"/>
              <a:t> everyone stopped.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So difficult </a:t>
            </a:r>
            <a:r>
              <a:rPr lang="en-US" sz="2800" dirty="0"/>
              <a:t>was the exam </a:t>
            </a:r>
            <a:r>
              <a:rPr lang="en-US" sz="2800" b="1" dirty="0"/>
              <a:t>that</a:t>
            </a:r>
            <a:r>
              <a:rPr lang="en-US" sz="2800" dirty="0"/>
              <a:t> many students failed.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So strong </a:t>
            </a:r>
            <a:r>
              <a:rPr lang="en-US" sz="2800" dirty="0"/>
              <a:t>was the wind </a:t>
            </a:r>
            <a:r>
              <a:rPr lang="en-US" sz="2800" b="1" dirty="0"/>
              <a:t>that</a:t>
            </a:r>
            <a:r>
              <a:rPr lang="en-US" sz="2800" dirty="0"/>
              <a:t> trees fell. </a:t>
            </a:r>
          </a:p>
        </p:txBody>
      </p:sp>
    </p:spTree>
    <p:extLst>
      <p:ext uri="{BB962C8B-B14F-4D97-AF65-F5344CB8AC3E}">
        <p14:creationId xmlns:p14="http://schemas.microsoft.com/office/powerpoint/2010/main" val="4214591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BFD6-EC9F-8359-CDBE-F1A8E3EAF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140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Such + Noun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93C0D-FD17-672F-3FEB-6144B45CC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991402"/>
            <a:ext cx="11122152" cy="58665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Such + be + subject + noun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His popularity was </a:t>
            </a:r>
            <a:r>
              <a:rPr lang="en-US" sz="2800" b="1" dirty="0"/>
              <a:t>such that </a:t>
            </a:r>
            <a:r>
              <a:rPr lang="en-US" sz="2800" dirty="0"/>
              <a:t>everyone knew him.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→ </a:t>
            </a:r>
            <a:r>
              <a:rPr lang="en-US" sz="2800" b="1" dirty="0"/>
              <a:t>Such </a:t>
            </a:r>
            <a:r>
              <a:rPr lang="en-US" sz="2800" dirty="0"/>
              <a:t>was his popularity </a:t>
            </a:r>
            <a:r>
              <a:rPr lang="en-US" sz="2800" b="1" dirty="0"/>
              <a:t>that</a:t>
            </a:r>
            <a:r>
              <a:rPr lang="en-US" sz="2800" dirty="0"/>
              <a:t> everyone knew him.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damage was </a:t>
            </a:r>
            <a:r>
              <a:rPr lang="en-US" sz="2800" b="1" dirty="0"/>
              <a:t>such that </a:t>
            </a:r>
            <a:r>
              <a:rPr lang="en-US" sz="2800" dirty="0"/>
              <a:t>the road was closed.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→ </a:t>
            </a:r>
            <a:r>
              <a:rPr lang="en-US" sz="2800" b="1" dirty="0"/>
              <a:t>Such</a:t>
            </a:r>
            <a:r>
              <a:rPr lang="en-US" sz="2800" dirty="0"/>
              <a:t> was the damage </a:t>
            </a:r>
            <a:r>
              <a:rPr lang="en-US" sz="2800" b="1" dirty="0"/>
              <a:t>that</a:t>
            </a:r>
            <a:r>
              <a:rPr lang="en-US" sz="2800" dirty="0"/>
              <a:t> the road was closed.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Nilufar’s beauty was </a:t>
            </a:r>
            <a:r>
              <a:rPr lang="en-US" sz="2800" b="1" dirty="0"/>
              <a:t>such that </a:t>
            </a:r>
            <a:r>
              <a:rPr lang="en-US" sz="2800" dirty="0"/>
              <a:t>people admired her.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weather was </a:t>
            </a:r>
            <a:r>
              <a:rPr lang="en-US" sz="2800" b="1" dirty="0"/>
              <a:t>such that </a:t>
            </a:r>
            <a:r>
              <a:rPr lang="en-US" sz="2800" dirty="0"/>
              <a:t>we couldn’t go out. →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012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73EA-FE5D-0806-39D3-C2B962BD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8373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Movement Adverbs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32B87-69EF-7AFA-5CA9-147B1FDD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956733"/>
            <a:ext cx="11779045" cy="590126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Normal: </a:t>
            </a:r>
            <a:r>
              <a:rPr lang="en-US" sz="2800" b="1" dirty="0">
                <a:solidFill>
                  <a:srgbClr val="00B0F0"/>
                </a:solidFill>
              </a:rPr>
              <a:t>Subject + Verb + Adverb of direction </a:t>
            </a:r>
            <a:r>
              <a:rPr lang="en-US" sz="2800" b="1" dirty="0"/>
              <a:t>(present/past simple)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Inversion: </a:t>
            </a:r>
            <a:r>
              <a:rPr lang="en-US" sz="2800" b="1" dirty="0">
                <a:solidFill>
                  <a:srgbClr val="00B0F0"/>
                </a:solidFill>
              </a:rPr>
              <a:t>Adverb of direction + Verb + Subject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away | down | up | in | out | off | over | back | round | around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bird flew up. → </a:t>
            </a:r>
            <a:r>
              <a:rPr lang="en-US" sz="2800" dirty="0">
                <a:solidFill>
                  <a:srgbClr val="0070C0"/>
                </a:solidFill>
              </a:rPr>
              <a:t>Up flew the bird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students rushed out. →  </a:t>
            </a:r>
            <a:r>
              <a:rPr lang="en-US" sz="2800" dirty="0">
                <a:solidFill>
                  <a:srgbClr val="0070C0"/>
                </a:solidFill>
              </a:rPr>
              <a:t>Out rushed the students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ball rolled down. →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thief ran away. →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Pronoun </a:t>
            </a:r>
            <a:r>
              <a:rPr lang="en-US" sz="2800" b="1" dirty="0" err="1"/>
              <a:t>bilan</a:t>
            </a:r>
            <a:r>
              <a:rPr lang="en-US" sz="2800" b="1" dirty="0"/>
              <a:t> inversion </a:t>
            </a:r>
            <a:r>
              <a:rPr lang="en-US" sz="2800" b="1" dirty="0" err="1"/>
              <a:t>bo’lmaydi</a:t>
            </a:r>
            <a:endParaRPr lang="en-US" sz="2800" b="1" dirty="0"/>
          </a:p>
          <a:p>
            <a:pPr>
              <a:lnSpc>
                <a:spcPct val="150000"/>
              </a:lnSpc>
            </a:pPr>
            <a:r>
              <a:rPr lang="en-US" sz="2800" dirty="0"/>
              <a:t>Away they went. | Off I went. | Out he came.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017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B660-D7FC-7BBF-D272-DD4A3DE5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4221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Place Expressions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3F6E8-29E7-9351-B086-DE2D7C3CA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1042219"/>
            <a:ext cx="12044515" cy="58157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Place expression + Verb + Subject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A book lay on the table. → </a:t>
            </a:r>
            <a:r>
              <a:rPr lang="en-US" sz="2800" dirty="0">
                <a:solidFill>
                  <a:srgbClr val="0070C0"/>
                </a:solidFill>
              </a:rPr>
              <a:t>On the table lay a book.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An old woman sat in the corner. → </a:t>
            </a:r>
            <a:r>
              <a:rPr lang="en-US" sz="2800" dirty="0">
                <a:solidFill>
                  <a:srgbClr val="0070C0"/>
                </a:solidFill>
              </a:rPr>
              <a:t>In the corner sat an old woman.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 dog lay under the tree. → </a:t>
            </a:r>
            <a:r>
              <a:rPr lang="en-US" sz="2800" dirty="0">
                <a:solidFill>
                  <a:srgbClr val="0070C0"/>
                </a:solidFill>
              </a:rPr>
              <a:t>Under the tree lay a dog.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Kamron stood at the end of the street.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 small house stood beside the river. →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09376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768A-B9C8-4666-3D07-60B1F1007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7003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Here / There Inversion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FC95D-D1A5-5086-7745-F87ED10F3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054101"/>
            <a:ext cx="11709400" cy="58039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Biror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narsa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paydo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bo‘lganida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kelayotganda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yoki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ketayotganda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ishlatiladi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Here comes the bus.</a:t>
            </a:r>
            <a:r>
              <a:rPr lang="en-US" sz="2800" dirty="0"/>
              <a:t> → </a:t>
            </a:r>
            <a:r>
              <a:rPr lang="en-US" sz="2800" i="1" dirty="0"/>
              <a:t>The bus is coming.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Here is Mahmud.</a:t>
            </a:r>
            <a:r>
              <a:rPr lang="en-US" sz="2800" dirty="0"/>
              <a:t> → </a:t>
            </a:r>
            <a:r>
              <a:rPr lang="en-US" sz="2800" i="1" dirty="0"/>
              <a:t>Mahmud is here.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There go our future leaders.</a:t>
            </a:r>
            <a:r>
              <a:rPr lang="en-US" sz="2800" dirty="0"/>
              <a:t> → </a:t>
            </a:r>
            <a:r>
              <a:rPr lang="en-US" sz="2800" i="1" dirty="0"/>
              <a:t>Our future leaders are going.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There comes the teacher.</a:t>
            </a:r>
            <a:r>
              <a:rPr lang="en-US" sz="2800" dirty="0"/>
              <a:t> → </a:t>
            </a:r>
            <a:r>
              <a:rPr lang="en-US" sz="2800" i="1" dirty="0"/>
              <a:t>The teacher is coming.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b="1" dirty="0"/>
              <a:t>Pronoun </a:t>
            </a:r>
            <a:r>
              <a:rPr lang="en-US" sz="2800" b="1" dirty="0" err="1"/>
              <a:t>bo‘lsa</a:t>
            </a:r>
            <a:r>
              <a:rPr lang="en-US" sz="2800" b="1" dirty="0"/>
              <a:t> inversion </a:t>
            </a:r>
            <a:r>
              <a:rPr lang="en-US" sz="2800" b="1" dirty="0" err="1"/>
              <a:t>bo‘lmaydi</a:t>
            </a:r>
            <a:endParaRPr lang="en-US" sz="2800" b="1" dirty="0"/>
          </a:p>
          <a:p>
            <a:pPr lvl="1">
              <a:lnSpc>
                <a:spcPct val="150000"/>
              </a:lnSpc>
            </a:pPr>
            <a:r>
              <a:rPr lang="en-US" sz="2800" dirty="0"/>
              <a:t>✅ Here </a:t>
            </a:r>
            <a:r>
              <a:rPr lang="en-US" sz="2800" b="1" dirty="0"/>
              <a:t>he</a:t>
            </a:r>
            <a:r>
              <a:rPr lang="en-US" sz="2800" dirty="0"/>
              <a:t> comes. ❌ Here comes he.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✅ There </a:t>
            </a:r>
            <a:r>
              <a:rPr lang="en-US" sz="2800" b="1" dirty="0"/>
              <a:t>it</a:t>
            </a:r>
            <a:r>
              <a:rPr lang="en-US" sz="2800" dirty="0"/>
              <a:t> goes. ❌ There goes it.</a:t>
            </a:r>
          </a:p>
        </p:txBody>
      </p:sp>
    </p:spTree>
    <p:extLst>
      <p:ext uri="{BB962C8B-B14F-4D97-AF65-F5344CB8AC3E}">
        <p14:creationId xmlns:p14="http://schemas.microsoft.com/office/powerpoint/2010/main" val="817197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1A0C3-9875-E931-6972-84E88DF19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973394"/>
            <a:ext cx="11749548" cy="58846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present simple (be) → Should + subject + be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If you are free, call me. → Should you be free, call me.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she is ready, we will start. → Should she be ready, we will start.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they are interested, tell them. → Should they be interested, tell them.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you are ready, let me give you a test. →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the time is over, you must stop. →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04ED8A-99AC-53B1-D609-F59F892A4D8F}"/>
              </a:ext>
            </a:extLst>
          </p:cNvPr>
          <p:cNvSpPr txBox="1">
            <a:spLocks/>
          </p:cNvSpPr>
          <p:nvPr/>
        </p:nvSpPr>
        <p:spPr>
          <a:xfrm>
            <a:off x="1066800" y="0"/>
            <a:ext cx="10058400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Type1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072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7B61D-5499-6600-10A1-E3D940B30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F149-0053-6BB4-FD22-997F7BF85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973394"/>
            <a:ext cx="11749548" cy="58846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If + present simple (be negative) → Should + subject + not + be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you aren’t free, we will wait.</a:t>
            </a:r>
            <a:br>
              <a:rPr lang="en-US" sz="2800" dirty="0"/>
            </a:br>
            <a:r>
              <a:rPr lang="en-US" sz="2800" dirty="0"/>
              <a:t>→ Should you not be free, we will wait.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he isn’t here, we will start later.</a:t>
            </a:r>
            <a:br>
              <a:rPr lang="en-US" sz="2800" dirty="0"/>
            </a:br>
            <a:r>
              <a:rPr lang="en-US" sz="2800" dirty="0"/>
              <a:t>→ Should he not be here, we will start later.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they aren’t interested, we will cancel it.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 water isn’t hot enough, I won’t use it.</a:t>
            </a:r>
            <a:r>
              <a:rPr lang="en-US" dirty="0"/>
              <a:t> </a:t>
            </a:r>
            <a:r>
              <a:rPr lang="en-US" sz="2800" dirty="0"/>
              <a:t>→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C6084D-E22B-CDD2-BF11-8ED6FB7CBA0E}"/>
              </a:ext>
            </a:extLst>
          </p:cNvPr>
          <p:cNvSpPr txBox="1">
            <a:spLocks/>
          </p:cNvSpPr>
          <p:nvPr/>
        </p:nvSpPr>
        <p:spPr>
          <a:xfrm>
            <a:off x="931606" y="0"/>
            <a:ext cx="10328787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Type1 - 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746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A4295-4974-47AD-2302-EA82CB07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E9304-2D54-3C76-0E1A-3E5879A34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973394"/>
            <a:ext cx="11749548" cy="5884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present simple → Should + subject + 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600" dirty="0"/>
              <a:t>If you work hard, you will succeed.→ Should you work hard, you will succeed.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If he comes early, we will start. → Should he come early, we will start.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If you need help, call me. → Should you need help, call me.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If Ali struggles to understand the topic, the support teachers will help him. →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If Akbar keeps studying hard, he will get 9 from IELTS. →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32EC97-D47E-3292-541C-8C12185386CC}"/>
              </a:ext>
            </a:extLst>
          </p:cNvPr>
          <p:cNvSpPr txBox="1">
            <a:spLocks/>
          </p:cNvSpPr>
          <p:nvPr/>
        </p:nvSpPr>
        <p:spPr>
          <a:xfrm>
            <a:off x="1066800" y="0"/>
            <a:ext cx="10058400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Type1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019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76EF6-A218-F8B5-E0C6-59D545C10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3BC48-D032-5A56-773C-72B09EE76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973394"/>
            <a:ext cx="11749548" cy="5884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If + present simple (negative) → Should + subject + not + V1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you don’t practice, you will not improve.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Should</a:t>
            </a:r>
            <a:r>
              <a:rPr lang="en-US" sz="2800" dirty="0"/>
              <a:t> you not practice, you will not improve.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he doesn’t listen, he will make mistakes.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Should</a:t>
            </a:r>
            <a:r>
              <a:rPr lang="en-US" sz="2800" dirty="0"/>
              <a:t> he not listen, he will make mistakes.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they don’t follow the rules, they will be punished. →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you don’t learn everything I teach you, you will fail. →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AD5DED-F528-947E-945C-728B1D7EC0AA}"/>
              </a:ext>
            </a:extLst>
          </p:cNvPr>
          <p:cNvSpPr txBox="1">
            <a:spLocks/>
          </p:cNvSpPr>
          <p:nvPr/>
        </p:nvSpPr>
        <p:spPr>
          <a:xfrm>
            <a:off x="902109" y="0"/>
            <a:ext cx="10387781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Type1 - 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331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2E187-B436-6AA7-F68A-E2EA3519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80128-4BFE-2ABD-3775-121AA4B2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1" y="973394"/>
            <a:ext cx="11572569" cy="58846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subject + were → Were + subject…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she were here, she would help us.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→ </a:t>
            </a:r>
            <a:r>
              <a:rPr lang="en-US" sz="2800" b="1" dirty="0"/>
              <a:t>Were</a:t>
            </a:r>
            <a:r>
              <a:rPr lang="en-US" sz="2800" dirty="0"/>
              <a:t> she here, she would help us.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he were rich, he would travel the world.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→ </a:t>
            </a:r>
            <a:r>
              <a:rPr lang="en-US" sz="2800" b="1" dirty="0"/>
              <a:t>Were</a:t>
            </a:r>
            <a:r>
              <a:rPr lang="en-US" sz="2800" dirty="0"/>
              <a:t> he rich, he would travel the world.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they were tired, they would rest.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were you, I would study so hard.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you were me, what would you do? →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A4ECF6-BD44-1D2B-EDEE-5D306F332103}"/>
              </a:ext>
            </a:extLst>
          </p:cNvPr>
          <p:cNvSpPr txBox="1">
            <a:spLocks/>
          </p:cNvSpPr>
          <p:nvPr/>
        </p:nvSpPr>
        <p:spPr>
          <a:xfrm>
            <a:off x="1066800" y="0"/>
            <a:ext cx="10058400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Type2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508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5183-972B-9109-1548-D6F87F8D3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FBFF1-313C-7BB2-C50F-B7C4B29DC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73394"/>
            <a:ext cx="12192000" cy="58846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If + subject + were (negative) → Were + subject + not + adjective/verb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I weren’t busy, I would help you.</a:t>
            </a:r>
            <a:br>
              <a:rPr lang="en-US" sz="2800" dirty="0"/>
            </a:br>
            <a:r>
              <a:rPr lang="en-US" sz="2800" dirty="0"/>
              <a:t>→ Were I not busy, I would help you.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he weren’t so tired, he would come with us.</a:t>
            </a:r>
            <a:br>
              <a:rPr lang="en-US" sz="2800" dirty="0"/>
            </a:br>
            <a:r>
              <a:rPr lang="en-US" sz="2800" dirty="0"/>
              <a:t>→ Were he not so tired, he would come with us.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they weren’t at home, we would visit them.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 teacher weren’t here now, we would be sleeping. →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AF60FC-9A12-A6F1-7462-EEFC027C069F}"/>
              </a:ext>
            </a:extLst>
          </p:cNvPr>
          <p:cNvSpPr txBox="1">
            <a:spLocks/>
          </p:cNvSpPr>
          <p:nvPr/>
        </p:nvSpPr>
        <p:spPr>
          <a:xfrm>
            <a:off x="985684" y="0"/>
            <a:ext cx="10220632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Type2 - 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304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9F1C7-DB2E-0477-936A-BA00C00B4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9B70E-8E1E-1253-7F1E-EAA21AD84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73394"/>
            <a:ext cx="12192000" cy="58846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6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simple → Should + subject + base verb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he studied harder, he would pass the exam.</a:t>
            </a:r>
            <a:br>
              <a:rPr lang="en-US" sz="2800" dirty="0"/>
            </a:br>
            <a:r>
              <a:rPr lang="en-US" sz="2800" dirty="0"/>
              <a:t>→ Should he study harder, he would pass the exam.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she worked more, she would earn more money.</a:t>
            </a:r>
            <a:br>
              <a:rPr lang="en-US" sz="2800" dirty="0"/>
            </a:br>
            <a:r>
              <a:rPr lang="en-US" sz="2800" dirty="0"/>
              <a:t>→ Should she work more, she would earn more money.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they arrived early, they would get a seat.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you asked more questions, you would learn more. →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756B00-E836-9E5E-55D0-A77B9008D8B8}"/>
              </a:ext>
            </a:extLst>
          </p:cNvPr>
          <p:cNvSpPr txBox="1">
            <a:spLocks/>
          </p:cNvSpPr>
          <p:nvPr/>
        </p:nvSpPr>
        <p:spPr>
          <a:xfrm>
            <a:off x="1066800" y="0"/>
            <a:ext cx="10058400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Type2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481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97B8B-333B-DA16-685A-FB6065BAB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48B5E-9A4D-DBBD-A224-A43369198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73394"/>
            <a:ext cx="12192000" cy="58846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simple (negative) → Had + subject + not + V3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she didn’t make mistakes, she would pass the exam.</a:t>
            </a:r>
            <a:br>
              <a:rPr lang="en-US" sz="2800" dirty="0"/>
            </a:br>
            <a:r>
              <a:rPr lang="en-US" sz="2800" dirty="0"/>
              <a:t>→ Had she not made mistakes, she would pass the exam.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they didn’t lose time, they would finish earlier.</a:t>
            </a:r>
            <a:br>
              <a:rPr lang="en-US" sz="2800" dirty="0"/>
            </a:br>
            <a:r>
              <a:rPr lang="en-US" sz="2800" dirty="0"/>
              <a:t>→ Had they not lost time, they would finish earlier.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didn’t forget my notes, I would do better. →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you didn’t waste your time, you would find time for your study. →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1E534E-436E-266B-8C35-62321191C4DF}"/>
              </a:ext>
            </a:extLst>
          </p:cNvPr>
          <p:cNvSpPr txBox="1">
            <a:spLocks/>
          </p:cNvSpPr>
          <p:nvPr/>
        </p:nvSpPr>
        <p:spPr>
          <a:xfrm>
            <a:off x="936522" y="0"/>
            <a:ext cx="10318955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Type2 - 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8890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08EB-41E2-4FAB-1746-E5DBF543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6A106-0303-D09A-8D1C-D04787568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1" y="973394"/>
            <a:ext cx="12054349" cy="5884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simple (had) → Were + subject + (not)+ to + verb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she had more time, she would help us.</a:t>
            </a:r>
            <a:br>
              <a:rPr lang="en-US" sz="2800" dirty="0"/>
            </a:br>
            <a:r>
              <a:rPr lang="en-US" sz="2800" dirty="0"/>
              <a:t>→ Were she to have more time, she would help us.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they had a chance, they would join us.</a:t>
            </a:r>
            <a:br>
              <a:rPr lang="en-US" sz="2800" dirty="0"/>
            </a:br>
            <a:r>
              <a:rPr lang="en-US" sz="2800" dirty="0"/>
              <a:t>→ Were they to have a chance, they would join us.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didn’t have a lot of work now, I would go with you.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you had a million dollars, what would you do? →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A3539D-886A-ABD2-8892-0127268EDBD7}"/>
              </a:ext>
            </a:extLst>
          </p:cNvPr>
          <p:cNvSpPr txBox="1">
            <a:spLocks/>
          </p:cNvSpPr>
          <p:nvPr/>
        </p:nvSpPr>
        <p:spPr>
          <a:xfrm>
            <a:off x="1066800" y="0"/>
            <a:ext cx="10058400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Type2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995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05723-DB1A-ACE6-BB92-6F01DA63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8EAAB-C506-3F29-C08B-FD9F51D15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73394"/>
            <a:ext cx="12192000" cy="5884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perfect → Had + subject + V3/ed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I had known the truth, I would have told you.</a:t>
            </a:r>
            <a:br>
              <a:rPr lang="en-US" sz="2800" dirty="0"/>
            </a:br>
            <a:r>
              <a:rPr lang="en-US" sz="2800" dirty="0"/>
              <a:t>→ Had I known the truth, I would have told you.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Iroda had arrived earlier, she would have seen </a:t>
            </a:r>
            <a:r>
              <a:rPr lang="en-US" sz="2800" dirty="0" err="1"/>
              <a:t>Tomsonjon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→ Had Iroda arrived earlier, she would have seen </a:t>
            </a:r>
            <a:r>
              <a:rPr lang="en-US" sz="2800" dirty="0" err="1"/>
              <a:t>Tomsonjon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</a:t>
            </a:r>
            <a:r>
              <a:rPr lang="en-US" sz="2800" dirty="0" err="1"/>
              <a:t>Husanboy</a:t>
            </a:r>
            <a:r>
              <a:rPr lang="en-US" sz="2800" dirty="0"/>
              <a:t> had studied harder, he would have passed. →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you had come yesterday, you could have learned the topic. →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68511DD-DFE7-7D71-FC96-AA7EDB6D1A9C}"/>
              </a:ext>
            </a:extLst>
          </p:cNvPr>
          <p:cNvSpPr txBox="1">
            <a:spLocks/>
          </p:cNvSpPr>
          <p:nvPr/>
        </p:nvSpPr>
        <p:spPr>
          <a:xfrm>
            <a:off x="1066800" y="0"/>
            <a:ext cx="10058400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6629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41B1-ADF1-DDE3-6CF0-16190178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B4863-F716-910F-B014-922079C2F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73394"/>
            <a:ext cx="12192000" cy="5884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subject + had + not + V3 → Had + subject + not + V3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I hadn’t studied, I would have failed.</a:t>
            </a:r>
            <a:br>
              <a:rPr lang="en-US" sz="2800" dirty="0"/>
            </a:br>
            <a:r>
              <a:rPr lang="en-US" sz="2800" dirty="0"/>
              <a:t>→ Had I not studied, I would have failed.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she hadn’t called me, I wouldn’t have known about the exam.</a:t>
            </a:r>
            <a:br>
              <a:rPr lang="en-US" sz="2800" dirty="0"/>
            </a:br>
            <a:r>
              <a:rPr lang="en-US" sz="2800" dirty="0"/>
              <a:t>→ Had she not called me, I wouldn’t have known about the exam.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they hadn’t arrived on time, they would have missed the train.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you hadn’t helped him yesterday, he couldn’t have finished his work. →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9D214E-67B3-D62A-0B3C-FEE4B7D295B0}"/>
              </a:ext>
            </a:extLst>
          </p:cNvPr>
          <p:cNvSpPr txBox="1">
            <a:spLocks/>
          </p:cNvSpPr>
          <p:nvPr/>
        </p:nvSpPr>
        <p:spPr>
          <a:xfrm>
            <a:off x="931606" y="0"/>
            <a:ext cx="10328787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Type3 - 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790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C1594-37E6-F2CB-2126-DB13E983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53D0F-273D-3DBD-4A9F-96BE99C94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73394"/>
            <a:ext cx="12192000" cy="5884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perfect → Had + subject + (not) + V3/ed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I hadn’t studied hard, I wouldn’t be successful now.</a:t>
            </a:r>
            <a:br>
              <a:rPr lang="en-US" sz="2800" dirty="0"/>
            </a:br>
            <a:r>
              <a:rPr lang="en-US" sz="2800" dirty="0"/>
              <a:t>→ Had I not studied hard, I wouldn’t be successful now.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she had moved to London, she wouldn’t have this job now.</a:t>
            </a:r>
            <a:br>
              <a:rPr lang="en-US" sz="2800" dirty="0"/>
            </a:br>
            <a:r>
              <a:rPr lang="en-US" sz="2800" dirty="0"/>
              <a:t>→ Had she moved to London, she wouldn’t have this job now.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Akmal hadn’t trained earlier, he wouldn’t be strong now.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Anvar had tried harder, he would be a doctor now. →</a:t>
            </a:r>
          </a:p>
          <a:p>
            <a:pPr lvl="1">
              <a:lnSpc>
                <a:spcPct val="150000"/>
              </a:lnSpc>
            </a:pPr>
            <a:endParaRPr lang="en-US" sz="2800" dirty="0"/>
          </a:p>
          <a:p>
            <a:pPr lvl="1"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4FEA01-FB40-032C-F26D-FF34B188B84E}"/>
              </a:ext>
            </a:extLst>
          </p:cNvPr>
          <p:cNvSpPr txBox="1">
            <a:spLocks/>
          </p:cNvSpPr>
          <p:nvPr/>
        </p:nvSpPr>
        <p:spPr>
          <a:xfrm>
            <a:off x="235974" y="0"/>
            <a:ext cx="11710220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 Mixed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434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15E7D4-E976-FD78-2BB6-FDB94701D6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0042322"/>
              </p:ext>
            </p:extLst>
          </p:nvPr>
        </p:nvGraphicFramePr>
        <p:xfrm>
          <a:off x="0" y="0"/>
          <a:ext cx="12192000" cy="685799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368413">
                  <a:extLst>
                    <a:ext uri="{9D8B030D-6E8A-4147-A177-3AD203B41FA5}">
                      <a16:colId xmlns:a16="http://schemas.microsoft.com/office/drawing/2014/main" val="1819779222"/>
                    </a:ext>
                  </a:extLst>
                </a:gridCol>
                <a:gridCol w="6823587">
                  <a:extLst>
                    <a:ext uri="{9D8B030D-6E8A-4147-A177-3AD203B41FA5}">
                      <a16:colId xmlns:a16="http://schemas.microsoft.com/office/drawing/2014/main" val="1561652149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b="1"/>
                        <a:t>Type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b="1" dirty="0"/>
                        <a:t>Example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1947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Never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Never have I seen...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61341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Rarely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Rarely do we meet...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92627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Hardly...when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Hardly had I arrived when...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16703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No sooner...than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No sooner had I sat down than...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86858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Only then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Only then did I understand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14697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Not until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Not until midnight did he arrive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91149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Not only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Not only did he pass...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22617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Here comes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Here comes the bus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38730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In came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In came the teacher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57623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Place inversion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In the garden sat a cat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50982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Were I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Were I rich...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09037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Had I known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/>
                        <a:t>Had I known...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1821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Should you need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600" dirty="0"/>
                        <a:t>Should you need help...</a:t>
                      </a:r>
                    </a:p>
                  </a:txBody>
                  <a:tcPr marL="72345" marR="72345" marT="36172" marB="36172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366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180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1275</TotalTime>
  <Words>3581</Words>
  <Application>Microsoft Office PowerPoint</Application>
  <PresentationFormat>Widescreen</PresentationFormat>
  <Paragraphs>320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Arial Black</vt:lpstr>
      <vt:lpstr>Wingdings</vt:lpstr>
      <vt:lpstr>Wood Type</vt:lpstr>
      <vt:lpstr>INVERSION</vt:lpstr>
      <vt:lpstr>How to invert?</vt:lpstr>
      <vt:lpstr>Negative Adverbs at the Beginning</vt:lpstr>
      <vt:lpstr>Frequency Adverbs</vt:lpstr>
      <vt:lpstr>No Sooner ... Than</vt:lpstr>
      <vt:lpstr>Hardly / Scarcely / Barely ... When</vt:lpstr>
      <vt:lpstr>Only + Expression</vt:lpstr>
      <vt:lpstr>Only after noun</vt:lpstr>
      <vt:lpstr>Only after clause</vt:lpstr>
      <vt:lpstr>Only when clause</vt:lpstr>
      <vt:lpstr>Only then</vt:lpstr>
      <vt:lpstr>Only later</vt:lpstr>
      <vt:lpstr>Only by + V-ing</vt:lpstr>
      <vt:lpstr>Only in + noun</vt:lpstr>
      <vt:lpstr>Not until</vt:lpstr>
      <vt:lpstr>Not Only ... But Also</vt:lpstr>
      <vt:lpstr>Under No Circumstances / On No Account</vt:lpstr>
      <vt:lpstr>At no time</vt:lpstr>
      <vt:lpstr>Not once</vt:lpstr>
      <vt:lpstr>By no means</vt:lpstr>
      <vt:lpstr>In no way</vt:lpstr>
      <vt:lpstr>At No Time / In No Way / By No Means + aux + S…</vt:lpstr>
      <vt:lpstr>So + Adjective</vt:lpstr>
      <vt:lpstr>Such + Noun</vt:lpstr>
      <vt:lpstr>Movement Adverbs</vt:lpstr>
      <vt:lpstr>Place Expressions</vt:lpstr>
      <vt:lpstr>Here / There Inversion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65</cp:revision>
  <dcterms:created xsi:type="dcterms:W3CDTF">2026-06-09T12:31:40Z</dcterms:created>
  <dcterms:modified xsi:type="dcterms:W3CDTF">2026-06-10T09:46:52Z</dcterms:modified>
</cp:coreProperties>
</file>