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3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6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70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7200" cap="none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86083-8334-48E1-8767-6EACEF1E880E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 b="0"/>
            </a:lvl1pPr>
          </a:lstStyle>
          <a:p>
            <a:fld id="{6ABF4681-9E1D-454E-8844-DCCA6442E8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2569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86083-8334-48E1-8767-6EACEF1E880E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F4681-9E1D-454E-8844-DCCA6442E8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5925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C2586083-8334-48E1-8767-6EACEF1E880E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6ABF4681-9E1D-454E-8844-DCCA6442E8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1483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86083-8334-48E1-8767-6EACEF1E880E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F4681-9E1D-454E-8844-DCCA6442E8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8215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86083-8334-48E1-8767-6EACEF1E880E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F4681-9E1D-454E-8844-DCCA6442E8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004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86083-8334-48E1-8767-6EACEF1E880E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F4681-9E1D-454E-8844-DCCA6442E8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6639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86083-8334-48E1-8767-6EACEF1E880E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F4681-9E1D-454E-8844-DCCA6442E8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1847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86083-8334-48E1-8767-6EACEF1E880E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F4681-9E1D-454E-8844-DCCA6442E8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8247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86083-8334-48E1-8767-6EACEF1E880E}" type="datetimeFigureOut">
              <a:rPr lang="en-US" smtClean="0"/>
              <a:t>6/8/2026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F4681-9E1D-454E-8844-DCCA6442E8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641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86083-8334-48E1-8767-6EACEF1E880E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F4681-9E1D-454E-8844-DCCA6442E8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426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86083-8334-48E1-8767-6EACEF1E880E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F4681-9E1D-454E-8844-DCCA6442E8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559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C2586083-8334-48E1-8767-6EACEF1E880E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0">
                <a:solidFill>
                  <a:srgbClr val="FFFFFF"/>
                </a:solidFill>
                <a:latin typeface="+mj-lt"/>
              </a:defRPr>
            </a:lvl1pPr>
          </a:lstStyle>
          <a:p>
            <a:fld id="{6ABF4681-9E1D-454E-8844-DCCA6442E8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059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cap="none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33B1F-7EC1-9402-76F7-B313E39480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COMPARATIVE SUPERLATIVE ADJECTIVES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FC51EE-8B41-90DA-B1AD-5D0F7EB1B7A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3757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A3811-A3BD-41C9-2863-0CE2F9A0AF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7" y="0"/>
            <a:ext cx="10483055" cy="1068865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b="1" dirty="0" err="1">
                <a:solidFill>
                  <a:srgbClr val="FF0000"/>
                </a:solidFill>
              </a:rPr>
              <a:t>Sifatlarning</a:t>
            </a:r>
            <a:r>
              <a:rPr lang="en-US" sz="4000" b="1" dirty="0">
                <a:solidFill>
                  <a:srgbClr val="FF0000"/>
                </a:solidFill>
              </a:rPr>
              <a:t> </a:t>
            </a:r>
            <a:r>
              <a:rPr lang="en-US" sz="4000" b="1" dirty="0" err="1">
                <a:solidFill>
                  <a:srgbClr val="FF0000"/>
                </a:solidFill>
              </a:rPr>
              <a:t>qiyosiy</a:t>
            </a:r>
            <a:r>
              <a:rPr lang="en-US" sz="4000" b="1" dirty="0">
                <a:solidFill>
                  <a:srgbClr val="FF0000"/>
                </a:solidFill>
              </a:rPr>
              <a:t> </a:t>
            </a:r>
            <a:r>
              <a:rPr lang="en-US" sz="4000" b="1" dirty="0" err="1">
                <a:solidFill>
                  <a:srgbClr val="FF0000"/>
                </a:solidFill>
              </a:rPr>
              <a:t>va</a:t>
            </a:r>
            <a:r>
              <a:rPr lang="en-US" sz="4000" b="1" dirty="0">
                <a:solidFill>
                  <a:srgbClr val="FF0000"/>
                </a:solidFill>
              </a:rPr>
              <a:t> </a:t>
            </a:r>
            <a:r>
              <a:rPr lang="en-US" sz="4000" b="1" dirty="0" err="1">
                <a:solidFill>
                  <a:srgbClr val="FF0000"/>
                </a:solidFill>
              </a:rPr>
              <a:t>orttirma</a:t>
            </a:r>
            <a:r>
              <a:rPr lang="en-US" sz="4000" b="1" dirty="0">
                <a:solidFill>
                  <a:srgbClr val="FF0000"/>
                </a:solidFill>
              </a:rPr>
              <a:t> </a:t>
            </a:r>
            <a:r>
              <a:rPr lang="en-US" sz="4000" b="1" dirty="0" err="1">
                <a:solidFill>
                  <a:srgbClr val="FF0000"/>
                </a:solidFill>
              </a:rPr>
              <a:t>darajasi</a:t>
            </a:r>
            <a:endParaRPr lang="en-US" sz="4000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9B199-AF01-280D-0713-4D4071015B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7" y="1219200"/>
            <a:ext cx="11023829" cy="56388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b="1" i="1" dirty="0">
                <a:highlight>
                  <a:srgbClr val="FFFF00"/>
                </a:highlight>
              </a:rPr>
              <a:t>1. Nima </a:t>
            </a:r>
            <a:r>
              <a:rPr lang="en-US" sz="2800" b="1" i="1" dirty="0" err="1">
                <a:highlight>
                  <a:srgbClr val="FFFF00"/>
                </a:highlight>
              </a:rPr>
              <a:t>uchun</a:t>
            </a:r>
            <a:r>
              <a:rPr lang="en-US" sz="2800" b="1" i="1" dirty="0">
                <a:highlight>
                  <a:srgbClr val="FFFF00"/>
                </a:highlight>
              </a:rPr>
              <a:t> </a:t>
            </a:r>
            <a:r>
              <a:rPr lang="en-US" sz="2800" b="1" i="1" dirty="0" err="1">
                <a:highlight>
                  <a:srgbClr val="FFFF00"/>
                </a:highlight>
              </a:rPr>
              <a:t>ishlatiladi</a:t>
            </a:r>
            <a:r>
              <a:rPr lang="en-US" sz="2800" b="1" i="1" dirty="0">
                <a:highlight>
                  <a:srgbClr val="FFFF00"/>
                </a:highlight>
              </a:rPr>
              <a:t>? </a:t>
            </a:r>
            <a:r>
              <a:rPr lang="en-US" sz="2800" i="1" dirty="0" err="1">
                <a:highlight>
                  <a:srgbClr val="FFFF00"/>
                </a:highlight>
              </a:rPr>
              <a:t>Sifatlar</a:t>
            </a:r>
            <a:r>
              <a:rPr lang="en-US" sz="2800" i="1" dirty="0">
                <a:highlight>
                  <a:srgbClr val="FFFF00"/>
                </a:highlight>
              </a:rPr>
              <a:t> (adjectives) </a:t>
            </a:r>
            <a:r>
              <a:rPr lang="en-US" sz="2800" i="1" dirty="0" err="1">
                <a:highlight>
                  <a:srgbClr val="FFFF00"/>
                </a:highlight>
              </a:rPr>
              <a:t>odamlar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yoki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narsalarning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xususiyatini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bildiradi</a:t>
            </a:r>
            <a:r>
              <a:rPr lang="en-US" sz="2800" i="1" dirty="0">
                <a:highlight>
                  <a:srgbClr val="FFFF00"/>
                </a:highlight>
              </a:rPr>
              <a:t>: big, small, fast, beautiful</a:t>
            </a:r>
          </a:p>
          <a:p>
            <a:pPr>
              <a:lnSpc>
                <a:spcPct val="150000"/>
              </a:lnSpc>
            </a:pPr>
            <a:r>
              <a:rPr lang="en-US" sz="2800" i="1" dirty="0">
                <a:highlight>
                  <a:srgbClr val="FFFF00"/>
                </a:highlight>
              </a:rPr>
              <a:t>Biz </a:t>
            </a:r>
            <a:r>
              <a:rPr lang="en-US" sz="2800" i="1" dirty="0" err="1">
                <a:highlight>
                  <a:srgbClr val="FFFF00"/>
                </a:highlight>
              </a:rPr>
              <a:t>ularni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solishtirish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uchun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ishlatamiz</a:t>
            </a:r>
            <a:r>
              <a:rPr lang="en-US" sz="2800" i="1" dirty="0">
                <a:highlight>
                  <a:srgbClr val="FFFF00"/>
                </a:highlight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✅ Comparative (</a:t>
            </a:r>
            <a:r>
              <a:rPr lang="en-US" sz="2800" b="1" dirty="0" err="1"/>
              <a:t>qiyosiy</a:t>
            </a:r>
            <a:r>
              <a:rPr lang="en-US" sz="2800" b="1" dirty="0"/>
              <a:t> </a:t>
            </a:r>
            <a:r>
              <a:rPr lang="en-US" sz="2800" b="1" dirty="0" err="1"/>
              <a:t>daraja</a:t>
            </a:r>
            <a:r>
              <a:rPr lang="en-US" sz="2800" b="1" dirty="0"/>
              <a:t>)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→ 2 ta </a:t>
            </a:r>
            <a:r>
              <a:rPr lang="en-US" sz="2800" dirty="0" err="1"/>
              <a:t>narsa</a:t>
            </a:r>
            <a:r>
              <a:rPr lang="en-US" sz="2800" dirty="0"/>
              <a:t>/</a:t>
            </a:r>
            <a:r>
              <a:rPr lang="en-US" sz="2800" dirty="0" err="1"/>
              <a:t>odamni</a:t>
            </a:r>
            <a:r>
              <a:rPr lang="en-US" sz="2800" dirty="0"/>
              <a:t> </a:t>
            </a:r>
            <a:r>
              <a:rPr lang="en-US" sz="2800" dirty="0" err="1"/>
              <a:t>solishtiradi</a:t>
            </a:r>
            <a:endParaRPr lang="en-US" sz="2800" dirty="0"/>
          </a:p>
          <a:p>
            <a:pPr>
              <a:lnSpc>
                <a:spcPct val="150000"/>
              </a:lnSpc>
            </a:pPr>
            <a:r>
              <a:rPr lang="en-US" sz="2800" b="1" dirty="0"/>
              <a:t>✅ Superlative (</a:t>
            </a:r>
            <a:r>
              <a:rPr lang="en-US" sz="2800" b="1" dirty="0" err="1"/>
              <a:t>orttirma</a:t>
            </a:r>
            <a:r>
              <a:rPr lang="en-US" sz="2800" b="1" dirty="0"/>
              <a:t> </a:t>
            </a:r>
            <a:r>
              <a:rPr lang="en-US" sz="2800" b="1" dirty="0" err="1"/>
              <a:t>daraja</a:t>
            </a:r>
            <a:r>
              <a:rPr lang="en-US" sz="2800" b="1" dirty="0"/>
              <a:t>)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→ 1 ta </a:t>
            </a:r>
            <a:r>
              <a:rPr lang="en-US" sz="2800" dirty="0" err="1"/>
              <a:t>narsa</a:t>
            </a:r>
            <a:r>
              <a:rPr lang="en-US" sz="2800" dirty="0"/>
              <a:t>/</a:t>
            </a:r>
            <a:r>
              <a:rPr lang="en-US" sz="2800" dirty="0" err="1"/>
              <a:t>odamni</a:t>
            </a:r>
            <a:r>
              <a:rPr lang="en-US" sz="2800" dirty="0"/>
              <a:t> </a:t>
            </a:r>
            <a:r>
              <a:rPr lang="en-US" sz="2800" dirty="0" err="1"/>
              <a:t>hamma</a:t>
            </a:r>
            <a:r>
              <a:rPr lang="en-US" sz="2800" dirty="0"/>
              <a:t> </a:t>
            </a:r>
            <a:r>
              <a:rPr lang="en-US" sz="2800" dirty="0" err="1"/>
              <a:t>bilan</a:t>
            </a:r>
            <a:r>
              <a:rPr lang="en-US" sz="2800" dirty="0"/>
              <a:t> </a:t>
            </a:r>
            <a:r>
              <a:rPr lang="en-US" sz="2800" dirty="0" err="1"/>
              <a:t>solishtiradi</a:t>
            </a:r>
            <a:endParaRPr lang="en-US" sz="28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76331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2C3EE-4C7F-FE74-72D8-CADEB8A95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0"/>
            <a:ext cx="10058400" cy="126836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COMPARATIVE ADJECTIVES </a:t>
            </a:r>
            <a:r>
              <a:rPr lang="en-US" sz="2700" b="1" dirty="0">
                <a:solidFill>
                  <a:srgbClr val="FF0000"/>
                </a:solidFill>
              </a:rPr>
              <a:t>(</a:t>
            </a:r>
            <a:r>
              <a:rPr lang="en-US" sz="2700" b="1" dirty="0" err="1">
                <a:solidFill>
                  <a:srgbClr val="FF0000"/>
                </a:solidFill>
              </a:rPr>
              <a:t>Qiyosiy</a:t>
            </a:r>
            <a:r>
              <a:rPr lang="en-US" sz="2700" b="1" dirty="0">
                <a:solidFill>
                  <a:srgbClr val="FF0000"/>
                </a:solidFill>
              </a:rPr>
              <a:t> </a:t>
            </a:r>
            <a:r>
              <a:rPr lang="en-US" sz="2700" b="1" dirty="0" err="1">
                <a:solidFill>
                  <a:srgbClr val="FF0000"/>
                </a:solidFill>
              </a:rPr>
              <a:t>daraja</a:t>
            </a:r>
            <a:r>
              <a:rPr lang="en-US" sz="2700" b="1" dirty="0">
                <a:solidFill>
                  <a:srgbClr val="FF0000"/>
                </a:solidFill>
              </a:rPr>
              <a:t>)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CF2416-81ED-F36C-FF6F-4AC8867D7A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720645"/>
            <a:ext cx="10058400" cy="4451555"/>
          </a:xfrm>
        </p:spPr>
        <p:txBody>
          <a:bodyPr/>
          <a:lstStyle/>
          <a:p>
            <a:r>
              <a:rPr lang="en-US" sz="2800" b="1" dirty="0">
                <a:solidFill>
                  <a:srgbClr val="00B0F0"/>
                </a:solidFill>
              </a:rPr>
              <a:t>adjective + -er + than  | more + adjective + than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Jasur is </a:t>
            </a:r>
            <a:r>
              <a:rPr lang="en-US" sz="2800" b="1" dirty="0"/>
              <a:t>taller than</a:t>
            </a:r>
            <a:r>
              <a:rPr lang="en-US" sz="2800" dirty="0"/>
              <a:t> Dilshod.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Tashkent is </a:t>
            </a:r>
            <a:r>
              <a:rPr lang="en-US" sz="2800" b="1" dirty="0"/>
              <a:t>bigger than</a:t>
            </a:r>
            <a:r>
              <a:rPr lang="en-US" sz="2800" dirty="0"/>
              <a:t> Samarkand.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This box is </a:t>
            </a:r>
            <a:r>
              <a:rPr lang="en-US" sz="2800" b="1" dirty="0"/>
              <a:t>smaller than</a:t>
            </a:r>
            <a:r>
              <a:rPr lang="en-US" sz="2800" dirty="0"/>
              <a:t> that one.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Akbar is </a:t>
            </a:r>
            <a:r>
              <a:rPr lang="en-US" sz="2800" b="1" dirty="0"/>
              <a:t>faster than</a:t>
            </a:r>
            <a:r>
              <a:rPr lang="en-US" sz="2800" dirty="0"/>
              <a:t> Rustam.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The room is </a:t>
            </a:r>
            <a:r>
              <a:rPr lang="en-US" sz="2800" b="1" dirty="0"/>
              <a:t>colder than</a:t>
            </a:r>
            <a:r>
              <a:rPr lang="en-US" sz="2800" dirty="0"/>
              <a:t> yesterday.</a:t>
            </a:r>
          </a:p>
        </p:txBody>
      </p:sp>
    </p:spTree>
    <p:extLst>
      <p:ext uri="{BB962C8B-B14F-4D97-AF65-F5344CB8AC3E}">
        <p14:creationId xmlns:p14="http://schemas.microsoft.com/office/powerpoint/2010/main" val="23378598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F39DB-8068-F173-E232-974BF22E8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0"/>
            <a:ext cx="10058400" cy="1100667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Spelling rules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66167B-5FC2-3BB7-D6B3-40392A9C4F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895149"/>
            <a:ext cx="11125200" cy="607291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0B0F0"/>
                </a:solidFill>
              </a:rPr>
              <a:t>-e </a:t>
            </a:r>
            <a:r>
              <a:rPr lang="en-US" sz="2800" b="1" dirty="0" err="1">
                <a:solidFill>
                  <a:srgbClr val="00B0F0"/>
                </a:solidFill>
              </a:rPr>
              <a:t>bilan</a:t>
            </a:r>
            <a:r>
              <a:rPr lang="en-US" sz="2800" b="1" dirty="0">
                <a:solidFill>
                  <a:srgbClr val="00B0F0"/>
                </a:solidFill>
              </a:rPr>
              <a:t> </a:t>
            </a:r>
            <a:r>
              <a:rPr lang="en-US" sz="2800" b="1" dirty="0" err="1">
                <a:solidFill>
                  <a:srgbClr val="00B0F0"/>
                </a:solidFill>
              </a:rPr>
              <a:t>tugasa</a:t>
            </a:r>
            <a:r>
              <a:rPr lang="en-US" sz="2800" b="1" dirty="0">
                <a:solidFill>
                  <a:srgbClr val="00B0F0"/>
                </a:solidFill>
              </a:rPr>
              <a:t> → + r</a:t>
            </a:r>
          </a:p>
          <a:p>
            <a:pPr lvl="1">
              <a:lnSpc>
                <a:spcPct val="100000"/>
              </a:lnSpc>
            </a:pPr>
            <a:r>
              <a:rPr lang="en-US" sz="2800" b="1" dirty="0"/>
              <a:t>nice → nicer | large → larger </a:t>
            </a:r>
          </a:p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0B0F0"/>
                </a:solidFill>
              </a:rPr>
              <a:t>vowel + consonant → double consonant</a:t>
            </a:r>
          </a:p>
          <a:p>
            <a:pPr lvl="1">
              <a:lnSpc>
                <a:spcPct val="100000"/>
              </a:lnSpc>
            </a:pPr>
            <a:r>
              <a:rPr lang="en-US" sz="2800" b="1" dirty="0"/>
              <a:t>big → bigger | hot → hotter </a:t>
            </a:r>
          </a:p>
          <a:p>
            <a:pPr>
              <a:lnSpc>
                <a:spcPct val="100000"/>
              </a:lnSpc>
            </a:pPr>
            <a:r>
              <a:rPr lang="en-US" sz="2800" b="1" dirty="0"/>
              <a:t> </a:t>
            </a:r>
            <a:r>
              <a:rPr lang="en-US" sz="2800" b="1" dirty="0">
                <a:solidFill>
                  <a:srgbClr val="00B0F0"/>
                </a:solidFill>
              </a:rPr>
              <a:t>-y </a:t>
            </a:r>
            <a:r>
              <a:rPr lang="en-US" sz="2800" b="1" dirty="0" err="1">
                <a:solidFill>
                  <a:srgbClr val="00B0F0"/>
                </a:solidFill>
              </a:rPr>
              <a:t>bilan</a:t>
            </a:r>
            <a:r>
              <a:rPr lang="en-US" sz="2800" b="1" dirty="0">
                <a:solidFill>
                  <a:srgbClr val="00B0F0"/>
                </a:solidFill>
              </a:rPr>
              <a:t> </a:t>
            </a:r>
            <a:r>
              <a:rPr lang="en-US" sz="2800" b="1" dirty="0" err="1">
                <a:solidFill>
                  <a:srgbClr val="00B0F0"/>
                </a:solidFill>
              </a:rPr>
              <a:t>tugagan</a:t>
            </a:r>
            <a:r>
              <a:rPr lang="en-US" sz="2800" b="1" dirty="0">
                <a:solidFill>
                  <a:srgbClr val="00B0F0"/>
                </a:solidFill>
              </a:rPr>
              <a:t> </a:t>
            </a:r>
            <a:r>
              <a:rPr lang="en-US" sz="2800" b="1" dirty="0" err="1">
                <a:solidFill>
                  <a:srgbClr val="00B0F0"/>
                </a:solidFill>
              </a:rPr>
              <a:t>sifatlar</a:t>
            </a:r>
            <a:r>
              <a:rPr lang="en-US" sz="2800" dirty="0">
                <a:solidFill>
                  <a:srgbClr val="00B0F0"/>
                </a:solidFill>
              </a:rPr>
              <a:t> → </a:t>
            </a:r>
            <a:r>
              <a:rPr lang="en-US" sz="2800" dirty="0" err="1">
                <a:solidFill>
                  <a:srgbClr val="00B0F0"/>
                </a:solidFill>
              </a:rPr>
              <a:t>i</a:t>
            </a:r>
            <a:r>
              <a:rPr lang="en-US" sz="2800" dirty="0">
                <a:solidFill>
                  <a:srgbClr val="00B0F0"/>
                </a:solidFill>
              </a:rPr>
              <a:t> + er</a:t>
            </a:r>
          </a:p>
          <a:p>
            <a:pPr lvl="1">
              <a:lnSpc>
                <a:spcPct val="100000"/>
              </a:lnSpc>
            </a:pPr>
            <a:r>
              <a:rPr lang="en-US" sz="2800" dirty="0"/>
              <a:t>happy → happier | easy → easier </a:t>
            </a:r>
          </a:p>
          <a:p>
            <a:pPr lvl="2">
              <a:lnSpc>
                <a:spcPct val="100000"/>
              </a:lnSpc>
            </a:pPr>
            <a:r>
              <a:rPr lang="en-US" sz="2800" dirty="0"/>
              <a:t>Nigora is </a:t>
            </a:r>
            <a:r>
              <a:rPr lang="en-US" sz="2800" b="1" dirty="0"/>
              <a:t>happier than</a:t>
            </a:r>
            <a:r>
              <a:rPr lang="en-US" sz="2800" dirty="0"/>
              <a:t> Malika. </a:t>
            </a:r>
          </a:p>
          <a:p>
            <a:pPr lvl="2">
              <a:lnSpc>
                <a:spcPct val="100000"/>
              </a:lnSpc>
            </a:pPr>
            <a:r>
              <a:rPr lang="en-US" sz="2800" dirty="0"/>
              <a:t>This exam is </a:t>
            </a:r>
            <a:r>
              <a:rPr lang="en-US" sz="2800" b="1" dirty="0"/>
              <a:t>easier than</a:t>
            </a:r>
            <a:r>
              <a:rPr lang="en-US" sz="2800" dirty="0"/>
              <a:t> the last one. </a:t>
            </a:r>
          </a:p>
          <a:p>
            <a:pPr lvl="2">
              <a:lnSpc>
                <a:spcPct val="100000"/>
              </a:lnSpc>
            </a:pPr>
            <a:r>
              <a:rPr lang="en-US" sz="2800" dirty="0"/>
              <a:t>Jasur is </a:t>
            </a:r>
            <a:r>
              <a:rPr lang="en-US" sz="2800" b="1" dirty="0"/>
              <a:t>busier than</a:t>
            </a:r>
            <a:r>
              <a:rPr lang="en-US" sz="2800" dirty="0"/>
              <a:t> before. </a:t>
            </a:r>
          </a:p>
          <a:p>
            <a:pPr lvl="2">
              <a:lnSpc>
                <a:spcPct val="100000"/>
              </a:lnSpc>
            </a:pPr>
            <a:r>
              <a:rPr lang="en-US" sz="2800" dirty="0"/>
              <a:t>The task is </a:t>
            </a:r>
            <a:r>
              <a:rPr lang="en-US" sz="2800" b="1" dirty="0" err="1"/>
              <a:t>funnyier</a:t>
            </a:r>
            <a:r>
              <a:rPr lang="en-US" sz="2800" b="1" dirty="0"/>
              <a:t> than</a:t>
            </a:r>
            <a:r>
              <a:rPr lang="en-US" sz="2800" dirty="0"/>
              <a:t> I expected. </a:t>
            </a:r>
          </a:p>
          <a:p>
            <a:pPr lvl="2">
              <a:lnSpc>
                <a:spcPct val="100000"/>
              </a:lnSpc>
            </a:pPr>
            <a:r>
              <a:rPr lang="en-US" sz="2800" dirty="0"/>
              <a:t>School today is </a:t>
            </a:r>
            <a:r>
              <a:rPr lang="en-US" sz="2800" b="1" dirty="0"/>
              <a:t>easier than</a:t>
            </a:r>
            <a:r>
              <a:rPr lang="en-US" sz="2800" dirty="0"/>
              <a:t> yesterday.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62466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0982E7-0E9D-AFAA-5F82-EAE5CA280F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015D3-3D95-1217-C3E5-0DEE7C66E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0"/>
            <a:ext cx="10058400" cy="1100667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Spelling rules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7CE600-4038-5109-3605-BF02E0081B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895149"/>
            <a:ext cx="11125200" cy="607291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00B0F0"/>
                </a:solidFill>
              </a:rPr>
              <a:t>Uzun </a:t>
            </a:r>
            <a:r>
              <a:rPr lang="en-US" sz="2800" b="1" dirty="0" err="1">
                <a:solidFill>
                  <a:srgbClr val="00B0F0"/>
                </a:solidFill>
              </a:rPr>
              <a:t>sifatlar</a:t>
            </a:r>
            <a:r>
              <a:rPr lang="en-US" sz="2800" b="1" dirty="0">
                <a:solidFill>
                  <a:srgbClr val="00B0F0"/>
                </a:solidFill>
              </a:rPr>
              <a:t> (2+ </a:t>
            </a:r>
            <a:r>
              <a:rPr lang="en-US" sz="2800" b="1" dirty="0" err="1">
                <a:solidFill>
                  <a:srgbClr val="00B0F0"/>
                </a:solidFill>
              </a:rPr>
              <a:t>bo‘g‘in</a:t>
            </a:r>
            <a:r>
              <a:rPr lang="en-US" sz="2800" b="1" dirty="0">
                <a:solidFill>
                  <a:srgbClr val="00B0F0"/>
                </a:solidFill>
              </a:rPr>
              <a:t>) - </a:t>
            </a:r>
            <a:r>
              <a:rPr lang="en-US" sz="2800" dirty="0">
                <a:solidFill>
                  <a:srgbClr val="00B0F0"/>
                </a:solidFill>
              </a:rPr>
              <a:t>more + adjective + than</a:t>
            </a:r>
          </a:p>
          <a:p>
            <a:pPr lvl="1">
              <a:lnSpc>
                <a:spcPct val="150000"/>
              </a:lnSpc>
            </a:pPr>
            <a:r>
              <a:rPr lang="en-US" sz="2800" b="1" dirty="0">
                <a:solidFill>
                  <a:srgbClr val="00B050"/>
                </a:solidFill>
              </a:rPr>
              <a:t>more interesting | more beautiful </a:t>
            </a:r>
          </a:p>
          <a:p>
            <a:pPr lvl="2">
              <a:lnSpc>
                <a:spcPct val="150000"/>
              </a:lnSpc>
            </a:pPr>
            <a:r>
              <a:rPr lang="en-US" sz="2800" dirty="0"/>
              <a:t>This book is </a:t>
            </a:r>
            <a:r>
              <a:rPr lang="en-US" sz="2800" b="1" dirty="0"/>
              <a:t>more interesting than</a:t>
            </a:r>
            <a:r>
              <a:rPr lang="en-US" sz="2800" dirty="0"/>
              <a:t> that one. </a:t>
            </a:r>
          </a:p>
          <a:p>
            <a:pPr lvl="2">
              <a:lnSpc>
                <a:spcPct val="150000"/>
              </a:lnSpc>
            </a:pPr>
            <a:r>
              <a:rPr lang="en-US" sz="2800" dirty="0"/>
              <a:t>Samarkand is </a:t>
            </a:r>
            <a:r>
              <a:rPr lang="en-US" sz="2800" b="1" dirty="0"/>
              <a:t>more beautiful than</a:t>
            </a:r>
            <a:r>
              <a:rPr lang="en-US" sz="2800" dirty="0"/>
              <a:t> Bukhara. </a:t>
            </a:r>
          </a:p>
          <a:p>
            <a:pPr lvl="2">
              <a:lnSpc>
                <a:spcPct val="150000"/>
              </a:lnSpc>
            </a:pPr>
            <a:r>
              <a:rPr lang="en-US" sz="2800" dirty="0"/>
              <a:t>This film is </a:t>
            </a:r>
            <a:r>
              <a:rPr lang="en-US" sz="2800" b="1" dirty="0"/>
              <a:t>more exciting than</a:t>
            </a:r>
            <a:r>
              <a:rPr lang="en-US" sz="2800" dirty="0"/>
              <a:t> the previous one. </a:t>
            </a:r>
          </a:p>
          <a:p>
            <a:pPr lvl="2">
              <a:lnSpc>
                <a:spcPct val="150000"/>
              </a:lnSpc>
            </a:pPr>
            <a:r>
              <a:rPr lang="en-US" sz="2800" dirty="0"/>
              <a:t>English is </a:t>
            </a:r>
            <a:r>
              <a:rPr lang="en-US" sz="2800" b="1" dirty="0"/>
              <a:t>more useful than</a:t>
            </a:r>
            <a:r>
              <a:rPr lang="en-US" sz="2800" dirty="0"/>
              <a:t> history for me. </a:t>
            </a:r>
          </a:p>
          <a:p>
            <a:pPr lvl="2">
              <a:lnSpc>
                <a:spcPct val="150000"/>
              </a:lnSpc>
            </a:pPr>
            <a:r>
              <a:rPr lang="en-US" sz="2800" dirty="0"/>
              <a:t>This road is </a:t>
            </a:r>
            <a:r>
              <a:rPr lang="en-US" sz="2800" b="1" dirty="0"/>
              <a:t>more dangerous than</a:t>
            </a:r>
            <a:r>
              <a:rPr lang="en-US" sz="2800" dirty="0"/>
              <a:t> that one.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4616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5B621-0F56-9321-093E-D07BD9E94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0"/>
            <a:ext cx="10058400" cy="943276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Irregular comparative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6E5DC5-9A89-3E2B-E383-6A6B94E0DC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267" y="808522"/>
            <a:ext cx="11556733" cy="536367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dirty="0"/>
              <a:t>This book is </a:t>
            </a:r>
            <a:r>
              <a:rPr lang="en-US" sz="2800" b="1" dirty="0"/>
              <a:t>better than</a:t>
            </a:r>
            <a:r>
              <a:rPr lang="en-US" sz="2800" dirty="0"/>
              <a:t> that one.  My result is </a:t>
            </a:r>
            <a:r>
              <a:rPr lang="en-US" sz="2800" b="1" dirty="0"/>
              <a:t>worse than</a:t>
            </a:r>
            <a:r>
              <a:rPr lang="en-US" sz="2800" dirty="0"/>
              <a:t> before.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Tashkent is </a:t>
            </a:r>
            <a:r>
              <a:rPr lang="en-US" sz="2800" b="1" dirty="0"/>
              <a:t>farther than</a:t>
            </a:r>
            <a:r>
              <a:rPr lang="en-US" sz="2800" dirty="0"/>
              <a:t> Samarkand from here.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This film is </a:t>
            </a:r>
            <a:r>
              <a:rPr lang="en-US" sz="2800" b="1" dirty="0"/>
              <a:t>better than</a:t>
            </a:r>
            <a:r>
              <a:rPr lang="en-US" sz="2800" dirty="0"/>
              <a:t> the old one.  Your English is </a:t>
            </a:r>
            <a:r>
              <a:rPr lang="en-US" sz="2800" b="1" dirty="0"/>
              <a:t>better than</a:t>
            </a:r>
            <a:r>
              <a:rPr lang="en-US" sz="2800" dirty="0"/>
              <a:t> mine.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81D6C61-3D80-1820-658F-4A6AD34D03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6606521"/>
              </p:ext>
            </p:extLst>
          </p:nvPr>
        </p:nvGraphicFramePr>
        <p:xfrm>
          <a:off x="635267" y="3357278"/>
          <a:ext cx="10921467" cy="3108960"/>
        </p:xfrm>
        <a:graphic>
          <a:graphicData uri="http://schemas.openxmlformats.org/drawingml/2006/table">
            <a:tbl>
              <a:tblPr/>
              <a:tblGrid>
                <a:gridCol w="3640489">
                  <a:extLst>
                    <a:ext uri="{9D8B030D-6E8A-4147-A177-3AD203B41FA5}">
                      <a16:colId xmlns:a16="http://schemas.microsoft.com/office/drawing/2014/main" val="1770120026"/>
                    </a:ext>
                  </a:extLst>
                </a:gridCol>
                <a:gridCol w="3640489">
                  <a:extLst>
                    <a:ext uri="{9D8B030D-6E8A-4147-A177-3AD203B41FA5}">
                      <a16:colId xmlns:a16="http://schemas.microsoft.com/office/drawing/2014/main" val="227001245"/>
                    </a:ext>
                  </a:extLst>
                </a:gridCol>
                <a:gridCol w="3640489">
                  <a:extLst>
                    <a:ext uri="{9D8B030D-6E8A-4147-A177-3AD203B41FA5}">
                      <a16:colId xmlns:a16="http://schemas.microsoft.com/office/drawing/2014/main" val="40798571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/>
                        <a:t>Base form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/>
                        <a:t>Comparative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 dirty="0"/>
                        <a:t>Superlative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67033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good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better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the best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84561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bad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worse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the worst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729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far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farther / further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the farthest / furthest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69793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little (amount)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less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the least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10649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much / many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more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the most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12399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04304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73EE0-F325-26E0-7518-ED2E1656D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0"/>
            <a:ext cx="10058400" cy="1328286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rgbClr val="FF0000"/>
                </a:solidFill>
              </a:rPr>
              <a:t>SUPERLATIVE ADJECTIVES </a:t>
            </a:r>
            <a:r>
              <a:rPr lang="en-US" sz="3200" b="1" dirty="0">
                <a:solidFill>
                  <a:srgbClr val="FF0000"/>
                </a:solidFill>
              </a:rPr>
              <a:t>(</a:t>
            </a:r>
            <a:r>
              <a:rPr lang="en-US" sz="3200" b="1" dirty="0" err="1">
                <a:solidFill>
                  <a:srgbClr val="FF0000"/>
                </a:solidFill>
              </a:rPr>
              <a:t>Orttirma</a:t>
            </a:r>
            <a:r>
              <a:rPr lang="en-US" sz="3200" b="1" dirty="0">
                <a:solidFill>
                  <a:srgbClr val="FF0000"/>
                </a:solidFill>
              </a:rPr>
              <a:t> </a:t>
            </a:r>
            <a:r>
              <a:rPr lang="en-US" sz="3200" b="1" dirty="0" err="1">
                <a:solidFill>
                  <a:srgbClr val="FF0000"/>
                </a:solidFill>
              </a:rPr>
              <a:t>daraja</a:t>
            </a:r>
            <a:r>
              <a:rPr lang="en-US" sz="3200" b="1" dirty="0">
                <a:solidFill>
                  <a:srgbClr val="FF0000"/>
                </a:solidFill>
              </a:rPr>
              <a:t>)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2BD6BF-51CB-DA8B-1C4C-E6DF482982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5726" y="1328287"/>
            <a:ext cx="10058400" cy="531555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00B0F0"/>
                </a:solidFill>
              </a:rPr>
              <a:t>the + adjective + -est   |   the most + adjective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Dilshod is </a:t>
            </a:r>
            <a:r>
              <a:rPr lang="en-US" sz="2800" b="1" dirty="0"/>
              <a:t>the</a:t>
            </a:r>
            <a:r>
              <a:rPr lang="en-US" sz="2800" dirty="0"/>
              <a:t> </a:t>
            </a:r>
            <a:r>
              <a:rPr lang="en-US" sz="2800" b="1" dirty="0"/>
              <a:t>tallest</a:t>
            </a:r>
            <a:r>
              <a:rPr lang="en-US" sz="2800" dirty="0"/>
              <a:t> boy in the class.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Tashkent is </a:t>
            </a:r>
            <a:r>
              <a:rPr lang="en-US" sz="2800" b="1" dirty="0"/>
              <a:t>the</a:t>
            </a:r>
            <a:r>
              <a:rPr lang="en-US" sz="2800" dirty="0"/>
              <a:t> </a:t>
            </a:r>
            <a:r>
              <a:rPr lang="en-US" sz="2800" b="1" dirty="0"/>
              <a:t>biggest</a:t>
            </a:r>
            <a:r>
              <a:rPr lang="en-US" sz="2800" dirty="0"/>
              <a:t> city in Uzbekistan.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This is </a:t>
            </a:r>
            <a:r>
              <a:rPr lang="en-US" sz="2800" b="1" dirty="0"/>
              <a:t>the</a:t>
            </a:r>
            <a:r>
              <a:rPr lang="en-US" sz="2800" dirty="0"/>
              <a:t> </a:t>
            </a:r>
            <a:r>
              <a:rPr lang="en-US" sz="2800" b="1" dirty="0"/>
              <a:t>smallest</a:t>
            </a:r>
            <a:r>
              <a:rPr lang="en-US" sz="2800" dirty="0"/>
              <a:t> room in the house.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 Akbar is </a:t>
            </a:r>
            <a:r>
              <a:rPr lang="en-US" sz="2800" b="1" dirty="0"/>
              <a:t>the</a:t>
            </a:r>
            <a:r>
              <a:rPr lang="en-US" sz="2800" dirty="0"/>
              <a:t> </a:t>
            </a:r>
            <a:r>
              <a:rPr lang="en-US" sz="2800" b="1" dirty="0"/>
              <a:t>most fascinating </a:t>
            </a:r>
            <a:r>
              <a:rPr lang="en-US" sz="2800" dirty="0"/>
              <a:t>student.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This apple is </a:t>
            </a:r>
            <a:r>
              <a:rPr lang="en-US" sz="2800" b="1" dirty="0"/>
              <a:t>the</a:t>
            </a:r>
            <a:r>
              <a:rPr lang="en-US" sz="2800" dirty="0"/>
              <a:t> </a:t>
            </a:r>
            <a:r>
              <a:rPr lang="en-US" sz="2800" b="1" dirty="0"/>
              <a:t>biggest</a:t>
            </a:r>
            <a:r>
              <a:rPr lang="en-US" sz="2800" dirty="0"/>
              <a:t> of all.</a:t>
            </a:r>
          </a:p>
        </p:txBody>
      </p:sp>
    </p:spTree>
    <p:extLst>
      <p:ext uri="{BB962C8B-B14F-4D97-AF65-F5344CB8AC3E}">
        <p14:creationId xmlns:p14="http://schemas.microsoft.com/office/powerpoint/2010/main" val="19734763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0F4FE8-5B1F-B8BB-DC5B-21BA74A2D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8844D-A75B-549E-33AF-8BFFEF447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0"/>
            <a:ext cx="10058400" cy="1100667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Spelling rules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4DE177-CC82-16A7-D586-DA94A07BC5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3961" y="895149"/>
            <a:ext cx="11838039" cy="607291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600" b="1" i="1" dirty="0">
                <a:highlight>
                  <a:srgbClr val="FFFF00"/>
                </a:highlight>
              </a:rPr>
              <a:t>Most adjectives → add –est - </a:t>
            </a:r>
            <a:r>
              <a:rPr lang="en-US" sz="2600" i="1" dirty="0">
                <a:highlight>
                  <a:srgbClr val="FFFF00"/>
                </a:highlight>
              </a:rPr>
              <a:t>Just add </a:t>
            </a:r>
            <a:r>
              <a:rPr lang="en-US" sz="2600" b="1" i="1" dirty="0">
                <a:highlight>
                  <a:srgbClr val="FFFF00"/>
                </a:highlight>
              </a:rPr>
              <a:t>-est</a:t>
            </a:r>
            <a:r>
              <a:rPr lang="en-US" sz="2600" i="1" dirty="0">
                <a:highlight>
                  <a:srgbClr val="FFFF00"/>
                </a:highlight>
              </a:rPr>
              <a:t> to the end of short adjectives.</a:t>
            </a:r>
          </a:p>
          <a:p>
            <a:pPr lvl="1">
              <a:lnSpc>
                <a:spcPct val="150000"/>
              </a:lnSpc>
            </a:pPr>
            <a:r>
              <a:rPr lang="en-US" sz="2600" b="1" dirty="0">
                <a:solidFill>
                  <a:srgbClr val="00B0F0"/>
                </a:solidFill>
              </a:rPr>
              <a:t>tall → the tallest | small → the smallest | cold → the coldest </a:t>
            </a:r>
          </a:p>
          <a:p>
            <a:pPr>
              <a:lnSpc>
                <a:spcPct val="150000"/>
              </a:lnSpc>
            </a:pPr>
            <a:r>
              <a:rPr lang="en-US" sz="2600" b="1" i="1" dirty="0">
                <a:highlight>
                  <a:srgbClr val="FFFF00"/>
                </a:highlight>
              </a:rPr>
              <a:t>Adjectives ending in -e → add –st - </a:t>
            </a:r>
            <a:r>
              <a:rPr lang="en-US" sz="2600" i="1" dirty="0">
                <a:highlight>
                  <a:srgbClr val="FFFF00"/>
                </a:highlight>
              </a:rPr>
              <a:t>If adjective ends in </a:t>
            </a:r>
            <a:r>
              <a:rPr lang="en-US" sz="2600" b="1" i="1" dirty="0">
                <a:highlight>
                  <a:srgbClr val="FFFF00"/>
                </a:highlight>
              </a:rPr>
              <a:t>-e</a:t>
            </a:r>
            <a:r>
              <a:rPr lang="en-US" sz="2600" i="1" dirty="0">
                <a:highlight>
                  <a:srgbClr val="FFFF00"/>
                </a:highlight>
              </a:rPr>
              <a:t>, just add </a:t>
            </a:r>
            <a:r>
              <a:rPr lang="en-US" sz="2600" b="1" i="1" dirty="0">
                <a:highlight>
                  <a:srgbClr val="FFFF00"/>
                </a:highlight>
              </a:rPr>
              <a:t>-st</a:t>
            </a:r>
            <a:r>
              <a:rPr lang="en-US" sz="2600" i="1" dirty="0">
                <a:highlight>
                  <a:srgbClr val="FFFF00"/>
                </a:highlight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en-US" sz="2600" b="1" dirty="0">
                <a:solidFill>
                  <a:srgbClr val="00B0F0"/>
                </a:solidFill>
              </a:rPr>
              <a:t>nice → the nicest | large → the largest | safe → the safest </a:t>
            </a:r>
          </a:p>
          <a:p>
            <a:pPr>
              <a:lnSpc>
                <a:spcPct val="150000"/>
              </a:lnSpc>
            </a:pPr>
            <a:r>
              <a:rPr lang="en-US" sz="2600" b="1" i="1" dirty="0">
                <a:highlight>
                  <a:srgbClr val="FFFF00"/>
                </a:highlight>
              </a:rPr>
              <a:t>One vowel + one consonant → double consonant + -est - </a:t>
            </a:r>
            <a:r>
              <a:rPr lang="en-US" sz="2600" i="1" dirty="0">
                <a:highlight>
                  <a:srgbClr val="FFFF00"/>
                </a:highlight>
              </a:rPr>
              <a:t>If the adjective ends in </a:t>
            </a:r>
            <a:r>
              <a:rPr lang="en-US" sz="2600" b="1" i="1" dirty="0">
                <a:highlight>
                  <a:srgbClr val="FFFF00"/>
                </a:highlight>
              </a:rPr>
              <a:t>consonant–vowel–consonant (CVC)</a:t>
            </a:r>
            <a:r>
              <a:rPr lang="en-US" sz="2600" i="1" dirty="0">
                <a:highlight>
                  <a:srgbClr val="FFFF00"/>
                </a:highlight>
              </a:rPr>
              <a:t>, double the final consonant.</a:t>
            </a:r>
          </a:p>
          <a:p>
            <a:pPr lvl="1">
              <a:lnSpc>
                <a:spcPct val="150000"/>
              </a:lnSpc>
            </a:pPr>
            <a:r>
              <a:rPr lang="en-US" sz="2600" b="1" dirty="0">
                <a:solidFill>
                  <a:srgbClr val="00B0F0"/>
                </a:solidFill>
              </a:rPr>
              <a:t>big → the biggest | hot → the hottest | fat → the fattest</a:t>
            </a:r>
          </a:p>
          <a:p>
            <a:pPr>
              <a:lnSpc>
                <a:spcPct val="150000"/>
              </a:lnSpc>
            </a:pP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20896961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4CC903-7A74-8F9D-6643-912806866E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BE5AE-3F02-336E-F525-1FD7EA7DA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0"/>
            <a:ext cx="10058400" cy="1100667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Spelling rules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5860FF-BC38-4353-24C9-8ECA885B7F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465" y="895149"/>
            <a:ext cx="11867535" cy="6072918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sz="2800" b="1" i="1" dirty="0">
                <a:highlight>
                  <a:srgbClr val="FFFF00"/>
                </a:highlight>
              </a:rPr>
              <a:t>Adjectives ending in -y → change y to </a:t>
            </a:r>
            <a:r>
              <a:rPr lang="en-US" sz="2800" b="1" i="1" dirty="0" err="1">
                <a:highlight>
                  <a:srgbClr val="FFFF00"/>
                </a:highlight>
              </a:rPr>
              <a:t>i</a:t>
            </a:r>
            <a:r>
              <a:rPr lang="en-US" sz="2800" b="1" i="1" dirty="0">
                <a:highlight>
                  <a:srgbClr val="FFFF00"/>
                </a:highlight>
              </a:rPr>
              <a:t> + -est - </a:t>
            </a:r>
            <a:r>
              <a:rPr lang="en-US" sz="2800" i="1" dirty="0">
                <a:highlight>
                  <a:srgbClr val="FFFF00"/>
                </a:highlight>
              </a:rPr>
              <a:t>Change </a:t>
            </a:r>
            <a:r>
              <a:rPr lang="en-US" sz="2800" b="1" i="1" dirty="0">
                <a:highlight>
                  <a:srgbClr val="FFFF00"/>
                </a:highlight>
              </a:rPr>
              <a:t>-y → -</a:t>
            </a:r>
            <a:r>
              <a:rPr lang="en-US" sz="2800" b="1" i="1" dirty="0" err="1">
                <a:highlight>
                  <a:srgbClr val="FFFF00"/>
                </a:highlight>
              </a:rPr>
              <a:t>i</a:t>
            </a:r>
            <a:r>
              <a:rPr lang="en-US" sz="2800" b="1" i="1" dirty="0">
                <a:highlight>
                  <a:srgbClr val="FFFF00"/>
                </a:highlight>
              </a:rPr>
              <a:t> + est</a:t>
            </a:r>
            <a:endParaRPr lang="en-US" sz="2800" i="1" dirty="0">
              <a:highlight>
                <a:srgbClr val="FFFF00"/>
              </a:highlight>
            </a:endParaRPr>
          </a:p>
          <a:p>
            <a:pPr>
              <a:lnSpc>
                <a:spcPct val="200000"/>
              </a:lnSpc>
            </a:pPr>
            <a:r>
              <a:rPr lang="en-US" sz="2800" b="1" dirty="0">
                <a:solidFill>
                  <a:srgbClr val="00B0F0"/>
                </a:solidFill>
              </a:rPr>
              <a:t>happy → the happiest | busy → the busiest | easy → the easiest </a:t>
            </a:r>
          </a:p>
          <a:p>
            <a:pPr>
              <a:lnSpc>
                <a:spcPct val="200000"/>
              </a:lnSpc>
            </a:pPr>
            <a:r>
              <a:rPr lang="en-US" sz="2800" b="1" i="1" dirty="0">
                <a:highlight>
                  <a:srgbClr val="FFFF00"/>
                </a:highlight>
              </a:rPr>
              <a:t>Long adjectives (2+ syllables) → use most - </a:t>
            </a:r>
            <a:r>
              <a:rPr lang="en-US" sz="2800" i="1" dirty="0">
                <a:highlight>
                  <a:srgbClr val="FFFF00"/>
                </a:highlight>
              </a:rPr>
              <a:t>Do NOT add -</a:t>
            </a:r>
            <a:r>
              <a:rPr lang="en-US" sz="2800" b="1" i="1" dirty="0">
                <a:highlight>
                  <a:srgbClr val="FFFF00"/>
                </a:highlight>
              </a:rPr>
              <a:t>est</a:t>
            </a:r>
            <a:r>
              <a:rPr lang="en-US" sz="2800" i="1" dirty="0">
                <a:highlight>
                  <a:srgbClr val="FFFF00"/>
                </a:highlight>
              </a:rPr>
              <a:t>. Use </a:t>
            </a:r>
            <a:r>
              <a:rPr lang="en-US" sz="2800" b="1" i="1" dirty="0">
                <a:highlight>
                  <a:srgbClr val="FFFF00"/>
                </a:highlight>
              </a:rPr>
              <a:t>the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b="1" i="1" dirty="0">
                <a:highlight>
                  <a:srgbClr val="FFFF00"/>
                </a:highlight>
              </a:rPr>
              <a:t>most + adjective</a:t>
            </a:r>
            <a:endParaRPr lang="en-US" sz="2800" i="1" dirty="0">
              <a:highlight>
                <a:srgbClr val="FFFF00"/>
              </a:highlight>
            </a:endParaRPr>
          </a:p>
          <a:p>
            <a:pPr>
              <a:lnSpc>
                <a:spcPct val="200000"/>
              </a:lnSpc>
            </a:pPr>
            <a:r>
              <a:rPr lang="en-US" sz="2800" b="1" dirty="0">
                <a:solidFill>
                  <a:srgbClr val="00B0F0"/>
                </a:solidFill>
              </a:rPr>
              <a:t>beautiful → the most beautiful | expensive → the most expensive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37571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F99E59-CB6E-9CBB-C4EE-A3EA9A05F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FD4DE-C6EE-B966-6CFD-349B9F0F2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0"/>
            <a:ext cx="10449052" cy="1100667"/>
          </a:xfrm>
        </p:spPr>
        <p:txBody>
          <a:bodyPr>
            <a:no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</a:rPr>
              <a:t>Spelling rules - </a:t>
            </a:r>
            <a:r>
              <a:rPr lang="en-US" sz="3600" dirty="0">
                <a:solidFill>
                  <a:srgbClr val="FF0000"/>
                </a:solidFill>
              </a:rPr>
              <a:t>irregular superlative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A3E4F1A-3E00-CACA-A2D3-C99E2265AE7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66480926"/>
              </p:ext>
            </p:extLst>
          </p:nvPr>
        </p:nvGraphicFramePr>
        <p:xfrm>
          <a:off x="0" y="723424"/>
          <a:ext cx="12192000" cy="6134576"/>
        </p:xfrm>
        <a:graphic>
          <a:graphicData uri="http://schemas.openxmlformats.org/drawingml/2006/table">
            <a:tbl>
              <a:tblPr/>
              <a:tblGrid>
                <a:gridCol w="4492831">
                  <a:extLst>
                    <a:ext uri="{9D8B030D-6E8A-4147-A177-3AD203B41FA5}">
                      <a16:colId xmlns:a16="http://schemas.microsoft.com/office/drawing/2014/main" val="2610322030"/>
                    </a:ext>
                  </a:extLst>
                </a:gridCol>
                <a:gridCol w="3503221">
                  <a:extLst>
                    <a:ext uri="{9D8B030D-6E8A-4147-A177-3AD203B41FA5}">
                      <a16:colId xmlns:a16="http://schemas.microsoft.com/office/drawing/2014/main" val="2319732788"/>
                    </a:ext>
                  </a:extLst>
                </a:gridCol>
                <a:gridCol w="4195948">
                  <a:extLst>
                    <a:ext uri="{9D8B030D-6E8A-4147-A177-3AD203B41FA5}">
                      <a16:colId xmlns:a16="http://schemas.microsoft.com/office/drawing/2014/main" val="4235980120"/>
                    </a:ext>
                  </a:extLst>
                </a:gridCol>
              </a:tblGrid>
              <a:tr h="8602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/>
                        <a:t>Base form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/>
                        <a:t>Comparative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 dirty="0"/>
                        <a:t>Superlative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0976664"/>
                  </a:ext>
                </a:extLst>
              </a:tr>
              <a:tr h="8602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good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better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 dirty="0"/>
                        <a:t>The best</a:t>
                      </a:r>
                      <a:endParaRPr lang="en-US" sz="2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2704797"/>
                  </a:ext>
                </a:extLst>
              </a:tr>
              <a:tr h="9069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bad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worse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 dirty="0"/>
                        <a:t>The worst</a:t>
                      </a:r>
                      <a:endParaRPr lang="en-US" sz="2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8358346"/>
                  </a:ext>
                </a:extLst>
              </a:tr>
              <a:tr h="8516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far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farther / further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 dirty="0"/>
                        <a:t>The farthest / furthest</a:t>
                      </a:r>
                      <a:endParaRPr lang="en-US" sz="2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7497660"/>
                  </a:ext>
                </a:extLst>
              </a:tr>
              <a:tr h="9349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little (amount)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less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 dirty="0"/>
                        <a:t>The least</a:t>
                      </a:r>
                      <a:endParaRPr lang="en-US" sz="2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8544005"/>
                  </a:ext>
                </a:extLst>
              </a:tr>
              <a:tr h="8602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much (uncountable)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more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 dirty="0"/>
                        <a:t>The most</a:t>
                      </a:r>
                      <a:endParaRPr lang="en-US" sz="2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8808172"/>
                  </a:ext>
                </a:extLst>
              </a:tr>
              <a:tr h="8602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many (countable)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more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 dirty="0"/>
                        <a:t>The most</a:t>
                      </a:r>
                      <a:endParaRPr lang="en-US" sz="2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98933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8017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5E962-BC7C-5EBB-CC9B-50CE4BFFF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3752" y="0"/>
            <a:ext cx="10058400" cy="1238865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Stronger comparisons </a:t>
            </a:r>
            <a:br>
              <a:rPr lang="en-US" b="1" dirty="0">
                <a:solidFill>
                  <a:srgbClr val="FF0000"/>
                </a:solidFill>
              </a:rPr>
            </a:br>
            <a:r>
              <a:rPr lang="en-US" sz="2800" b="1" dirty="0">
                <a:solidFill>
                  <a:srgbClr val="FF0000"/>
                </a:solidFill>
              </a:rPr>
              <a:t>(emphasis)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25855E-D2F2-5F85-0D17-2005F96A17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290" y="1435510"/>
            <a:ext cx="11798710" cy="5422490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US" sz="2800" dirty="0"/>
              <a:t>We use: </a:t>
            </a:r>
            <a:r>
              <a:rPr lang="en-US" sz="2800" b="1" dirty="0">
                <a:solidFill>
                  <a:srgbClr val="00B050"/>
                </a:solidFill>
              </a:rPr>
              <a:t>much</a:t>
            </a:r>
            <a:r>
              <a:rPr lang="en-US" sz="2800" dirty="0">
                <a:solidFill>
                  <a:srgbClr val="00B050"/>
                </a:solidFill>
              </a:rPr>
              <a:t> | </a:t>
            </a:r>
            <a:r>
              <a:rPr lang="en-US" sz="2800" b="1" dirty="0">
                <a:solidFill>
                  <a:srgbClr val="00B050"/>
                </a:solidFill>
              </a:rPr>
              <a:t>a lot</a:t>
            </a:r>
            <a:r>
              <a:rPr lang="en-US" sz="2800" dirty="0">
                <a:solidFill>
                  <a:srgbClr val="00B050"/>
                </a:solidFill>
              </a:rPr>
              <a:t>  | </a:t>
            </a:r>
            <a:r>
              <a:rPr lang="en-US" sz="2800" b="1" dirty="0">
                <a:solidFill>
                  <a:srgbClr val="00B050"/>
                </a:solidFill>
              </a:rPr>
              <a:t>far</a:t>
            </a:r>
            <a:r>
              <a:rPr lang="en-US" sz="2800" dirty="0">
                <a:solidFill>
                  <a:srgbClr val="00B050"/>
                </a:solidFill>
              </a:rPr>
              <a:t> | </a:t>
            </a:r>
            <a:r>
              <a:rPr lang="en-US" sz="2800" b="1" dirty="0">
                <a:solidFill>
                  <a:srgbClr val="00B050"/>
                </a:solidFill>
              </a:rPr>
              <a:t>even</a:t>
            </a:r>
            <a:r>
              <a:rPr lang="en-US" sz="2800" dirty="0">
                <a:solidFill>
                  <a:srgbClr val="00B050"/>
                </a:solidFill>
              </a:rPr>
              <a:t> | </a:t>
            </a:r>
            <a:r>
              <a:rPr lang="en-US" sz="2800" b="1" dirty="0">
                <a:solidFill>
                  <a:srgbClr val="00B050"/>
                </a:solidFill>
              </a:rPr>
              <a:t>rather</a:t>
            </a:r>
            <a:r>
              <a:rPr lang="en-US" sz="2800" dirty="0">
                <a:solidFill>
                  <a:srgbClr val="00B050"/>
                </a:solidFill>
              </a:rPr>
              <a:t> </a:t>
            </a:r>
            <a:r>
              <a:rPr lang="en-US" sz="2800" b="1" dirty="0">
                <a:solidFill>
                  <a:srgbClr val="00B050"/>
                </a:solidFill>
              </a:rPr>
              <a:t>| way | a great deal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Structure:  </a:t>
            </a:r>
            <a:r>
              <a:rPr lang="en-US" sz="2800" b="1" dirty="0">
                <a:solidFill>
                  <a:srgbClr val="00B0F0"/>
                </a:solidFill>
              </a:rPr>
              <a:t>much / a lot / far / even… + comparative adjective + than</a:t>
            </a:r>
            <a:endParaRPr lang="en-US" sz="2800" dirty="0">
              <a:solidFill>
                <a:srgbClr val="00B0F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800" dirty="0"/>
              <a:t>This exam is </a:t>
            </a:r>
            <a:r>
              <a:rPr lang="en-US" sz="2800" b="1" dirty="0"/>
              <a:t>much harder than</a:t>
            </a:r>
            <a:r>
              <a:rPr lang="en-US" sz="2800" dirty="0"/>
              <a:t> the last one.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My house is </a:t>
            </a:r>
            <a:r>
              <a:rPr lang="en-US" sz="2800" b="1" dirty="0"/>
              <a:t>a lot bigger than</a:t>
            </a:r>
            <a:r>
              <a:rPr lang="en-US" sz="2800" dirty="0"/>
              <a:t> yours.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She is </a:t>
            </a:r>
            <a:r>
              <a:rPr lang="en-US" sz="2800" b="1" dirty="0"/>
              <a:t>far more talented than</a:t>
            </a:r>
            <a:r>
              <a:rPr lang="en-US" sz="2800" dirty="0"/>
              <a:t> her classmates.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Today is </a:t>
            </a:r>
            <a:r>
              <a:rPr lang="en-US" sz="2800" b="1" dirty="0"/>
              <a:t>even colder than</a:t>
            </a:r>
            <a:r>
              <a:rPr lang="en-US" sz="2800" dirty="0"/>
              <a:t> yesterday.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The situation is </a:t>
            </a:r>
            <a:r>
              <a:rPr lang="en-US" sz="2800" b="1" dirty="0"/>
              <a:t>rather worse than</a:t>
            </a:r>
            <a:r>
              <a:rPr lang="en-US" sz="2800" dirty="0"/>
              <a:t> we expected.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800" i="1" dirty="0">
                <a:highlight>
                  <a:srgbClr val="FFFF00"/>
                </a:highlight>
              </a:rPr>
              <a:t>Meaning: The difference is </a:t>
            </a:r>
            <a:r>
              <a:rPr lang="en-US" sz="2800" b="1" i="1" dirty="0">
                <a:highlight>
                  <a:srgbClr val="FFFF00"/>
                </a:highlight>
              </a:rPr>
              <a:t>big and clear</a:t>
            </a:r>
            <a:endParaRPr lang="en-US" sz="2800" i="1" dirty="0">
              <a:highlight>
                <a:srgbClr val="FFFF00"/>
              </a:highlight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60203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F452E-CD2E-9F6D-9BA8-43972CFF6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0"/>
            <a:ext cx="10058400" cy="110121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“than ever” (extra emphasis)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596708-0D93-6E89-CAF7-E70DCC1A80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012723"/>
            <a:ext cx="11122152" cy="5845277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US" sz="2800" b="1" dirty="0"/>
              <a:t>Structure: </a:t>
            </a:r>
            <a:r>
              <a:rPr lang="en-US" sz="2800" b="1" dirty="0">
                <a:solidFill>
                  <a:srgbClr val="00B0F0"/>
                </a:solidFill>
              </a:rPr>
              <a:t>comparative adjective + than ever</a:t>
            </a:r>
            <a:endParaRPr lang="en-US" sz="2800" dirty="0">
              <a:solidFill>
                <a:srgbClr val="00B0F0"/>
              </a:solidFill>
            </a:endParaRPr>
          </a:p>
          <a:p>
            <a:pPr lvl="1">
              <a:lnSpc>
                <a:spcPct val="200000"/>
              </a:lnSpc>
            </a:pPr>
            <a:r>
              <a:rPr lang="en-US" sz="2800" dirty="0"/>
              <a:t>I’m </a:t>
            </a:r>
            <a:r>
              <a:rPr lang="en-US" sz="2800" b="1" dirty="0"/>
              <a:t>happier than ever</a:t>
            </a:r>
            <a:r>
              <a:rPr lang="en-US" sz="2800" dirty="0"/>
              <a:t> in my new job. </a:t>
            </a:r>
          </a:p>
          <a:p>
            <a:pPr lvl="1">
              <a:lnSpc>
                <a:spcPct val="200000"/>
              </a:lnSpc>
            </a:pPr>
            <a:r>
              <a:rPr lang="en-US" sz="2800" dirty="0"/>
              <a:t>This city is </a:t>
            </a:r>
            <a:r>
              <a:rPr lang="en-US" sz="2800" b="1" dirty="0"/>
              <a:t>busier than ever</a:t>
            </a:r>
            <a:r>
              <a:rPr lang="en-US" sz="2800" dirty="0"/>
              <a:t>. </a:t>
            </a:r>
          </a:p>
          <a:p>
            <a:pPr lvl="1">
              <a:lnSpc>
                <a:spcPct val="200000"/>
              </a:lnSpc>
            </a:pPr>
            <a:r>
              <a:rPr lang="en-US" sz="2800" dirty="0"/>
              <a:t>She feels </a:t>
            </a:r>
            <a:r>
              <a:rPr lang="en-US" sz="2800" b="1" dirty="0"/>
              <a:t>more confident than ever</a:t>
            </a:r>
            <a:r>
              <a:rPr lang="en-US" sz="2800" dirty="0"/>
              <a:t>. </a:t>
            </a:r>
          </a:p>
          <a:p>
            <a:pPr>
              <a:lnSpc>
                <a:spcPct val="200000"/>
              </a:lnSpc>
            </a:pPr>
            <a:r>
              <a:rPr lang="en-US" sz="2800" i="1" dirty="0">
                <a:highlight>
                  <a:srgbClr val="FFFF00"/>
                </a:highlight>
              </a:rPr>
              <a:t>Meaning: stronger than all previous times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89093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0A029-1B96-7DD0-D660-6E0E0F0E5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1"/>
            <a:ext cx="10058400" cy="1150374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400" b="1" dirty="0">
                <a:solidFill>
                  <a:srgbClr val="FF0000"/>
                </a:solidFill>
              </a:rPr>
              <a:t>Softer comparisons (less strong)</a:t>
            </a:r>
            <a:endParaRPr lang="en-US" sz="4400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9A02F7-297C-5D24-575C-DF741EDDF0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5575" y="1415845"/>
            <a:ext cx="11149780" cy="5442155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00B050"/>
                </a:solidFill>
              </a:rPr>
              <a:t>We use: </a:t>
            </a:r>
            <a:r>
              <a:rPr lang="en-US" sz="3200" b="1" dirty="0">
                <a:solidFill>
                  <a:srgbClr val="00B050"/>
                </a:solidFill>
              </a:rPr>
              <a:t>a little</a:t>
            </a:r>
            <a:r>
              <a:rPr lang="en-US" sz="3200" dirty="0">
                <a:solidFill>
                  <a:srgbClr val="00B050"/>
                </a:solidFill>
              </a:rPr>
              <a:t> | </a:t>
            </a:r>
            <a:r>
              <a:rPr lang="en-US" sz="3200" b="1" dirty="0">
                <a:solidFill>
                  <a:srgbClr val="00B050"/>
                </a:solidFill>
              </a:rPr>
              <a:t>a bit</a:t>
            </a:r>
            <a:r>
              <a:rPr lang="en-US" sz="3200" dirty="0">
                <a:solidFill>
                  <a:srgbClr val="00B050"/>
                </a:solidFill>
              </a:rPr>
              <a:t> (more informal) </a:t>
            </a:r>
          </a:p>
          <a:p>
            <a:pPr>
              <a:lnSpc>
                <a:spcPct val="150000"/>
              </a:lnSpc>
            </a:pPr>
            <a:r>
              <a:rPr lang="en-US" sz="3200" b="1" dirty="0"/>
              <a:t>Structure:  </a:t>
            </a:r>
            <a:r>
              <a:rPr lang="en-US" sz="3200" b="1" dirty="0">
                <a:solidFill>
                  <a:srgbClr val="00B0F0"/>
                </a:solidFill>
              </a:rPr>
              <a:t>a little / a bit + comparative adjective + than</a:t>
            </a:r>
            <a:endParaRPr lang="en-US" sz="3200" dirty="0">
              <a:solidFill>
                <a:srgbClr val="00B0F0"/>
              </a:solidFill>
            </a:endParaRPr>
          </a:p>
          <a:p>
            <a:pPr lvl="1">
              <a:lnSpc>
                <a:spcPct val="150000"/>
              </a:lnSpc>
            </a:pPr>
            <a:r>
              <a:rPr lang="en-US" sz="3200" dirty="0"/>
              <a:t>This task is </a:t>
            </a:r>
            <a:r>
              <a:rPr lang="en-US" sz="3200" b="1" dirty="0"/>
              <a:t>a little easier than</a:t>
            </a:r>
            <a:r>
              <a:rPr lang="en-US" sz="3200" dirty="0"/>
              <a:t> the last one. </a:t>
            </a:r>
          </a:p>
          <a:p>
            <a:pPr lvl="1">
              <a:lnSpc>
                <a:spcPct val="150000"/>
              </a:lnSpc>
            </a:pPr>
            <a:r>
              <a:rPr lang="en-US" sz="3200" dirty="0"/>
              <a:t>He is </a:t>
            </a:r>
            <a:r>
              <a:rPr lang="en-US" sz="3200" b="1" dirty="0"/>
              <a:t>a bit taller than</a:t>
            </a:r>
            <a:r>
              <a:rPr lang="en-US" sz="3200" dirty="0"/>
              <a:t> his brother. </a:t>
            </a:r>
          </a:p>
          <a:p>
            <a:pPr lvl="1">
              <a:lnSpc>
                <a:spcPct val="150000"/>
              </a:lnSpc>
            </a:pPr>
            <a:r>
              <a:rPr lang="en-US" sz="3200" dirty="0"/>
              <a:t>I feel </a:t>
            </a:r>
            <a:r>
              <a:rPr lang="en-US" sz="3200" b="1" dirty="0"/>
              <a:t>a little more relaxed than</a:t>
            </a:r>
            <a:r>
              <a:rPr lang="en-US" sz="3200" dirty="0"/>
              <a:t> before. </a:t>
            </a:r>
          </a:p>
          <a:p>
            <a:pPr lvl="1">
              <a:lnSpc>
                <a:spcPct val="150000"/>
              </a:lnSpc>
            </a:pPr>
            <a:r>
              <a:rPr lang="en-US" sz="3200" dirty="0"/>
              <a:t>This movie is </a:t>
            </a:r>
            <a:r>
              <a:rPr lang="en-US" sz="3200" b="1" dirty="0"/>
              <a:t>a bit more interesting than</a:t>
            </a:r>
            <a:r>
              <a:rPr lang="en-US" sz="3200" dirty="0"/>
              <a:t> the book. </a:t>
            </a:r>
          </a:p>
          <a:p>
            <a:pPr>
              <a:lnSpc>
                <a:spcPct val="150000"/>
              </a:lnSpc>
            </a:pPr>
            <a:r>
              <a:rPr lang="en-US" sz="3200" i="1" dirty="0">
                <a:highlight>
                  <a:srgbClr val="FFFF00"/>
                </a:highlight>
              </a:rPr>
              <a:t>Meaning: small or slight difference</a:t>
            </a:r>
          </a:p>
          <a:p>
            <a:pPr>
              <a:lnSpc>
                <a:spcPct val="150000"/>
              </a:lnSpc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6397188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72D75-27E7-1B69-B133-4E386C41C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0"/>
            <a:ext cx="10058400" cy="1170039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-er and -er / more and more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B62D9-9940-4CEF-BCCB-E73DA55AE1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1071716"/>
            <a:ext cx="12192000" cy="5786284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50000"/>
              </a:lnSpc>
            </a:pPr>
            <a:r>
              <a:rPr lang="en-US" sz="2800" dirty="0"/>
              <a:t>We use this structure to show that something is </a:t>
            </a:r>
            <a:r>
              <a:rPr lang="en-US" sz="2800" b="1" dirty="0"/>
              <a:t>increasing gradually over time</a:t>
            </a:r>
            <a:r>
              <a:rPr lang="en-US" sz="2800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sz="2800" b="1" dirty="0"/>
              <a:t>Short adjectives:  </a:t>
            </a:r>
            <a:r>
              <a:rPr lang="en-US" sz="2800" b="1" dirty="0">
                <a:solidFill>
                  <a:srgbClr val="00B0F0"/>
                </a:solidFill>
              </a:rPr>
              <a:t>comparative + and + comparative</a:t>
            </a:r>
            <a:endParaRPr lang="en-US" sz="2800" dirty="0">
              <a:solidFill>
                <a:srgbClr val="00B0F0"/>
              </a:solidFill>
            </a:endParaRPr>
          </a:p>
          <a:p>
            <a:pPr lvl="2">
              <a:lnSpc>
                <a:spcPct val="150000"/>
              </a:lnSpc>
            </a:pPr>
            <a:r>
              <a:rPr lang="en-US" sz="2800" b="1" dirty="0">
                <a:solidFill>
                  <a:srgbClr val="00B050"/>
                </a:solidFill>
              </a:rPr>
              <a:t>hotter and hotter |  bigger and bigger</a:t>
            </a:r>
          </a:p>
          <a:p>
            <a:pPr lvl="2">
              <a:lnSpc>
                <a:spcPct val="150000"/>
              </a:lnSpc>
            </a:pPr>
            <a:r>
              <a:rPr lang="en-US" sz="2800" b="1" dirty="0">
                <a:solidFill>
                  <a:srgbClr val="00B050"/>
                </a:solidFill>
              </a:rPr>
              <a:t>stronger and stronger |  busier and busier</a:t>
            </a:r>
          </a:p>
          <a:p>
            <a:pPr lvl="1">
              <a:lnSpc>
                <a:spcPct val="150000"/>
              </a:lnSpc>
            </a:pPr>
            <a:r>
              <a:rPr lang="en-US" sz="2800" b="1" dirty="0"/>
              <a:t>Long adjectives:  </a:t>
            </a:r>
            <a:r>
              <a:rPr lang="en-US" sz="2800" b="1" dirty="0">
                <a:solidFill>
                  <a:srgbClr val="00B0F0"/>
                </a:solidFill>
              </a:rPr>
              <a:t>more and more + adjective</a:t>
            </a:r>
            <a:endParaRPr lang="en-US" sz="2800" dirty="0">
              <a:solidFill>
                <a:srgbClr val="00B0F0"/>
              </a:solidFill>
            </a:endParaRPr>
          </a:p>
          <a:p>
            <a:pPr lvl="2">
              <a:lnSpc>
                <a:spcPct val="150000"/>
              </a:lnSpc>
            </a:pPr>
            <a:r>
              <a:rPr lang="en-US" sz="2800" b="1" dirty="0">
                <a:solidFill>
                  <a:srgbClr val="00B050"/>
                </a:solidFill>
              </a:rPr>
              <a:t>more and more confident  |  more and more interesting</a:t>
            </a:r>
          </a:p>
          <a:p>
            <a:pPr lvl="2">
              <a:lnSpc>
                <a:spcPct val="150000"/>
              </a:lnSpc>
            </a:pPr>
            <a:r>
              <a:rPr lang="en-US" sz="2800" b="1" dirty="0">
                <a:solidFill>
                  <a:srgbClr val="00B050"/>
                </a:solidFill>
              </a:rPr>
              <a:t>more and more difficult</a:t>
            </a:r>
          </a:p>
          <a:p>
            <a:pPr>
              <a:lnSpc>
                <a:spcPct val="150000"/>
              </a:lnSpc>
            </a:pPr>
            <a:r>
              <a:rPr lang="en-US" sz="2800" i="1" dirty="0">
                <a:highlight>
                  <a:srgbClr val="FFFF00"/>
                </a:highlight>
              </a:rPr>
              <a:t>Bu </a:t>
            </a:r>
            <a:r>
              <a:rPr lang="en-US" sz="2800" i="1" dirty="0" err="1">
                <a:highlight>
                  <a:srgbClr val="FFFF00"/>
                </a:highlight>
              </a:rPr>
              <a:t>tuzilma</a:t>
            </a:r>
            <a:r>
              <a:rPr lang="en-US" sz="2800" i="1" dirty="0">
                <a:highlight>
                  <a:srgbClr val="FFFF00"/>
                </a:highlight>
              </a:rPr>
              <a:t> “brogan sari </a:t>
            </a:r>
            <a:r>
              <a:rPr lang="en-US" sz="2800" i="1" dirty="0" err="1">
                <a:highlight>
                  <a:srgbClr val="FFFF00"/>
                </a:highlight>
              </a:rPr>
              <a:t>kuchayib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bormoqda</a:t>
            </a:r>
            <a:r>
              <a:rPr lang="en-US" sz="2800" i="1" dirty="0">
                <a:highlight>
                  <a:srgbClr val="FFFF00"/>
                </a:highlight>
              </a:rPr>
              <a:t> / </a:t>
            </a:r>
            <a:r>
              <a:rPr lang="en-US" sz="2800" i="1" dirty="0" err="1">
                <a:highlight>
                  <a:srgbClr val="FFFF00"/>
                </a:highlight>
              </a:rPr>
              <a:t>tobora</a:t>
            </a:r>
            <a:r>
              <a:rPr lang="en-US" sz="2800" i="1" dirty="0">
                <a:highlight>
                  <a:srgbClr val="FFFF00"/>
                </a:highlight>
              </a:rPr>
              <a:t> … </a:t>
            </a:r>
            <a:r>
              <a:rPr lang="en-US" sz="2800" i="1" dirty="0" err="1">
                <a:highlight>
                  <a:srgbClr val="FFFF00"/>
                </a:highlight>
              </a:rPr>
              <a:t>bo‘lib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bormoqda</a:t>
            </a:r>
            <a:r>
              <a:rPr lang="en-US" sz="2800" i="1" dirty="0">
                <a:highlight>
                  <a:srgbClr val="FFFF00"/>
                </a:highlight>
              </a:rPr>
              <a:t>” </a:t>
            </a:r>
            <a:r>
              <a:rPr lang="en-US" sz="2800" i="1" dirty="0" err="1">
                <a:highlight>
                  <a:srgbClr val="FFFF00"/>
                </a:highlight>
              </a:rPr>
              <a:t>degan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ma’noni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beradi</a:t>
            </a:r>
            <a:r>
              <a:rPr lang="en-US" sz="2800" i="1" dirty="0">
                <a:highlight>
                  <a:srgbClr val="FFFF00"/>
                </a:highlight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22737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15A0E-0ABD-C1D0-0AE7-38CDB4675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0"/>
            <a:ext cx="10058400" cy="1071716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Examples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335194-E670-5DDB-FA14-1A7D839B8B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3123" y="924232"/>
            <a:ext cx="11788877" cy="5933768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US" sz="2800" dirty="0"/>
              <a:t>It is getting </a:t>
            </a:r>
            <a:r>
              <a:rPr lang="en-US" sz="2800" b="1" dirty="0"/>
              <a:t>hotter and hotter</a:t>
            </a:r>
            <a:r>
              <a:rPr lang="en-US" sz="2800" dirty="0"/>
              <a:t>.</a:t>
            </a:r>
            <a:br>
              <a:rPr lang="en-US" sz="2800" dirty="0"/>
            </a:br>
            <a:r>
              <a:rPr lang="en-US" sz="2800" dirty="0"/>
              <a:t>	</a:t>
            </a:r>
            <a:r>
              <a:rPr lang="en-US" sz="2800" i="1" dirty="0"/>
              <a:t>Havo </a:t>
            </a:r>
            <a:r>
              <a:rPr lang="en-US" sz="2800" i="1" dirty="0" err="1"/>
              <a:t>tobora</a:t>
            </a:r>
            <a:r>
              <a:rPr lang="en-US" sz="2800" i="1" dirty="0"/>
              <a:t> </a:t>
            </a:r>
            <a:r>
              <a:rPr lang="en-US" sz="2800" i="1" dirty="0" err="1"/>
              <a:t>issiq</a:t>
            </a:r>
            <a:r>
              <a:rPr lang="en-US" sz="2800" i="1" dirty="0"/>
              <a:t> </a:t>
            </a:r>
            <a:r>
              <a:rPr lang="en-US" sz="2800" i="1" dirty="0" err="1"/>
              <a:t>bo‘lib</a:t>
            </a:r>
            <a:r>
              <a:rPr lang="en-US" sz="2800" i="1" dirty="0"/>
              <a:t> </a:t>
            </a:r>
            <a:r>
              <a:rPr lang="en-US" sz="2800" i="1" dirty="0" err="1"/>
              <a:t>boryapti</a:t>
            </a:r>
            <a:r>
              <a:rPr lang="en-US" sz="2800" dirty="0"/>
              <a:t>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Jasur is becoming </a:t>
            </a:r>
            <a:r>
              <a:rPr lang="en-US" sz="2800" b="1" dirty="0"/>
              <a:t>stronger and stronger</a:t>
            </a:r>
            <a:r>
              <a:rPr lang="en-US" sz="2800" dirty="0"/>
              <a:t>.</a:t>
            </a:r>
            <a:br>
              <a:rPr lang="en-US" sz="2800" dirty="0"/>
            </a:br>
            <a:r>
              <a:rPr lang="en-US" sz="2800" dirty="0"/>
              <a:t>	</a:t>
            </a:r>
            <a:r>
              <a:rPr lang="en-US" sz="2800" i="1" dirty="0"/>
              <a:t>Jasur </a:t>
            </a:r>
            <a:r>
              <a:rPr lang="en-US" sz="2800" i="1" dirty="0" err="1"/>
              <a:t>asta-sekin</a:t>
            </a:r>
            <a:r>
              <a:rPr lang="en-US" sz="2800" i="1" dirty="0"/>
              <a:t> </a:t>
            </a:r>
            <a:r>
              <a:rPr lang="en-US" sz="2800" i="1" dirty="0" err="1"/>
              <a:t>kuchayib</a:t>
            </a:r>
            <a:r>
              <a:rPr lang="en-US" sz="2800" i="1" dirty="0"/>
              <a:t> </a:t>
            </a:r>
            <a:r>
              <a:rPr lang="en-US" sz="2800" i="1" dirty="0" err="1"/>
              <a:t>boryapti</a:t>
            </a:r>
            <a:r>
              <a:rPr lang="en-US" sz="2800" dirty="0"/>
              <a:t>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Life is getting </a:t>
            </a:r>
            <a:r>
              <a:rPr lang="en-US" sz="2800" b="1" dirty="0"/>
              <a:t>busier and busier</a:t>
            </a:r>
            <a:r>
              <a:rPr lang="en-US" sz="2800" dirty="0"/>
              <a:t>.</a:t>
            </a:r>
            <a:br>
              <a:rPr lang="en-US" sz="2800" dirty="0"/>
            </a:br>
            <a:r>
              <a:rPr lang="en-US" sz="2800" dirty="0"/>
              <a:t>	</a:t>
            </a:r>
            <a:r>
              <a:rPr lang="en-US" sz="2800" i="1" dirty="0" err="1"/>
              <a:t>Hayot</a:t>
            </a:r>
            <a:r>
              <a:rPr lang="en-US" sz="2800" i="1" dirty="0"/>
              <a:t> </a:t>
            </a:r>
            <a:r>
              <a:rPr lang="en-US" sz="2800" i="1" dirty="0" err="1"/>
              <a:t>tobora</a:t>
            </a:r>
            <a:r>
              <a:rPr lang="en-US" sz="2800" i="1" dirty="0"/>
              <a:t> </a:t>
            </a:r>
            <a:r>
              <a:rPr lang="en-US" sz="2800" i="1" dirty="0" err="1"/>
              <a:t>bandlashib</a:t>
            </a:r>
            <a:r>
              <a:rPr lang="en-US" sz="2800" i="1" dirty="0"/>
              <a:t> </a:t>
            </a:r>
            <a:r>
              <a:rPr lang="en-US" sz="2800" i="1" dirty="0" err="1"/>
              <a:t>boryapti</a:t>
            </a:r>
            <a:r>
              <a:rPr lang="en-US" sz="2800" dirty="0"/>
              <a:t>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Nigora is getting </a:t>
            </a:r>
            <a:r>
              <a:rPr lang="en-US" sz="2800" b="1" dirty="0"/>
              <a:t>more and more confident</a:t>
            </a:r>
            <a:r>
              <a:rPr lang="en-US" sz="2800" dirty="0"/>
              <a:t>.</a:t>
            </a:r>
            <a:br>
              <a:rPr lang="en-US" sz="2800" dirty="0"/>
            </a:br>
            <a:r>
              <a:rPr lang="en-US" sz="2800" dirty="0"/>
              <a:t>	</a:t>
            </a:r>
            <a:r>
              <a:rPr lang="en-US" sz="2800" i="1" dirty="0"/>
              <a:t>Nigora </a:t>
            </a:r>
            <a:r>
              <a:rPr lang="en-US" sz="2800" i="1" dirty="0" err="1"/>
              <a:t>o‘ziga</a:t>
            </a:r>
            <a:r>
              <a:rPr lang="en-US" sz="2800" i="1" dirty="0"/>
              <a:t> </a:t>
            </a:r>
            <a:r>
              <a:rPr lang="en-US" sz="2800" i="1" dirty="0" err="1"/>
              <a:t>tobora</a:t>
            </a:r>
            <a:r>
              <a:rPr lang="en-US" sz="2800" i="1" dirty="0"/>
              <a:t> </a:t>
            </a:r>
            <a:r>
              <a:rPr lang="en-US" sz="2800" i="1" dirty="0" err="1"/>
              <a:t>ko‘proq</a:t>
            </a:r>
            <a:r>
              <a:rPr lang="en-US" sz="2800" i="1" dirty="0"/>
              <a:t> </a:t>
            </a:r>
            <a:r>
              <a:rPr lang="en-US" sz="2800" i="1" dirty="0" err="1"/>
              <a:t>ishonchli</a:t>
            </a:r>
            <a:r>
              <a:rPr lang="en-US" sz="2800" i="1" dirty="0"/>
              <a:t> </a:t>
            </a:r>
            <a:r>
              <a:rPr lang="en-US" sz="2800" i="1" dirty="0" err="1"/>
              <a:t>bo‘lib</a:t>
            </a:r>
            <a:r>
              <a:rPr lang="en-US" sz="2800" i="1" dirty="0"/>
              <a:t> </a:t>
            </a:r>
            <a:r>
              <a:rPr lang="en-US" sz="2800" i="1" dirty="0" err="1"/>
              <a:t>boryapti</a:t>
            </a:r>
            <a:r>
              <a:rPr lang="en-US" sz="2800" dirty="0"/>
              <a:t>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The city is getting </a:t>
            </a:r>
            <a:r>
              <a:rPr lang="en-US" sz="2800" b="1" dirty="0"/>
              <a:t>bigger and bigger</a:t>
            </a:r>
            <a:r>
              <a:rPr lang="en-US" sz="2800" dirty="0"/>
              <a:t>.</a:t>
            </a:r>
            <a:br>
              <a:rPr lang="en-US" sz="2800" dirty="0"/>
            </a:br>
            <a:r>
              <a:rPr lang="en-US" sz="2800" dirty="0"/>
              <a:t>	</a:t>
            </a:r>
            <a:r>
              <a:rPr lang="en-US" sz="2800" i="1" dirty="0"/>
              <a:t>Shahar </a:t>
            </a:r>
            <a:r>
              <a:rPr lang="en-US" sz="2800" i="1" dirty="0" err="1"/>
              <a:t>tobora</a:t>
            </a:r>
            <a:r>
              <a:rPr lang="en-US" sz="2800" i="1" dirty="0"/>
              <a:t> </a:t>
            </a:r>
            <a:r>
              <a:rPr lang="en-US" sz="2800" i="1" dirty="0" err="1"/>
              <a:t>kattalashib</a:t>
            </a:r>
            <a:r>
              <a:rPr lang="en-US" sz="2800" i="1" dirty="0"/>
              <a:t> </a:t>
            </a:r>
            <a:r>
              <a:rPr lang="en-US" sz="2800" i="1" dirty="0" err="1"/>
              <a:t>boryapti</a:t>
            </a:r>
            <a:r>
              <a:rPr lang="en-US" sz="2800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67758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71212-65B6-D542-020D-3313B278ED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0"/>
            <a:ext cx="10058400" cy="904568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The more…, the more…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236127-0E6D-297E-2BC6-67ED2D4E63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476" y="1150374"/>
            <a:ext cx="11985523" cy="570762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b="1" i="1" dirty="0">
                <a:highlight>
                  <a:srgbClr val="FFFF00"/>
                </a:highlight>
              </a:rPr>
              <a:t>(</a:t>
            </a:r>
            <a:r>
              <a:rPr lang="en-US" sz="2800" b="1" i="1" dirty="0" err="1">
                <a:highlight>
                  <a:srgbClr val="FFFF00"/>
                </a:highlight>
              </a:rPr>
              <a:t>qanchalik</a:t>
            </a:r>
            <a:r>
              <a:rPr lang="en-US" sz="2800" b="1" i="1" dirty="0">
                <a:highlight>
                  <a:srgbClr val="FFFF00"/>
                </a:highlight>
              </a:rPr>
              <a:t> </a:t>
            </a:r>
            <a:r>
              <a:rPr lang="en-US" sz="2800" b="1" i="1" dirty="0" err="1">
                <a:highlight>
                  <a:srgbClr val="FFFF00"/>
                </a:highlight>
              </a:rPr>
              <a:t>ko‘p</a:t>
            </a:r>
            <a:r>
              <a:rPr lang="en-US" sz="2800" b="1" i="1" dirty="0">
                <a:highlight>
                  <a:srgbClr val="FFFF00"/>
                </a:highlight>
              </a:rPr>
              <a:t>…, </a:t>
            </a:r>
            <a:r>
              <a:rPr lang="en-US" sz="2800" b="1" i="1" dirty="0" err="1">
                <a:highlight>
                  <a:srgbClr val="FFFF00"/>
                </a:highlight>
              </a:rPr>
              <a:t>shunchalik</a:t>
            </a:r>
            <a:r>
              <a:rPr lang="en-US" sz="2800" b="1" i="1" dirty="0">
                <a:highlight>
                  <a:srgbClr val="FFFF00"/>
                </a:highlight>
              </a:rPr>
              <a:t> </a:t>
            </a:r>
            <a:r>
              <a:rPr lang="en-US" sz="2800" b="1" i="1" dirty="0" err="1">
                <a:highlight>
                  <a:srgbClr val="FFFF00"/>
                </a:highlight>
              </a:rPr>
              <a:t>ko‘p</a:t>
            </a:r>
            <a:r>
              <a:rPr lang="en-US" sz="2800" b="1" i="1" dirty="0">
                <a:highlight>
                  <a:srgbClr val="FFFF00"/>
                </a:highlight>
              </a:rPr>
              <a:t>…)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We use this structure to show that </a:t>
            </a:r>
            <a:r>
              <a:rPr lang="en-US" sz="2800" b="1" dirty="0"/>
              <a:t>two things change together</a:t>
            </a:r>
            <a:r>
              <a:rPr lang="en-US" sz="2800" dirty="0"/>
              <a:t>. 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When one thing increases, the other also increases (or changes).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Structure: </a:t>
            </a:r>
            <a:r>
              <a:rPr lang="en-US" sz="2800" b="1" dirty="0">
                <a:solidFill>
                  <a:srgbClr val="00B0F0"/>
                </a:solidFill>
              </a:rPr>
              <a:t>The more + subject + verb, the more + subject + verb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The more you study, the better you become.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The more you practice, the easier it is.</a:t>
            </a:r>
          </a:p>
          <a:p>
            <a:pPr>
              <a:lnSpc>
                <a:spcPct val="150000"/>
              </a:lnSpc>
            </a:pPr>
            <a:r>
              <a:rPr lang="en-US" sz="2800" i="1" dirty="0" err="1">
                <a:highlight>
                  <a:srgbClr val="FFFF00"/>
                </a:highlight>
              </a:rPr>
              <a:t>Ma’nosi</a:t>
            </a:r>
            <a:r>
              <a:rPr lang="en-US" sz="2800" i="1" dirty="0">
                <a:highlight>
                  <a:srgbClr val="FFFF00"/>
                </a:highlight>
              </a:rPr>
              <a:t>: </a:t>
            </a:r>
            <a:r>
              <a:rPr lang="en-US" sz="2800" i="1" dirty="0" err="1">
                <a:highlight>
                  <a:srgbClr val="FFFF00"/>
                </a:highlight>
              </a:rPr>
              <a:t>Qanchalik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ko‘p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o‘qisang</a:t>
            </a:r>
            <a:r>
              <a:rPr lang="en-US" sz="2800" i="1" dirty="0">
                <a:highlight>
                  <a:srgbClr val="FFFF00"/>
                </a:highlight>
              </a:rPr>
              <a:t>, </a:t>
            </a:r>
            <a:r>
              <a:rPr lang="en-US" sz="2800" i="1" dirty="0" err="1">
                <a:highlight>
                  <a:srgbClr val="FFFF00"/>
                </a:highlight>
              </a:rPr>
              <a:t>shunchalik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yaxshi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bo‘lasan</a:t>
            </a:r>
            <a:r>
              <a:rPr lang="en-US" sz="2800" i="1" dirty="0">
                <a:highlight>
                  <a:srgbClr val="FFFF00"/>
                </a:highlight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16483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1BDDE-8B19-67DA-635A-45E1DF5E3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03239"/>
            <a:ext cx="10058400" cy="110121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Other common patterns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A43A12-DD4A-3545-AC64-0D5CE014B3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6077" y="1204452"/>
            <a:ext cx="11012129" cy="555030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dirty="0"/>
              <a:t>We can also use: </a:t>
            </a:r>
          </a:p>
          <a:p>
            <a:pPr lvl="1">
              <a:lnSpc>
                <a:spcPct val="150000"/>
              </a:lnSpc>
            </a:pPr>
            <a:r>
              <a:rPr lang="en-US" sz="2800" b="1" i="1" dirty="0">
                <a:solidFill>
                  <a:srgbClr val="00B0F0"/>
                </a:solidFill>
              </a:rPr>
              <a:t>the more…, the less…</a:t>
            </a:r>
            <a:endParaRPr lang="en-US" sz="2800" b="1" dirty="0">
              <a:solidFill>
                <a:srgbClr val="00B0F0"/>
              </a:solidFill>
            </a:endParaRPr>
          </a:p>
          <a:p>
            <a:pPr lvl="1">
              <a:lnSpc>
                <a:spcPct val="150000"/>
              </a:lnSpc>
            </a:pPr>
            <a:r>
              <a:rPr lang="en-US" sz="2800" dirty="0"/>
              <a:t>The more you eat, the less hungry you feel.</a:t>
            </a:r>
          </a:p>
          <a:p>
            <a:pPr>
              <a:lnSpc>
                <a:spcPct val="150000"/>
              </a:lnSpc>
            </a:pPr>
            <a:r>
              <a:rPr lang="en-US" sz="2800" i="1" dirty="0" err="1">
                <a:highlight>
                  <a:srgbClr val="FFFF00"/>
                </a:highlight>
              </a:rPr>
              <a:t>Qanchalik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ko‘p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yesang</a:t>
            </a:r>
            <a:r>
              <a:rPr lang="en-US" sz="2800" i="1" dirty="0">
                <a:highlight>
                  <a:srgbClr val="FFFF00"/>
                </a:highlight>
              </a:rPr>
              <a:t>, </a:t>
            </a:r>
            <a:r>
              <a:rPr lang="en-US" sz="2800" i="1" dirty="0" err="1">
                <a:highlight>
                  <a:srgbClr val="FFFF00"/>
                </a:highlight>
              </a:rPr>
              <a:t>shunchalik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kam</a:t>
            </a:r>
            <a:r>
              <a:rPr lang="en-US" sz="2800" i="1" dirty="0">
                <a:highlight>
                  <a:srgbClr val="FFFF00"/>
                </a:highlight>
              </a:rPr>
              <a:t> och </a:t>
            </a:r>
            <a:r>
              <a:rPr lang="en-US" sz="2800" i="1" dirty="0" err="1">
                <a:highlight>
                  <a:srgbClr val="FFFF00"/>
                </a:highlight>
              </a:rPr>
              <a:t>qolasan</a:t>
            </a:r>
            <a:r>
              <a:rPr lang="en-US" sz="2800" i="1" dirty="0">
                <a:highlight>
                  <a:srgbClr val="FFFF00"/>
                </a:highlight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en-US" sz="2800" b="1" i="1" dirty="0">
                <a:solidFill>
                  <a:srgbClr val="00B0F0"/>
                </a:solidFill>
              </a:rPr>
              <a:t>the more…, the better…</a:t>
            </a:r>
            <a:endParaRPr lang="en-US" sz="2800" b="1" dirty="0">
              <a:solidFill>
                <a:srgbClr val="00B0F0"/>
              </a:solidFill>
            </a:endParaRPr>
          </a:p>
          <a:p>
            <a:pPr lvl="1">
              <a:lnSpc>
                <a:spcPct val="150000"/>
              </a:lnSpc>
            </a:pPr>
            <a:r>
              <a:rPr lang="en-US" sz="2800" dirty="0"/>
              <a:t>The more you sleep, the better you feel.</a:t>
            </a:r>
          </a:p>
          <a:p>
            <a:pPr>
              <a:lnSpc>
                <a:spcPct val="150000"/>
              </a:lnSpc>
            </a:pPr>
            <a:r>
              <a:rPr lang="en-US" sz="2800" i="1" dirty="0" err="1">
                <a:highlight>
                  <a:srgbClr val="FFFF00"/>
                </a:highlight>
              </a:rPr>
              <a:t>Qanchalik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ko‘p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uxlasang</a:t>
            </a:r>
            <a:r>
              <a:rPr lang="en-US" sz="2800" i="1" dirty="0">
                <a:highlight>
                  <a:srgbClr val="FFFF00"/>
                </a:highlight>
              </a:rPr>
              <a:t>, </a:t>
            </a:r>
            <a:r>
              <a:rPr lang="en-US" sz="2800" i="1" dirty="0" err="1">
                <a:highlight>
                  <a:srgbClr val="FFFF00"/>
                </a:highlight>
              </a:rPr>
              <a:t>shunchalik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yaxshi</a:t>
            </a:r>
            <a:r>
              <a:rPr lang="en-US" sz="2800" i="1" dirty="0">
                <a:highlight>
                  <a:srgbClr val="FFFF00"/>
                </a:highlight>
              </a:rPr>
              <a:t> his </a:t>
            </a:r>
            <a:r>
              <a:rPr lang="en-US" sz="2800" i="1" dirty="0" err="1">
                <a:highlight>
                  <a:srgbClr val="FFFF00"/>
                </a:highlight>
              </a:rPr>
              <a:t>qilasan</a:t>
            </a:r>
            <a:r>
              <a:rPr lang="en-US" sz="2800" i="1" dirty="0">
                <a:highlight>
                  <a:srgbClr val="FFFF00"/>
                </a:highlight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3147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429B2-F257-6A86-D7D7-556764E8D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0"/>
            <a:ext cx="10058400" cy="1012723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87389F-2FB4-1DF7-E269-94D777D255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0271" y="894735"/>
            <a:ext cx="11621729" cy="5963265"/>
          </a:xfrm>
        </p:spPr>
        <p:txBody>
          <a:bodyPr>
            <a:normAutofit lnSpcReduction="10000"/>
          </a:bodyPr>
          <a:lstStyle/>
          <a:p>
            <a:pPr>
              <a:lnSpc>
                <a:spcPct val="120000"/>
              </a:lnSpc>
            </a:pPr>
            <a:r>
              <a:rPr lang="en-US" sz="2800" b="1" dirty="0"/>
              <a:t>The more </a:t>
            </a:r>
            <a:r>
              <a:rPr lang="en-US" sz="2800" dirty="0"/>
              <a:t>you study, </a:t>
            </a:r>
            <a:r>
              <a:rPr lang="en-US" sz="2800" b="1" dirty="0"/>
              <a:t>the better </a:t>
            </a:r>
            <a:r>
              <a:rPr lang="en-US" sz="2800" dirty="0"/>
              <a:t>you become.</a:t>
            </a:r>
          </a:p>
          <a:p>
            <a:pPr lvl="1">
              <a:lnSpc>
                <a:spcPct val="120000"/>
              </a:lnSpc>
            </a:pPr>
            <a:r>
              <a:rPr lang="en-US" sz="2600" dirty="0"/>
              <a:t> </a:t>
            </a:r>
            <a:r>
              <a:rPr lang="en-US" sz="3000" i="1" dirty="0" err="1">
                <a:highlight>
                  <a:srgbClr val="FFFF00"/>
                </a:highlight>
              </a:rPr>
              <a:t>Ko‘proq</a:t>
            </a:r>
            <a:r>
              <a:rPr lang="en-US" sz="3000" i="1" dirty="0">
                <a:highlight>
                  <a:srgbClr val="FFFF00"/>
                </a:highlight>
              </a:rPr>
              <a:t> </a:t>
            </a:r>
            <a:r>
              <a:rPr lang="en-US" sz="3000" i="1" dirty="0" err="1">
                <a:highlight>
                  <a:srgbClr val="FFFF00"/>
                </a:highlight>
              </a:rPr>
              <a:t>o‘qisang</a:t>
            </a:r>
            <a:r>
              <a:rPr lang="en-US" sz="3000" i="1" dirty="0">
                <a:highlight>
                  <a:srgbClr val="FFFF00"/>
                </a:highlight>
              </a:rPr>
              <a:t>, </a:t>
            </a:r>
            <a:r>
              <a:rPr lang="en-US" sz="3000" i="1" dirty="0" err="1">
                <a:highlight>
                  <a:srgbClr val="FFFF00"/>
                </a:highlight>
              </a:rPr>
              <a:t>yaxshiroq</a:t>
            </a:r>
            <a:r>
              <a:rPr lang="en-US" sz="3000" i="1" dirty="0">
                <a:highlight>
                  <a:srgbClr val="FFFF00"/>
                </a:highlight>
              </a:rPr>
              <a:t> </a:t>
            </a:r>
            <a:r>
              <a:rPr lang="en-US" sz="3000" i="1" dirty="0" err="1">
                <a:highlight>
                  <a:srgbClr val="FFFF00"/>
                </a:highlight>
              </a:rPr>
              <a:t>bo‘lasan</a:t>
            </a:r>
            <a:r>
              <a:rPr lang="en-US" sz="3000" i="1" dirty="0">
                <a:highlight>
                  <a:srgbClr val="FFFF00"/>
                </a:highlight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sz="2800" b="1" dirty="0"/>
              <a:t>The more </a:t>
            </a:r>
            <a:r>
              <a:rPr lang="en-US" sz="2800" dirty="0"/>
              <a:t>you practice, </a:t>
            </a:r>
            <a:r>
              <a:rPr lang="en-US" sz="2800" b="1" dirty="0"/>
              <a:t>the easier </a:t>
            </a:r>
            <a:r>
              <a:rPr lang="en-US" sz="2800" dirty="0"/>
              <a:t>it is.</a:t>
            </a:r>
          </a:p>
          <a:p>
            <a:pPr lvl="1">
              <a:lnSpc>
                <a:spcPct val="120000"/>
              </a:lnSpc>
            </a:pPr>
            <a:r>
              <a:rPr lang="en-US" sz="3000" i="1" dirty="0" err="1">
                <a:highlight>
                  <a:srgbClr val="FFFF00"/>
                </a:highlight>
              </a:rPr>
              <a:t>Ko‘proq</a:t>
            </a:r>
            <a:r>
              <a:rPr lang="en-US" sz="3000" i="1" dirty="0">
                <a:highlight>
                  <a:srgbClr val="FFFF00"/>
                </a:highlight>
              </a:rPr>
              <a:t> </a:t>
            </a:r>
            <a:r>
              <a:rPr lang="en-US" sz="3000" i="1" dirty="0" err="1">
                <a:highlight>
                  <a:srgbClr val="FFFF00"/>
                </a:highlight>
              </a:rPr>
              <a:t>mashq</a:t>
            </a:r>
            <a:r>
              <a:rPr lang="en-US" sz="3000" i="1" dirty="0">
                <a:highlight>
                  <a:srgbClr val="FFFF00"/>
                </a:highlight>
              </a:rPr>
              <a:t> </a:t>
            </a:r>
            <a:r>
              <a:rPr lang="en-US" sz="3000" i="1" dirty="0" err="1">
                <a:highlight>
                  <a:srgbClr val="FFFF00"/>
                </a:highlight>
              </a:rPr>
              <a:t>qilsang</a:t>
            </a:r>
            <a:r>
              <a:rPr lang="en-US" sz="3000" i="1" dirty="0">
                <a:highlight>
                  <a:srgbClr val="FFFF00"/>
                </a:highlight>
              </a:rPr>
              <a:t>, </a:t>
            </a:r>
            <a:r>
              <a:rPr lang="en-US" sz="3000" i="1" dirty="0" err="1">
                <a:highlight>
                  <a:srgbClr val="FFFF00"/>
                </a:highlight>
              </a:rPr>
              <a:t>osonroq</a:t>
            </a:r>
            <a:r>
              <a:rPr lang="en-US" sz="3000" i="1" dirty="0">
                <a:highlight>
                  <a:srgbClr val="FFFF00"/>
                </a:highlight>
              </a:rPr>
              <a:t> </a:t>
            </a:r>
            <a:r>
              <a:rPr lang="en-US" sz="3000" i="1" dirty="0" err="1">
                <a:highlight>
                  <a:srgbClr val="FFFF00"/>
                </a:highlight>
              </a:rPr>
              <a:t>bo‘ladi</a:t>
            </a:r>
            <a:r>
              <a:rPr lang="en-US" sz="3000" i="1" dirty="0">
                <a:highlight>
                  <a:srgbClr val="FFFF00"/>
                </a:highlight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sz="2800" b="1" dirty="0"/>
              <a:t>The more </a:t>
            </a:r>
            <a:r>
              <a:rPr lang="en-US" sz="2800" dirty="0"/>
              <a:t>you read, </a:t>
            </a:r>
            <a:r>
              <a:rPr lang="en-US" sz="2800" b="1" dirty="0"/>
              <a:t>the more </a:t>
            </a:r>
            <a:r>
              <a:rPr lang="en-US" sz="2800" dirty="0"/>
              <a:t>you learn.</a:t>
            </a:r>
          </a:p>
          <a:p>
            <a:pPr lvl="1">
              <a:lnSpc>
                <a:spcPct val="120000"/>
              </a:lnSpc>
            </a:pPr>
            <a:r>
              <a:rPr lang="en-US" sz="3000" i="1" dirty="0" err="1">
                <a:highlight>
                  <a:srgbClr val="FFFF00"/>
                </a:highlight>
              </a:rPr>
              <a:t>Ko‘proq</a:t>
            </a:r>
            <a:r>
              <a:rPr lang="en-US" sz="3000" i="1" dirty="0">
                <a:highlight>
                  <a:srgbClr val="FFFF00"/>
                </a:highlight>
              </a:rPr>
              <a:t> </a:t>
            </a:r>
            <a:r>
              <a:rPr lang="en-US" sz="3000" i="1" dirty="0" err="1">
                <a:highlight>
                  <a:srgbClr val="FFFF00"/>
                </a:highlight>
              </a:rPr>
              <a:t>o‘qisang</a:t>
            </a:r>
            <a:r>
              <a:rPr lang="en-US" sz="3000" i="1" dirty="0">
                <a:highlight>
                  <a:srgbClr val="FFFF00"/>
                </a:highlight>
              </a:rPr>
              <a:t>, </a:t>
            </a:r>
            <a:r>
              <a:rPr lang="en-US" sz="3000" i="1" dirty="0" err="1">
                <a:highlight>
                  <a:srgbClr val="FFFF00"/>
                </a:highlight>
              </a:rPr>
              <a:t>ko‘proq</a:t>
            </a:r>
            <a:r>
              <a:rPr lang="en-US" sz="3000" i="1" dirty="0">
                <a:highlight>
                  <a:srgbClr val="FFFF00"/>
                </a:highlight>
              </a:rPr>
              <a:t> </a:t>
            </a:r>
            <a:r>
              <a:rPr lang="en-US" sz="3000" i="1" dirty="0" err="1">
                <a:highlight>
                  <a:srgbClr val="FFFF00"/>
                </a:highlight>
              </a:rPr>
              <a:t>o‘rganasan</a:t>
            </a:r>
            <a:r>
              <a:rPr lang="en-US" sz="3000" i="1" dirty="0">
                <a:highlight>
                  <a:srgbClr val="FFFF00"/>
                </a:highlight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sz="2800" b="1" dirty="0"/>
              <a:t>The more </a:t>
            </a:r>
            <a:r>
              <a:rPr lang="en-US" sz="2800" dirty="0"/>
              <a:t>you work, </a:t>
            </a:r>
            <a:r>
              <a:rPr lang="en-US" sz="2800" b="1" dirty="0"/>
              <a:t>the more successful </a:t>
            </a:r>
            <a:r>
              <a:rPr lang="en-US" sz="2800" dirty="0"/>
              <a:t>you are.</a:t>
            </a:r>
          </a:p>
          <a:p>
            <a:pPr lvl="1">
              <a:lnSpc>
                <a:spcPct val="120000"/>
              </a:lnSpc>
            </a:pPr>
            <a:r>
              <a:rPr lang="en-US" sz="2600" i="1" dirty="0" err="1">
                <a:highlight>
                  <a:srgbClr val="FFFF00"/>
                </a:highlight>
              </a:rPr>
              <a:t>Ko‘proq</a:t>
            </a:r>
            <a:r>
              <a:rPr lang="en-US" sz="2600" i="1" dirty="0">
                <a:highlight>
                  <a:srgbClr val="FFFF00"/>
                </a:highlight>
              </a:rPr>
              <a:t> </a:t>
            </a:r>
            <a:r>
              <a:rPr lang="en-US" sz="2600" i="1" dirty="0" err="1">
                <a:highlight>
                  <a:srgbClr val="FFFF00"/>
                </a:highlight>
              </a:rPr>
              <a:t>ishlasang</a:t>
            </a:r>
            <a:r>
              <a:rPr lang="en-US" sz="2600" i="1" dirty="0">
                <a:highlight>
                  <a:srgbClr val="FFFF00"/>
                </a:highlight>
              </a:rPr>
              <a:t>, </a:t>
            </a:r>
            <a:r>
              <a:rPr lang="en-US" sz="2600" i="1" dirty="0" err="1">
                <a:highlight>
                  <a:srgbClr val="FFFF00"/>
                </a:highlight>
              </a:rPr>
              <a:t>ko‘proq</a:t>
            </a:r>
            <a:r>
              <a:rPr lang="en-US" sz="2600" i="1" dirty="0">
                <a:highlight>
                  <a:srgbClr val="FFFF00"/>
                </a:highlight>
              </a:rPr>
              <a:t> </a:t>
            </a:r>
            <a:r>
              <a:rPr lang="en-US" sz="2600" i="1" dirty="0" err="1">
                <a:highlight>
                  <a:srgbClr val="FFFF00"/>
                </a:highlight>
              </a:rPr>
              <a:t>muvaffaqiyatli</a:t>
            </a:r>
            <a:r>
              <a:rPr lang="en-US" sz="2600" i="1" dirty="0">
                <a:highlight>
                  <a:srgbClr val="FFFF00"/>
                </a:highlight>
              </a:rPr>
              <a:t> </a:t>
            </a:r>
            <a:r>
              <a:rPr lang="en-US" sz="2600" i="1" dirty="0" err="1">
                <a:highlight>
                  <a:srgbClr val="FFFF00"/>
                </a:highlight>
              </a:rPr>
              <a:t>bo‘lasan</a:t>
            </a:r>
            <a:r>
              <a:rPr lang="en-US" sz="2600" i="1" dirty="0">
                <a:highlight>
                  <a:srgbClr val="FFFF00"/>
                </a:highlight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sz="2800" b="1" dirty="0"/>
              <a:t>The more </a:t>
            </a:r>
            <a:r>
              <a:rPr lang="en-US" sz="2800" dirty="0"/>
              <a:t>you sleep, </a:t>
            </a:r>
            <a:r>
              <a:rPr lang="en-US" sz="2800" b="1" dirty="0"/>
              <a:t>the healthier </a:t>
            </a:r>
            <a:r>
              <a:rPr lang="en-US" sz="2800" dirty="0"/>
              <a:t>you feel.</a:t>
            </a:r>
          </a:p>
          <a:p>
            <a:pPr lvl="1">
              <a:lnSpc>
                <a:spcPct val="120000"/>
              </a:lnSpc>
            </a:pPr>
            <a:r>
              <a:rPr lang="en-US" sz="2800" i="1" dirty="0" err="1">
                <a:highlight>
                  <a:srgbClr val="FFFF00"/>
                </a:highlight>
              </a:rPr>
              <a:t>Ko‘proq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uxlasang</a:t>
            </a:r>
            <a:r>
              <a:rPr lang="en-US" sz="2800" i="1" dirty="0">
                <a:highlight>
                  <a:srgbClr val="FFFF00"/>
                </a:highlight>
              </a:rPr>
              <a:t>, </a:t>
            </a:r>
            <a:r>
              <a:rPr lang="en-US" sz="2800" i="1" dirty="0" err="1">
                <a:highlight>
                  <a:srgbClr val="FFFF00"/>
                </a:highlight>
              </a:rPr>
              <a:t>sog‘lomroq</a:t>
            </a:r>
            <a:r>
              <a:rPr lang="en-US" sz="2800" i="1" dirty="0">
                <a:highlight>
                  <a:srgbClr val="FFFF00"/>
                </a:highlight>
              </a:rPr>
              <a:t> his </a:t>
            </a:r>
            <a:r>
              <a:rPr lang="en-US" sz="2800" i="1" dirty="0" err="1">
                <a:highlight>
                  <a:srgbClr val="FFFF00"/>
                </a:highlight>
              </a:rPr>
              <a:t>qilasan</a:t>
            </a:r>
            <a:r>
              <a:rPr lang="en-US" sz="2800" i="1" dirty="0">
                <a:highlight>
                  <a:srgbClr val="FFFF00"/>
                </a:highlight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810343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BC59B-8AAC-3BE8-F54E-F149FA6DF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0"/>
            <a:ext cx="10058400" cy="131752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LESS + adjective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A3742D-7ACD-4F57-7CD4-3C29927F2B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894735"/>
            <a:ext cx="11122152" cy="596326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800" i="1" dirty="0">
                <a:highlight>
                  <a:srgbClr val="FFFF00"/>
                </a:highlight>
              </a:rPr>
              <a:t>“</a:t>
            </a:r>
            <a:r>
              <a:rPr lang="en-US" sz="2800" b="1" i="1" dirty="0">
                <a:highlight>
                  <a:srgbClr val="FFFF00"/>
                </a:highlight>
              </a:rPr>
              <a:t>less</a:t>
            </a:r>
            <a:r>
              <a:rPr lang="en-US" sz="2800" i="1" dirty="0">
                <a:highlight>
                  <a:srgbClr val="FFFF00"/>
                </a:highlight>
              </a:rPr>
              <a:t>” = </a:t>
            </a:r>
            <a:r>
              <a:rPr lang="en-US" sz="2800" i="1" dirty="0" err="1">
                <a:highlight>
                  <a:srgbClr val="FFFF00"/>
                </a:highlight>
              </a:rPr>
              <a:t>sifatni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antonymga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ozgartirib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unga</a:t>
            </a:r>
            <a:r>
              <a:rPr lang="en-US" sz="2800" i="1" dirty="0">
                <a:highlight>
                  <a:srgbClr val="FFFF00"/>
                </a:highlight>
              </a:rPr>
              <a:t> …-</a:t>
            </a:r>
            <a:r>
              <a:rPr lang="en-US" sz="2800" b="1" i="1" dirty="0" err="1">
                <a:highlight>
                  <a:srgbClr val="FFFF00"/>
                </a:highlight>
              </a:rPr>
              <a:t>roq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qo’shiladi</a:t>
            </a:r>
            <a:endParaRPr lang="en-US" sz="2800" i="1" dirty="0">
              <a:highlight>
                <a:srgbClr val="FFFF00"/>
              </a:highlight>
            </a:endParaRPr>
          </a:p>
          <a:p>
            <a:pPr>
              <a:lnSpc>
                <a:spcPct val="150000"/>
              </a:lnSpc>
            </a:pPr>
            <a:r>
              <a:rPr lang="en-US" sz="2800" b="1" dirty="0"/>
              <a:t>Structure: </a:t>
            </a:r>
            <a:r>
              <a:rPr lang="en-US" sz="2800" b="1" dirty="0">
                <a:solidFill>
                  <a:srgbClr val="00B0F0"/>
                </a:solidFill>
              </a:rPr>
              <a:t>less + adjective + than</a:t>
            </a:r>
            <a:endParaRPr lang="en-US" sz="2800" dirty="0">
              <a:solidFill>
                <a:srgbClr val="00B0F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800" dirty="0"/>
              <a:t>This car is </a:t>
            </a:r>
            <a:r>
              <a:rPr lang="en-US" sz="2800" b="1" dirty="0"/>
              <a:t>less expensive than</a:t>
            </a:r>
            <a:r>
              <a:rPr lang="en-US" sz="2800" dirty="0"/>
              <a:t> that one.</a:t>
            </a:r>
          </a:p>
          <a:p>
            <a:pPr lvl="2">
              <a:lnSpc>
                <a:spcPct val="150000"/>
              </a:lnSpc>
            </a:pPr>
            <a:r>
              <a:rPr lang="en-US" sz="2800" dirty="0"/>
              <a:t>Bu </a:t>
            </a:r>
            <a:r>
              <a:rPr lang="en-US" sz="2800" dirty="0" err="1"/>
              <a:t>mashina</a:t>
            </a:r>
            <a:r>
              <a:rPr lang="en-US" sz="2800" dirty="0"/>
              <a:t> u </a:t>
            </a:r>
            <a:r>
              <a:rPr lang="en-US" sz="2800" dirty="0" err="1"/>
              <a:t>mashinadan</a:t>
            </a:r>
            <a:r>
              <a:rPr lang="en-US" sz="2800" dirty="0"/>
              <a:t> </a:t>
            </a:r>
            <a:r>
              <a:rPr lang="en-US" sz="2800" dirty="0" err="1"/>
              <a:t>arzonroq</a:t>
            </a:r>
            <a:r>
              <a:rPr lang="en-US" sz="2800" dirty="0"/>
              <a:t> (</a:t>
            </a:r>
            <a:r>
              <a:rPr lang="en-US" sz="2800" dirty="0" err="1"/>
              <a:t>kamroq</a:t>
            </a:r>
            <a:r>
              <a:rPr lang="en-US" sz="2800" dirty="0"/>
              <a:t> </a:t>
            </a:r>
            <a:r>
              <a:rPr lang="en-US" sz="2800" dirty="0" err="1"/>
              <a:t>qimmat</a:t>
            </a:r>
            <a:r>
              <a:rPr lang="en-US" sz="2800" dirty="0"/>
              <a:t>).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This task is </a:t>
            </a:r>
            <a:r>
              <a:rPr lang="en-US" sz="2800" b="1" dirty="0"/>
              <a:t>less difficult than</a:t>
            </a:r>
            <a:r>
              <a:rPr lang="en-US" sz="2800" dirty="0"/>
              <a:t> yesterday’s.</a:t>
            </a:r>
          </a:p>
          <a:p>
            <a:pPr lvl="2">
              <a:lnSpc>
                <a:spcPct val="150000"/>
              </a:lnSpc>
            </a:pPr>
            <a:r>
              <a:rPr lang="en-US" sz="2800" dirty="0"/>
              <a:t>Bu </a:t>
            </a:r>
            <a:r>
              <a:rPr lang="en-US" sz="2800" dirty="0" err="1"/>
              <a:t>vazifa</a:t>
            </a:r>
            <a:r>
              <a:rPr lang="en-US" sz="2800" dirty="0"/>
              <a:t> </a:t>
            </a:r>
            <a:r>
              <a:rPr lang="en-US" sz="2800" dirty="0" err="1"/>
              <a:t>kechagidan</a:t>
            </a:r>
            <a:r>
              <a:rPr lang="en-US" sz="2800" dirty="0"/>
              <a:t> </a:t>
            </a:r>
            <a:r>
              <a:rPr lang="en-US" sz="2800" dirty="0" err="1"/>
              <a:t>osonroq</a:t>
            </a:r>
            <a:r>
              <a:rPr lang="en-US" sz="2800" dirty="0"/>
              <a:t> (</a:t>
            </a:r>
            <a:r>
              <a:rPr lang="en-US" sz="2800" dirty="0" err="1"/>
              <a:t>kamroq</a:t>
            </a:r>
            <a:r>
              <a:rPr lang="en-US" sz="2800" dirty="0"/>
              <a:t> </a:t>
            </a:r>
            <a:r>
              <a:rPr lang="en-US" sz="2800" dirty="0" err="1"/>
              <a:t>qiyin</a:t>
            </a:r>
            <a:r>
              <a:rPr lang="en-US" sz="2800" dirty="0"/>
              <a:t>).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This movie is </a:t>
            </a:r>
            <a:r>
              <a:rPr lang="en-US" sz="2800" b="1" dirty="0"/>
              <a:t>less interesting than</a:t>
            </a:r>
            <a:r>
              <a:rPr lang="en-US" sz="2800" dirty="0"/>
              <a:t> the book.</a:t>
            </a:r>
          </a:p>
          <a:p>
            <a:pPr lvl="2">
              <a:lnSpc>
                <a:spcPct val="150000"/>
              </a:lnSpc>
            </a:pPr>
            <a:r>
              <a:rPr lang="en-US" sz="2800" dirty="0"/>
              <a:t>Film </a:t>
            </a:r>
            <a:r>
              <a:rPr lang="en-US" sz="2800" dirty="0" err="1"/>
              <a:t>kitobdan</a:t>
            </a:r>
            <a:r>
              <a:rPr lang="en-US" sz="2800" dirty="0"/>
              <a:t> </a:t>
            </a:r>
            <a:r>
              <a:rPr lang="en-US" sz="2800" dirty="0" err="1"/>
              <a:t>kamroq</a:t>
            </a:r>
            <a:r>
              <a:rPr lang="en-US" sz="2800" dirty="0"/>
              <a:t> </a:t>
            </a:r>
            <a:r>
              <a:rPr lang="en-US" sz="2800" dirty="0" err="1"/>
              <a:t>qiziqarli</a:t>
            </a:r>
            <a:r>
              <a:rPr lang="en-US" sz="2800" dirty="0"/>
              <a:t>. </a:t>
            </a:r>
          </a:p>
          <a:p>
            <a:pPr>
              <a:lnSpc>
                <a:spcPct val="150000"/>
              </a:lnSpc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7215864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ACAF7-1A41-E246-F1C3-03B513816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0"/>
            <a:ext cx="10058400" cy="1042219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NOT AS … AS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BDF4FE-9E4B-09A0-F53C-FD0DF62E4D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7" y="1120877"/>
            <a:ext cx="10994333" cy="5633883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US" sz="2800" i="1" dirty="0">
                <a:highlight>
                  <a:srgbClr val="FFFF00"/>
                </a:highlight>
              </a:rPr>
              <a:t>“not as … as” = </a:t>
            </a:r>
            <a:r>
              <a:rPr lang="en-US" sz="2800" b="1" i="1" dirty="0" err="1">
                <a:highlight>
                  <a:srgbClr val="FFFF00"/>
                </a:highlight>
              </a:rPr>
              <a:t>shunchalik</a:t>
            </a:r>
            <a:r>
              <a:rPr lang="en-US" sz="2800" b="1" i="1" dirty="0">
                <a:highlight>
                  <a:srgbClr val="FFFF00"/>
                </a:highlight>
              </a:rPr>
              <a:t> … </a:t>
            </a:r>
            <a:r>
              <a:rPr lang="en-US" sz="2800" b="1" i="1" dirty="0" err="1">
                <a:highlight>
                  <a:srgbClr val="FFFF00"/>
                </a:highlight>
              </a:rPr>
              <a:t>emas</a:t>
            </a:r>
            <a:endParaRPr lang="en-US" sz="2800" i="1" dirty="0">
              <a:highlight>
                <a:srgbClr val="FFFF00"/>
              </a:highlight>
            </a:endParaRPr>
          </a:p>
          <a:p>
            <a:pPr>
              <a:lnSpc>
                <a:spcPct val="150000"/>
              </a:lnSpc>
            </a:pPr>
            <a:r>
              <a:rPr lang="en-US" sz="2800" b="1" dirty="0"/>
              <a:t>Structure:  </a:t>
            </a:r>
            <a:r>
              <a:rPr lang="en-US" sz="2800" b="1" dirty="0">
                <a:solidFill>
                  <a:srgbClr val="00B0F0"/>
                </a:solidFill>
              </a:rPr>
              <a:t>not as + adjective + as</a:t>
            </a:r>
            <a:endParaRPr lang="en-US" sz="2800" dirty="0">
              <a:solidFill>
                <a:srgbClr val="00B0F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800" dirty="0"/>
              <a:t>This book is </a:t>
            </a:r>
            <a:r>
              <a:rPr lang="en-US" sz="2800" b="1" dirty="0"/>
              <a:t>not as interesting as</a:t>
            </a:r>
            <a:r>
              <a:rPr lang="en-US" sz="2800" dirty="0"/>
              <a:t> the other one.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Bu </a:t>
            </a:r>
            <a:r>
              <a:rPr lang="en-US" sz="2800" dirty="0" err="1"/>
              <a:t>kitob</a:t>
            </a:r>
            <a:r>
              <a:rPr lang="en-US" sz="2800" dirty="0"/>
              <a:t> </a:t>
            </a:r>
            <a:r>
              <a:rPr lang="en-US" sz="2800" dirty="0" err="1"/>
              <a:t>boshqasidek</a:t>
            </a:r>
            <a:r>
              <a:rPr lang="en-US" sz="2800" dirty="0"/>
              <a:t> </a:t>
            </a:r>
            <a:r>
              <a:rPr lang="en-US" sz="2800" dirty="0" err="1"/>
              <a:t>qiziqarli</a:t>
            </a:r>
            <a:r>
              <a:rPr lang="en-US" sz="2800" dirty="0"/>
              <a:t> </a:t>
            </a:r>
            <a:r>
              <a:rPr lang="en-US" sz="2800" dirty="0" err="1"/>
              <a:t>emas</a:t>
            </a:r>
            <a:r>
              <a:rPr lang="en-US" sz="2800" dirty="0"/>
              <a:t>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My phone is </a:t>
            </a:r>
            <a:r>
              <a:rPr lang="en-US" sz="2800" b="1" dirty="0"/>
              <a:t>not as fast as</a:t>
            </a:r>
            <a:r>
              <a:rPr lang="en-US" sz="2800" dirty="0"/>
              <a:t> yours.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Mening </a:t>
            </a:r>
            <a:r>
              <a:rPr lang="en-US" sz="2800" dirty="0" err="1"/>
              <a:t>telefonim</a:t>
            </a:r>
            <a:r>
              <a:rPr lang="en-US" sz="2800" dirty="0"/>
              <a:t> </a:t>
            </a:r>
            <a:r>
              <a:rPr lang="en-US" sz="2800" dirty="0" err="1"/>
              <a:t>senikidek</a:t>
            </a:r>
            <a:r>
              <a:rPr lang="en-US" sz="2800" dirty="0"/>
              <a:t> </a:t>
            </a:r>
            <a:r>
              <a:rPr lang="en-US" sz="2800" dirty="0" err="1"/>
              <a:t>tez</a:t>
            </a:r>
            <a:r>
              <a:rPr lang="en-US" sz="2800" dirty="0"/>
              <a:t> </a:t>
            </a:r>
            <a:r>
              <a:rPr lang="en-US" sz="2800" dirty="0" err="1"/>
              <a:t>emas</a:t>
            </a:r>
            <a:r>
              <a:rPr lang="en-US" sz="2800" dirty="0"/>
              <a:t>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Samarkand is </a:t>
            </a:r>
            <a:r>
              <a:rPr lang="en-US" sz="2800" b="1" dirty="0"/>
              <a:t>not as big as</a:t>
            </a:r>
            <a:r>
              <a:rPr lang="en-US" sz="2800" dirty="0"/>
              <a:t> Tashkent.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Samarqand </a:t>
            </a:r>
            <a:r>
              <a:rPr lang="en-US" sz="2800" dirty="0" err="1"/>
              <a:t>Toshkentdek</a:t>
            </a:r>
            <a:r>
              <a:rPr lang="en-US" sz="2800" dirty="0"/>
              <a:t> </a:t>
            </a:r>
            <a:r>
              <a:rPr lang="en-US" sz="2800" dirty="0" err="1"/>
              <a:t>katta</a:t>
            </a:r>
            <a:r>
              <a:rPr lang="en-US" sz="2800" dirty="0"/>
              <a:t> </a:t>
            </a:r>
            <a:r>
              <a:rPr lang="en-US" sz="2800" dirty="0" err="1"/>
              <a:t>emas</a:t>
            </a:r>
            <a:r>
              <a:rPr lang="en-US" sz="2800" dirty="0"/>
              <a:t>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601886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514949"/>
      </a:dk2>
      <a:lt2>
        <a:srgbClr val="E1E1DB"/>
      </a:lt2>
      <a:accent1>
        <a:srgbClr val="9DBFBE"/>
      </a:accent1>
      <a:accent2>
        <a:srgbClr val="DB8631"/>
      </a:accent2>
      <a:accent3>
        <a:srgbClr val="E3CC5A"/>
      </a:accent3>
      <a:accent4>
        <a:srgbClr val="ACADA8"/>
      </a:accent4>
      <a:accent5>
        <a:srgbClr val="927C61"/>
      </a:accent5>
      <a:accent6>
        <a:srgbClr val="B3B435"/>
      </a:accent6>
      <a:hlink>
        <a:srgbClr val="0000FF"/>
      </a:hlink>
      <a:folHlink>
        <a:srgbClr val="800080"/>
      </a:folHlink>
    </a:clrScheme>
    <a:fontScheme name="Wood Type">
      <a:majorFont>
        <a:latin typeface="Arial Black" panose="020B0A04020102020204"/>
        <a:ea typeface=""/>
        <a:cs typeface=""/>
        <a:font script="Jpan" typeface="HGｺﾞｼｯｸM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 panose="020B0604020202020204"/>
        <a:ea typeface=""/>
        <a:cs typeface=""/>
        <a:font script="Jpan" typeface="HGｺﾞｼｯｸM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BE1B6DD8-9976-4550-A6F4-B2DD4EA939D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110</TotalTime>
  <Words>1420</Words>
  <Application>Microsoft Office PowerPoint</Application>
  <PresentationFormat>Widescreen</PresentationFormat>
  <Paragraphs>181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Arial Black</vt:lpstr>
      <vt:lpstr>Wingdings</vt:lpstr>
      <vt:lpstr>Wood Type</vt:lpstr>
      <vt:lpstr>COMPARATIVE SUPERLATIVE ADJECTIVES</vt:lpstr>
      <vt:lpstr>Sifatlarning qiyosiy va orttirma darajasi</vt:lpstr>
      <vt:lpstr>COMPARATIVE ADJECTIVES (Qiyosiy daraja)</vt:lpstr>
      <vt:lpstr>Spelling rules</vt:lpstr>
      <vt:lpstr>Spelling rules</vt:lpstr>
      <vt:lpstr>Irregular comparative</vt:lpstr>
      <vt:lpstr>SUPERLATIVE ADJECTIVES (Orttirma daraja)</vt:lpstr>
      <vt:lpstr>Spelling rules</vt:lpstr>
      <vt:lpstr>Spelling rules</vt:lpstr>
      <vt:lpstr>Spelling rules - irregular superlative </vt:lpstr>
      <vt:lpstr>Stronger comparisons  (emphasis)</vt:lpstr>
      <vt:lpstr>“than ever” (extra emphasis)</vt:lpstr>
      <vt:lpstr>Softer comparisons (less strong)</vt:lpstr>
      <vt:lpstr>-er and -er / more and more</vt:lpstr>
      <vt:lpstr>Examples</vt:lpstr>
      <vt:lpstr>The more…, the more…</vt:lpstr>
      <vt:lpstr>Other common patterns</vt:lpstr>
      <vt:lpstr>Examples</vt:lpstr>
      <vt:lpstr>LESS + adjective</vt:lpstr>
      <vt:lpstr>NOT AS … 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Tura Huja</dc:creator>
  <cp:lastModifiedBy>Tura Huja</cp:lastModifiedBy>
  <cp:revision>19</cp:revision>
  <dcterms:created xsi:type="dcterms:W3CDTF">2026-06-08T11:19:49Z</dcterms:created>
  <dcterms:modified xsi:type="dcterms:W3CDTF">2026-06-08T13:10:19Z</dcterms:modified>
</cp:coreProperties>
</file>