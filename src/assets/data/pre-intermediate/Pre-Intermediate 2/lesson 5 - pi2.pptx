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9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3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41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1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3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0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6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6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49FAC24-609F-4DD1-8654-05B479B99D3A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8AF7E74C-DDF7-4022-9A8D-91D05411D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34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06EF-7B88-386D-3796-7910968385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Adverbs of Time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42779-9E7D-9DF5-BC4B-3364CABD2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393" y="4468031"/>
            <a:ext cx="8711381" cy="1655762"/>
          </a:xfrm>
        </p:spPr>
        <p:txBody>
          <a:bodyPr/>
          <a:lstStyle/>
          <a:p>
            <a:r>
              <a:rPr lang="en-US" b="1" dirty="0"/>
              <a:t>Adverbs of time</a:t>
            </a:r>
            <a:r>
              <a:rPr lang="en-US" dirty="0"/>
              <a:t> tell us </a:t>
            </a:r>
            <a:r>
              <a:rPr lang="en-US" b="1" dirty="0"/>
              <a:t>when</a:t>
            </a:r>
            <a:r>
              <a:rPr lang="en-US" dirty="0"/>
              <a:t>, </a:t>
            </a:r>
            <a:r>
              <a:rPr lang="en-US" b="1" dirty="0"/>
              <a:t>how long</a:t>
            </a:r>
            <a:r>
              <a:rPr lang="en-US" dirty="0"/>
              <a:t>, or </a:t>
            </a:r>
            <a:r>
              <a:rPr lang="en-US" b="1" dirty="0"/>
              <a:t>how often</a:t>
            </a:r>
            <a:r>
              <a:rPr lang="en-US" dirty="0"/>
              <a:t> an action happens </a:t>
            </a:r>
            <a:r>
              <a:rPr lang="en-US" b="1" dirty="0"/>
              <a:t>Questions: When?</a:t>
            </a:r>
            <a:r>
              <a:rPr lang="en-US" dirty="0"/>
              <a:t> (</a:t>
            </a:r>
            <a:r>
              <a:rPr lang="en-US" dirty="0" err="1"/>
              <a:t>Qachon</a:t>
            </a:r>
            <a:r>
              <a:rPr lang="en-US" dirty="0"/>
              <a:t>?) </a:t>
            </a:r>
            <a:r>
              <a:rPr lang="en-US" b="1" dirty="0"/>
              <a:t>How long?</a:t>
            </a:r>
            <a:r>
              <a:rPr lang="en-US" dirty="0"/>
              <a:t> (</a:t>
            </a:r>
            <a:r>
              <a:rPr lang="en-US" dirty="0" err="1"/>
              <a:t>Qancha</a:t>
            </a:r>
            <a:r>
              <a:rPr lang="en-US" dirty="0"/>
              <a:t> </a:t>
            </a:r>
            <a:r>
              <a:rPr lang="en-US" dirty="0" err="1"/>
              <a:t>vaqt</a:t>
            </a:r>
            <a:r>
              <a:rPr lang="en-US" dirty="0"/>
              <a:t>?) </a:t>
            </a:r>
            <a:r>
              <a:rPr lang="en-US" b="1" dirty="0"/>
              <a:t>Until when?</a:t>
            </a:r>
            <a:r>
              <a:rPr lang="en-US" dirty="0"/>
              <a:t> (</a:t>
            </a:r>
            <a:r>
              <a:rPr lang="en-US" dirty="0" err="1"/>
              <a:t>Qachongacha</a:t>
            </a:r>
            <a:r>
              <a:rPr lang="en-US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165981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9FD8DD-4FDE-5269-FD20-EBB05B644A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0181849"/>
              </p:ext>
            </p:extLst>
          </p:nvPr>
        </p:nvGraphicFramePr>
        <p:xfrm>
          <a:off x="0" y="0"/>
          <a:ext cx="12192000" cy="6857998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2449302982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347725988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 b="1" dirty="0"/>
                        <a:t>Adverb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Meaning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7079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 dirty="0"/>
                        <a:t>now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hozir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91082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then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keyin, o‘shanda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42477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today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bugun</a:t>
                      </a:r>
                      <a:endParaRPr lang="en-US" sz="2400" dirty="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15871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tomorrow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ertaga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3878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yesterday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kecha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1275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soon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tez orada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66987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recently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yaqinda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179719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lately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so‘nggi paytlarda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92942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eventually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oxir-oqibat</a:t>
                      </a:r>
                      <a:endParaRPr lang="en-US" sz="2400" dirty="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51229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afterwards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undan keyin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34359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before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oldin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63109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/>
                        <a:t>early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erta</a:t>
                      </a:r>
                      <a:endParaRPr lang="en-US" sz="2400" dirty="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4587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400" dirty="0"/>
                        <a:t>late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kech</a:t>
                      </a:r>
                      <a:endParaRPr lang="en-US" sz="2400" dirty="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643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02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35CB-AC0B-18B7-292C-AFE34DE8B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25852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Position in Affirmative Sentences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890A1-7909-D085-4BF3-12E22C3ED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061885"/>
            <a:ext cx="10483055" cy="57961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At the beginning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Eventually</a:t>
            </a:r>
            <a:r>
              <a:rPr lang="en-US" sz="2800" dirty="0"/>
              <a:t>, he came.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Then</a:t>
            </a:r>
            <a:r>
              <a:rPr lang="en-US" sz="2800" dirty="0"/>
              <a:t>, we went home.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Afterwards</a:t>
            </a:r>
            <a:r>
              <a:rPr lang="en-US" sz="2800" dirty="0"/>
              <a:t>, we had dinner.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At the end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came </a:t>
            </a:r>
            <a:r>
              <a:rPr lang="en-US" sz="2800" b="1" dirty="0"/>
              <a:t>eventually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went home </a:t>
            </a:r>
            <a:r>
              <a:rPr lang="en-US" sz="2800" b="1" dirty="0"/>
              <a:t>then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ate </a:t>
            </a:r>
            <a:r>
              <a:rPr lang="en-US" sz="2800" b="1" dirty="0"/>
              <a:t>afterwards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3000" dirty="0"/>
              <a:t>Both positions are correct.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20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5F61-D8CA-6625-1095-702EF5BDA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2781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Time Expressions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51A7F-DA5E-D7F0-0D5F-C315C176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89703"/>
            <a:ext cx="11122152" cy="56682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Time phrases also function as adverbs.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Examples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at once | since then | till 6:00 | after lunch | next week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have not seen him </a:t>
            </a:r>
            <a:r>
              <a:rPr lang="en-US" sz="2800" b="1" dirty="0"/>
              <a:t>since then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worked </a:t>
            </a:r>
            <a:r>
              <a:rPr lang="en-US" sz="2800" b="1" dirty="0"/>
              <a:t>till 6:00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Please come </a:t>
            </a:r>
            <a:r>
              <a:rPr lang="en-US" sz="2800" b="1" dirty="0"/>
              <a:t>at once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38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DC8F-FBCA-952F-BE09-9283E659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Imperatives and Questions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11815-65E5-B953-1FA1-2F63EF29E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96181"/>
            <a:ext cx="11122152" cy="546181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In commands and questions, adverbs of time come </a:t>
            </a:r>
            <a:r>
              <a:rPr lang="en-US" sz="2800" b="1" i="1" dirty="0">
                <a:highlight>
                  <a:srgbClr val="FFFF00"/>
                </a:highlight>
              </a:rPr>
              <a:t>at the end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Write the report </a:t>
            </a:r>
            <a:r>
              <a:rPr lang="en-US" sz="2800" b="1" dirty="0"/>
              <a:t>today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Come here </a:t>
            </a:r>
            <a:r>
              <a:rPr lang="en-US" sz="2800" b="1" dirty="0"/>
              <a:t>soon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Did you do your homework </a:t>
            </a:r>
            <a:r>
              <a:rPr lang="en-US" sz="2800" b="1" dirty="0"/>
              <a:t>yesterday</a:t>
            </a:r>
            <a:r>
              <a:rPr lang="en-US" sz="2800" dirty="0"/>
              <a:t>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Will you finish it </a:t>
            </a:r>
            <a:r>
              <a:rPr lang="en-US" sz="2800" b="1" dirty="0"/>
              <a:t>today</a:t>
            </a:r>
            <a:r>
              <a:rPr lang="en-US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Turn off your phone and listen to me </a:t>
            </a:r>
            <a:r>
              <a:rPr lang="en-US" sz="2800" b="1" dirty="0"/>
              <a:t>now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2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E687-406A-410C-4531-F62FCC01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897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Before the Main Verb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FF71D-00F5-8E42-8FFE-7C8ED1700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8" y="943897"/>
            <a:ext cx="11592232" cy="59141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Some adverbs* often appear before the main verb, especially in formal English.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S + (aux) + </a:t>
            </a:r>
            <a:r>
              <a:rPr lang="en-US" sz="2800" b="1" i="1" u="sng" dirty="0">
                <a:solidFill>
                  <a:srgbClr val="00B0F0"/>
                </a:solidFill>
              </a:rPr>
              <a:t>eventually | now | recently | soon | finally </a:t>
            </a:r>
            <a:r>
              <a:rPr lang="en-US" sz="2800" b="1" dirty="0">
                <a:solidFill>
                  <a:srgbClr val="00B0F0"/>
                </a:solidFill>
              </a:rPr>
              <a:t>+ V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</a:t>
            </a:r>
            <a:r>
              <a:rPr lang="en-US" sz="2800" b="1" dirty="0"/>
              <a:t>now have</a:t>
            </a:r>
            <a:r>
              <a:rPr lang="en-US" sz="2800" dirty="0"/>
              <a:t> our own library.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Nilufar </a:t>
            </a:r>
            <a:r>
              <a:rPr lang="en-US" sz="2800" b="1" dirty="0"/>
              <a:t>recently started</a:t>
            </a:r>
            <a:r>
              <a:rPr lang="en-US" sz="2800" dirty="0"/>
              <a:t> a new job.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flowers </a:t>
            </a:r>
            <a:r>
              <a:rPr lang="en-US" sz="2800" b="1" dirty="0"/>
              <a:t>will</a:t>
            </a:r>
            <a:r>
              <a:rPr lang="en-US" sz="2800" dirty="0"/>
              <a:t> </a:t>
            </a:r>
            <a:r>
              <a:rPr lang="en-US" sz="2800" b="1" dirty="0"/>
              <a:t>soon bloom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Abror’s mother </a:t>
            </a:r>
            <a:r>
              <a:rPr lang="en-US" sz="2800" b="1" dirty="0"/>
              <a:t>eventually found</a:t>
            </a:r>
            <a:r>
              <a:rPr lang="en-US" sz="2800" dirty="0"/>
              <a:t> him.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006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CB98-69E4-655A-63BA-07D310A2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Before, Early, Immediately, Late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DF1CC-D5E2-5A60-5865-96F2930C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45342"/>
            <a:ext cx="11122152" cy="541265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These adverbs of time usually come </a:t>
            </a:r>
            <a:r>
              <a:rPr lang="en-US" sz="2800" b="1" i="1" dirty="0">
                <a:highlight>
                  <a:srgbClr val="FFFF00"/>
                </a:highlight>
              </a:rPr>
              <a:t>at the end </a:t>
            </a:r>
            <a:r>
              <a:rPr lang="en-US" sz="2800" i="1" dirty="0">
                <a:highlight>
                  <a:srgbClr val="FFFF00"/>
                </a:highlight>
              </a:rPr>
              <a:t>of the sentence.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Behruz arrived at the lesson </a:t>
            </a:r>
            <a:r>
              <a:rPr lang="en-US" sz="2800" b="1" dirty="0"/>
              <a:t>late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Yesterday</a:t>
            </a:r>
            <a:r>
              <a:rPr lang="en-US" sz="2800" dirty="0"/>
              <a:t>, Aziza came home </a:t>
            </a:r>
            <a:r>
              <a:rPr lang="en-US" sz="2800" b="1" dirty="0"/>
              <a:t>early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will go there </a:t>
            </a:r>
            <a:r>
              <a:rPr lang="en-US" sz="2800" b="1" dirty="0"/>
              <a:t>immediately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have seen that movie </a:t>
            </a:r>
            <a:r>
              <a:rPr lang="en-US" sz="2800" b="1" dirty="0"/>
              <a:t>before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826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520F4-5DD4-0526-1A6C-E4C342D7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522384" cy="108154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Before and Immediately as Conjunctions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9E9B0-7889-41DE-CF6F-F76C16F46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258529"/>
            <a:ext cx="11710219" cy="559947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Sometimes they connect two clauses and function as a conjunction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Before + clause, main clause </a:t>
            </a:r>
            <a:r>
              <a:rPr lang="en-US" sz="2800" b="1" dirty="0"/>
              <a:t>= </a:t>
            </a:r>
            <a:r>
              <a:rPr lang="en-US" sz="2800" b="1" dirty="0">
                <a:solidFill>
                  <a:srgbClr val="00B0F0"/>
                </a:solidFill>
              </a:rPr>
              <a:t>Main clause + before + clause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Put the glass away </a:t>
            </a:r>
            <a:r>
              <a:rPr lang="en-US" sz="2800" b="1" dirty="0"/>
              <a:t>before</a:t>
            </a:r>
            <a:r>
              <a:rPr lang="en-US" sz="2800" dirty="0"/>
              <a:t> it gets broken.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Before</a:t>
            </a:r>
            <a:r>
              <a:rPr lang="en-US" sz="2800" dirty="0"/>
              <a:t> you leave the room, please turn the AC off.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Immediately</a:t>
            </a:r>
            <a:r>
              <a:rPr lang="en-US" sz="2800" dirty="0"/>
              <a:t> the rain stops, we will leave.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Immediately</a:t>
            </a:r>
            <a:r>
              <a:rPr lang="en-US" sz="2800" dirty="0"/>
              <a:t> she left, I remembered her name.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581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9145-DCF7-94FD-7072-23250320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192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YET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F2FF-C814-7BB9-4957-9BFEBBBA4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91381"/>
            <a:ext cx="10905842" cy="5766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Yet = up to now - </a:t>
            </a:r>
            <a:r>
              <a:rPr lang="en-US" sz="2800" i="1" dirty="0">
                <a:highlight>
                  <a:srgbClr val="FFFF00"/>
                </a:highlight>
              </a:rPr>
              <a:t>Used mainly in: Negative sentences | Questions</a:t>
            </a:r>
          </a:p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Position - </a:t>
            </a:r>
            <a:r>
              <a:rPr lang="en-US" sz="2800" i="1" dirty="0">
                <a:highlight>
                  <a:srgbClr val="FFFF00"/>
                </a:highlight>
              </a:rPr>
              <a:t>Usually </a:t>
            </a:r>
            <a:r>
              <a:rPr lang="en-US" sz="2800" b="1" i="1" dirty="0">
                <a:highlight>
                  <a:srgbClr val="FFFF00"/>
                </a:highlight>
              </a:rPr>
              <a:t>at the end </a:t>
            </a:r>
            <a:r>
              <a:rPr lang="en-US" sz="2800" i="1" dirty="0">
                <a:highlight>
                  <a:srgbClr val="FFFF00"/>
                </a:highlight>
              </a:rPr>
              <a:t>of the sentence.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Javlon</a:t>
            </a:r>
            <a:r>
              <a:rPr lang="en-US" sz="2800" dirty="0"/>
              <a:t> hasn't finished breakfast </a:t>
            </a:r>
            <a:r>
              <a:rPr lang="en-US" sz="2800" b="1" dirty="0"/>
              <a:t>yet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haven't received the letter </a:t>
            </a:r>
            <a:r>
              <a:rPr lang="en-US" sz="2800" b="1" dirty="0"/>
              <a:t>yet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Have you finished your work </a:t>
            </a:r>
            <a:r>
              <a:rPr lang="en-US" sz="2800" b="1" dirty="0"/>
              <a:t>yet</a:t>
            </a:r>
            <a:r>
              <a:rPr lang="en-US" sz="2800" dirty="0"/>
              <a:t>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Are you ready for the final exam </a:t>
            </a:r>
            <a:r>
              <a:rPr lang="en-US" sz="2800" b="1" dirty="0"/>
              <a:t>yet</a:t>
            </a:r>
            <a:r>
              <a:rPr lang="en-US" sz="2800" dirty="0"/>
              <a:t>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Are you ready? Not </a:t>
            </a:r>
            <a:r>
              <a:rPr lang="en-US" sz="2800" b="1" dirty="0"/>
              <a:t>yet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662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7878-DDD2-883B-E899-29236D2D4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3071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Long Objects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54F99-AED4-2877-5FEE-FA7C54E45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30710"/>
            <a:ext cx="11122152" cy="57272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With long objects, </a:t>
            </a:r>
            <a:r>
              <a:rPr lang="en-US" sz="2800" b="1" i="1" dirty="0">
                <a:highlight>
                  <a:srgbClr val="FFFF00"/>
                </a:highlight>
              </a:rPr>
              <a:t>yet</a:t>
            </a:r>
            <a:r>
              <a:rPr lang="en-US" sz="2800" i="1" dirty="0">
                <a:highlight>
                  <a:srgbClr val="FFFF00"/>
                </a:highlight>
              </a:rPr>
              <a:t> may appear before or after the main verb.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Examples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haven't </a:t>
            </a:r>
            <a:r>
              <a:rPr lang="en-US" sz="2800" b="1" dirty="0"/>
              <a:t>yet received</a:t>
            </a:r>
            <a:r>
              <a:rPr lang="en-US" sz="2800" dirty="0"/>
              <a:t> </a:t>
            </a:r>
            <a:r>
              <a:rPr lang="en-US" sz="2800" u="sng" dirty="0"/>
              <a:t>the letter that Ali sent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haven't </a:t>
            </a:r>
            <a:r>
              <a:rPr lang="en-US" sz="2800" b="1" dirty="0"/>
              <a:t>received</a:t>
            </a:r>
            <a:r>
              <a:rPr lang="en-US" sz="2800" dirty="0"/>
              <a:t> </a:t>
            </a:r>
            <a:r>
              <a:rPr lang="en-US" sz="2800" b="1" dirty="0"/>
              <a:t>yet</a:t>
            </a:r>
            <a:r>
              <a:rPr lang="en-US" sz="2800" dirty="0"/>
              <a:t> </a:t>
            </a:r>
            <a:r>
              <a:rPr lang="en-US" sz="2800" u="sng" dirty="0"/>
              <a:t>the letter that Ali sent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first form is more common.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205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FB8D-3E64-BF5A-CE2C-7834D32F2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"/>
            <a:ext cx="10058400" cy="105205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STILL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9636B-EFEE-8C6B-CA13-B7530DEA8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845574"/>
            <a:ext cx="10876346" cy="601242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US" sz="2800" b="1" dirty="0"/>
              <a:t>Still = continuing up to now </a:t>
            </a:r>
            <a:r>
              <a:rPr lang="en-US" sz="2800" dirty="0"/>
              <a:t>(</a:t>
            </a:r>
            <a:r>
              <a:rPr lang="en-US" sz="2800" dirty="0" err="1"/>
              <a:t>hali</a:t>
            </a:r>
            <a:r>
              <a:rPr lang="en-US" sz="2800" dirty="0"/>
              <a:t> ham, </a:t>
            </a:r>
            <a:r>
              <a:rPr lang="en-US" sz="2800" dirty="0" err="1"/>
              <a:t>haligacha</a:t>
            </a:r>
            <a:r>
              <a:rPr lang="en-US" sz="2800" dirty="0"/>
              <a:t>)</a:t>
            </a:r>
          </a:p>
          <a:p>
            <a:pPr>
              <a:lnSpc>
                <a:spcPct val="16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Position - After BE</a:t>
            </a:r>
          </a:p>
          <a:p>
            <a:pPr lvl="1">
              <a:lnSpc>
                <a:spcPct val="160000"/>
              </a:lnSpc>
            </a:pPr>
            <a:r>
              <a:rPr lang="en-US" sz="2800" dirty="0" err="1"/>
              <a:t>Gulhayo</a:t>
            </a:r>
            <a:r>
              <a:rPr lang="en-US" sz="2800" dirty="0"/>
              <a:t> is </a:t>
            </a:r>
            <a:r>
              <a:rPr lang="en-US" sz="2800" b="1" dirty="0"/>
              <a:t>still</a:t>
            </a:r>
            <a:r>
              <a:rPr lang="en-US" sz="2800" dirty="0"/>
              <a:t> asleep. 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Sevinch</a:t>
            </a:r>
            <a:r>
              <a:rPr lang="en-US" sz="2800" b="1" dirty="0"/>
              <a:t> </a:t>
            </a:r>
            <a:r>
              <a:rPr lang="en-US" sz="2800" dirty="0"/>
              <a:t>is</a:t>
            </a:r>
            <a:r>
              <a:rPr lang="en-US" sz="2800" b="1" dirty="0"/>
              <a:t> still</a:t>
            </a:r>
            <a:r>
              <a:rPr lang="en-US" sz="2800" dirty="0"/>
              <a:t> hungry. 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The children are </a:t>
            </a:r>
            <a:r>
              <a:rPr lang="en-US" sz="2800" b="1" dirty="0"/>
              <a:t>still</a:t>
            </a:r>
            <a:r>
              <a:rPr lang="en-US" sz="2800" dirty="0"/>
              <a:t> awake. </a:t>
            </a:r>
          </a:p>
          <a:p>
            <a:pPr>
              <a:lnSpc>
                <a:spcPct val="16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Before Other Verbs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I </a:t>
            </a:r>
            <a:r>
              <a:rPr lang="en-US" sz="2800" b="1" dirty="0"/>
              <a:t>still live</a:t>
            </a:r>
            <a:r>
              <a:rPr lang="en-US" sz="2800" dirty="0"/>
              <a:t> in Tashkent. </a:t>
            </a:r>
          </a:p>
          <a:p>
            <a:pPr lvl="1">
              <a:lnSpc>
                <a:spcPct val="160000"/>
              </a:lnSpc>
            </a:pPr>
            <a:r>
              <a:rPr lang="en-US" sz="2800" dirty="0" err="1"/>
              <a:t>Gulyora</a:t>
            </a:r>
            <a:r>
              <a:rPr lang="en-US" sz="2800" dirty="0"/>
              <a:t> </a:t>
            </a:r>
            <a:r>
              <a:rPr lang="en-US" sz="2800" b="1" dirty="0"/>
              <a:t>still works</a:t>
            </a:r>
            <a:r>
              <a:rPr lang="en-US" sz="2800" dirty="0"/>
              <a:t> at </a:t>
            </a:r>
            <a:r>
              <a:rPr lang="en-US" sz="2800" dirty="0" err="1"/>
              <a:t>Spetion</a:t>
            </a:r>
            <a:r>
              <a:rPr lang="en-US" sz="2800" dirty="0"/>
              <a:t> LC. </a:t>
            </a:r>
          </a:p>
          <a:p>
            <a:pPr lvl="1">
              <a:lnSpc>
                <a:spcPct val="160000"/>
              </a:lnSpc>
            </a:pPr>
            <a:r>
              <a:rPr lang="en-US" sz="2800" dirty="0"/>
              <a:t>I’m </a:t>
            </a:r>
            <a:r>
              <a:rPr lang="en-US" sz="2800" b="1" dirty="0"/>
              <a:t>still waiting</a:t>
            </a:r>
            <a:r>
              <a:rPr lang="en-US" sz="2800" dirty="0"/>
              <a:t> for a reply from students.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8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4817-B89C-4C24-3976-D95AEFC8F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1104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Difference Between YET and STILL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75B40E-4A1E-A7E7-FF52-01A57BAAC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7954107"/>
              </p:ext>
            </p:extLst>
          </p:nvPr>
        </p:nvGraphicFramePr>
        <p:xfrm>
          <a:off x="1066800" y="1111045"/>
          <a:ext cx="10058400" cy="3262315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5028298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84712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/>
                        <a:t>STILL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YET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41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Positive sentences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Negative &amp; 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2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Means "continuing"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Means "up to now"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28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He is </a:t>
                      </a:r>
                      <a:r>
                        <a:rPr lang="en-US" sz="2800" b="1" dirty="0"/>
                        <a:t>still</a:t>
                      </a:r>
                      <a:r>
                        <a:rPr lang="en-US" sz="2800" dirty="0"/>
                        <a:t> working.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He hasn't finished </a:t>
                      </a:r>
                      <a:r>
                        <a:rPr lang="en-US" sz="2800" b="1" dirty="0"/>
                        <a:t>yet</a:t>
                      </a:r>
                      <a:r>
                        <a:rPr lang="en-US" sz="28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977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I </a:t>
                      </a:r>
                      <a:r>
                        <a:rPr lang="en-US" sz="2800" b="1" dirty="0"/>
                        <a:t>still</a:t>
                      </a:r>
                      <a:r>
                        <a:rPr lang="en-US" sz="2800" dirty="0"/>
                        <a:t> remember it.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Have you finished </a:t>
                      </a:r>
                      <a:r>
                        <a:rPr lang="en-US" sz="2800" b="1" dirty="0"/>
                        <a:t>yet</a:t>
                      </a:r>
                      <a:r>
                        <a:rPr lang="en-US" sz="2800" dirty="0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5858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9448AC-AB02-91BB-DC9D-2FF21D1640C2}"/>
              </a:ext>
            </a:extLst>
          </p:cNvPr>
          <p:cNvSpPr txBox="1"/>
          <p:nvPr/>
        </p:nvSpPr>
        <p:spPr>
          <a:xfrm>
            <a:off x="1066800" y="4746663"/>
            <a:ext cx="9316065" cy="130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He is </a:t>
            </a:r>
            <a:r>
              <a:rPr lang="en-US" sz="2800" b="1" dirty="0"/>
              <a:t>still </a:t>
            </a:r>
            <a:r>
              <a:rPr lang="en-US" sz="2800" dirty="0"/>
              <a:t>sleeping. (Hali ham </a:t>
            </a:r>
            <a:r>
              <a:rPr lang="en-US" sz="2800" dirty="0" err="1"/>
              <a:t>uxlayapti</a:t>
            </a:r>
            <a:r>
              <a:rPr lang="en-US" sz="2800" dirty="0"/>
              <a:t>.)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hasn't woken up </a:t>
            </a:r>
            <a:r>
              <a:rPr lang="en-US" sz="2800" b="1" dirty="0"/>
              <a:t>yet</a:t>
            </a:r>
            <a:r>
              <a:rPr lang="en-US" sz="2800" dirty="0"/>
              <a:t>. (</a:t>
            </a:r>
            <a:r>
              <a:rPr lang="en-US" sz="2800" dirty="0" err="1"/>
              <a:t>Hanuz</a:t>
            </a:r>
            <a:r>
              <a:rPr lang="en-US" sz="2800" dirty="0"/>
              <a:t> </a:t>
            </a:r>
            <a:r>
              <a:rPr lang="en-US" sz="2800" dirty="0" err="1"/>
              <a:t>uyg‘onmadi</a:t>
            </a:r>
            <a:r>
              <a:rPr lang="en-US" sz="2800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781405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B25E-CECE-45F7-C4A7-27E7EA545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STILL as a Conjunction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7C22F-4168-ADD8-4A90-E90095365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48" y="1337187"/>
            <a:ext cx="11248104" cy="55208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Sometimes </a:t>
            </a:r>
            <a:r>
              <a:rPr lang="en-US" sz="2800" b="1" dirty="0"/>
              <a:t>still</a:t>
            </a:r>
            <a:r>
              <a:rPr lang="en-US" sz="2800" dirty="0"/>
              <a:t> means: </a:t>
            </a:r>
            <a:r>
              <a:rPr lang="en-US" sz="2800" b="1" dirty="0">
                <a:solidFill>
                  <a:srgbClr val="00B050"/>
                </a:solidFill>
              </a:rPr>
              <a:t>nevertheless | despite that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(</a:t>
            </a:r>
            <a:r>
              <a:rPr lang="en-US" sz="2800" dirty="0" err="1"/>
              <a:t>O‘zbekcha</a:t>
            </a:r>
            <a:r>
              <a:rPr lang="en-US" sz="2800" dirty="0"/>
              <a:t>: shunga </a:t>
            </a:r>
            <a:r>
              <a:rPr lang="en-US" sz="2800" dirty="0" err="1"/>
              <a:t>qaramay</a:t>
            </a:r>
            <a:r>
              <a:rPr lang="en-US" sz="28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Examples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aren't rich; </a:t>
            </a:r>
            <a:r>
              <a:rPr lang="en-US" sz="2800" b="1" dirty="0"/>
              <a:t>still</a:t>
            </a:r>
            <a:r>
              <a:rPr lang="en-US" sz="2800" dirty="0"/>
              <a:t>, you can help him.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can talk online, but </a:t>
            </a:r>
            <a:r>
              <a:rPr lang="en-US" sz="2800" b="1" dirty="0"/>
              <a:t>still</a:t>
            </a:r>
            <a:r>
              <a:rPr lang="en-US" sz="2800" dirty="0"/>
              <a:t>, meeting in person is better.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was difficult; </a:t>
            </a:r>
            <a:r>
              <a:rPr lang="en-US" sz="2800" b="1" dirty="0"/>
              <a:t>still</a:t>
            </a:r>
            <a:r>
              <a:rPr lang="en-US" sz="2800" dirty="0"/>
              <a:t>, we succeeded.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877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113C-19C1-9FF8-B7D1-2A1C7E1E6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7003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YET as a Conjunction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6E5B3-D3D5-89B2-A83E-E4C9D0CE5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86348"/>
            <a:ext cx="10591210" cy="524059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Yet</a:t>
            </a:r>
            <a:r>
              <a:rPr lang="en-US" sz="2800" dirty="0"/>
              <a:t> can mean:  </a:t>
            </a:r>
            <a:r>
              <a:rPr lang="en-US" sz="2800" b="1" dirty="0">
                <a:solidFill>
                  <a:srgbClr val="00B050"/>
                </a:solidFill>
              </a:rPr>
              <a:t>but | however | nevertheless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(</a:t>
            </a:r>
            <a:r>
              <a:rPr lang="en-US" sz="2800" dirty="0" err="1"/>
              <a:t>O‘zbekcha</a:t>
            </a:r>
            <a:r>
              <a:rPr lang="en-US" sz="2800" dirty="0"/>
              <a:t>: Lekin, ammo, </a:t>
            </a:r>
            <a:r>
              <a:rPr lang="en-US" sz="2800" dirty="0" err="1"/>
              <a:t>baribiram</a:t>
            </a:r>
            <a:r>
              <a:rPr lang="en-US" sz="2800" dirty="0"/>
              <a:t>)</a:t>
            </a:r>
            <a:endParaRPr lang="en-US" sz="2800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Examples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These toys are ugly, </a:t>
            </a:r>
            <a:r>
              <a:rPr lang="en-US" sz="2800" b="1" dirty="0"/>
              <a:t>yet</a:t>
            </a:r>
            <a:r>
              <a:rPr lang="en-US" sz="2800" dirty="0"/>
              <a:t> people buy them. 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Umidjon</a:t>
            </a:r>
            <a:r>
              <a:rPr lang="en-US" sz="2800" dirty="0"/>
              <a:t> is busy, </a:t>
            </a:r>
            <a:r>
              <a:rPr lang="en-US" sz="2800" b="1" dirty="0"/>
              <a:t>yet</a:t>
            </a:r>
            <a:r>
              <a:rPr lang="en-US" sz="2800" dirty="0"/>
              <a:t> he finds time for Ezoza.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Naima avoids you, </a:t>
            </a:r>
            <a:r>
              <a:rPr lang="en-US" sz="2800" b="1" dirty="0"/>
              <a:t>yet</a:t>
            </a:r>
            <a:r>
              <a:rPr lang="en-US" sz="2800" dirty="0"/>
              <a:t> you keep calling her.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task was difficult, </a:t>
            </a:r>
            <a:r>
              <a:rPr lang="en-US" sz="2800" b="1" dirty="0"/>
              <a:t>yet</a:t>
            </a:r>
            <a:r>
              <a:rPr lang="en-US" sz="2800" dirty="0"/>
              <a:t> we completed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738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FDA3-949F-E159-9D2B-8C6F4BFC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58529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Compare the Three Uses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15E2DF-E7AA-0412-B583-170B43233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709344"/>
              </p:ext>
            </p:extLst>
          </p:nvPr>
        </p:nvGraphicFramePr>
        <p:xfrm>
          <a:off x="1069848" y="1591843"/>
          <a:ext cx="10058400" cy="4062415"/>
        </p:xfrm>
        <a:graphic>
          <a:graphicData uri="http://schemas.openxmlformats.org/drawingml/2006/table">
            <a:tbl>
              <a:tblPr/>
              <a:tblGrid>
                <a:gridCol w="1794387">
                  <a:extLst>
                    <a:ext uri="{9D8B030D-6E8A-4147-A177-3AD203B41FA5}">
                      <a16:colId xmlns:a16="http://schemas.microsoft.com/office/drawing/2014/main" val="3560415429"/>
                    </a:ext>
                  </a:extLst>
                </a:gridCol>
                <a:gridCol w="2792361">
                  <a:extLst>
                    <a:ext uri="{9D8B030D-6E8A-4147-A177-3AD203B41FA5}">
                      <a16:colId xmlns:a16="http://schemas.microsoft.com/office/drawing/2014/main" val="2443655146"/>
                    </a:ext>
                  </a:extLst>
                </a:gridCol>
                <a:gridCol w="5471652">
                  <a:extLst>
                    <a:ext uri="{9D8B030D-6E8A-4147-A177-3AD203B41FA5}">
                      <a16:colId xmlns:a16="http://schemas.microsoft.com/office/drawing/2014/main" val="197430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 dirty="0"/>
                        <a:t>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492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yet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 haven't finished yet.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517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yet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conjunction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He is poor, yet happy.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594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still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 still remember her.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33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still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conjunction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It is expensive; still, I want it.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042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463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BCB547-CD35-3EF8-BA67-07CB82BB3D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972336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46555">
                  <a:extLst>
                    <a:ext uri="{9D8B030D-6E8A-4147-A177-3AD203B41FA5}">
                      <a16:colId xmlns:a16="http://schemas.microsoft.com/office/drawing/2014/main" val="984650443"/>
                    </a:ext>
                  </a:extLst>
                </a:gridCol>
                <a:gridCol w="4650658">
                  <a:extLst>
                    <a:ext uri="{9D8B030D-6E8A-4147-A177-3AD203B41FA5}">
                      <a16:colId xmlns:a16="http://schemas.microsoft.com/office/drawing/2014/main" val="2254181259"/>
                    </a:ext>
                  </a:extLst>
                </a:gridCol>
                <a:gridCol w="4994787">
                  <a:extLst>
                    <a:ext uri="{9D8B030D-6E8A-4147-A177-3AD203B41FA5}">
                      <a16:colId xmlns:a16="http://schemas.microsoft.com/office/drawing/2014/main" val="4273744646"/>
                    </a:ext>
                  </a:extLst>
                </a:gridCol>
              </a:tblGrid>
              <a:tr h="715929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b="1" dirty="0"/>
                        <a:t>Adverb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Typical Position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Example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300136"/>
                  </a:ext>
                </a:extLst>
              </a:tr>
              <a:tr h="715929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today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beginning/end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 will do it today.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43807"/>
                  </a:ext>
                </a:extLst>
              </a:tr>
              <a:tr h="814313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tomorrow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beginning/end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Tomorrow we leave.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687590"/>
                  </a:ext>
                </a:extLst>
              </a:tr>
              <a:tr h="74451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eventually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beginning/end/before verb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He eventually arrived.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925548"/>
                  </a:ext>
                </a:extLst>
              </a:tr>
              <a:tr h="715929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soon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before verb/end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We will soon leave.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2784"/>
                  </a:ext>
                </a:extLst>
              </a:tr>
              <a:tr h="848819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yet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end of sentence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I haven't finished yet.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170714"/>
                  </a:ext>
                </a:extLst>
              </a:tr>
              <a:tr h="870707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still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after be / before verbs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She is still here.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736965"/>
                  </a:ext>
                </a:extLst>
              </a:tr>
              <a:tr h="715929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late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end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He arrived late.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686045"/>
                  </a:ext>
                </a:extLst>
              </a:tr>
              <a:tr h="715929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dirty="0"/>
                        <a:t>early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end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She came early.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397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671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140</TotalTime>
  <Words>852</Words>
  <Application>Microsoft Office PowerPoint</Application>
  <PresentationFormat>Widescreen</PresentationFormat>
  <Paragraphs>169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Wingdings</vt:lpstr>
      <vt:lpstr>Wood Type</vt:lpstr>
      <vt:lpstr>Adverbs of Time</vt:lpstr>
      <vt:lpstr>PowerPoint Presentation</vt:lpstr>
      <vt:lpstr>Position in Affirmative Sentences</vt:lpstr>
      <vt:lpstr>Time Expressions</vt:lpstr>
      <vt:lpstr>Imperatives and Questions</vt:lpstr>
      <vt:lpstr>Before the Main Verb</vt:lpstr>
      <vt:lpstr>Before, Early, Immediately, Late</vt:lpstr>
      <vt:lpstr>Before and Immediately as Conjunctions</vt:lpstr>
      <vt:lpstr>YET</vt:lpstr>
      <vt:lpstr>Long Objects</vt:lpstr>
      <vt:lpstr>STILL</vt:lpstr>
      <vt:lpstr>Difference Between YET and STILL</vt:lpstr>
      <vt:lpstr>STILL as a Conjunction</vt:lpstr>
      <vt:lpstr>YET as a Conjunction</vt:lpstr>
      <vt:lpstr>Compare the Three Uses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10</cp:revision>
  <dcterms:created xsi:type="dcterms:W3CDTF">2026-06-09T06:55:04Z</dcterms:created>
  <dcterms:modified xsi:type="dcterms:W3CDTF">2026-06-09T09:15:21Z</dcterms:modified>
</cp:coreProperties>
</file>