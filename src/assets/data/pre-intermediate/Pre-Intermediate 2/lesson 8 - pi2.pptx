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5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1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2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2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7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6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3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8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6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C2DE4C0-83C5-4632-BA41-C710D110C1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2913829E-06AA-43E0-84E5-5C0D0B303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7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790C-741C-43EF-388C-43AACB059E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b="1" dirty="0">
                <a:solidFill>
                  <a:srgbClr val="FF0000"/>
                </a:solidFill>
              </a:rPr>
              <a:t>Adverbs of Degree</a:t>
            </a:r>
            <a:endParaRPr lang="en-US" sz="88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F5E52-7055-55E3-DF37-7D59DE526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99" y="4389119"/>
            <a:ext cx="9110133" cy="1876213"/>
          </a:xfrm>
        </p:spPr>
        <p:txBody>
          <a:bodyPr>
            <a:normAutofit/>
          </a:bodyPr>
          <a:lstStyle/>
          <a:p>
            <a:r>
              <a:rPr lang="en-US" b="1" dirty="0"/>
              <a:t>Adverbs of degree</a:t>
            </a:r>
            <a:r>
              <a:rPr lang="en-US" dirty="0"/>
              <a:t> tell us </a:t>
            </a:r>
            <a:r>
              <a:rPr lang="en-US" b="1" dirty="0"/>
              <a:t>how much</a:t>
            </a:r>
            <a:r>
              <a:rPr lang="en-US" dirty="0"/>
              <a:t>, </a:t>
            </a:r>
            <a:r>
              <a:rPr lang="en-US" b="1" dirty="0"/>
              <a:t>how strong</a:t>
            </a:r>
            <a:r>
              <a:rPr lang="en-US" dirty="0"/>
              <a:t>, or </a:t>
            </a:r>
            <a:r>
              <a:rPr lang="en-US" b="1" dirty="0"/>
              <a:t>to what extent</a:t>
            </a:r>
            <a:r>
              <a:rPr lang="en-US" dirty="0"/>
              <a:t> something is.</a:t>
            </a:r>
          </a:p>
          <a:p>
            <a:r>
              <a:rPr lang="en-US" b="1" dirty="0"/>
              <a:t>Questions: </a:t>
            </a:r>
            <a:r>
              <a:rPr lang="en-US" dirty="0"/>
              <a:t>How much? To what degree? </a:t>
            </a:r>
            <a:r>
              <a:rPr lang="en-US" dirty="0" err="1"/>
              <a:t>Qanchalik</a:t>
            </a:r>
            <a:r>
              <a:rPr lang="en-US" dirty="0"/>
              <a:t>? </a:t>
            </a:r>
            <a:r>
              <a:rPr lang="en-US" dirty="0" err="1"/>
              <a:t>Qancha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55B8-CF73-71A4-99C8-D2CDF33B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3276"/>
            <a:ext cx="10058400" cy="85742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Common Adverbs of Degree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4041FD-E5A7-FA41-BC4F-F6FEE4961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14685"/>
              </p:ext>
            </p:extLst>
          </p:nvPr>
        </p:nvGraphicFramePr>
        <p:xfrm>
          <a:off x="0" y="1085780"/>
          <a:ext cx="6096000" cy="5802058"/>
        </p:xfrm>
        <a:graphic>
          <a:graphicData uri="http://schemas.openxmlformats.org/drawingml/2006/table">
            <a:tbl>
              <a:tblPr/>
              <a:tblGrid>
                <a:gridCol w="2686136">
                  <a:extLst>
                    <a:ext uri="{9D8B030D-6E8A-4147-A177-3AD203B41FA5}">
                      <a16:colId xmlns:a16="http://schemas.microsoft.com/office/drawing/2014/main" val="2050272008"/>
                    </a:ext>
                  </a:extLst>
                </a:gridCol>
                <a:gridCol w="3409864">
                  <a:extLst>
                    <a:ext uri="{9D8B030D-6E8A-4147-A177-3AD203B41FA5}">
                      <a16:colId xmlns:a16="http://schemas.microsoft.com/office/drawing/2014/main" val="3003572570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 b="1" dirty="0"/>
                        <a:t>Adverb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b="1" dirty="0"/>
                        <a:t>Meaning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3124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very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 err="1"/>
                        <a:t>juda</a:t>
                      </a:r>
                      <a:endParaRPr lang="en-US" sz="26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062809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too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haddan tashqari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496194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quite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 err="1"/>
                        <a:t>ancha</a:t>
                      </a:r>
                      <a:r>
                        <a:rPr lang="en-US" sz="2600" dirty="0"/>
                        <a:t>, </a:t>
                      </a:r>
                      <a:r>
                        <a:rPr lang="en-US" sz="2600" dirty="0" err="1"/>
                        <a:t>butunlay</a:t>
                      </a:r>
                      <a:endParaRPr lang="en-US" sz="26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75752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rather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ancha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01864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fairly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ancha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576345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/>
                        <a:t>really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 err="1"/>
                        <a:t>haqiqatan</a:t>
                      </a:r>
                      <a:endParaRPr lang="en-US" sz="26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98355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absolutely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mutlaqo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574709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completely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/>
                        <a:t>butunlay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01627"/>
                  </a:ext>
                </a:extLst>
              </a:tr>
              <a:tr h="555562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/>
                        <a:t>extremely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 err="1"/>
                        <a:t>nihoyatda</a:t>
                      </a:r>
                      <a:endParaRPr lang="en-US" sz="26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159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495062-30D9-7B4E-56B2-8FBBC8C0F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386287"/>
              </p:ext>
            </p:extLst>
          </p:nvPr>
        </p:nvGraphicFramePr>
        <p:xfrm>
          <a:off x="6096000" y="1085780"/>
          <a:ext cx="6096000" cy="5748155"/>
        </p:xfrm>
        <a:graphic>
          <a:graphicData uri="http://schemas.openxmlformats.org/drawingml/2006/table">
            <a:tbl>
              <a:tblPr/>
              <a:tblGrid>
                <a:gridCol w="3126649">
                  <a:extLst>
                    <a:ext uri="{9D8B030D-6E8A-4147-A177-3AD203B41FA5}">
                      <a16:colId xmlns:a16="http://schemas.microsoft.com/office/drawing/2014/main" val="510150678"/>
                    </a:ext>
                  </a:extLst>
                </a:gridCol>
                <a:gridCol w="2969351">
                  <a:extLst>
                    <a:ext uri="{9D8B030D-6E8A-4147-A177-3AD203B41FA5}">
                      <a16:colId xmlns:a16="http://schemas.microsoft.com/office/drawing/2014/main" val="1786408193"/>
                    </a:ext>
                  </a:extLst>
                </a:gridCol>
              </a:tblGrid>
              <a:tr h="38487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Adverb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08290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almost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deyarli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378613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nearly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deyarli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865857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enough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yetarlicha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86306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hardly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deyarli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emas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516857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scarcely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deyarli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emas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809530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barely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zo‘rg‘a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4960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much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ancha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129028"/>
                  </a:ext>
                </a:extLst>
              </a:tr>
              <a:tr h="641358"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far</a:t>
                      </a:r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ancha</a:t>
                      </a:r>
                      <a:endParaRPr lang="en-US" sz="2800" dirty="0"/>
                    </a:p>
                  </a:txBody>
                  <a:tcPr marL="56268" marR="56268" marT="28134" marB="28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85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6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017B-92CD-8D99-3CB2-8CA272E0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684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Position: Before Adjectives and Adverbs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837E-77DE-0169-52CF-BE6A398B6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8400"/>
            <a:ext cx="11734800" cy="5689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Most adverbs of degree come </a:t>
            </a:r>
            <a:r>
              <a:rPr lang="en-US" sz="2800" b="1" i="1" dirty="0">
                <a:highlight>
                  <a:srgbClr val="FFFF00"/>
                </a:highlight>
              </a:rPr>
              <a:t>before</a:t>
            </a:r>
            <a:r>
              <a:rPr lang="en-US" sz="2800" i="1" dirty="0">
                <a:highlight>
                  <a:srgbClr val="FFFF00"/>
                </a:highlight>
              </a:rPr>
              <a:t> the adjective or adverb they modify.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Adverb + adjective </a:t>
            </a:r>
            <a:r>
              <a:rPr lang="en-US" sz="2800" b="1" dirty="0"/>
              <a:t>| </a:t>
            </a:r>
            <a:r>
              <a:rPr lang="en-US" sz="2800" b="1" dirty="0">
                <a:solidFill>
                  <a:srgbClr val="00B050"/>
                </a:solidFill>
              </a:rPr>
              <a:t>Adverb + adverb</a:t>
            </a:r>
            <a:endParaRPr lang="en-US" sz="2800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3000" dirty="0"/>
              <a:t>You are </a:t>
            </a:r>
            <a:r>
              <a:rPr lang="en-US" sz="3000" b="1" dirty="0">
                <a:solidFill>
                  <a:srgbClr val="00B0F0"/>
                </a:solidFill>
              </a:rPr>
              <a:t>absolutely right</a:t>
            </a:r>
            <a:r>
              <a:rPr lang="en-US" sz="30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John is </a:t>
            </a:r>
            <a:r>
              <a:rPr lang="en-US" sz="3000" b="1" dirty="0"/>
              <a:t>completely mad</a:t>
            </a:r>
            <a:r>
              <a:rPr lang="en-US" sz="30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I am </a:t>
            </a:r>
            <a:r>
              <a:rPr lang="en-US" sz="3000" b="1" dirty="0"/>
              <a:t>almost ready</a:t>
            </a:r>
            <a:r>
              <a:rPr lang="en-US" sz="30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She is </a:t>
            </a:r>
            <a:r>
              <a:rPr lang="en-US" sz="3000" b="1" dirty="0"/>
              <a:t>extremely intelligent</a:t>
            </a:r>
            <a:r>
              <a:rPr lang="en-US" sz="30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They played </a:t>
            </a:r>
            <a:r>
              <a:rPr lang="en-US" sz="3000" b="1" dirty="0">
                <a:solidFill>
                  <a:srgbClr val="00B050"/>
                </a:solidFill>
              </a:rPr>
              <a:t>extremely well</a:t>
            </a:r>
            <a:r>
              <a:rPr lang="en-US" sz="30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The movie was </a:t>
            </a:r>
            <a:r>
              <a:rPr lang="en-US" sz="3000" b="1" dirty="0"/>
              <a:t>really interesting</a:t>
            </a:r>
            <a:r>
              <a:rPr lang="en-US" sz="3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4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6C375-B217-2F5B-CB87-758EF087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303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ENOUGH - Position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467EB-5DF9-BE5B-C01D-B1F97442B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130300"/>
            <a:ext cx="11823700" cy="57277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Unlike most degree adverbs, </a:t>
            </a:r>
            <a:r>
              <a:rPr lang="en-US" sz="2800" b="1" i="1" dirty="0">
                <a:highlight>
                  <a:srgbClr val="FFFF00"/>
                </a:highlight>
              </a:rPr>
              <a:t>enough</a:t>
            </a:r>
            <a:r>
              <a:rPr lang="en-US" sz="2800" i="1" dirty="0">
                <a:highlight>
                  <a:srgbClr val="FFFF00"/>
                </a:highlight>
              </a:rPr>
              <a:t> comes AFTER the adjective or adverb.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adjective + enough </a:t>
            </a:r>
            <a:r>
              <a:rPr lang="en-US" sz="2800" b="1" dirty="0"/>
              <a:t>| </a:t>
            </a:r>
            <a:r>
              <a:rPr lang="en-US" sz="2800" b="1" dirty="0">
                <a:solidFill>
                  <a:srgbClr val="00B050"/>
                </a:solidFill>
              </a:rPr>
              <a:t>adverb + enough</a:t>
            </a:r>
            <a:endParaRPr lang="en-US" sz="2800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This room isn't </a:t>
            </a:r>
            <a:r>
              <a:rPr lang="en-US" sz="2800" b="1" dirty="0"/>
              <a:t>big enough </a:t>
            </a:r>
            <a:r>
              <a:rPr lang="en-US" sz="2800" dirty="0"/>
              <a:t>for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Abbos didn't work </a:t>
            </a:r>
            <a:r>
              <a:rPr lang="en-US" sz="2800" b="1" dirty="0">
                <a:solidFill>
                  <a:srgbClr val="00B050"/>
                </a:solidFill>
              </a:rPr>
              <a:t>quickly enough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Madina isn't </a:t>
            </a:r>
            <a:r>
              <a:rPr lang="en-US" sz="2800" b="1" dirty="0">
                <a:solidFill>
                  <a:srgbClr val="00B0F0"/>
                </a:solidFill>
              </a:rPr>
              <a:t>old enough </a:t>
            </a:r>
            <a:r>
              <a:rPr lang="en-US" sz="2800" dirty="0"/>
              <a:t>for this class.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water isn't </a:t>
            </a:r>
            <a:r>
              <a:rPr lang="en-US" sz="2800" b="1" dirty="0"/>
              <a:t>warm enough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7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590D-4C62-9A41-440E-AF4C5EEB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Enough + Infinitive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828B-4905-6DD5-1BCC-1E2548F72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58900"/>
            <a:ext cx="10058400" cy="53975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adjective + enough + to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am </a:t>
            </a:r>
            <a:r>
              <a:rPr lang="en-US" sz="2800" b="1" dirty="0"/>
              <a:t>strong</a:t>
            </a:r>
            <a:r>
              <a:rPr lang="en-US" sz="2800" dirty="0"/>
              <a:t> </a:t>
            </a:r>
            <a:r>
              <a:rPr lang="en-US" sz="2800" b="1" dirty="0"/>
              <a:t>enough to lift </a:t>
            </a:r>
            <a:r>
              <a:rPr lang="en-US" sz="2800" dirty="0"/>
              <a:t>the box.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is </a:t>
            </a:r>
            <a:r>
              <a:rPr lang="en-US" sz="2800" b="1" dirty="0"/>
              <a:t>old enough to drive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smart enough to solve </a:t>
            </a:r>
            <a:r>
              <a:rPr lang="en-US" sz="2800" dirty="0"/>
              <a:t>the problem.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are </a:t>
            </a:r>
            <a:r>
              <a:rPr lang="en-US" sz="2800" b="1" dirty="0"/>
              <a:t>rich enough to buy </a:t>
            </a:r>
            <a:r>
              <a:rPr lang="en-US" sz="2800" dirty="0"/>
              <a:t>a new house.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6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ADA9-5D09-B549-9656-E0B87072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1600"/>
            <a:ext cx="10058400" cy="8763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FAR / MUCH with Comparatives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F8B57-EE5F-142B-F936-CC076C3FC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43000"/>
            <a:ext cx="10058400" cy="5715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far/much + comparative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book is </a:t>
            </a:r>
            <a:r>
              <a:rPr lang="en-US" sz="2800" b="1" dirty="0"/>
              <a:t>much better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repairs cost </a:t>
            </a:r>
            <a:r>
              <a:rPr lang="en-US" sz="2800" b="1" dirty="0"/>
              <a:t>much more</a:t>
            </a:r>
            <a:r>
              <a:rPr lang="en-US" sz="2800" dirty="0"/>
              <a:t> than expected.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is </a:t>
            </a:r>
            <a:r>
              <a:rPr lang="en-US" sz="2800" b="1" dirty="0"/>
              <a:t>far cheaper</a:t>
            </a:r>
            <a:r>
              <a:rPr lang="en-US" sz="2800" dirty="0"/>
              <a:t> now.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is </a:t>
            </a:r>
            <a:r>
              <a:rPr lang="en-US" sz="2800" b="1" dirty="0"/>
              <a:t>much taller</a:t>
            </a:r>
            <a:r>
              <a:rPr lang="en-US" sz="2800" dirty="0"/>
              <a:t> than his brother.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exam was </a:t>
            </a:r>
            <a:r>
              <a:rPr lang="en-US" sz="2800" b="1" dirty="0"/>
              <a:t>far easier</a:t>
            </a:r>
            <a:r>
              <a:rPr lang="en-US" sz="2800" dirty="0"/>
              <a:t> than I thought.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4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C285-1B99-4EFC-9EA2-25C8B779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049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FAR / MUCH with Superlatives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9F59-EA87-E819-D119-566DE2E94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04900"/>
            <a:ext cx="10055352" cy="5054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far/much + the superlative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much the best</a:t>
            </a:r>
            <a:r>
              <a:rPr lang="en-US" sz="2800" dirty="0"/>
              <a:t> candidate.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is </a:t>
            </a:r>
            <a:r>
              <a:rPr lang="en-US" sz="2800" b="1" dirty="0"/>
              <a:t>far the best</a:t>
            </a:r>
            <a:r>
              <a:rPr lang="en-US" sz="2800" dirty="0"/>
              <a:t> solution.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are </a:t>
            </a:r>
            <a:r>
              <a:rPr lang="en-US" sz="2800" b="1" dirty="0"/>
              <a:t>far the best</a:t>
            </a:r>
            <a:r>
              <a:rPr lang="en-US" sz="2800" dirty="0"/>
              <a:t> students.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was </a:t>
            </a:r>
            <a:r>
              <a:rPr lang="en-US" sz="2800" b="1" dirty="0"/>
              <a:t>much the most interesting</a:t>
            </a:r>
            <a:r>
              <a:rPr lang="en-US" sz="2800" dirty="0"/>
              <a:t> lecture.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02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46BC-5E0C-FB07-37DB-85C13BFF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5205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TOO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498A2-19F0-2A0E-3EED-CCBE011C4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983226"/>
            <a:ext cx="11023829" cy="58747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too + adjective  |  too + adverb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He is </a:t>
            </a:r>
            <a:r>
              <a:rPr lang="en-US" sz="2800" b="1" dirty="0"/>
              <a:t>too fat</a:t>
            </a:r>
            <a:r>
              <a:rPr lang="en-US" sz="2800" dirty="0"/>
              <a:t>. | She is </a:t>
            </a:r>
            <a:r>
              <a:rPr lang="en-US" sz="2800" b="1" dirty="0"/>
              <a:t>too young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 drive </a:t>
            </a:r>
            <a:r>
              <a:rPr lang="en-US" sz="2800" b="1" dirty="0"/>
              <a:t>too fast</a:t>
            </a:r>
            <a:r>
              <a:rPr lang="en-US" sz="2800" dirty="0"/>
              <a:t>. | The room is </a:t>
            </a:r>
            <a:r>
              <a:rPr lang="en-US" sz="2800" b="1" dirty="0"/>
              <a:t>too small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Meaning: More than is desirable. | </a:t>
            </a:r>
            <a:r>
              <a:rPr lang="en-US" sz="2800" i="1" dirty="0" err="1">
                <a:highlight>
                  <a:srgbClr val="FFFF00"/>
                </a:highlight>
              </a:rPr>
              <a:t>Keragidan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ortiq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FAR TOO / MUCH TOO - </a:t>
            </a:r>
            <a:r>
              <a:rPr lang="en-US" sz="2800" i="1" dirty="0">
                <a:highlight>
                  <a:srgbClr val="FFFF00"/>
                </a:highlight>
              </a:rPr>
              <a:t>Juda ham </a:t>
            </a:r>
            <a:r>
              <a:rPr lang="en-US" sz="2800" i="1" dirty="0" err="1">
                <a:highlight>
                  <a:srgbClr val="FFFF00"/>
                </a:highlight>
              </a:rPr>
              <a:t>ortiqcha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  <a:endParaRPr lang="en-US" sz="2800" b="1" i="1" dirty="0">
              <a:highlight>
                <a:srgbClr val="FFFF00"/>
              </a:highlight>
            </a:endParaRPr>
          </a:p>
          <a:p>
            <a:pPr>
              <a:lnSpc>
                <a:spcPct val="110000"/>
              </a:lnSpc>
            </a:pPr>
            <a:r>
              <a:rPr lang="en-US" sz="2800" dirty="0"/>
              <a:t>He drives </a:t>
            </a:r>
            <a:r>
              <a:rPr lang="en-US" sz="2800" b="1" dirty="0"/>
              <a:t>far too fast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The room is </a:t>
            </a:r>
            <a:r>
              <a:rPr lang="en-US" sz="2800" b="1" dirty="0"/>
              <a:t>far too small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There were </a:t>
            </a:r>
            <a:r>
              <a:rPr lang="en-US" sz="2800" b="1" dirty="0"/>
              <a:t>far too many</a:t>
            </a:r>
            <a:r>
              <a:rPr lang="en-US" sz="2800" dirty="0"/>
              <a:t> people. 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This task is </a:t>
            </a:r>
            <a:r>
              <a:rPr lang="en-US" sz="2800" b="1" dirty="0"/>
              <a:t>much too difficult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25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1196-112D-1FE5-F4E4-57F10A62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897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Degree Adverbs with 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A357E-0082-D442-019B-97BD00FD6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904569"/>
            <a:ext cx="11759381" cy="595343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These adverbs can modify verbs: Usually before the main verb.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almost | nearly | just | hardly | scarcely | really | rather | quite | little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almost fell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nearly forgot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just arrived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could </a:t>
            </a:r>
            <a:r>
              <a:rPr lang="en-US" sz="2800" b="1" dirty="0"/>
              <a:t>hardly hear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really enjoyed</a:t>
            </a:r>
            <a:r>
              <a:rPr lang="en-US" sz="2800" dirty="0"/>
              <a:t> the movie.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quite understand</a:t>
            </a:r>
            <a:r>
              <a:rPr lang="en-US" sz="2800" dirty="0"/>
              <a:t> the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814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865E7-F8C1-8185-BE43-F4E0FC52A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1677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MUCH with 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96512-11D5-1C1B-04CB-788524EF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86347"/>
            <a:ext cx="10058400" cy="53999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Much often comes </a:t>
            </a:r>
            <a:r>
              <a:rPr lang="en-US" sz="2800" b="1" i="1" dirty="0">
                <a:highlight>
                  <a:srgbClr val="FFFF00"/>
                </a:highlight>
              </a:rPr>
              <a:t>after the verb.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don't like it </a:t>
            </a:r>
            <a:r>
              <a:rPr lang="en-US" sz="2800" b="1" dirty="0"/>
              <a:t>much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Thank you </a:t>
            </a:r>
            <a:r>
              <a:rPr lang="en-US" sz="2800" b="1" dirty="0"/>
              <a:t>very much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didn't enjoy the film </a:t>
            </a:r>
            <a:r>
              <a:rPr lang="en-US" sz="2800" b="1" dirty="0"/>
              <a:t>much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doesn't travel </a:t>
            </a:r>
            <a:r>
              <a:rPr lang="en-US" sz="2800" b="1" dirty="0"/>
              <a:t>much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7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2F43-990B-C5E1-885D-83656CE3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1"/>
            <a:ext cx="10058400" cy="87206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89339-CF90-D723-AEBE-D5F1EC7E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65" y="872066"/>
            <a:ext cx="11482938" cy="59859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Only</a:t>
            </a:r>
            <a:r>
              <a:rPr lang="en-US" sz="2800" i="1" dirty="0">
                <a:highlight>
                  <a:srgbClr val="FFFF00"/>
                </a:highlight>
              </a:rPr>
              <a:t> goes </a:t>
            </a:r>
            <a:r>
              <a:rPr lang="en-US" sz="2800" b="1" i="1" dirty="0">
                <a:highlight>
                  <a:srgbClr val="FFFF00"/>
                </a:highlight>
              </a:rPr>
              <a:t>before the word </a:t>
            </a:r>
            <a:r>
              <a:rPr lang="en-US" sz="2800" i="1" dirty="0">
                <a:highlight>
                  <a:srgbClr val="FFFF00"/>
                </a:highlight>
              </a:rPr>
              <a:t>it modifies.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only</a:t>
            </a:r>
            <a:r>
              <a:rPr lang="en-US" sz="2800" dirty="0"/>
              <a:t> lent the car.  </a:t>
            </a:r>
            <a:r>
              <a:rPr lang="en-US" sz="2800" b="1" dirty="0"/>
              <a:t>Meaning</a:t>
            </a:r>
            <a:r>
              <a:rPr lang="en-US" sz="2800" dirty="0"/>
              <a:t>:  </a:t>
            </a:r>
            <a:r>
              <a:rPr lang="en-US" sz="2800" i="1" dirty="0"/>
              <a:t>He didn't give it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These shoes </a:t>
            </a:r>
            <a:r>
              <a:rPr lang="en-US" sz="2800" b="1" dirty="0"/>
              <a:t>only</a:t>
            </a:r>
            <a:r>
              <a:rPr lang="en-US" sz="2800" dirty="0"/>
              <a:t> cost $20.  </a:t>
            </a:r>
            <a:r>
              <a:rPr lang="en-US" sz="2800" b="1" dirty="0"/>
              <a:t>Meaning</a:t>
            </a:r>
            <a:r>
              <a:rPr lang="en-US" sz="2800" dirty="0"/>
              <a:t>: </a:t>
            </a:r>
            <a:r>
              <a:rPr lang="en-US" sz="2800" i="1" dirty="0"/>
              <a:t>The cost was just $20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was </a:t>
            </a:r>
            <a:r>
              <a:rPr lang="en-US" sz="2800" b="1" dirty="0"/>
              <a:t>only</a:t>
            </a:r>
            <a:r>
              <a:rPr lang="en-US" sz="2800" dirty="0"/>
              <a:t> kidding.  </a:t>
            </a:r>
            <a:r>
              <a:rPr lang="en-US" sz="2800" b="1" dirty="0"/>
              <a:t>Meaning</a:t>
            </a:r>
            <a:r>
              <a:rPr lang="en-US" sz="2800" dirty="0"/>
              <a:t>: </a:t>
            </a:r>
            <a:r>
              <a:rPr lang="en-US" sz="2800" i="1" dirty="0"/>
              <a:t>Men </a:t>
            </a:r>
            <a:r>
              <a:rPr lang="en-US" sz="2800" i="1" dirty="0" err="1"/>
              <a:t>shunchaki</a:t>
            </a:r>
            <a:r>
              <a:rPr lang="en-US" sz="2800" i="1" dirty="0"/>
              <a:t> </a:t>
            </a:r>
            <a:r>
              <a:rPr lang="en-US" sz="2800" i="1" dirty="0" err="1"/>
              <a:t>hazillashgandim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Only</a:t>
            </a:r>
            <a:r>
              <a:rPr lang="en-US" sz="2800" i="1" dirty="0">
                <a:highlight>
                  <a:srgbClr val="FFFF00"/>
                </a:highlight>
              </a:rPr>
              <a:t> modifies the verb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only lent</a:t>
            </a:r>
            <a:r>
              <a:rPr lang="en-US" sz="2800" dirty="0"/>
              <a:t> the car.  (U </a:t>
            </a:r>
            <a:r>
              <a:rPr lang="en-US" sz="2800" dirty="0" err="1"/>
              <a:t>faqat</a:t>
            </a:r>
            <a:r>
              <a:rPr lang="en-US" sz="2800" dirty="0"/>
              <a:t> </a:t>
            </a:r>
            <a:r>
              <a:rPr lang="en-US" sz="2800" dirty="0" err="1"/>
              <a:t>qarz</a:t>
            </a:r>
            <a:r>
              <a:rPr lang="en-US" sz="2800" dirty="0"/>
              <a:t> </a:t>
            </a:r>
            <a:r>
              <a:rPr lang="en-US" sz="2800" dirty="0" err="1"/>
              <a:t>berdi</a:t>
            </a:r>
            <a:r>
              <a:rPr lang="en-US" sz="2800" dirty="0"/>
              <a:t>.)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modifies the object (</a:t>
            </a:r>
            <a:r>
              <a:rPr lang="en-US" sz="2800" dirty="0"/>
              <a:t>He lent </a:t>
            </a:r>
            <a:r>
              <a:rPr lang="en-US" sz="2800" b="1" dirty="0"/>
              <a:t>only the car</a:t>
            </a:r>
            <a:r>
              <a:rPr lang="en-US" sz="2800" dirty="0"/>
              <a:t>. 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(</a:t>
            </a:r>
            <a:r>
              <a:rPr lang="en-US" sz="2800" dirty="0" err="1"/>
              <a:t>Boshqa</a:t>
            </a:r>
            <a:r>
              <a:rPr lang="en-US" sz="2800" dirty="0"/>
              <a:t> </a:t>
            </a:r>
            <a:r>
              <a:rPr lang="en-US" sz="2800" dirty="0" err="1"/>
              <a:t>narsani</a:t>
            </a:r>
            <a:r>
              <a:rPr lang="en-US" sz="2800" dirty="0"/>
              <a:t> </a:t>
            </a:r>
            <a:r>
              <a:rPr lang="en-US" sz="2800" dirty="0" err="1"/>
              <a:t>emas</a:t>
            </a:r>
            <a:r>
              <a:rPr lang="en-US" sz="2800" dirty="0"/>
              <a:t>, </a:t>
            </a:r>
            <a:r>
              <a:rPr lang="en-US" sz="2800" dirty="0" err="1"/>
              <a:t>faqat</a:t>
            </a:r>
            <a:r>
              <a:rPr lang="en-US" sz="2800" dirty="0"/>
              <a:t> </a:t>
            </a:r>
            <a:r>
              <a:rPr lang="en-US" sz="2800" dirty="0" err="1"/>
              <a:t>mashinani</a:t>
            </a:r>
            <a:r>
              <a:rPr lang="en-US" sz="2800" dirty="0"/>
              <a:t>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1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25C4-5A0B-161D-6D99-E64EEEF0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5205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JUST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B49B3-4079-D876-69F7-BB3ABB7B7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855406"/>
            <a:ext cx="10630539" cy="60025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Like only, </a:t>
            </a:r>
            <a:r>
              <a:rPr lang="en-US" sz="2800" b="1" i="1" dirty="0">
                <a:highlight>
                  <a:srgbClr val="FFFF00"/>
                </a:highlight>
              </a:rPr>
              <a:t>just</a:t>
            </a:r>
            <a:r>
              <a:rPr lang="en-US" sz="2800" i="1" dirty="0">
                <a:highlight>
                  <a:srgbClr val="FFFF00"/>
                </a:highlight>
              </a:rPr>
              <a:t> comes </a:t>
            </a:r>
            <a:r>
              <a:rPr lang="en-US" sz="2800" b="1" i="1" dirty="0">
                <a:highlight>
                  <a:srgbClr val="FFFF00"/>
                </a:highlight>
              </a:rPr>
              <a:t>before the word </a:t>
            </a:r>
            <a:r>
              <a:rPr lang="en-US" sz="2800" i="1" dirty="0">
                <a:highlight>
                  <a:srgbClr val="FFFF00"/>
                </a:highlight>
              </a:rPr>
              <a:t>it modifies.</a:t>
            </a:r>
            <a:endParaRPr lang="en-US" sz="2800" b="1" i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I'll </a:t>
            </a:r>
            <a:r>
              <a:rPr lang="en-US" sz="2800" b="1" dirty="0"/>
              <a:t>just buy one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just had enough money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had </a:t>
            </a:r>
            <a:r>
              <a:rPr lang="en-US" sz="2800" b="1" dirty="0"/>
              <a:t>just arrived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It's </a:t>
            </a:r>
            <a:r>
              <a:rPr lang="en-US" sz="2800" b="1" dirty="0"/>
              <a:t>just dreadful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Important Difference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Just</a:t>
            </a:r>
            <a:r>
              <a:rPr lang="en-US" sz="2800" dirty="0"/>
              <a:t> sign here. Bu </a:t>
            </a:r>
            <a:r>
              <a:rPr lang="en-US" sz="2800" dirty="0" err="1"/>
              <a:t>yerga</a:t>
            </a:r>
            <a:r>
              <a:rPr lang="en-US" sz="2800" dirty="0"/>
              <a:t> </a:t>
            </a:r>
            <a:r>
              <a:rPr lang="en-US" sz="2800" b="1" dirty="0" err="1"/>
              <a:t>faqat</a:t>
            </a:r>
            <a:r>
              <a:rPr lang="en-US" sz="2800" dirty="0"/>
              <a:t> </a:t>
            </a:r>
            <a:r>
              <a:rPr lang="en-US" sz="2800" dirty="0" err="1"/>
              <a:t>imzo</a:t>
            </a:r>
            <a:r>
              <a:rPr lang="en-US" sz="2800" dirty="0"/>
              <a:t> </a:t>
            </a:r>
            <a:r>
              <a:rPr lang="en-US" sz="2800" dirty="0" err="1"/>
              <a:t>qo‘ying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Sign</a:t>
            </a:r>
            <a:r>
              <a:rPr lang="en-US" sz="2800" b="1" dirty="0"/>
              <a:t> just</a:t>
            </a:r>
            <a:r>
              <a:rPr lang="en-US" sz="2800" dirty="0"/>
              <a:t> here</a:t>
            </a:r>
            <a:r>
              <a:rPr lang="en-US" sz="2800" b="1" dirty="0"/>
              <a:t>. Aynan</a:t>
            </a:r>
            <a:r>
              <a:rPr lang="en-US" sz="2800" dirty="0"/>
              <a:t> </a:t>
            </a:r>
            <a:r>
              <a:rPr lang="en-US" sz="2800" b="1" dirty="0" err="1"/>
              <a:t>shu</a:t>
            </a:r>
            <a:r>
              <a:rPr lang="en-US" sz="2800" b="1" dirty="0"/>
              <a:t> </a:t>
            </a:r>
            <a:r>
              <a:rPr lang="en-US" sz="2800" b="1" dirty="0" err="1"/>
              <a:t>yerga</a:t>
            </a:r>
            <a:r>
              <a:rPr lang="en-US" sz="2800" b="1" dirty="0"/>
              <a:t> </a:t>
            </a:r>
            <a:r>
              <a:rPr lang="en-US" sz="2800" dirty="0" err="1"/>
              <a:t>imzo</a:t>
            </a:r>
            <a:r>
              <a:rPr lang="en-US" sz="2800" dirty="0"/>
              <a:t> </a:t>
            </a:r>
            <a:r>
              <a:rPr lang="en-US" sz="2800" dirty="0" err="1"/>
              <a:t>qo‘ying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1CAA-3713-FF18-CC25-2F894CCB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8154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FAIRLY vs RATHER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52C46-1D9A-5214-3948-09EF092A8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757085"/>
            <a:ext cx="11200810" cy="637130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Both mean - To a moderate degree – Ancha - But there is a difference.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FAIRLY—Usually</a:t>
            </a:r>
            <a:r>
              <a:rPr lang="en-US" sz="2800" i="1" dirty="0"/>
              <a:t> with positive or neutral ideas.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Tom is </a:t>
            </a:r>
            <a:r>
              <a:rPr lang="en-US" sz="2800" b="1" dirty="0"/>
              <a:t>fairly clever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film was </a:t>
            </a:r>
            <a:r>
              <a:rPr lang="en-US" sz="2800" b="1" dirty="0"/>
              <a:t>fairly captivating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weather is </a:t>
            </a:r>
            <a:r>
              <a:rPr lang="en-US" sz="2800" b="1" dirty="0"/>
              <a:t>fairly warm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hotel was </a:t>
            </a:r>
            <a:r>
              <a:rPr lang="en-US" sz="2800" b="1" dirty="0"/>
              <a:t>fairly comfortable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RATHER—Often</a:t>
            </a:r>
            <a:r>
              <a:rPr lang="en-US" sz="2800" i="1" dirty="0"/>
              <a:t> with negative ideas.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Peter is </a:t>
            </a:r>
            <a:r>
              <a:rPr lang="en-US" sz="2800" b="1" dirty="0"/>
              <a:t>rather stupid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film was </a:t>
            </a:r>
            <a:r>
              <a:rPr lang="en-US" sz="2800" b="1" dirty="0"/>
              <a:t>rather boring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looked </a:t>
            </a:r>
            <a:r>
              <a:rPr lang="en-US" sz="2800" b="1" dirty="0"/>
              <a:t>rather exhausted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room is </a:t>
            </a:r>
            <a:r>
              <a:rPr lang="en-US" sz="2800" b="1" dirty="0"/>
              <a:t>rather small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79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EF93-CE96-5F77-FFF3-12E3BEAA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2673"/>
            <a:ext cx="10058400" cy="89712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Meaning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Difference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09B1-01E7-666A-E3FA-4EE777539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151467"/>
            <a:ext cx="11167872" cy="570653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Fairly Hot - </a:t>
            </a:r>
            <a:r>
              <a:rPr lang="en-US" sz="2800" dirty="0"/>
              <a:t>Pleasantly hot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The soup is fairly hot. (</a:t>
            </a:r>
            <a:r>
              <a:rPr lang="en-US" sz="2800" dirty="0" err="1"/>
              <a:t>Yoqimli</a:t>
            </a:r>
            <a:r>
              <a:rPr lang="en-US" sz="2800" dirty="0"/>
              <a:t> </a:t>
            </a:r>
            <a:r>
              <a:rPr lang="en-US" sz="2800" dirty="0" err="1"/>
              <a:t>issiq</a:t>
            </a:r>
            <a:r>
              <a:rPr lang="en-US" sz="2800" dirty="0"/>
              <a:t>.)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Rather Hot - </a:t>
            </a:r>
            <a:r>
              <a:rPr lang="en-US" sz="2800" dirty="0"/>
              <a:t>Too hot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The soup is rather hot. (</a:t>
            </a:r>
            <a:r>
              <a:rPr lang="en-US" sz="2800" dirty="0" err="1"/>
              <a:t>Biroz</a:t>
            </a:r>
            <a:r>
              <a:rPr lang="en-US" sz="2800" dirty="0"/>
              <a:t> </a:t>
            </a:r>
            <a:r>
              <a:rPr lang="en-US" sz="2800" dirty="0" err="1"/>
              <a:t>ortiqcha</a:t>
            </a:r>
            <a:r>
              <a:rPr lang="en-US" sz="2800" dirty="0"/>
              <a:t> </a:t>
            </a:r>
            <a:r>
              <a:rPr lang="en-US" sz="2800" dirty="0" err="1"/>
              <a:t>issiq</a:t>
            </a:r>
            <a:r>
              <a:rPr lang="en-US" sz="2800" dirty="0"/>
              <a:t>.)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Fairly Slow - </a:t>
            </a:r>
            <a:r>
              <a:rPr lang="en-US" sz="2800" dirty="0"/>
              <a:t>Acceptable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His speech is fairly slow.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Rather Slow - </a:t>
            </a:r>
            <a:r>
              <a:rPr lang="en-US" sz="2800" dirty="0"/>
              <a:t>Slower than desired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His speech is rather slow.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75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E51E-07FB-2CCA-F6D7-0D78B3F2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028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Articles with Fairly and Rather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0DEE-9856-6670-D166-1CB76162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002890"/>
            <a:ext cx="10620707" cy="58551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Fairly - </a:t>
            </a:r>
            <a:r>
              <a:rPr lang="en-US" sz="2800" dirty="0"/>
              <a:t>Article comes first.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 fairly interesting book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 fairly light box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Rather - </a:t>
            </a:r>
            <a:r>
              <a:rPr lang="en-US" sz="2800" dirty="0"/>
              <a:t>Can come before or after article.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 rather boring film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rather a boring film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 rather heavy box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rather a heavy 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350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4626-40DA-7835-9721-0F2A461D3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87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QUITE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525BA-5345-675E-10B9-3B6F25EF5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28700"/>
            <a:ext cx="10639552" cy="5829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Meaning 1: Completely - </a:t>
            </a:r>
            <a:r>
              <a:rPr lang="en-US" sz="2800" i="1" dirty="0">
                <a:highlight>
                  <a:srgbClr val="FFFF00"/>
                </a:highlight>
              </a:rPr>
              <a:t>With non-gradable adjectives.</a:t>
            </a:r>
            <a:endParaRPr lang="en-US" sz="2800" b="1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quite + adjective</a:t>
            </a:r>
            <a:endParaRPr lang="en-US" sz="2800" b="1" i="1" dirty="0"/>
          </a:p>
          <a:p>
            <a:pPr>
              <a:lnSpc>
                <a:spcPct val="150000"/>
              </a:lnSpc>
            </a:pPr>
            <a:r>
              <a:rPr lang="en-US" sz="2800" dirty="0"/>
              <a:t>The bottle is </a:t>
            </a:r>
            <a:r>
              <a:rPr lang="en-US" sz="2800" b="1" dirty="0"/>
              <a:t>quite empty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are </a:t>
            </a:r>
            <a:r>
              <a:rPr lang="en-US" sz="2800" b="1" dirty="0"/>
              <a:t>quite right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is </a:t>
            </a:r>
            <a:r>
              <a:rPr lang="en-US" sz="2800" b="1" dirty="0"/>
              <a:t>quite true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Are you </a:t>
            </a:r>
            <a:r>
              <a:rPr lang="en-US" sz="2800" b="1" dirty="0"/>
              <a:t>quite sure</a:t>
            </a:r>
            <a:r>
              <a:rPr lang="en-US" sz="2800" dirty="0"/>
              <a:t>? 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Meaning: Completely - </a:t>
            </a:r>
            <a:r>
              <a:rPr lang="en-US" sz="2800" i="1" dirty="0" err="1">
                <a:highlight>
                  <a:srgbClr val="FFFF00"/>
                </a:highlight>
              </a:rPr>
              <a:t>Mutlaqo</a:t>
            </a:r>
            <a:endParaRPr lang="en-US" sz="2800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89886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0E17-2379-233C-934C-5CCC3294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0222-2E8E-ED68-261D-417A2CB8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87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QUITE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BC85-F2A2-88A1-CF23-C14D1C873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28700"/>
            <a:ext cx="10639552" cy="5829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Meaning 2: Fairly / Rather - </a:t>
            </a:r>
            <a:r>
              <a:rPr lang="en-US" sz="2800" i="1" dirty="0">
                <a:highlight>
                  <a:srgbClr val="FFFF00"/>
                </a:highlight>
              </a:rPr>
              <a:t>With gradable adjectives.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quite + adjective</a:t>
            </a:r>
            <a:endParaRPr lang="en-US" sz="2800" b="1" i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quite smart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am </a:t>
            </a:r>
            <a:r>
              <a:rPr lang="en-US" sz="2800" b="1" dirty="0"/>
              <a:t>quite busy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house is </a:t>
            </a:r>
            <a:r>
              <a:rPr lang="en-US" sz="2800" b="1" dirty="0"/>
              <a:t>quite large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is </a:t>
            </a:r>
            <a:r>
              <a:rPr lang="en-US" sz="2800" b="1" dirty="0"/>
              <a:t>quite friendly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Meaning: Rather / fairly - </a:t>
            </a:r>
            <a:r>
              <a:rPr lang="en-US" sz="2800" b="1" i="1" dirty="0">
                <a:highlight>
                  <a:srgbClr val="FFFF00"/>
                </a:highlight>
              </a:rPr>
              <a:t>Ancha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0347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C189-09C0-7611-1D84-81440EB7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5D9C-B468-6DD1-78B6-1A6DBF31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87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Quite + a + noun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9FCCA-893E-58E9-F445-AFF939367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39800"/>
            <a:ext cx="11798300" cy="59182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quite a + adjective + noun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Bu </a:t>
            </a:r>
            <a:r>
              <a:rPr lang="en-US" sz="2800" i="1" dirty="0" err="1">
                <a:highlight>
                  <a:srgbClr val="FFFF00"/>
                </a:highlight>
              </a:rPr>
              <a:t>struktura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b="1" i="1" dirty="0" err="1">
                <a:highlight>
                  <a:srgbClr val="FFFF00"/>
                </a:highlight>
              </a:rPr>
              <a:t>juda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ancha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anchagina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yetarlicha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degan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ma'nolarni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is </a:t>
            </a:r>
            <a:r>
              <a:rPr lang="en-US" sz="2800" b="1" dirty="0"/>
              <a:t>quite a long walk </a:t>
            </a:r>
            <a:r>
              <a:rPr lang="en-US" sz="2800" dirty="0"/>
              <a:t>from my house to the station.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Spetion</a:t>
            </a:r>
            <a:r>
              <a:rPr lang="en-US" sz="2800" dirty="0"/>
              <a:t> is </a:t>
            </a:r>
            <a:r>
              <a:rPr lang="en-US" sz="2800" b="1" dirty="0"/>
              <a:t>quite a good school </a:t>
            </a:r>
            <a:r>
              <a:rPr lang="en-US" sz="2800" dirty="0"/>
              <a:t>for learning English.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visited </a:t>
            </a:r>
            <a:r>
              <a:rPr lang="en-US" sz="2800" b="1" dirty="0"/>
              <a:t>quite an old castle </a:t>
            </a:r>
            <a:r>
              <a:rPr lang="en-US" sz="2800" dirty="0"/>
              <a:t>during our trip.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little brother is </a:t>
            </a:r>
            <a:r>
              <a:rPr lang="en-US" sz="2800" b="1" dirty="0"/>
              <a:t>quite a small eater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waited for </a:t>
            </a:r>
            <a:r>
              <a:rPr lang="en-US" sz="2800" b="1" dirty="0"/>
              <a:t>quite a long time </a:t>
            </a:r>
            <a:r>
              <a:rPr lang="en-US" sz="2800" dirty="0"/>
              <a:t>before the bus arrived. </a:t>
            </a:r>
          </a:p>
        </p:txBody>
      </p:sp>
    </p:spTree>
    <p:extLst>
      <p:ext uri="{BB962C8B-B14F-4D97-AF65-F5344CB8AC3E}">
        <p14:creationId xmlns:p14="http://schemas.microsoft.com/office/powerpoint/2010/main" val="4048917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288C-877C-0BC3-969B-0D56815C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1278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HARDLY, SCARCELY, BARELY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775F-FF2E-A659-D3CA-9A91740E2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027"/>
            <a:ext cx="12191999" cy="5856973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i="1" dirty="0">
                <a:highlight>
                  <a:srgbClr val="FFFF00"/>
                </a:highlight>
              </a:rPr>
              <a:t>These have almost negative meanings. </a:t>
            </a:r>
          </a:p>
          <a:p>
            <a:pPr>
              <a:lnSpc>
                <a:spcPct val="100000"/>
              </a:lnSpc>
            </a:pPr>
            <a:r>
              <a:rPr lang="en-US" sz="2400" i="1" dirty="0">
                <a:highlight>
                  <a:srgbClr val="FFFF00"/>
                </a:highlight>
              </a:rPr>
              <a:t>Meaning: </a:t>
            </a:r>
            <a:r>
              <a:rPr lang="en-US" sz="2400" i="1" dirty="0" err="1">
                <a:highlight>
                  <a:srgbClr val="FFFF00"/>
                </a:highlight>
              </a:rPr>
              <a:t>Zo‘rg‘a</a:t>
            </a:r>
            <a:r>
              <a:rPr lang="en-US" sz="2400" i="1" dirty="0">
                <a:highlight>
                  <a:srgbClr val="FFFF00"/>
                </a:highlight>
              </a:rPr>
              <a:t> | Arang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HARDLY = almost not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 </a:t>
            </a:r>
            <a:r>
              <a:rPr lang="en-US" sz="2400" b="1" dirty="0"/>
              <a:t>hardly know</a:t>
            </a:r>
            <a:r>
              <a:rPr lang="en-US" sz="2400" dirty="0"/>
              <a:t> him.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She </a:t>
            </a:r>
            <a:r>
              <a:rPr lang="en-US" sz="2400" b="1" dirty="0"/>
              <a:t>hardly goes</a:t>
            </a:r>
            <a:r>
              <a:rPr lang="en-US" sz="2400" dirty="0"/>
              <a:t> out.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It </a:t>
            </a:r>
            <a:r>
              <a:rPr lang="en-US" sz="2400" b="1" dirty="0"/>
              <a:t>hardly rained</a:t>
            </a:r>
            <a:r>
              <a:rPr lang="en-US" sz="24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He has </a:t>
            </a:r>
            <a:r>
              <a:rPr lang="en-US" sz="2400" b="1" dirty="0"/>
              <a:t>hardly any money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SCARCELY = almost not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 could </a:t>
            </a:r>
            <a:r>
              <a:rPr lang="en-US" sz="2400" b="1" dirty="0"/>
              <a:t>scarcely move</a:t>
            </a:r>
            <a:r>
              <a:rPr lang="en-US" sz="24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There were </a:t>
            </a:r>
            <a:r>
              <a:rPr lang="en-US" sz="2400" b="1" dirty="0"/>
              <a:t>scarcely any</a:t>
            </a:r>
            <a:r>
              <a:rPr lang="en-US" sz="2400" dirty="0"/>
              <a:t> rivals.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We </a:t>
            </a:r>
            <a:r>
              <a:rPr lang="en-US" sz="2400" b="1" dirty="0"/>
              <a:t>scarcely ever</a:t>
            </a:r>
            <a:r>
              <a:rPr lang="en-US" sz="2400" dirty="0"/>
              <a:t> see him.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She was </a:t>
            </a:r>
            <a:r>
              <a:rPr lang="en-US" sz="2400" b="1" dirty="0"/>
              <a:t>scarcely able</a:t>
            </a:r>
            <a:r>
              <a:rPr lang="en-US" sz="2400" dirty="0"/>
              <a:t> to speak.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BARELY = only just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They have </a:t>
            </a:r>
            <a:r>
              <a:rPr lang="en-US" sz="2400" b="1" dirty="0"/>
              <a:t>barely enough</a:t>
            </a:r>
            <a:r>
              <a:rPr lang="en-US" sz="2400" dirty="0"/>
              <a:t> money.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 could </a:t>
            </a:r>
            <a:r>
              <a:rPr lang="en-US" sz="2400" b="1" dirty="0"/>
              <a:t>barely hear</a:t>
            </a:r>
            <a:r>
              <a:rPr lang="en-US" sz="2400" dirty="0"/>
              <a:t> her.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The price </a:t>
            </a:r>
            <a:r>
              <a:rPr lang="en-US" sz="2400" b="1" dirty="0"/>
              <a:t>barely covered</a:t>
            </a:r>
            <a:r>
              <a:rPr lang="en-US" sz="2400" dirty="0"/>
              <a:t> the cost.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She was </a:t>
            </a:r>
            <a:r>
              <a:rPr lang="en-US" sz="2400" b="1" dirty="0"/>
              <a:t>barely fifteen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49980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8C50B9-5F55-3068-304C-3C3AE2C0A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662386"/>
              </p:ext>
            </p:extLst>
          </p:nvPr>
        </p:nvGraphicFramePr>
        <p:xfrm>
          <a:off x="0" y="0"/>
          <a:ext cx="5181600" cy="6857998"/>
        </p:xfrm>
        <a:graphic>
          <a:graphicData uri="http://schemas.openxmlformats.org/drawingml/2006/table">
            <a:tbl>
              <a:tblPr/>
              <a:tblGrid>
                <a:gridCol w="2227838">
                  <a:extLst>
                    <a:ext uri="{9D8B030D-6E8A-4147-A177-3AD203B41FA5}">
                      <a16:colId xmlns:a16="http://schemas.microsoft.com/office/drawing/2014/main" val="3512528271"/>
                    </a:ext>
                  </a:extLst>
                </a:gridCol>
                <a:gridCol w="2953762">
                  <a:extLst>
                    <a:ext uri="{9D8B030D-6E8A-4147-A177-3AD203B41FA5}">
                      <a16:colId xmlns:a16="http://schemas.microsoft.com/office/drawing/2014/main" val="71151227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b="1" dirty="0"/>
                        <a:t>Adverb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/>
                        <a:t>Example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6876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very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very good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89042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extremely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extremely difficult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18873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absolutely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absolutely right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604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enough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old enough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980569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too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too expensive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88536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much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much better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39629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far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far worse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473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fairly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fairly good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26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rather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rather bad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8997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quite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quite sure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66043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hardly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hardly know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98184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scarcely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scarcely able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85059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barely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barely enough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3209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6B7B39-4484-72FE-82E9-B04CAFD866A1}"/>
              </a:ext>
            </a:extLst>
          </p:cNvPr>
          <p:cNvSpPr txBox="1"/>
          <p:nvPr/>
        </p:nvSpPr>
        <p:spPr>
          <a:xfrm>
            <a:off x="5181600" y="786051"/>
            <a:ext cx="7010400" cy="599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This issue is </a:t>
            </a:r>
            <a:r>
              <a:rPr lang="en-US" sz="2800" b="1" dirty="0"/>
              <a:t>extremely important</a:t>
            </a:r>
            <a:r>
              <a:rPr lang="en-US" sz="2800" dirty="0"/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Ali has </a:t>
            </a:r>
            <a:r>
              <a:rPr lang="en-US" sz="2800" b="1" dirty="0"/>
              <a:t>almost solved</a:t>
            </a:r>
            <a:r>
              <a:rPr lang="en-US" sz="2800" dirty="0"/>
              <a:t> the problem.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Many students are </a:t>
            </a:r>
            <a:r>
              <a:rPr lang="en-US" sz="2800" b="1" dirty="0"/>
              <a:t>quite motivated</a:t>
            </a:r>
            <a:r>
              <a:rPr lang="en-US" sz="2800" dirty="0"/>
              <a:t>.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new policy is </a:t>
            </a:r>
            <a:r>
              <a:rPr lang="en-US" sz="2800" b="1" dirty="0"/>
              <a:t>far more effective</a:t>
            </a:r>
            <a:r>
              <a:rPr lang="en-US" sz="2800" dirty="0"/>
              <a:t> than the previous one.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Some families can </a:t>
            </a:r>
            <a:r>
              <a:rPr lang="en-US" sz="2800" b="1" dirty="0"/>
              <a:t>barely afford</a:t>
            </a:r>
            <a:r>
              <a:rPr lang="en-US" sz="2800" dirty="0"/>
              <a:t> basic necessities.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ED23C9-3279-7675-CF74-B9B4E5484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0"/>
            <a:ext cx="7010400" cy="10287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Summary</a:t>
            </a:r>
            <a:r>
              <a:rPr lang="en-US" dirty="0"/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96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92</TotalTime>
  <Words>1185</Words>
  <Application>Microsoft Office PowerPoint</Application>
  <PresentationFormat>Widescreen</PresentationFormat>
  <Paragraphs>227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Wingdings</vt:lpstr>
      <vt:lpstr>Wood Type</vt:lpstr>
      <vt:lpstr>Adverbs of Degree</vt:lpstr>
      <vt:lpstr>Common Adverbs of Degree</vt:lpstr>
      <vt:lpstr>Position: Before Adjectives and Adverbs</vt:lpstr>
      <vt:lpstr>ENOUGH - Position</vt:lpstr>
      <vt:lpstr>Enough + Infinitive</vt:lpstr>
      <vt:lpstr>FAR / MUCH with Comparatives</vt:lpstr>
      <vt:lpstr>FAR / MUCH with Superlatives</vt:lpstr>
      <vt:lpstr>TOO</vt:lpstr>
      <vt:lpstr>Degree Adverbs with Verbs</vt:lpstr>
      <vt:lpstr>MUCH with Verbs</vt:lpstr>
      <vt:lpstr>ONLY</vt:lpstr>
      <vt:lpstr>JUST</vt:lpstr>
      <vt:lpstr>FAIRLY vs RATHER</vt:lpstr>
      <vt:lpstr>Meaning Difference</vt:lpstr>
      <vt:lpstr>Articles with Fairly and Rather</vt:lpstr>
      <vt:lpstr>QUITE</vt:lpstr>
      <vt:lpstr>QUITE</vt:lpstr>
      <vt:lpstr>Quite + a + noun</vt:lpstr>
      <vt:lpstr>HARDLY, SCARCELY, BARELY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16</cp:revision>
  <dcterms:created xsi:type="dcterms:W3CDTF">2026-06-09T10:56:37Z</dcterms:created>
  <dcterms:modified xsi:type="dcterms:W3CDTF">2026-06-09T12:28:39Z</dcterms:modified>
</cp:coreProperties>
</file>