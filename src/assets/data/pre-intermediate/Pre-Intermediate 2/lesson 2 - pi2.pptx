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5" d="100"/>
          <a:sy n="65" d="100"/>
        </p:scale>
        <p:origin x="70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0834" y="429969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10" name="Group 9"/>
          <p:cNvGrpSpPr/>
          <p:nvPr/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1560" y="1432223"/>
            <a:ext cx="9966960" cy="303580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7200" cap="none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9848" y="4389120"/>
            <a:ext cx="7891272" cy="1069848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8C50D5-8D55-4A99-A939-7253EB5F50B0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592733" y="4289334"/>
            <a:ext cx="1193868" cy="640080"/>
          </a:xfrm>
        </p:spPr>
        <p:txBody>
          <a:bodyPr/>
          <a:lstStyle>
            <a:lvl1pPr>
              <a:defRPr sz="2800" b="0"/>
            </a:lvl1pPr>
          </a:lstStyle>
          <a:p>
            <a:fld id="{086AA247-450F-40EB-8DC1-EAAA79CA4F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30786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8C50D5-8D55-4A99-A939-7253EB5F50B0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6AA247-450F-40EB-8DC1-EAAA79CA4F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41585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12192000" cy="194001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7128" y="1225296"/>
            <a:ext cx="928116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7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65774" y="5020056"/>
            <a:ext cx="9052560" cy="1066800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93667" y="6272784"/>
            <a:ext cx="2644309" cy="365125"/>
          </a:xfrm>
        </p:spPr>
        <p:txBody>
          <a:bodyPr/>
          <a:lstStyle/>
          <a:p>
            <a:fld id="{C18C50D5-8D55-4A99-A939-7253EB5F50B0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82708" y="6272784"/>
            <a:ext cx="6327648" cy="365125"/>
          </a:xfrm>
        </p:spPr>
        <p:txBody>
          <a:bodyPr/>
          <a:lstStyle/>
          <a:p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897399" y="2325848"/>
            <a:ext cx="1080904" cy="1080902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3702" y="2506133"/>
            <a:ext cx="1188298" cy="720332"/>
          </a:xfrm>
        </p:spPr>
        <p:txBody>
          <a:bodyPr/>
          <a:lstStyle>
            <a:lvl1pPr>
              <a:defRPr sz="2800"/>
            </a:lvl1pPr>
          </a:lstStyle>
          <a:p>
            <a:fld id="{086AA247-450F-40EB-8DC1-EAAA79CA4F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83161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9848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64224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8C50D5-8D55-4A99-A939-7253EB5F50B0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6AA247-450F-40EB-8DC1-EAAA79CA4F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73733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4224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4224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8C50D5-8D55-4A99-A939-7253EB5F50B0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6AA247-450F-40EB-8DC1-EAAA79CA4F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65489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8C50D5-8D55-4A99-A939-7253EB5F50B0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6AA247-450F-40EB-8DC1-EAAA79CA4F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68499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8C50D5-8D55-4A99-A939-7253EB5F50B0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6AA247-450F-40EB-8DC1-EAAA79CA4F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7196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85800"/>
            <a:ext cx="6711696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8C50D5-8D55-4A99-A939-7253EB5F50B0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0" name="Oval 9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1" name="Oval 10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6AA247-450F-40EB-8DC1-EAAA79CA4F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83419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8303740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8C50D5-8D55-4A99-A939-7253EB5F50B0}" type="datetimeFigureOut">
              <a:rPr lang="en-US" smtClean="0"/>
              <a:t>6/8/2026</a:t>
            </a:fld>
            <a:endParaRPr lang="en-US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9" name="Oval 8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6AA247-450F-40EB-8DC1-EAAA79CA4F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59175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8C50D5-8D55-4A99-A939-7253EB5F50B0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6AA247-450F-40EB-8DC1-EAAA79CA4F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16600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533400"/>
            <a:ext cx="2552700" cy="5638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6800" y="533400"/>
            <a:ext cx="7505700" cy="5638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8C50D5-8D55-4A99-A939-7253EB5F50B0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6AA247-450F-40EB-8DC1-EAAA79CA4F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89436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fld id="{C18C50D5-8D55-4A99-A939-7253EB5F50B0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8" name="Oval 7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9" name="Oval 8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0">
                <a:solidFill>
                  <a:srgbClr val="FFFFFF"/>
                </a:solidFill>
                <a:latin typeface="+mj-lt"/>
              </a:defRPr>
            </a:lvl1pPr>
          </a:lstStyle>
          <a:p>
            <a:fld id="{086AA247-450F-40EB-8DC1-EAAA79CA4F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76734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800" kern="1200" cap="none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265650-3DA5-2FA6-4A17-EDDF621BA69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8000" dirty="0">
                <a:solidFill>
                  <a:srgbClr val="FF0000"/>
                </a:solidFill>
              </a:rPr>
              <a:t>Construction of Adjectives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45FD180-B283-96C2-1FB5-0D227214836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91874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4" presetClass="emph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6" dur="25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7" dur="1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8" dur="125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9" dur="125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0" dur="125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95366B-343E-67CD-C2D9-E5DC16FE39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4129" y="0"/>
            <a:ext cx="11395587" cy="953729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The + adjective (people in general)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F0028C-6B9D-DA4C-4F51-5406D0EEB8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4129" y="816077"/>
            <a:ext cx="11847871" cy="6041923"/>
          </a:xfrm>
        </p:spPr>
        <p:txBody>
          <a:bodyPr>
            <a:normAutofit fontScale="55000" lnSpcReduction="20000"/>
          </a:bodyPr>
          <a:lstStyle/>
          <a:p>
            <a:pPr>
              <a:lnSpc>
                <a:spcPct val="150000"/>
              </a:lnSpc>
            </a:pPr>
            <a:r>
              <a:rPr lang="en-US" sz="4500" i="1" dirty="0">
                <a:highlight>
                  <a:srgbClr val="FFFF00"/>
                </a:highlight>
              </a:rPr>
              <a:t>We use </a:t>
            </a:r>
            <a:r>
              <a:rPr lang="en-US" sz="4500" b="1" i="1" dirty="0">
                <a:highlight>
                  <a:srgbClr val="FFFF00"/>
                </a:highlight>
              </a:rPr>
              <a:t>the + adjective</a:t>
            </a:r>
            <a:r>
              <a:rPr lang="en-US" sz="4500" i="1" dirty="0">
                <a:highlight>
                  <a:srgbClr val="FFFF00"/>
                </a:highlight>
              </a:rPr>
              <a:t> to talk about </a:t>
            </a:r>
            <a:r>
              <a:rPr lang="en-US" sz="4500" b="1" i="1" dirty="0">
                <a:highlight>
                  <a:srgbClr val="FFFF00"/>
                </a:highlight>
              </a:rPr>
              <a:t>a group of people in general</a:t>
            </a:r>
            <a:r>
              <a:rPr lang="en-US" sz="4500" i="1" dirty="0">
                <a:highlight>
                  <a:srgbClr val="FFFF00"/>
                </a:highlight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sz="4500" b="1" dirty="0">
                <a:solidFill>
                  <a:srgbClr val="00B050"/>
                </a:solidFill>
              </a:rPr>
              <a:t>“the poor” = poor people | “the blind” = blind people</a:t>
            </a:r>
          </a:p>
          <a:p>
            <a:pPr>
              <a:lnSpc>
                <a:spcPct val="150000"/>
              </a:lnSpc>
            </a:pPr>
            <a:r>
              <a:rPr lang="en-US" sz="4500" b="1" dirty="0"/>
              <a:t>Common adjectives:</a:t>
            </a:r>
          </a:p>
          <a:p>
            <a:pPr>
              <a:lnSpc>
                <a:spcPct val="150000"/>
              </a:lnSpc>
            </a:pPr>
            <a:r>
              <a:rPr lang="en-US" sz="4500" b="1" dirty="0">
                <a:solidFill>
                  <a:srgbClr val="00B050"/>
                </a:solidFill>
              </a:rPr>
              <a:t>blind, deaf, sick, healthy, rich, old, young, unemployed, injured, living, dead</a:t>
            </a:r>
          </a:p>
          <a:p>
            <a:pPr lvl="1">
              <a:lnSpc>
                <a:spcPct val="150000"/>
              </a:lnSpc>
            </a:pPr>
            <a:r>
              <a:rPr lang="en-US" sz="4500" b="1" dirty="0"/>
              <a:t>The</a:t>
            </a:r>
            <a:r>
              <a:rPr lang="en-US" sz="4500" dirty="0"/>
              <a:t> </a:t>
            </a:r>
            <a:r>
              <a:rPr lang="en-US" sz="4500" b="1" dirty="0"/>
              <a:t>poor</a:t>
            </a:r>
            <a:r>
              <a:rPr lang="en-US" sz="4500" dirty="0"/>
              <a:t> get less support than the rich. </a:t>
            </a:r>
          </a:p>
          <a:p>
            <a:pPr lvl="1">
              <a:lnSpc>
                <a:spcPct val="150000"/>
              </a:lnSpc>
            </a:pPr>
            <a:r>
              <a:rPr lang="en-US" sz="4500" dirty="0"/>
              <a:t>The organization helps </a:t>
            </a:r>
            <a:r>
              <a:rPr lang="en-US" sz="4500" b="1" dirty="0"/>
              <a:t>the</a:t>
            </a:r>
            <a:r>
              <a:rPr lang="en-US" sz="4500" dirty="0"/>
              <a:t> </a:t>
            </a:r>
            <a:r>
              <a:rPr lang="en-US" sz="4500" b="1" dirty="0"/>
              <a:t>disabled</a:t>
            </a:r>
            <a:r>
              <a:rPr lang="en-US" sz="4500" dirty="0"/>
              <a:t>. </a:t>
            </a:r>
          </a:p>
          <a:p>
            <a:pPr lvl="1">
              <a:lnSpc>
                <a:spcPct val="150000"/>
              </a:lnSpc>
            </a:pPr>
            <a:r>
              <a:rPr lang="en-US" sz="4500" dirty="0"/>
              <a:t>Guide dogs help </a:t>
            </a:r>
            <a:r>
              <a:rPr lang="en-US" sz="4500" b="1" dirty="0"/>
              <a:t>the</a:t>
            </a:r>
            <a:r>
              <a:rPr lang="en-US" sz="4500" dirty="0"/>
              <a:t> </a:t>
            </a:r>
            <a:r>
              <a:rPr lang="en-US" sz="4500" b="1" dirty="0"/>
              <a:t>blind</a:t>
            </a:r>
            <a:r>
              <a:rPr lang="en-US" sz="4500" dirty="0"/>
              <a:t>. </a:t>
            </a:r>
          </a:p>
          <a:p>
            <a:pPr lvl="1">
              <a:lnSpc>
                <a:spcPct val="150000"/>
              </a:lnSpc>
            </a:pPr>
            <a:r>
              <a:rPr lang="en-US" sz="4500" b="1" dirty="0"/>
              <a:t>The</a:t>
            </a:r>
            <a:r>
              <a:rPr lang="en-US" sz="4500" dirty="0"/>
              <a:t> </a:t>
            </a:r>
            <a:r>
              <a:rPr lang="en-US" sz="4500" b="1" dirty="0"/>
              <a:t>unemployed</a:t>
            </a:r>
            <a:r>
              <a:rPr lang="en-US" sz="4500" dirty="0"/>
              <a:t> can apply for jobs here. </a:t>
            </a:r>
          </a:p>
          <a:p>
            <a:pPr lvl="1">
              <a:lnSpc>
                <a:spcPct val="150000"/>
              </a:lnSpc>
            </a:pPr>
            <a:r>
              <a:rPr lang="en-US" sz="4500" dirty="0"/>
              <a:t>We remember </a:t>
            </a:r>
            <a:r>
              <a:rPr lang="en-US" sz="4500" b="1" dirty="0"/>
              <a:t>the</a:t>
            </a:r>
            <a:r>
              <a:rPr lang="en-US" sz="4500" dirty="0"/>
              <a:t> </a:t>
            </a:r>
            <a:r>
              <a:rPr lang="en-US" sz="4500" b="1" dirty="0"/>
              <a:t>living</a:t>
            </a:r>
            <a:r>
              <a:rPr lang="en-US" sz="4500" dirty="0"/>
              <a:t> as well as </a:t>
            </a:r>
            <a:r>
              <a:rPr lang="en-US" sz="4500" b="1" dirty="0"/>
              <a:t>the</a:t>
            </a:r>
            <a:r>
              <a:rPr lang="en-US" sz="4500" dirty="0"/>
              <a:t> </a:t>
            </a:r>
            <a:r>
              <a:rPr lang="en-US" sz="4500" b="1" dirty="0"/>
              <a:t>dead</a:t>
            </a:r>
            <a:r>
              <a:rPr lang="en-US" sz="4500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48181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7DB0B0-AEBC-70A0-A14C-DEAA4A5E09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848" y="0"/>
            <a:ext cx="10058400" cy="1317523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Nationality adjectives: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8A2247-0576-328F-316A-6478E33AF6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0942" y="1317523"/>
            <a:ext cx="11661058" cy="5540477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2800" i="1" dirty="0">
                <a:highlight>
                  <a:srgbClr val="FFFF00"/>
                </a:highlight>
              </a:rPr>
              <a:t>We also use this form for national groups:</a:t>
            </a:r>
          </a:p>
          <a:p>
            <a:pPr lvl="1">
              <a:lnSpc>
                <a:spcPct val="150000"/>
              </a:lnSpc>
            </a:pPr>
            <a:r>
              <a:rPr lang="en-US" sz="2800" dirty="0">
                <a:solidFill>
                  <a:srgbClr val="00B050"/>
                </a:solidFill>
              </a:rPr>
              <a:t>the English | the French | the Chinese | the Japanese | the Spanish </a:t>
            </a:r>
          </a:p>
          <a:p>
            <a:pPr lvl="1">
              <a:lnSpc>
                <a:spcPct val="150000"/>
              </a:lnSpc>
            </a:pPr>
            <a:r>
              <a:rPr lang="en-US" sz="2800" dirty="0">
                <a:solidFill>
                  <a:srgbClr val="00B050"/>
                </a:solidFill>
              </a:rPr>
              <a:t>the Dutch | the Irish | the Welsh | the Swiss | the British </a:t>
            </a:r>
          </a:p>
          <a:p>
            <a:pPr>
              <a:lnSpc>
                <a:spcPct val="150000"/>
              </a:lnSpc>
            </a:pPr>
            <a:r>
              <a:rPr lang="en-US" sz="2800" b="1" dirty="0"/>
              <a:t>The</a:t>
            </a:r>
            <a:r>
              <a:rPr lang="en-US" sz="2800" dirty="0"/>
              <a:t> </a:t>
            </a:r>
            <a:r>
              <a:rPr lang="en-US" sz="2800" b="1" dirty="0"/>
              <a:t>French</a:t>
            </a:r>
            <a:r>
              <a:rPr lang="en-US" sz="2800" dirty="0"/>
              <a:t> are famous for their cuisine. </a:t>
            </a:r>
          </a:p>
          <a:p>
            <a:pPr>
              <a:lnSpc>
                <a:spcPct val="150000"/>
              </a:lnSpc>
            </a:pPr>
            <a:r>
              <a:rPr lang="en-US" sz="2800" b="1" dirty="0"/>
              <a:t>The</a:t>
            </a:r>
            <a:r>
              <a:rPr lang="en-US" sz="2800" dirty="0"/>
              <a:t> </a:t>
            </a:r>
            <a:r>
              <a:rPr lang="en-US" sz="2800" b="1" dirty="0"/>
              <a:t>Japanese</a:t>
            </a:r>
            <a:r>
              <a:rPr lang="en-US" sz="2800" dirty="0"/>
              <a:t> work long hours. 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The country was ruled by </a:t>
            </a:r>
            <a:r>
              <a:rPr lang="en-US" sz="2800" b="1" dirty="0"/>
              <a:t>the</a:t>
            </a:r>
            <a:r>
              <a:rPr lang="en-US" sz="2800" dirty="0"/>
              <a:t> </a:t>
            </a:r>
            <a:r>
              <a:rPr lang="en-US" sz="2800" b="1" dirty="0"/>
              <a:t>British</a:t>
            </a:r>
            <a:r>
              <a:rPr lang="en-US" sz="2800" dirty="0"/>
              <a:t>.</a:t>
            </a:r>
          </a:p>
          <a:p>
            <a:pPr>
              <a:lnSpc>
                <a:spcPct val="150000"/>
              </a:lnSpc>
            </a:pP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9517890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CCF487-6D3C-66FB-62A6-F2AA9CD777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606" y="0"/>
            <a:ext cx="11336593" cy="1189703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solidFill>
                  <a:srgbClr val="FF0000"/>
                </a:solidFill>
              </a:rPr>
              <a:t>Adjective + one / ones (avoid repetition)</a:t>
            </a:r>
            <a:endParaRPr lang="en-US" sz="4000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6CCA6B-43B6-CCB5-6EC5-17F710E6BA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9848" y="1189703"/>
            <a:ext cx="10058400" cy="5668297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800" i="1" dirty="0">
                <a:highlight>
                  <a:srgbClr val="FFFF00"/>
                </a:highlight>
              </a:rPr>
              <a:t>We use </a:t>
            </a:r>
            <a:r>
              <a:rPr lang="en-US" sz="2800" b="1" i="1" dirty="0">
                <a:highlight>
                  <a:srgbClr val="FFFF00"/>
                </a:highlight>
              </a:rPr>
              <a:t>one / ones</a:t>
            </a:r>
            <a:r>
              <a:rPr lang="en-US" sz="2800" i="1" dirty="0">
                <a:highlight>
                  <a:srgbClr val="FFFF00"/>
                </a:highlight>
              </a:rPr>
              <a:t> to avoid repeating nouns.</a:t>
            </a:r>
          </a:p>
          <a:p>
            <a:pPr lvl="1">
              <a:lnSpc>
                <a:spcPct val="150000"/>
              </a:lnSpc>
            </a:pPr>
            <a:r>
              <a:rPr lang="en-US" sz="2800" b="1" dirty="0">
                <a:solidFill>
                  <a:srgbClr val="00B0F0"/>
                </a:solidFill>
              </a:rPr>
              <a:t>adjective + one (singular) </a:t>
            </a:r>
          </a:p>
          <a:p>
            <a:pPr lvl="1">
              <a:lnSpc>
                <a:spcPct val="150000"/>
              </a:lnSpc>
            </a:pPr>
            <a:r>
              <a:rPr lang="en-US" sz="2800" b="1" dirty="0">
                <a:solidFill>
                  <a:srgbClr val="00B0F0"/>
                </a:solidFill>
              </a:rPr>
              <a:t>adjective + ones (plural) 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Don’t buy the expensive </a:t>
            </a:r>
            <a:r>
              <a:rPr lang="en-US" sz="2800" b="1" dirty="0"/>
              <a:t>apples</a:t>
            </a:r>
            <a:r>
              <a:rPr lang="en-US" sz="2800" dirty="0"/>
              <a:t>; get the cheaper </a:t>
            </a:r>
            <a:r>
              <a:rPr lang="en-US" sz="2800" b="1" dirty="0"/>
              <a:t>ones</a:t>
            </a:r>
            <a:r>
              <a:rPr lang="en-US" sz="2800" dirty="0"/>
              <a:t>. 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Hard </a:t>
            </a:r>
            <a:r>
              <a:rPr lang="en-US" sz="2800" b="1" dirty="0"/>
              <a:t>beds</a:t>
            </a:r>
            <a:r>
              <a:rPr lang="en-US" sz="2800" dirty="0"/>
              <a:t> are healthier than soft </a:t>
            </a:r>
            <a:r>
              <a:rPr lang="en-US" sz="2800" b="1" dirty="0"/>
              <a:t>ones</a:t>
            </a:r>
            <a:r>
              <a:rPr lang="en-US" sz="2800" dirty="0"/>
              <a:t>. 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I lost my old </a:t>
            </a:r>
            <a:r>
              <a:rPr lang="en-US" sz="2800" b="1" dirty="0"/>
              <a:t>camera</a:t>
            </a:r>
            <a:r>
              <a:rPr lang="en-US" sz="2800" dirty="0"/>
              <a:t>; this is a new </a:t>
            </a:r>
            <a:r>
              <a:rPr lang="en-US" sz="2800" b="1" dirty="0"/>
              <a:t>one</a:t>
            </a:r>
            <a:r>
              <a:rPr lang="en-US" sz="2800" dirty="0"/>
              <a:t>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31270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207582-0500-2273-AC1D-F7A8480400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609344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solidFill>
                  <a:srgbClr val="FF0000"/>
                </a:solidFill>
              </a:rPr>
              <a:t>it + be + adjective + of somebody + to + verb</a:t>
            </a:r>
            <a:endParaRPr lang="en-US" sz="3600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9405D4-AD2E-7CEE-0D55-F8AE1E65C6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7084" y="1278194"/>
            <a:ext cx="11434916" cy="5579806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800" i="1" dirty="0">
                <a:highlight>
                  <a:srgbClr val="FFFF00"/>
                </a:highlight>
              </a:rPr>
              <a:t>We use this to describe </a:t>
            </a:r>
            <a:r>
              <a:rPr lang="en-US" sz="2800" b="1" i="1" dirty="0">
                <a:highlight>
                  <a:srgbClr val="FFFF00"/>
                </a:highlight>
              </a:rPr>
              <a:t>someone’s character or behavior</a:t>
            </a:r>
            <a:r>
              <a:rPr lang="en-US" sz="2800" i="1" dirty="0">
                <a:highlight>
                  <a:srgbClr val="FFFF00"/>
                </a:highlight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sz="2800" b="1" dirty="0"/>
              <a:t>Common adjectives: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solidFill>
                  <a:srgbClr val="00B050"/>
                </a:solidFill>
              </a:rPr>
              <a:t>kind, nice, generous, rude, selfish, stupid, foolish, clever, polite, cruel</a:t>
            </a:r>
            <a:r>
              <a:rPr lang="en-US" sz="2800" dirty="0"/>
              <a:t>,</a:t>
            </a:r>
          </a:p>
          <a:p>
            <a:pPr lvl="2">
              <a:lnSpc>
                <a:spcPct val="150000"/>
              </a:lnSpc>
            </a:pPr>
            <a:r>
              <a:rPr lang="en-US" sz="2800" b="1" dirty="0"/>
              <a:t>It was kind of you to help </a:t>
            </a:r>
            <a:r>
              <a:rPr lang="en-US" sz="2800" dirty="0"/>
              <a:t>him. </a:t>
            </a:r>
          </a:p>
          <a:p>
            <a:pPr lvl="2">
              <a:lnSpc>
                <a:spcPct val="150000"/>
              </a:lnSpc>
            </a:pPr>
            <a:r>
              <a:rPr lang="en-US" sz="2800" b="1" dirty="0"/>
              <a:t>It was stupid of them to leave </a:t>
            </a:r>
            <a:r>
              <a:rPr lang="en-US" sz="2800" dirty="0"/>
              <a:t>the door open. </a:t>
            </a:r>
          </a:p>
          <a:p>
            <a:pPr lvl="2">
              <a:lnSpc>
                <a:spcPct val="150000"/>
              </a:lnSpc>
            </a:pPr>
            <a:r>
              <a:rPr lang="en-US" sz="2800" b="1" dirty="0"/>
              <a:t>It was very generous of you to help </a:t>
            </a:r>
            <a:r>
              <a:rPr lang="en-US" sz="2800" dirty="0"/>
              <a:t>us. </a:t>
            </a:r>
          </a:p>
          <a:p>
            <a:pPr lvl="2">
              <a:lnSpc>
                <a:spcPct val="150000"/>
              </a:lnSpc>
            </a:pPr>
            <a:r>
              <a:rPr lang="en-US" sz="2800" b="1" dirty="0"/>
              <a:t>It was rude of him to interrupt</a:t>
            </a:r>
            <a:r>
              <a:rPr lang="en-US" sz="2800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52447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2CB315-7F04-EF26-3EC9-6CAA79399D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609344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solidFill>
                  <a:srgbClr val="FF0000"/>
                </a:solidFill>
              </a:rPr>
              <a:t>It + be + adjective + for somebody + to + verb</a:t>
            </a:r>
            <a:endParaRPr lang="en-US" sz="3600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75D827-8775-F0B1-4947-E49990397B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8426" y="1445342"/>
            <a:ext cx="11513574" cy="5412658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800" i="1" dirty="0">
                <a:highlight>
                  <a:srgbClr val="FFFF00"/>
                </a:highlight>
              </a:rPr>
              <a:t>Used for </a:t>
            </a:r>
            <a:r>
              <a:rPr lang="en-US" sz="2800" b="1" i="1" dirty="0">
                <a:highlight>
                  <a:srgbClr val="FFFF00"/>
                </a:highlight>
              </a:rPr>
              <a:t>difficulty, safety, convenience </a:t>
            </a:r>
            <a:r>
              <a:rPr lang="en-US" sz="2800" i="1" dirty="0">
                <a:highlight>
                  <a:srgbClr val="FFFF00"/>
                </a:highlight>
              </a:rPr>
              <a:t>for somebody to do</a:t>
            </a:r>
          </a:p>
          <a:p>
            <a:pPr>
              <a:lnSpc>
                <a:spcPct val="150000"/>
              </a:lnSpc>
            </a:pPr>
            <a:r>
              <a:rPr lang="en-US" sz="2800" b="1" dirty="0"/>
              <a:t>Common adjectives: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solidFill>
                  <a:srgbClr val="00B050"/>
                </a:solidFill>
              </a:rPr>
              <a:t>easy, difficult, hard, dangerous, safe, possible, impossible, convenient</a:t>
            </a:r>
          </a:p>
          <a:p>
            <a:pPr lvl="2">
              <a:lnSpc>
                <a:spcPct val="150000"/>
              </a:lnSpc>
            </a:pPr>
            <a:r>
              <a:rPr lang="en-US" sz="2800" b="1" dirty="0"/>
              <a:t>It was dangerous for children to cross </a:t>
            </a:r>
            <a:r>
              <a:rPr lang="en-US" sz="2800" dirty="0"/>
              <a:t>the road alone. </a:t>
            </a:r>
          </a:p>
          <a:p>
            <a:pPr lvl="2">
              <a:lnSpc>
                <a:spcPct val="150000"/>
              </a:lnSpc>
            </a:pPr>
            <a:r>
              <a:rPr lang="en-US" sz="2800" b="1" dirty="0"/>
              <a:t>It is difficult for me to understand </a:t>
            </a:r>
            <a:r>
              <a:rPr lang="en-US" sz="2800" dirty="0"/>
              <a:t>this topic. </a:t>
            </a:r>
          </a:p>
          <a:p>
            <a:pPr lvl="2">
              <a:lnSpc>
                <a:spcPct val="150000"/>
              </a:lnSpc>
            </a:pPr>
            <a:r>
              <a:rPr lang="en-US" sz="2800" b="1" dirty="0"/>
              <a:t>It was impossible to enter </a:t>
            </a:r>
            <a:r>
              <a:rPr lang="en-US" sz="2800" dirty="0"/>
              <a:t>the building. </a:t>
            </a:r>
          </a:p>
          <a:p>
            <a:pPr lvl="2">
              <a:lnSpc>
                <a:spcPct val="150000"/>
              </a:lnSpc>
            </a:pPr>
            <a:r>
              <a:rPr lang="en-US" sz="2800" dirty="0"/>
              <a:t>Would </a:t>
            </a:r>
            <a:r>
              <a:rPr lang="en-US" sz="2800" b="1" dirty="0"/>
              <a:t>it be convenient for you to meet </a:t>
            </a:r>
            <a:r>
              <a:rPr lang="en-US" sz="2800" dirty="0"/>
              <a:t>tomorrow?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15450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17FFB2-05FF-C07F-5766-8F12A598C3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6361" y="0"/>
            <a:ext cx="11179278" cy="1288026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Subject + be + adjective + to + verb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AC7025-C1DB-F08C-054E-22CBE429F7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6361" y="1170039"/>
            <a:ext cx="11685639" cy="5687961"/>
          </a:xfrm>
        </p:spPr>
        <p:txBody>
          <a:bodyPr>
            <a:normAutofit lnSpcReduction="10000"/>
          </a:bodyPr>
          <a:lstStyle/>
          <a:p>
            <a:pPr>
              <a:lnSpc>
                <a:spcPct val="150000"/>
              </a:lnSpc>
            </a:pPr>
            <a:r>
              <a:rPr lang="en-US" sz="2800" i="1" dirty="0">
                <a:highlight>
                  <a:srgbClr val="FFFF00"/>
                </a:highlight>
              </a:rPr>
              <a:t>Used to express </a:t>
            </a:r>
            <a:r>
              <a:rPr lang="en-US" sz="2800" b="1" i="1" dirty="0">
                <a:highlight>
                  <a:srgbClr val="FFFF00"/>
                </a:highlight>
              </a:rPr>
              <a:t>feelings or reactions</a:t>
            </a:r>
            <a:endParaRPr lang="en-US" sz="2800" i="1" dirty="0">
              <a:highlight>
                <a:srgbClr val="FFFF00"/>
              </a:highlight>
            </a:endParaRPr>
          </a:p>
          <a:p>
            <a:pPr>
              <a:lnSpc>
                <a:spcPct val="150000"/>
              </a:lnSpc>
            </a:pPr>
            <a:r>
              <a:rPr lang="en-US" sz="2800" b="1" dirty="0"/>
              <a:t>Common adjectives: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solidFill>
                  <a:srgbClr val="00B050"/>
                </a:solidFill>
              </a:rPr>
              <a:t>happy, sad, glad, pleased, delighted, sorry, disappointed, amazed, astonished</a:t>
            </a:r>
          </a:p>
          <a:p>
            <a:pPr lvl="2">
              <a:lnSpc>
                <a:spcPct val="150000"/>
              </a:lnSpc>
            </a:pPr>
            <a:r>
              <a:rPr lang="en-US" sz="2800" b="1" dirty="0"/>
              <a:t>I’m delighted to see </a:t>
            </a:r>
            <a:r>
              <a:rPr lang="en-US" sz="2800" dirty="0"/>
              <a:t>you. </a:t>
            </a:r>
          </a:p>
          <a:p>
            <a:pPr lvl="2">
              <a:lnSpc>
                <a:spcPct val="150000"/>
              </a:lnSpc>
            </a:pPr>
            <a:r>
              <a:rPr lang="en-US" sz="2800" b="1" dirty="0"/>
              <a:t>He was glad to leave </a:t>
            </a:r>
            <a:r>
              <a:rPr lang="en-US" sz="2800" dirty="0"/>
              <a:t>school. </a:t>
            </a:r>
          </a:p>
          <a:p>
            <a:pPr lvl="2">
              <a:lnSpc>
                <a:spcPct val="150000"/>
              </a:lnSpc>
            </a:pPr>
            <a:r>
              <a:rPr lang="en-US" sz="2800" b="1" dirty="0"/>
              <a:t>She was sad to hear </a:t>
            </a:r>
            <a:r>
              <a:rPr lang="en-US" sz="2800" dirty="0"/>
              <a:t>the news. </a:t>
            </a:r>
          </a:p>
          <a:p>
            <a:pPr lvl="2">
              <a:lnSpc>
                <a:spcPct val="150000"/>
              </a:lnSpc>
            </a:pPr>
            <a:r>
              <a:rPr lang="en-US" sz="2800" b="1" dirty="0"/>
              <a:t>They were disappointed to fail </a:t>
            </a:r>
            <a:r>
              <a:rPr lang="en-US" sz="2800" dirty="0"/>
              <a:t>the exam.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05987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EE41DA-0A7B-3446-77CA-C077C2F3A6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848" y="0"/>
            <a:ext cx="10058400" cy="1609344"/>
          </a:xfrm>
        </p:spPr>
        <p:txBody>
          <a:bodyPr>
            <a:normAutofit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Be + adjective + to + verb </a:t>
            </a:r>
            <a:r>
              <a:rPr lang="en-US" sz="2400" b="1" dirty="0">
                <a:solidFill>
                  <a:srgbClr val="FF0000"/>
                </a:solidFill>
              </a:rPr>
              <a:t>(tendency / behavior)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A41E0B-EB58-BE06-F5D5-B8800C391C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9847" y="1609344"/>
            <a:ext cx="10610875" cy="5096256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800" i="1" dirty="0">
                <a:highlight>
                  <a:srgbClr val="FFFF00"/>
                </a:highlight>
              </a:rPr>
              <a:t>Shows </a:t>
            </a:r>
            <a:r>
              <a:rPr lang="en-US" sz="2800" b="1" i="1" dirty="0">
                <a:highlight>
                  <a:srgbClr val="FFFF00"/>
                </a:highlight>
              </a:rPr>
              <a:t>habit, tendency, or willingness</a:t>
            </a:r>
            <a:endParaRPr lang="en-US" sz="2800" i="1" dirty="0">
              <a:highlight>
                <a:srgbClr val="FFFF00"/>
              </a:highlight>
            </a:endParaRPr>
          </a:p>
          <a:p>
            <a:pPr>
              <a:lnSpc>
                <a:spcPct val="150000"/>
              </a:lnSpc>
            </a:pPr>
            <a:r>
              <a:rPr lang="en-US" sz="2800" dirty="0"/>
              <a:t>People </a:t>
            </a:r>
            <a:r>
              <a:rPr lang="en-US" sz="2800" b="1" dirty="0"/>
              <a:t>are prone to make </a:t>
            </a:r>
            <a:r>
              <a:rPr lang="en-US" sz="2800" dirty="0"/>
              <a:t>mistakes when tired. 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He </a:t>
            </a:r>
            <a:r>
              <a:rPr lang="en-US" sz="2800" b="1" dirty="0"/>
              <a:t>is reluctant to lend </a:t>
            </a:r>
            <a:r>
              <a:rPr lang="en-US" sz="2800" dirty="0"/>
              <a:t>money. 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I </a:t>
            </a:r>
            <a:r>
              <a:rPr lang="en-US" sz="2800" b="1" dirty="0"/>
              <a:t>am willing to help </a:t>
            </a:r>
            <a:r>
              <a:rPr lang="en-US" sz="2800" dirty="0"/>
              <a:t>you. 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She </a:t>
            </a:r>
            <a:r>
              <a:rPr lang="en-US" sz="2800" b="1" dirty="0"/>
              <a:t>is slow to understand </a:t>
            </a:r>
            <a:r>
              <a:rPr lang="en-US" sz="2800" dirty="0"/>
              <a:t>new ideas. 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I </a:t>
            </a:r>
            <a:r>
              <a:rPr lang="en-US" sz="2800" b="1" dirty="0"/>
              <a:t>am inclined to </a:t>
            </a:r>
            <a:r>
              <a:rPr lang="en-US" sz="2800" dirty="0"/>
              <a:t>believe him.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77538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3EF9C5-85EF-641E-FD7E-D83A8A547A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6581" y="0"/>
            <a:ext cx="10707329" cy="1022555"/>
          </a:xfrm>
        </p:spPr>
        <p:txBody>
          <a:bodyPr>
            <a:noAutofit/>
          </a:bodyPr>
          <a:lstStyle/>
          <a:p>
            <a:r>
              <a:rPr lang="en-US" sz="3600" b="1" dirty="0">
                <a:solidFill>
                  <a:srgbClr val="FF0000"/>
                </a:solidFill>
              </a:rPr>
              <a:t>The first / the last / the next + to + verb</a:t>
            </a:r>
            <a:endParaRPr lang="en-US" sz="3600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58B6DA-AF30-1358-7D4A-8E42ED3BFD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9848" y="1268361"/>
            <a:ext cx="10058400" cy="4903839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sz="2800" i="1" dirty="0">
                <a:highlight>
                  <a:srgbClr val="FFFF00"/>
                </a:highlight>
              </a:rPr>
              <a:t>Used to show </a:t>
            </a:r>
            <a:r>
              <a:rPr lang="en-US" sz="2800" b="1" i="1" dirty="0">
                <a:highlight>
                  <a:srgbClr val="FFFF00"/>
                </a:highlight>
              </a:rPr>
              <a:t>order</a:t>
            </a:r>
            <a:endParaRPr lang="en-US" sz="2800" i="1" dirty="0">
              <a:highlight>
                <a:srgbClr val="FFFF00"/>
              </a:highlight>
            </a:endParaRPr>
          </a:p>
          <a:p>
            <a:pPr>
              <a:lnSpc>
                <a:spcPct val="150000"/>
              </a:lnSpc>
            </a:pPr>
            <a:r>
              <a:rPr lang="en-US" sz="2800" b="1" dirty="0"/>
              <a:t>Examples: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He </a:t>
            </a:r>
            <a:r>
              <a:rPr lang="en-US" sz="2800" b="1" dirty="0"/>
              <a:t>was the first person to arrive</a:t>
            </a:r>
            <a:r>
              <a:rPr lang="en-US" sz="2800" dirty="0"/>
              <a:t>. 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She </a:t>
            </a:r>
            <a:r>
              <a:rPr lang="en-US" sz="2800" b="1" dirty="0"/>
              <a:t>was the last student to leave</a:t>
            </a:r>
            <a:r>
              <a:rPr lang="en-US" sz="2800" dirty="0"/>
              <a:t>. 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This will </a:t>
            </a:r>
            <a:r>
              <a:rPr lang="en-US" sz="2800" b="1" dirty="0"/>
              <a:t>be the next film to be </a:t>
            </a:r>
            <a:r>
              <a:rPr lang="en-US" sz="2800" dirty="0"/>
              <a:t>released.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83135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78FC6883-F47E-928C-B496-D1D03D4D892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57733316"/>
              </p:ext>
            </p:extLst>
          </p:nvPr>
        </p:nvGraphicFramePr>
        <p:xfrm>
          <a:off x="0" y="0"/>
          <a:ext cx="12192000" cy="7003024"/>
        </p:xfrm>
        <a:graphic>
          <a:graphicData uri="http://schemas.openxmlformats.org/drawingml/2006/table">
            <a:tbl>
              <a:tblPr/>
              <a:tblGrid>
                <a:gridCol w="4463845">
                  <a:extLst>
                    <a:ext uri="{9D8B030D-6E8A-4147-A177-3AD203B41FA5}">
                      <a16:colId xmlns:a16="http://schemas.microsoft.com/office/drawing/2014/main" val="2778670631"/>
                    </a:ext>
                  </a:extLst>
                </a:gridCol>
                <a:gridCol w="3539613">
                  <a:extLst>
                    <a:ext uri="{9D8B030D-6E8A-4147-A177-3AD203B41FA5}">
                      <a16:colId xmlns:a16="http://schemas.microsoft.com/office/drawing/2014/main" val="1239832981"/>
                    </a:ext>
                  </a:extLst>
                </a:gridCol>
                <a:gridCol w="4188542">
                  <a:extLst>
                    <a:ext uri="{9D8B030D-6E8A-4147-A177-3AD203B41FA5}">
                      <a16:colId xmlns:a16="http://schemas.microsoft.com/office/drawing/2014/main" val="463420983"/>
                    </a:ext>
                  </a:extLst>
                </a:gridCol>
              </a:tblGrid>
              <a:tr h="848032">
                <a:tc>
                  <a:txBody>
                    <a:bodyPr/>
                    <a:lstStyle/>
                    <a:p>
                      <a:pPr lvl="1">
                        <a:buNone/>
                      </a:pPr>
                      <a:r>
                        <a:rPr lang="en-US" sz="3200" b="1" dirty="0"/>
                        <a:t>Structure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200" b="1" dirty="0"/>
                        <a:t>Use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200" b="1" dirty="0"/>
                        <a:t>Example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52913823"/>
                  </a:ext>
                </a:extLst>
              </a:tr>
              <a:tr h="848032">
                <a:tc>
                  <a:txBody>
                    <a:bodyPr/>
                    <a:lstStyle/>
                    <a:p>
                      <a:pPr lvl="1">
                        <a:buNone/>
                      </a:pPr>
                      <a:r>
                        <a:rPr lang="en-US" sz="3200" b="1"/>
                        <a:t>the + adj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200" dirty="0"/>
                        <a:t>people in general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200" dirty="0"/>
                        <a:t>the poor, the rich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3770822"/>
                  </a:ext>
                </a:extLst>
              </a:tr>
              <a:tr h="848032">
                <a:tc>
                  <a:txBody>
                    <a:bodyPr/>
                    <a:lstStyle/>
                    <a:p>
                      <a:pPr lvl="1">
                        <a:buNone/>
                      </a:pPr>
                      <a:r>
                        <a:rPr lang="en-US" sz="3200" b="1"/>
                        <a:t>adj + one/ones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200" dirty="0"/>
                        <a:t>avoid repetition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200"/>
                        <a:t>the cheaper ones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8890512"/>
                  </a:ext>
                </a:extLst>
              </a:tr>
              <a:tr h="848032">
                <a:tc>
                  <a:txBody>
                    <a:bodyPr/>
                    <a:lstStyle/>
                    <a:p>
                      <a:pPr lvl="1">
                        <a:buNone/>
                      </a:pPr>
                      <a:r>
                        <a:rPr lang="en-US" sz="3200" b="1"/>
                        <a:t>it is + adj + of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200"/>
                        <a:t>character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200"/>
                        <a:t>It was kind of you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0544652"/>
                  </a:ext>
                </a:extLst>
              </a:tr>
              <a:tr h="848032">
                <a:tc>
                  <a:txBody>
                    <a:bodyPr/>
                    <a:lstStyle/>
                    <a:p>
                      <a:pPr lvl="1">
                        <a:buNone/>
                      </a:pPr>
                      <a:r>
                        <a:rPr lang="en-US" sz="3200" b="1" dirty="0"/>
                        <a:t>it is + adj + for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200"/>
                        <a:t>difficulty/safety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200"/>
                        <a:t>It is easy for me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166842"/>
                  </a:ext>
                </a:extLst>
              </a:tr>
              <a:tr h="848032">
                <a:tc>
                  <a:txBody>
                    <a:bodyPr/>
                    <a:lstStyle/>
                    <a:p>
                      <a:pPr lvl="1">
                        <a:buNone/>
                      </a:pPr>
                      <a:r>
                        <a:rPr lang="en-US" sz="3200" b="1"/>
                        <a:t>adj + to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200"/>
                        <a:t>feelings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200"/>
                        <a:t>happy to see you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3815840"/>
                  </a:ext>
                </a:extLst>
              </a:tr>
              <a:tr h="848032">
                <a:tc>
                  <a:txBody>
                    <a:bodyPr/>
                    <a:lstStyle/>
                    <a:p>
                      <a:pPr lvl="1">
                        <a:buNone/>
                      </a:pPr>
                      <a:r>
                        <a:rPr lang="en-US" sz="3200" b="1" dirty="0"/>
                        <a:t>prone/reluctant etc.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200"/>
                        <a:t>tendency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200"/>
                        <a:t>prone to make mistakes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1022722"/>
                  </a:ext>
                </a:extLst>
              </a:tr>
              <a:tr h="848032">
                <a:tc>
                  <a:txBody>
                    <a:bodyPr/>
                    <a:lstStyle/>
                    <a:p>
                      <a:pPr lvl="1">
                        <a:buNone/>
                      </a:pPr>
                      <a:r>
                        <a:rPr lang="en-US" sz="3200" b="1" dirty="0"/>
                        <a:t>the first/last + to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200"/>
                        <a:t>order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200" dirty="0"/>
                        <a:t>the first to arrive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085167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4436904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Wood Type">
  <a:themeElements>
    <a:clrScheme name="Wood Type">
      <a:dk1>
        <a:sysClr val="windowText" lastClr="000000"/>
      </a:dk1>
      <a:lt1>
        <a:sysClr val="window" lastClr="FFFFFF"/>
      </a:lt1>
      <a:dk2>
        <a:srgbClr val="514949"/>
      </a:dk2>
      <a:lt2>
        <a:srgbClr val="E1E1DB"/>
      </a:lt2>
      <a:accent1>
        <a:srgbClr val="9DBFBE"/>
      </a:accent1>
      <a:accent2>
        <a:srgbClr val="DB8631"/>
      </a:accent2>
      <a:accent3>
        <a:srgbClr val="E3CC5A"/>
      </a:accent3>
      <a:accent4>
        <a:srgbClr val="ACADA8"/>
      </a:accent4>
      <a:accent5>
        <a:srgbClr val="927C61"/>
      </a:accent5>
      <a:accent6>
        <a:srgbClr val="B3B435"/>
      </a:accent6>
      <a:hlink>
        <a:srgbClr val="0000FF"/>
      </a:hlink>
      <a:folHlink>
        <a:srgbClr val="800080"/>
      </a:folHlink>
    </a:clrScheme>
    <a:fontScheme name="Wood Type">
      <a:majorFont>
        <a:latin typeface="Arial Black" panose="020B0A04020102020204"/>
        <a:ea typeface=""/>
        <a:cs typeface=""/>
        <a:font script="Jpan" typeface="HGｺﾞｼｯｸM"/>
        <a:font script="Hang" typeface="HY중고딕"/>
        <a:font script="Hans" typeface="黑体"/>
        <a:font script="Hant" typeface="微軟正黑體"/>
        <a:font script="Arab" typeface="Tahoma"/>
        <a:font script="Hebr" typeface="Levenim MT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 panose="020B0604020202020204"/>
        <a:ea typeface=""/>
        <a:cs typeface=""/>
        <a:font script="Jpan" typeface="HGｺﾞｼｯｸM"/>
        <a:font script="Hang" typeface="HY중고딕"/>
        <a:font script="Hans" typeface="黑体"/>
        <a:font script="Hant" typeface="微軟正黑體"/>
        <a:font script="Arab" typeface="Tahoma"/>
        <a:font script="Hebr" typeface="Levenim MT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Wood Typ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BE1B6DD8-9976-4550-A6F4-B2DD4EA939D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Wood Type</Template>
  <TotalTime>18</TotalTime>
  <Words>635</Words>
  <Application>Microsoft Office PowerPoint</Application>
  <PresentationFormat>Widescreen</PresentationFormat>
  <Paragraphs>86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Arial Black</vt:lpstr>
      <vt:lpstr>Wingdings</vt:lpstr>
      <vt:lpstr>Wood Type</vt:lpstr>
      <vt:lpstr>Construction of Adjectives</vt:lpstr>
      <vt:lpstr>The + adjective (people in general)</vt:lpstr>
      <vt:lpstr>Nationality adjectives:</vt:lpstr>
      <vt:lpstr>Adjective + one / ones (avoid repetition)</vt:lpstr>
      <vt:lpstr>it + be + adjective + of somebody + to + verb</vt:lpstr>
      <vt:lpstr>It + be + adjective + for somebody + to + verb</vt:lpstr>
      <vt:lpstr>Subject + be + adjective + to + verb</vt:lpstr>
      <vt:lpstr>Be + adjective + to + verb (tendency / behavior)</vt:lpstr>
      <vt:lpstr>The first / the last / the next + to + verb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Tura Huja</dc:creator>
  <cp:lastModifiedBy>Tura Huja</cp:lastModifiedBy>
  <cp:revision>11</cp:revision>
  <dcterms:created xsi:type="dcterms:W3CDTF">2026-06-08T13:10:52Z</dcterms:created>
  <dcterms:modified xsi:type="dcterms:W3CDTF">2026-06-08T13:29:51Z</dcterms:modified>
</cp:coreProperties>
</file>