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-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68BC6-FE87-42AD-AFF5-B7E64004558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0"/>
            </a:lvl1pPr>
          </a:lstStyle>
          <a:p>
            <a:fld id="{99FD978F-E020-4391-8D3D-AA66560C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492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68BC6-FE87-42AD-AFF5-B7E64004558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D978F-E020-4391-8D3D-AA66560C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80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FE268BC6-FE87-42AD-AFF5-B7E64004558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99FD978F-E020-4391-8D3D-AA66560C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155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68BC6-FE87-42AD-AFF5-B7E64004558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D978F-E020-4391-8D3D-AA66560C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251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68BC6-FE87-42AD-AFF5-B7E64004558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D978F-E020-4391-8D3D-AA66560C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616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68BC6-FE87-42AD-AFF5-B7E64004558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D978F-E020-4391-8D3D-AA66560C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9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68BC6-FE87-42AD-AFF5-B7E64004558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D978F-E020-4391-8D3D-AA66560C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716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68BC6-FE87-42AD-AFF5-B7E64004558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D978F-E020-4391-8D3D-AA66560C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69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68BC6-FE87-42AD-AFF5-B7E640045582}" type="datetimeFigureOut">
              <a:rPr lang="en-US" smtClean="0"/>
              <a:t>6/9/2026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D978F-E020-4391-8D3D-AA66560C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760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68BC6-FE87-42AD-AFF5-B7E64004558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D978F-E020-4391-8D3D-AA66560C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030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68BC6-FE87-42AD-AFF5-B7E64004558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D978F-E020-4391-8D3D-AA66560C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268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FE268BC6-FE87-42AD-AFF5-B7E640045582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rgbClr val="FFFFFF"/>
                </a:solidFill>
                <a:latin typeface="+mj-lt"/>
              </a:defRPr>
            </a:lvl1pPr>
          </a:lstStyle>
          <a:p>
            <a:fld id="{99FD978F-E020-4391-8D3D-AA66560C1D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513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0ABC3-C918-EEF4-56CD-B41F4BBBCF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b="1" dirty="0">
                <a:solidFill>
                  <a:srgbClr val="FF0000"/>
                </a:solidFill>
              </a:rPr>
              <a:t>Adverbs of Place</a:t>
            </a:r>
            <a:endParaRPr lang="en-US" sz="80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FAE289-791E-6ABE-162B-1624F42DF7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chemeClr val="bg1">
                    <a:lumMod val="50000"/>
                  </a:schemeClr>
                </a:solidFill>
              </a:rPr>
              <a:t>Adverbs of place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tell us 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</a:rPr>
              <a:t>where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an action happens. 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</a:rPr>
              <a:t>Question: Where?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(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Qayerda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?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Qayerga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?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Qayerdan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?)</a:t>
            </a:r>
          </a:p>
        </p:txBody>
      </p:sp>
    </p:spTree>
    <p:extLst>
      <p:ext uri="{BB962C8B-B14F-4D97-AF65-F5344CB8AC3E}">
        <p14:creationId xmlns:p14="http://schemas.microsoft.com/office/powerpoint/2010/main" val="2192376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0508 0.06551 L -0.00052 -0.17338 " pathEditMode="relative" rAng="0" ptsTypes="AA">
                                      <p:cBhvr>
                                        <p:cTn id="6" dur="625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6" y="-11944"/>
                                    </p:animMotion>
                                    <p:animRot by="1500000">
                                      <p:cBhvr>
                                        <p:cTn id="7" dur="31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313" fill="hold">
                                          <p:stCondLst>
                                            <p:cond delay="313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313" fill="hold">
                                          <p:stCondLst>
                                            <p:cond delay="6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313" fill="hold">
                                          <p:stCondLst>
                                            <p:cond delay="9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8E157-C109-AF09-C7C8-BB4523577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975" y="0"/>
            <a:ext cx="10058400" cy="1061884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Common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Adverbs of Place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90619DB-3C08-B142-2B80-56BF9BD9E5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4686489"/>
              </p:ext>
            </p:extLst>
          </p:nvPr>
        </p:nvGraphicFramePr>
        <p:xfrm>
          <a:off x="1069975" y="1158240"/>
          <a:ext cx="10058400" cy="569976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502228152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4181994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/>
                        <a:t>Adverb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4950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here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bu yerda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298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there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u yerda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860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somewhere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biror joyda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588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anywhere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biror joyda (so‘roq/inkor)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890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nowhere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 err="1"/>
                        <a:t>hech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qayerda</a:t>
                      </a:r>
                      <a:endParaRPr lang="en-US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330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everywhere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hamma joyda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165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away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uzoqqa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802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abroad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chet elda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316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upstairs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yuqori qavatda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626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downstairs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 err="1"/>
                        <a:t>pastki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qavatda</a:t>
                      </a:r>
                      <a:endParaRPr lang="en-US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8729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9758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DDF35-8D82-410C-183D-20015F9DF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01272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Position of Adverbs of Place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985D3-C615-E9C2-3AA8-0416253F4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012723"/>
            <a:ext cx="11122152" cy="58452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Adverbs of place usually come after the verb*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Subject + Verb + (Object) + Place + Time</a:t>
            </a:r>
            <a:endParaRPr lang="en-US" sz="2800" dirty="0">
              <a:solidFill>
                <a:srgbClr val="00B0F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800" dirty="0"/>
              <a:t>I saw </a:t>
            </a:r>
            <a:r>
              <a:rPr lang="en-US" sz="2800" u="sng" dirty="0"/>
              <a:t>him</a:t>
            </a:r>
            <a:r>
              <a:rPr lang="en-US" sz="2800" dirty="0"/>
              <a:t> </a:t>
            </a:r>
            <a:r>
              <a:rPr lang="en-US" sz="2800" b="1" dirty="0"/>
              <a:t>there</a:t>
            </a:r>
            <a:r>
              <a:rPr lang="en-US" sz="2800" dirty="0"/>
              <a:t> yesterday.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We met </a:t>
            </a:r>
            <a:r>
              <a:rPr lang="en-US" sz="2800" b="1" dirty="0"/>
              <a:t>somewhere</a:t>
            </a:r>
            <a:r>
              <a:rPr lang="en-US" sz="2800" dirty="0"/>
              <a:t> last week.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She stayed </a:t>
            </a:r>
            <a:r>
              <a:rPr lang="en-US" sz="2800" b="1" dirty="0"/>
              <a:t>abroad</a:t>
            </a:r>
            <a:r>
              <a:rPr lang="en-US" sz="2800" dirty="0"/>
              <a:t> for two years. 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I have seen </a:t>
            </a:r>
            <a:r>
              <a:rPr lang="en-US" sz="2800" u="sng" dirty="0"/>
              <a:t>him</a:t>
            </a:r>
            <a:r>
              <a:rPr lang="en-US" sz="2800" dirty="0"/>
              <a:t> </a:t>
            </a:r>
            <a:r>
              <a:rPr lang="en-US" sz="2800" b="1" dirty="0"/>
              <a:t>somewhere</a:t>
            </a:r>
            <a:r>
              <a:rPr lang="en-US" sz="2800" dirty="0"/>
              <a:t> before.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Notice: </a:t>
            </a:r>
            <a:r>
              <a:rPr lang="en-US" sz="2800" b="1" dirty="0"/>
              <a:t>Place</a:t>
            </a:r>
            <a:r>
              <a:rPr lang="en-US" sz="2800" dirty="0"/>
              <a:t> before </a:t>
            </a:r>
            <a:r>
              <a:rPr lang="en-US" sz="2800" b="1" dirty="0"/>
              <a:t>Time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644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8D250-5FAA-021A-24B2-593954328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2255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Preposition + Noun as Adverbs of Place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C0555-924B-9848-D651-A0275DECF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022555"/>
            <a:ext cx="11122152" cy="583544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Some place expressions are formed with: </a:t>
            </a:r>
            <a:r>
              <a:rPr lang="en-US" sz="2800" b="1" i="1" dirty="0">
                <a:highlight>
                  <a:srgbClr val="FFFF00"/>
                </a:highlight>
              </a:rPr>
              <a:t>Preposition + Noun</a:t>
            </a:r>
          </a:p>
          <a:p>
            <a:pPr lvl="1"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on a perch  |  in the doorway  |  near me </a:t>
            </a:r>
          </a:p>
          <a:p>
            <a:pPr lvl="1"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above the washbasin  |  over the city 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The parrot sat </a:t>
            </a:r>
            <a:r>
              <a:rPr lang="en-US" sz="2800" b="1" dirty="0"/>
              <a:t>on a perch</a:t>
            </a:r>
            <a:r>
              <a:rPr lang="en-US" sz="2800" dirty="0"/>
              <a:t>. 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He stood </a:t>
            </a:r>
            <a:r>
              <a:rPr lang="en-US" sz="2800" b="1" dirty="0"/>
              <a:t>in the doorway</a:t>
            </a:r>
            <a:r>
              <a:rPr lang="en-US" sz="2800" dirty="0"/>
              <a:t>. 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He lives </a:t>
            </a:r>
            <a:r>
              <a:rPr lang="en-US" sz="2800" b="1" dirty="0"/>
              <a:t>near me</a:t>
            </a:r>
            <a:r>
              <a:rPr lang="en-US" sz="2800" dirty="0"/>
              <a:t>. 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There is a mirror </a:t>
            </a:r>
            <a:r>
              <a:rPr lang="en-US" sz="2800" b="1" dirty="0"/>
              <a:t>above the washbasin</a:t>
            </a:r>
            <a:r>
              <a:rPr lang="en-US" sz="2800" dirty="0"/>
              <a:t>. </a:t>
            </a:r>
          </a:p>
          <a:p>
            <a:pPr>
              <a:lnSpc>
                <a:spcPct val="100000"/>
              </a:lnSpc>
            </a:pPr>
            <a:r>
              <a:rPr lang="en-US" sz="2800" dirty="0"/>
              <a:t>Helicopters dropped leaflets </a:t>
            </a:r>
            <a:r>
              <a:rPr lang="en-US" sz="2800" b="1" dirty="0"/>
              <a:t>over the city</a:t>
            </a:r>
            <a:r>
              <a:rPr lang="en-US" sz="28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65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13CA7-872D-5FA8-6710-9520F8E2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582" y="0"/>
            <a:ext cx="10058400" cy="9144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NOWHERE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F33E5-0C7A-F4DD-D8CD-B855AB0F5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766" y="760396"/>
            <a:ext cx="11595234" cy="6097604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Meaning: </a:t>
            </a:r>
            <a:r>
              <a:rPr lang="en-US" sz="2800" i="1" dirty="0">
                <a:highlight>
                  <a:srgbClr val="FFFF00"/>
                </a:highlight>
              </a:rPr>
              <a:t>"</a:t>
            </a:r>
            <a:r>
              <a:rPr lang="en-US" sz="2800" i="1" dirty="0" err="1">
                <a:highlight>
                  <a:srgbClr val="FFFF00"/>
                </a:highlight>
              </a:rPr>
              <a:t>Hech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qayerda</a:t>
            </a:r>
            <a:r>
              <a:rPr lang="en-US" sz="2800" i="1" dirty="0">
                <a:highlight>
                  <a:srgbClr val="FFFF00"/>
                </a:highlight>
              </a:rPr>
              <a:t>" / "</a:t>
            </a:r>
            <a:r>
              <a:rPr lang="en-US" sz="2800" i="1" dirty="0" err="1">
                <a:highlight>
                  <a:srgbClr val="FFFF00"/>
                </a:highlight>
              </a:rPr>
              <a:t>hech</a:t>
            </a:r>
            <a:r>
              <a:rPr lang="en-US" sz="2800" i="1" dirty="0">
                <a:highlight>
                  <a:srgbClr val="FFFF00"/>
                </a:highlight>
              </a:rPr>
              <a:t> </a:t>
            </a:r>
            <a:r>
              <a:rPr lang="en-US" sz="2800" i="1" dirty="0" err="1">
                <a:highlight>
                  <a:srgbClr val="FFFF00"/>
                </a:highlight>
              </a:rPr>
              <a:t>qayerga</a:t>
            </a:r>
            <a:r>
              <a:rPr lang="en-US" sz="2800" i="1" dirty="0">
                <a:highlight>
                  <a:srgbClr val="FFFF00"/>
                </a:highlight>
              </a:rPr>
              <a:t>"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Where are you going? </a:t>
            </a:r>
            <a:r>
              <a:rPr lang="en-US" sz="2800" b="1" dirty="0"/>
              <a:t>Nowhere.</a:t>
            </a:r>
            <a:r>
              <a:rPr lang="en-US" sz="2800" dirty="0"/>
              <a:t> (= I am not going anywhere.)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Beginning of a Sentence</a:t>
            </a:r>
          </a:p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When </a:t>
            </a:r>
            <a:r>
              <a:rPr lang="en-US" sz="2800" b="1" i="1" dirty="0">
                <a:highlight>
                  <a:srgbClr val="FFFF00"/>
                </a:highlight>
              </a:rPr>
              <a:t>Nowhere</a:t>
            </a:r>
            <a:r>
              <a:rPr lang="en-US" sz="2800" i="1" dirty="0">
                <a:highlight>
                  <a:srgbClr val="FFFF00"/>
                </a:highlight>
              </a:rPr>
              <a:t> starts a sentence, inversion occurs.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Nowhere + auxiliary verb + subject + main verb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b="1" dirty="0"/>
              <a:t>Nowhere</a:t>
            </a:r>
            <a:r>
              <a:rPr lang="en-US" sz="2800" dirty="0"/>
              <a:t> will you find better roses than these.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Nowhere</a:t>
            </a:r>
            <a:r>
              <a:rPr lang="en-US" sz="2800" dirty="0"/>
              <a:t> does the article mention his name.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Nowhere</a:t>
            </a:r>
            <a:r>
              <a:rPr lang="en-US" sz="2800" dirty="0"/>
              <a:t> have I seen such beauty.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4737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9DC77-4587-A7CA-A9B5-AAD7B2A96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60934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Expression: Get Nowhere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E4A98-43F0-884D-4BF1-2F07055A9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609344"/>
            <a:ext cx="10058400" cy="456285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i="1" dirty="0">
                <a:highlight>
                  <a:srgbClr val="FFFF00"/>
                </a:highlight>
              </a:rPr>
              <a:t>Meaning: </a:t>
            </a:r>
            <a:r>
              <a:rPr lang="en-US" sz="2800" i="1" dirty="0">
                <a:highlight>
                  <a:srgbClr val="FFFF00"/>
                </a:highlight>
              </a:rPr>
              <a:t>achieve nothing | make no progress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Threatening people will </a:t>
            </a:r>
            <a:r>
              <a:rPr lang="en-US" sz="2800" b="1" dirty="0"/>
              <a:t>get</a:t>
            </a:r>
            <a:r>
              <a:rPr lang="en-US" sz="2800" dirty="0"/>
              <a:t> you </a:t>
            </a:r>
            <a:r>
              <a:rPr lang="en-US" sz="2800" b="1" dirty="0"/>
              <a:t>nowhere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Sleeping all day </a:t>
            </a:r>
            <a:r>
              <a:rPr lang="en-US" sz="2800" b="1" dirty="0"/>
              <a:t>gets</a:t>
            </a:r>
            <a:r>
              <a:rPr lang="en-US" sz="2800" dirty="0"/>
              <a:t> you </a:t>
            </a:r>
            <a:r>
              <a:rPr lang="en-US" sz="2800" b="1" dirty="0"/>
              <a:t>nowhere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Smoking cigarettes will </a:t>
            </a:r>
            <a:r>
              <a:rPr lang="en-US" sz="2800" b="1" dirty="0"/>
              <a:t>get</a:t>
            </a:r>
            <a:r>
              <a:rPr lang="en-US" sz="2800" dirty="0"/>
              <a:t> you </a:t>
            </a:r>
            <a:r>
              <a:rPr lang="en-US" sz="2800" b="1" dirty="0"/>
              <a:t>nowhere</a:t>
            </a:r>
            <a:r>
              <a:rPr lang="en-US" sz="2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Missing the lessons </a:t>
            </a:r>
            <a:r>
              <a:rPr lang="en-US" sz="2800" b="1" dirty="0"/>
              <a:t>got</a:t>
            </a:r>
            <a:r>
              <a:rPr lang="en-US" sz="2800" dirty="0"/>
              <a:t> Abror </a:t>
            </a:r>
            <a:r>
              <a:rPr lang="en-US" sz="2800" b="1" dirty="0"/>
              <a:t>nowhere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900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789B5-8AA0-044C-4BA0-E74A24596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164657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Here / There with Inversion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A46C6-AE1F-7B8C-92A1-41632D830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164657"/>
            <a:ext cx="11029108" cy="569334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When </a:t>
            </a:r>
            <a:r>
              <a:rPr lang="en-US" sz="2800" b="1" i="1" dirty="0">
                <a:highlight>
                  <a:srgbClr val="FFFF00"/>
                </a:highlight>
              </a:rPr>
              <a:t>here</a:t>
            </a:r>
            <a:r>
              <a:rPr lang="en-US" sz="2800" i="1" dirty="0">
                <a:highlight>
                  <a:srgbClr val="FFFF00"/>
                </a:highlight>
              </a:rPr>
              <a:t> or </a:t>
            </a:r>
            <a:r>
              <a:rPr lang="en-US" sz="2800" b="1" i="1" dirty="0">
                <a:highlight>
                  <a:srgbClr val="FFFF00"/>
                </a:highlight>
              </a:rPr>
              <a:t>there</a:t>
            </a:r>
            <a:r>
              <a:rPr lang="en-US" sz="2800" i="1" dirty="0">
                <a:highlight>
                  <a:srgbClr val="FFFF00"/>
                </a:highlight>
              </a:rPr>
              <a:t> introduces something that has just appeared, the verb comes before the subject.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Normal Word Order - </a:t>
            </a:r>
            <a:r>
              <a:rPr lang="en-US" sz="2800" dirty="0"/>
              <a:t>Tom is here. | The bus is there. 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Inverted Word Order - </a:t>
            </a:r>
            <a:r>
              <a:rPr lang="en-US" sz="2800" dirty="0"/>
              <a:t>Here is Tom! | There is the bus! </a:t>
            </a:r>
          </a:p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Meaning: "Mana Tom!“ , "Ana </a:t>
            </a:r>
            <a:r>
              <a:rPr lang="en-US" sz="2800" i="1" dirty="0" err="1">
                <a:highlight>
                  <a:srgbClr val="FFFF00"/>
                </a:highlight>
              </a:rPr>
              <a:t>avtobus</a:t>
            </a:r>
            <a:r>
              <a:rPr lang="en-US" sz="2800" i="1" dirty="0">
                <a:highlight>
                  <a:srgbClr val="FFFF00"/>
                </a:highlight>
              </a:rPr>
              <a:t>!"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Here comes </a:t>
            </a:r>
            <a:r>
              <a:rPr lang="en-US" sz="2800" dirty="0" err="1"/>
              <a:t>Tomsonjon</a:t>
            </a:r>
            <a:r>
              <a:rPr lang="en-US" sz="2800" dirty="0"/>
              <a:t>. | There goes </a:t>
            </a:r>
            <a:r>
              <a:rPr lang="en-US" sz="2800" dirty="0" err="1"/>
              <a:t>Makhliyo</a:t>
            </a:r>
            <a:r>
              <a:rPr lang="en-US" sz="28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Here comes the teacher. | There goes my students.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36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187A9-D05F-1972-A457-F4CB729A5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318661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Pronouns Do NOT Invert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EF856-FB73-4E54-95F6-5BA45BA8D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263" y="1135781"/>
            <a:ext cx="11710737" cy="5722219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If the subject is: </a:t>
            </a:r>
            <a:r>
              <a:rPr lang="en-US" sz="2800" b="1" i="1" dirty="0">
                <a:solidFill>
                  <a:srgbClr val="00B050"/>
                </a:solidFill>
                <a:highlight>
                  <a:srgbClr val="FFFF00"/>
                </a:highlight>
              </a:rPr>
              <a:t>he | she | it | they | we | I | you </a:t>
            </a:r>
            <a:r>
              <a:rPr lang="en-US" sz="2800" i="1" dirty="0">
                <a:highlight>
                  <a:srgbClr val="FFFF00"/>
                </a:highlight>
              </a:rPr>
              <a:t>the normal order remains.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❌ Here comes it. | ✅ Here it comes.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❌ There goes he. | ✅ There he goes.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Here I am.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There she is.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Here it comes.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There they go.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65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457D9-8180-4A96-9A1A-2DBC563EF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03952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Inversion with Movement Adverbs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BA41A-62A5-13EA-8FEC-CDDD5BFF8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039528"/>
            <a:ext cx="11122152" cy="581847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After certain adverbs of movement: </a:t>
            </a:r>
          </a:p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B050"/>
                </a:solidFill>
              </a:rPr>
              <a:t>away | down | up | out | in | off | round |over  </a:t>
            </a:r>
          </a:p>
          <a:p>
            <a:pPr>
              <a:lnSpc>
                <a:spcPct val="10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the verb often comes before the subject.</a:t>
            </a:r>
          </a:p>
          <a:p>
            <a:pPr>
              <a:lnSpc>
                <a:spcPct val="10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Adverb + Verb + Subject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2800" b="1" dirty="0"/>
              <a:t>Away</a:t>
            </a:r>
            <a:r>
              <a:rPr lang="en-US" sz="2800" dirty="0"/>
              <a:t> went the runners. | </a:t>
            </a:r>
            <a:r>
              <a:rPr lang="en-US" sz="2800" b="1" dirty="0"/>
              <a:t>Down</a:t>
            </a:r>
            <a:r>
              <a:rPr lang="en-US" sz="2800" dirty="0"/>
              <a:t> fell a dozen apples. </a:t>
            </a:r>
          </a:p>
          <a:p>
            <a:pPr>
              <a:lnSpc>
                <a:spcPct val="100000"/>
              </a:lnSpc>
            </a:pPr>
            <a:r>
              <a:rPr lang="en-US" sz="2800" b="1" dirty="0"/>
              <a:t>Out</a:t>
            </a:r>
            <a:r>
              <a:rPr lang="en-US" sz="2800" dirty="0"/>
              <a:t> sprang the cuckoo. | </a:t>
            </a:r>
            <a:r>
              <a:rPr lang="en-US" sz="2800" b="1" dirty="0"/>
              <a:t>Round</a:t>
            </a:r>
            <a:r>
              <a:rPr lang="en-US" sz="2800" dirty="0"/>
              <a:t> flew the plane. </a:t>
            </a:r>
          </a:p>
          <a:p>
            <a:pPr>
              <a:lnSpc>
                <a:spcPct val="100000"/>
              </a:lnSpc>
            </a:pPr>
            <a:r>
              <a:rPr lang="en-US" sz="2800" b="1" dirty="0"/>
              <a:t>Off</a:t>
            </a:r>
            <a:r>
              <a:rPr lang="en-US" sz="2800" dirty="0"/>
              <a:t> went the children. | In came the teacher. </a:t>
            </a:r>
          </a:p>
          <a:p>
            <a:pPr>
              <a:lnSpc>
                <a:spcPct val="100000"/>
              </a:lnSpc>
            </a:pPr>
            <a:r>
              <a:rPr lang="en-US" sz="2800" b="1" dirty="0"/>
              <a:t>Up</a:t>
            </a:r>
            <a:r>
              <a:rPr lang="en-US" sz="2800" dirty="0"/>
              <a:t> jumped Aziz.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426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B26B7-FAEC-BF2B-A47A-A88B4EFEC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60934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Pronouns Again Do Not Invert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9C696-871A-068F-D49E-CFDC7B77B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289785"/>
            <a:ext cx="10480468" cy="556821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Away </a:t>
            </a:r>
            <a:r>
              <a:rPr lang="en-US" sz="2800" b="1" dirty="0"/>
              <a:t>they</a:t>
            </a:r>
            <a:r>
              <a:rPr lang="en-US" sz="2800" dirty="0"/>
              <a:t> went. | Off </a:t>
            </a:r>
            <a:r>
              <a:rPr lang="en-US" sz="2800" b="1" dirty="0"/>
              <a:t>I</a:t>
            </a:r>
            <a:r>
              <a:rPr lang="en-US" sz="2800" dirty="0"/>
              <a:t> went.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Round </a:t>
            </a:r>
            <a:r>
              <a:rPr lang="en-US" sz="2800" b="1" dirty="0"/>
              <a:t>it</a:t>
            </a:r>
            <a:r>
              <a:rPr lang="en-US" sz="2800" dirty="0"/>
              <a:t> flew. | Out </a:t>
            </a:r>
            <a:r>
              <a:rPr lang="en-US" sz="2800" b="1" dirty="0"/>
              <a:t>he</a:t>
            </a:r>
            <a:r>
              <a:rPr lang="en-US" sz="2800" dirty="0"/>
              <a:t> came.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NOT: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❌ Away went they. | ❌ Off went I.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064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016E6-CDD5-0EB9-19A5-D3276AE4D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126156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Preposition + Verb + Subject Inversion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71C46-F603-58AB-9E1F-83097BBA2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126156"/>
            <a:ext cx="12532092" cy="573184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i="1" dirty="0">
                <a:highlight>
                  <a:srgbClr val="FFFF00"/>
                </a:highlight>
              </a:rPr>
              <a:t>After a prepositional phrase, especially in descriptive writing, the subject may follow the verb.</a:t>
            </a:r>
          </a:p>
          <a:p>
            <a:pPr>
              <a:lnSpc>
                <a:spcPct val="150000"/>
              </a:lnSpc>
            </a:pPr>
            <a:r>
              <a:rPr lang="en-US" sz="2800" b="1" dirty="0"/>
              <a:t>Structure: </a:t>
            </a:r>
            <a:r>
              <a:rPr lang="en-US" sz="2800" b="1" dirty="0">
                <a:solidFill>
                  <a:srgbClr val="00B0F0"/>
                </a:solidFill>
              </a:rPr>
              <a:t>Prepositional Phrase + Verb + Subject</a:t>
            </a:r>
            <a:endParaRPr lang="en-US" sz="2800" dirty="0">
              <a:solidFill>
                <a:srgbClr val="00B0F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/>
              <a:t>In the doorway stood a man with a gun. = A man stood with a gun in the doorway.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On a perch sat a blue parrot. = A blue parrot sat on a perch.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Over the wall came a shower of stones.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At the end of the road stood an old house.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In the garden sat three children.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317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61678-347F-CDD6-7E68-F76A8D7DD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143" y="0"/>
            <a:ext cx="11069053" cy="1609344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</a:rPr>
              <a:t>Comparison of Normal and Inverted Forms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9B94D69-0F90-B1E8-56EE-90526B0A5C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1474987"/>
              </p:ext>
            </p:extLst>
          </p:nvPr>
        </p:nvGraphicFramePr>
        <p:xfrm>
          <a:off x="1169469" y="1413831"/>
          <a:ext cx="10058400" cy="4874898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1452327054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918173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 b="1" dirty="0"/>
                        <a:t>Normal Order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 b="1" dirty="0"/>
                        <a:t>Inverted Order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43671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 dirty="0"/>
                        <a:t>Tom is here.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 dirty="0"/>
                        <a:t>Here is Tom.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73793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 dirty="0"/>
                        <a:t>He is here.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 dirty="0"/>
                        <a:t>Here he is.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955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/>
                        <a:t>The teacher came in.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/>
                        <a:t>In came the teacher.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38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/>
                        <a:t>A man stood in the doorway.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/>
                        <a:t>In the doorway stood a man.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644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/>
                        <a:t>The children went off.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800" dirty="0"/>
                        <a:t>Off went the children.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90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2114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D0BF8-B1B2-4689-1748-85DE0F7A9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065530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rgbClr val="FF0000"/>
                </a:solidFill>
              </a:rPr>
              <a:t>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1C6958A-F5B0-3103-302E-1CAA24F8A3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3898530"/>
              </p:ext>
            </p:extLst>
          </p:nvPr>
        </p:nvGraphicFramePr>
        <p:xfrm>
          <a:off x="0" y="1065530"/>
          <a:ext cx="12192000" cy="5792472"/>
        </p:xfrm>
        <a:graphic>
          <a:graphicData uri="http://schemas.openxmlformats.org/drawingml/2006/table">
            <a:tbl>
              <a:tblPr/>
              <a:tblGrid>
                <a:gridCol w="6096000">
                  <a:extLst>
                    <a:ext uri="{9D8B030D-6E8A-4147-A177-3AD203B41FA5}">
                      <a16:colId xmlns:a16="http://schemas.microsoft.com/office/drawing/2014/main" val="418575444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1672652359"/>
                    </a:ext>
                  </a:extLst>
                </a:gridCol>
              </a:tblGrid>
              <a:tr h="643608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800" b="1"/>
                        <a:t>Topic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026237"/>
                  </a:ext>
                </a:extLst>
              </a:tr>
              <a:tr h="643608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800"/>
                        <a:t>Place adverb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She went away.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2997747"/>
                  </a:ext>
                </a:extLst>
              </a:tr>
              <a:tr h="643608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800"/>
                        <a:t>Place before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I saw him there yesterday.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505251"/>
                  </a:ext>
                </a:extLst>
              </a:tr>
              <a:tr h="643608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800"/>
                        <a:t>Nowhere (short answer)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Nowhere.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595162"/>
                  </a:ext>
                </a:extLst>
              </a:tr>
              <a:tr h="643608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800"/>
                        <a:t>Nowhere + inversion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Nowhere have I seen such beauty.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4833636"/>
                  </a:ext>
                </a:extLst>
              </a:tr>
              <a:tr h="643608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800"/>
                        <a:t>Here/There inversion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Here comes Tom.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811130"/>
                  </a:ext>
                </a:extLst>
              </a:tr>
              <a:tr h="643608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800"/>
                        <a:t>Pronoun no inversion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Here he comes.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559842"/>
                  </a:ext>
                </a:extLst>
              </a:tr>
              <a:tr h="643608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800" dirty="0"/>
                        <a:t>Movement adverbs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Away went the runners.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715686"/>
                  </a:ext>
                </a:extLst>
              </a:tr>
              <a:tr h="643608">
                <a:tc>
                  <a:txBody>
                    <a:bodyPr/>
                    <a:lstStyle/>
                    <a:p>
                      <a:pPr lvl="1">
                        <a:buNone/>
                      </a:pPr>
                      <a:r>
                        <a:rPr lang="en-US" sz="2800" dirty="0"/>
                        <a:t>Preposition + inversion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In the doorway stood a man.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4123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04914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Wood Type">
      <a:majorFont>
        <a:latin typeface="Arial Black" panose="020B0A040201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 panose="020B06040202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BE1B6DD8-9976-4550-A6F4-B2DD4EA939D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59</TotalTime>
  <Words>788</Words>
  <Application>Microsoft Office PowerPoint</Application>
  <PresentationFormat>Widescreen</PresentationFormat>
  <Paragraphs>126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Arial Black</vt:lpstr>
      <vt:lpstr>Wingdings</vt:lpstr>
      <vt:lpstr>Wood Type</vt:lpstr>
      <vt:lpstr>Adverbs of Place</vt:lpstr>
      <vt:lpstr>Common Adverbs of Place</vt:lpstr>
      <vt:lpstr>Position of Adverbs of Place</vt:lpstr>
      <vt:lpstr>Preposition + Noun as Adverbs of Place</vt:lpstr>
      <vt:lpstr>NOWHERE</vt:lpstr>
      <vt:lpstr>Expression: Get Nowhere</vt:lpstr>
      <vt:lpstr>Here / There with Inversion</vt:lpstr>
      <vt:lpstr>Pronouns Do NOT Invert</vt:lpstr>
      <vt:lpstr>Inversion with Movement Adverbs</vt:lpstr>
      <vt:lpstr>Pronouns Again Do Not Invert</vt:lpstr>
      <vt:lpstr>Preposition + Verb + Subject Inversion</vt:lpstr>
      <vt:lpstr>Comparison of Normal and Inverted Forms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Tura Huja</dc:creator>
  <cp:lastModifiedBy>Tura Huja</cp:lastModifiedBy>
  <cp:revision>9</cp:revision>
  <dcterms:created xsi:type="dcterms:W3CDTF">2026-06-09T05:52:24Z</dcterms:created>
  <dcterms:modified xsi:type="dcterms:W3CDTF">2026-06-09T06:51:48Z</dcterms:modified>
</cp:coreProperties>
</file>