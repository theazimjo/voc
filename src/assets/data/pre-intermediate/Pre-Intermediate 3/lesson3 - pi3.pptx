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3" r:id="rId22"/>
    <p:sldId id="277" r:id="rId23"/>
    <p:sldId id="276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2B3C-BC0C-42B1-8991-C2F25006F06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93882AD1-A35E-46BE-9340-FB17275B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0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2B3C-BC0C-42B1-8991-C2F25006F06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82AD1-A35E-46BE-9340-FB17275B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8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5C42B3C-BC0C-42B1-8991-C2F25006F06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3882AD1-A35E-46BE-9340-FB17275B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2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2B3C-BC0C-42B1-8991-C2F25006F06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82AD1-A35E-46BE-9340-FB17275B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7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2B3C-BC0C-42B1-8991-C2F25006F06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82AD1-A35E-46BE-9340-FB17275B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5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2B3C-BC0C-42B1-8991-C2F25006F06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82AD1-A35E-46BE-9340-FB17275B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1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2B3C-BC0C-42B1-8991-C2F25006F06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82AD1-A35E-46BE-9340-FB17275B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91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2B3C-BC0C-42B1-8991-C2F25006F06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82AD1-A35E-46BE-9340-FB17275B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71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2B3C-BC0C-42B1-8991-C2F25006F063}" type="datetimeFigureOut">
              <a:rPr lang="en-US" smtClean="0"/>
              <a:t>6/11/2026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82AD1-A35E-46BE-9340-FB17275B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4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2B3C-BC0C-42B1-8991-C2F25006F06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82AD1-A35E-46BE-9340-FB17275B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75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2B3C-BC0C-42B1-8991-C2F25006F06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82AD1-A35E-46BE-9340-FB17275B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99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5C42B3C-BC0C-42B1-8991-C2F25006F06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93882AD1-A35E-46BE-9340-FB17275B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2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C6063-03E2-C1CF-1F60-5542A6DDCB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SECOND CONDITIONAL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74969-CFE0-8DE6-2272-7F33FFCF7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5035" y="2403004"/>
            <a:ext cx="1447210" cy="47784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TYPE 2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15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300"/>
                            </p:stCondLst>
                            <p:childTnLst>
                              <p:par>
                                <p:cTn id="12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1082-1E19-B0D1-7A10-08AE20A59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90456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Type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B691E-FBEA-EC37-3425-8BFDF3126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904568"/>
            <a:ext cx="11641394" cy="595343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The </a:t>
            </a:r>
            <a:r>
              <a:rPr lang="en-US" sz="2800" b="1" dirty="0"/>
              <a:t>Second Conditional</a:t>
            </a:r>
            <a:r>
              <a:rPr lang="en-US" sz="2800" dirty="0"/>
              <a:t> is used to talk about:</a:t>
            </a:r>
          </a:p>
          <a:p>
            <a:pPr lvl="1">
              <a:lnSpc>
                <a:spcPct val="150000"/>
              </a:lnSpc>
            </a:pPr>
            <a:r>
              <a:rPr lang="en-US" sz="2800" i="1" dirty="0">
                <a:solidFill>
                  <a:srgbClr val="0070C0"/>
                </a:solidFill>
              </a:rPr>
              <a:t>unreal situations in the present</a:t>
            </a:r>
          </a:p>
          <a:p>
            <a:pPr lvl="1">
              <a:lnSpc>
                <a:spcPct val="150000"/>
              </a:lnSpc>
            </a:pPr>
            <a:r>
              <a:rPr lang="en-US" sz="2800" i="1" dirty="0">
                <a:solidFill>
                  <a:srgbClr val="0070C0"/>
                </a:solidFill>
              </a:rPr>
              <a:t>imaginary situations in the future</a:t>
            </a:r>
          </a:p>
          <a:p>
            <a:pPr lvl="1">
              <a:lnSpc>
                <a:spcPct val="150000"/>
              </a:lnSpc>
            </a:pPr>
            <a:r>
              <a:rPr lang="en-US" sz="2800" i="1" dirty="0">
                <a:solidFill>
                  <a:srgbClr val="0070C0"/>
                </a:solidFill>
              </a:rPr>
              <a:t>unlikely possibilities</a:t>
            </a:r>
          </a:p>
          <a:p>
            <a:pPr lvl="1">
              <a:lnSpc>
                <a:spcPct val="150000"/>
              </a:lnSpc>
            </a:pPr>
            <a:r>
              <a:rPr lang="en-US" sz="2800" i="1" dirty="0">
                <a:solidFill>
                  <a:srgbClr val="0070C0"/>
                </a:solidFill>
              </a:rPr>
              <a:t>giving advice (especially with If I were you...)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situation is </a:t>
            </a:r>
            <a:r>
              <a:rPr lang="en-US" sz="2800" b="1" dirty="0"/>
              <a:t>not true now</a:t>
            </a:r>
            <a:r>
              <a:rPr lang="en-US" sz="2800" dirty="0"/>
              <a:t> or </a:t>
            </a:r>
            <a:r>
              <a:rPr lang="en-US" sz="2800" b="1" dirty="0"/>
              <a:t>not likely to happen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216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03B4D-FA52-E2EC-9B74-70E76AE7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B2BDF-B110-BB49-803C-B34502D3B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90456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BASIC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481A6-6FB7-86BD-5BDC-1638CAE96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904568"/>
            <a:ext cx="11877368" cy="595343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If + Past Simple, S + would + V1 = S + would + V1 + if + Past Simple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800" dirty="0"/>
              <a:t>If I had a million dollars, I would buy a mansion.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If she knew the answer, she would tell us.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If we lived near the sea, we would go swimming every day.</a:t>
            </a:r>
          </a:p>
          <a:p>
            <a:pPr>
              <a:lnSpc>
                <a:spcPct val="20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31568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2E52-18B8-911D-E47B-D7F4197B8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IMPORTANT IDEA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85DB1-45AF-16CB-B817-8F565FE7D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The </a:t>
            </a:r>
            <a:r>
              <a:rPr lang="en-US" sz="2800" b="1" dirty="0"/>
              <a:t>past tense does NOT mean past time here.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It shows </a:t>
            </a:r>
            <a:r>
              <a:rPr lang="en-US" sz="2800" b="1" dirty="0"/>
              <a:t>unreality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 had a car, I would drive to work.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Meaning: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I don't have a car now.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✅ This is an imaginary present situation.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975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28D05-0F7A-1F6F-AE87-E052CA4E4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4075D-EC2D-6C5C-CB2E-4E7DE30F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PRESENT UNREAL SITUATIONS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F8938-EFD8-7787-F810-E4910B2EC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If I had a map, I would lend it to you.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Reality: I don't have a map.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If I lived near my office, I would be on time every day.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Reality: I don't live near my office.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If I knew French, I would apply for that job.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Reality: I don't know French.</a:t>
            </a:r>
          </a:p>
        </p:txBody>
      </p:sp>
    </p:spTree>
    <p:extLst>
      <p:ext uri="{BB962C8B-B14F-4D97-AF65-F5344CB8AC3E}">
        <p14:creationId xmlns:p14="http://schemas.microsoft.com/office/powerpoint/2010/main" val="219247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6DDC-AB2B-38D8-BA9C-2EBD7308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A45F-ECF8-39E5-A1E6-AA182D719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FUTURE UNLIKELY SITUATIONS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B61AA-DF7A-D7C3-0B39-591B88B60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If someone tried to blackmail me, I would tell the police.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Reality: I don't expect anyone to blackmail me.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If a burglar came into my room, I would scream.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Reality: I don't expect a burglar to come.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If I dyed my hair blue, everyone would laugh.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Reality: I don't intend to dye my hair blue.</a:t>
            </a:r>
          </a:p>
        </p:txBody>
      </p:sp>
    </p:spTree>
    <p:extLst>
      <p:ext uri="{BB962C8B-B14F-4D97-AF65-F5344CB8AC3E}">
        <p14:creationId xmlns:p14="http://schemas.microsoft.com/office/powerpoint/2010/main" val="3371782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CA122-FD28-3A76-D29A-D008DA72D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86C83-DA02-9DE0-71ED-CB43AAF3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IF I WERE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C4A13-755E-B18C-6E71-734DDF984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If I were you, I would + verb - </a:t>
            </a:r>
            <a:r>
              <a:rPr lang="en-US" sz="2800" dirty="0"/>
              <a:t>Used for advice.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I were you, I would study harder.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I were you, I would accept the offer.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I were you, I would wait a little longer.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I were you, I would buy that car. </a:t>
            </a:r>
          </a:p>
        </p:txBody>
      </p:sp>
    </p:spTree>
    <p:extLst>
      <p:ext uri="{BB962C8B-B14F-4D97-AF65-F5344CB8AC3E}">
        <p14:creationId xmlns:p14="http://schemas.microsoft.com/office/powerpoint/2010/main" val="3776966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7054-120C-C208-9A49-8D6270F6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1C5ED-8EC7-6E9F-604E-C9DD21D31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WERE vs WAS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33880-E47E-46D3-FFD1-4B56BC8B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In formal English, </a:t>
            </a:r>
            <a:r>
              <a:rPr lang="en-US" sz="2800" b="1" dirty="0"/>
              <a:t>were</a:t>
            </a:r>
            <a:r>
              <a:rPr lang="en-US" sz="2800" dirty="0"/>
              <a:t> is preferred for all subjects.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 </a:t>
            </a:r>
            <a:r>
              <a:rPr lang="en-US" sz="2800" b="1" dirty="0"/>
              <a:t>were</a:t>
            </a:r>
            <a:r>
              <a:rPr lang="en-US" sz="2800" dirty="0"/>
              <a:t> rich, I would travel the world.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she </a:t>
            </a:r>
            <a:r>
              <a:rPr lang="en-US" sz="2800" b="1" dirty="0"/>
              <a:t>were</a:t>
            </a:r>
            <a:r>
              <a:rPr lang="en-US" sz="2800" dirty="0"/>
              <a:t> here, she would help us.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he </a:t>
            </a:r>
            <a:r>
              <a:rPr lang="en-US" sz="2800" b="1" dirty="0"/>
              <a:t>were</a:t>
            </a:r>
            <a:r>
              <a:rPr lang="en-US" sz="2800" dirty="0"/>
              <a:t> my teacher, I would learn a lot.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Although </a:t>
            </a:r>
            <a:r>
              <a:rPr lang="en-US" sz="2800" b="1" dirty="0"/>
              <a:t>was</a:t>
            </a:r>
            <a:r>
              <a:rPr lang="en-US" sz="2800" dirty="0"/>
              <a:t> is possible in informal speech: - </a:t>
            </a:r>
            <a:r>
              <a:rPr lang="en-US" sz="2800" b="1" dirty="0"/>
              <a:t>If I was rich...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IELTS and academic English prefer: - </a:t>
            </a:r>
            <a:r>
              <a:rPr lang="en-US" sz="2800" b="1" dirty="0"/>
              <a:t>If I were rich... </a:t>
            </a:r>
          </a:p>
        </p:txBody>
      </p:sp>
    </p:spTree>
    <p:extLst>
      <p:ext uri="{BB962C8B-B14F-4D97-AF65-F5344CB8AC3E}">
        <p14:creationId xmlns:p14="http://schemas.microsoft.com/office/powerpoint/2010/main" val="2010047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3AB25-69F6-49A9-19EA-1BCFB183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4B9C-E727-A001-CE2C-1FE1A65C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SPECIAL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6A2F8-81DD-D8D8-984E-802A77608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Used for very unlikely or hypothetical situations.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Subject + were to + Verb, would + Verb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he </a:t>
            </a:r>
            <a:r>
              <a:rPr lang="en-US" sz="2800" b="1" dirty="0"/>
              <a:t>were to resign</a:t>
            </a:r>
            <a:r>
              <a:rPr lang="en-US" sz="2800" dirty="0"/>
              <a:t>, the company would suffer.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Peter </a:t>
            </a:r>
            <a:r>
              <a:rPr lang="en-US" sz="2800" b="1" dirty="0"/>
              <a:t>were to apply</a:t>
            </a:r>
            <a:r>
              <a:rPr lang="en-US" sz="2800" dirty="0"/>
              <a:t>, he would get the job.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Bahodir </a:t>
            </a:r>
            <a:r>
              <a:rPr lang="en-US" sz="2800" b="1" dirty="0"/>
              <a:t>were to lose </a:t>
            </a:r>
            <a:r>
              <a:rPr lang="en-US" sz="2800" dirty="0"/>
              <a:t>his job, it would be a disaster.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Comparison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he </a:t>
            </a:r>
            <a:r>
              <a:rPr lang="en-US" sz="2800" b="1" dirty="0"/>
              <a:t>resigned</a:t>
            </a:r>
            <a:r>
              <a:rPr lang="en-US" sz="2800" dirty="0"/>
              <a:t>, we would be surprised.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he </a:t>
            </a:r>
            <a:r>
              <a:rPr lang="en-US" sz="2800" b="1" dirty="0"/>
              <a:t>were to resign</a:t>
            </a:r>
            <a:r>
              <a:rPr lang="en-US" sz="2800" dirty="0"/>
              <a:t>, we would be surprised. </a:t>
            </a:r>
          </a:p>
          <a:p>
            <a:pPr>
              <a:lnSpc>
                <a:spcPct val="150000"/>
              </a:lnSpc>
            </a:pPr>
            <a:r>
              <a:rPr lang="en-US" sz="3000" i="1" dirty="0">
                <a:highlight>
                  <a:srgbClr val="FFFF00"/>
                </a:highlight>
              </a:rPr>
              <a:t>The second sentence sounds more formal and less likely.</a:t>
            </a:r>
          </a:p>
        </p:txBody>
      </p:sp>
    </p:spTree>
    <p:extLst>
      <p:ext uri="{BB962C8B-B14F-4D97-AF65-F5344CB8AC3E}">
        <p14:creationId xmlns:p14="http://schemas.microsoft.com/office/powerpoint/2010/main" val="365725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000F-B858-E0E7-1FF2-A42F366DA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48F0-77C7-8C1A-2B62-13859CAB0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MODAL VERBS IN THE MAIN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16DE9-8367-C3A2-C16D-485988227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Instead of </a:t>
            </a:r>
            <a:r>
              <a:rPr lang="en-US" sz="2800" b="1" dirty="0"/>
              <a:t>would</a:t>
            </a:r>
            <a:r>
              <a:rPr lang="en-US" sz="2800" dirty="0"/>
              <a:t>, we can use: </a:t>
            </a:r>
            <a:r>
              <a:rPr lang="en-US" sz="2800" b="1" dirty="0"/>
              <a:t>might</a:t>
            </a:r>
            <a:r>
              <a:rPr lang="en-US" sz="2800" dirty="0"/>
              <a:t> and </a:t>
            </a:r>
            <a:r>
              <a:rPr lang="en-US" sz="2800" b="1" dirty="0"/>
              <a:t>could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WOULD - </a:t>
            </a:r>
            <a:r>
              <a:rPr lang="en-US" sz="2800" dirty="0"/>
              <a:t>(certain result)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If you tried again, you would succeed.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MIGHT - </a:t>
            </a:r>
            <a:r>
              <a:rPr lang="en-US" sz="2800" dirty="0"/>
              <a:t>(possible result)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If you tried again, you might succeed.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COULD - </a:t>
            </a:r>
            <a:r>
              <a:rPr lang="en-US" sz="2800" dirty="0"/>
              <a:t>(ability/possibility)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If I knew her number, I could call her.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If he had a permit, he could get a job. </a:t>
            </a:r>
          </a:p>
        </p:txBody>
      </p:sp>
    </p:spTree>
    <p:extLst>
      <p:ext uri="{BB962C8B-B14F-4D97-AF65-F5344CB8AC3E}">
        <p14:creationId xmlns:p14="http://schemas.microsoft.com/office/powerpoint/2010/main" val="3361860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E632C-FFA6-A9F0-E3D8-264523EE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770F-DB6D-FFDC-F6ED-85D70DEA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IF + PAST CONTINUOUS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2D9C6-1206-386F-993A-488F4A1AE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Used for unreal situations that are in progress.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If + Past Continuous, would/could/might + Verb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3000" dirty="0"/>
              <a:t>If we were going by boat, I would feel happier. 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If my car were working, I could drive you home. 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If Hasan were studying English, he could speak with foreigners.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Reality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We aren't going by boat. 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My car isn't working. 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Hasan isn't studying English.</a:t>
            </a:r>
          </a:p>
        </p:txBody>
      </p:sp>
    </p:spTree>
    <p:extLst>
      <p:ext uri="{BB962C8B-B14F-4D97-AF65-F5344CB8AC3E}">
        <p14:creationId xmlns:p14="http://schemas.microsoft.com/office/powerpoint/2010/main" val="4227647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79D17-1C35-04EE-3541-AE942C6A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624C5-A4C0-6C26-EFA3-C5C9ED748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would/could/might + be + Ving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16DEB-7FAB-0161-AE1C-717961478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3" y="924232"/>
            <a:ext cx="11965858" cy="59337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If + Past Simple, S + would/could/might + be + Ving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Simple Result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 had a car, I </a:t>
            </a:r>
            <a:r>
              <a:rPr lang="en-US" sz="2800" b="1" dirty="0"/>
              <a:t>would drive </a:t>
            </a:r>
            <a:r>
              <a:rPr lang="en-US" sz="2800" dirty="0"/>
              <a:t>to work.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(One simple action.)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Continuous Result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 had a car, I </a:t>
            </a:r>
            <a:r>
              <a:rPr lang="en-US" sz="2800" b="1" dirty="0"/>
              <a:t>would be driving </a:t>
            </a:r>
            <a:r>
              <a:rPr lang="en-US" sz="2800" dirty="0"/>
              <a:t>to work now.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(An action in progress right now.)</a:t>
            </a:r>
          </a:p>
        </p:txBody>
      </p:sp>
    </p:spTree>
    <p:extLst>
      <p:ext uri="{BB962C8B-B14F-4D97-AF65-F5344CB8AC3E}">
        <p14:creationId xmlns:p14="http://schemas.microsoft.com/office/powerpoint/2010/main" val="339260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C0A83-B6D6-A08F-7ADA-138BB704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F21E1-E8AF-0F3C-7348-7D2A1788A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Imaginary Present Situation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E6A2D-F96B-2C1E-2591-104A1DCD4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Ongoing Present Result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I lived in Seoul, I would be studying Korean now.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Reality</a:t>
            </a:r>
            <a:r>
              <a:rPr lang="en-US" sz="2800" dirty="0"/>
              <a:t>: I don't live in Seoul.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I had more free time, I would be reading a book now.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Reality</a:t>
            </a:r>
            <a:r>
              <a:rPr lang="en-US" sz="2800" dirty="0"/>
              <a:t>: I don't have more free time.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she worked here, she would be sitting in this office now.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Reality</a:t>
            </a:r>
            <a:r>
              <a:rPr lang="en-US" sz="2800" dirty="0"/>
              <a:t>: She doesn't work here.</a:t>
            </a:r>
          </a:p>
        </p:txBody>
      </p:sp>
    </p:spTree>
    <p:extLst>
      <p:ext uri="{BB962C8B-B14F-4D97-AF65-F5344CB8AC3E}">
        <p14:creationId xmlns:p14="http://schemas.microsoft.com/office/powerpoint/2010/main" val="509362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1B0F1-3A2D-6EFA-8965-93CE2FFDF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90306-8215-8D94-113B-DE889D2B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Imaginary Present Situation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7B4C5-E34F-2BE8-0BFD-B668C451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924232"/>
            <a:ext cx="12005187" cy="593376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Future Ongoing Result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If I had enough money, I would be travelling around Europe next summer. </a:t>
            </a:r>
          </a:p>
          <a:p>
            <a:pPr lvl="1">
              <a:lnSpc>
                <a:spcPct val="200000"/>
              </a:lnSpc>
            </a:pPr>
            <a:r>
              <a:rPr lang="en-US" sz="2600" b="1" dirty="0"/>
              <a:t>Reality</a:t>
            </a:r>
            <a:r>
              <a:rPr lang="en-US" sz="2600" dirty="0"/>
              <a:t>: I don't have enough money.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If he spoke English fluently, he would be studying abroad next year. </a:t>
            </a:r>
          </a:p>
          <a:p>
            <a:pPr lvl="1">
              <a:lnSpc>
                <a:spcPct val="200000"/>
              </a:lnSpc>
            </a:pPr>
            <a:r>
              <a:rPr lang="en-US" sz="2600" b="1" dirty="0"/>
              <a:t>Reality</a:t>
            </a:r>
            <a:r>
              <a:rPr lang="en-US" sz="2600" dirty="0"/>
              <a:t>: He doesn't speak English fluently.</a:t>
            </a:r>
          </a:p>
        </p:txBody>
      </p:sp>
    </p:spTree>
    <p:extLst>
      <p:ext uri="{BB962C8B-B14F-4D97-AF65-F5344CB8AC3E}">
        <p14:creationId xmlns:p14="http://schemas.microsoft.com/office/powerpoint/2010/main" val="1607944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CC8D-75BE-3BBB-E972-74C146538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0A849-5BC5-5D60-94A3-52494B15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Would vs Could vs Might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057F5-1344-3F23-D848-9569F6E90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Would be + Ving - </a:t>
            </a:r>
            <a:r>
              <a:rPr lang="en-US" sz="2800" dirty="0"/>
              <a:t>Expected imaginary result.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 lived near the university, I would be attending classes every day.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Could be + Ving - </a:t>
            </a:r>
            <a:r>
              <a:rPr lang="en-US" sz="2800" dirty="0"/>
              <a:t>Ability or possibility.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 had a laptop, I could be working from home now.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Might be + Ving - </a:t>
            </a:r>
            <a:r>
              <a:rPr lang="en-US" sz="2800" dirty="0"/>
              <a:t>Uncertain possibility.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she knew about the meeting, she might be preparing for it now. </a:t>
            </a:r>
          </a:p>
        </p:txBody>
      </p:sp>
    </p:spTree>
    <p:extLst>
      <p:ext uri="{BB962C8B-B14F-4D97-AF65-F5344CB8AC3E}">
        <p14:creationId xmlns:p14="http://schemas.microsoft.com/office/powerpoint/2010/main" val="2634984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3053D-06FA-38A3-4FAD-8551CD261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9475-6DB2-51DA-151E-35D862E7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Compare These Carefully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5EED-6DE5-86DE-8ADF-CE249C45B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Second Conditional (Simple)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 had a car, I would drive to work.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Focus: the action itself.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Second Conditional (Continuous)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 had a car, I would be driving to work now.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Focus: the action in progress at this moment.</a:t>
            </a:r>
          </a:p>
          <a:p>
            <a:pPr lvl="1"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67178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B0749-21EE-9736-7387-0B4742407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3DAEE-118C-7677-D254-88E5ECAC0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E3241-7863-3249-78BF-980870F1B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570271"/>
            <a:ext cx="11769213" cy="628772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Present Time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I were taller, I would be playing basketball professionally.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he had a visa, he would be studying in Korea now.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we lived near the beach, we would be swimming right now.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Future Time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I had enough money, I would be travelling the world next year.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she got the scholarship, she would be studying in Japan next semester.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they bought a bigger house, they would be living more comfortably.</a:t>
            </a:r>
          </a:p>
        </p:txBody>
      </p:sp>
    </p:spTree>
    <p:extLst>
      <p:ext uri="{BB962C8B-B14F-4D97-AF65-F5344CB8AC3E}">
        <p14:creationId xmlns:p14="http://schemas.microsoft.com/office/powerpoint/2010/main" val="90015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394C0-551D-EF39-B350-A9D5FD62F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9443-5074-B037-6EF8-3515C0616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SUMMARY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A84E171-8055-93E5-F34F-CFA22799B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0978674"/>
              </p:ext>
            </p:extLst>
          </p:nvPr>
        </p:nvGraphicFramePr>
        <p:xfrm>
          <a:off x="1066800" y="1397792"/>
          <a:ext cx="10058400" cy="4062415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97438827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4577832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b="1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09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If + Past, would +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imaginary result (simple)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23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If + Past, would be + V-</a:t>
                      </a:r>
                      <a:r>
                        <a:rPr lang="en-US" sz="2800" dirty="0" err="1"/>
                        <a:t>ing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imaginary result in progress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54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If + Past, could be + V-ing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possible ongoing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38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If + Past, might be + V-ing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uncertain ongoing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637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459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3B703-0CC7-A04B-555A-D23570A0E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D0BC-7A19-0C80-8C35-2A6E2D776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WERE INVERSION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D4D4A-E549-6D62-4BBC-BD889012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 lnSpcReduction="10000"/>
          </a:bodyPr>
          <a:lstStyle/>
          <a:p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were + subject… </a:t>
            </a:r>
            <a:r>
              <a:rPr lang="en-US" sz="2800" dirty="0">
                <a:solidFill>
                  <a:srgbClr val="00B0F0"/>
                </a:solidFill>
              </a:rPr>
              <a:t>→ </a:t>
            </a:r>
            <a:r>
              <a:rPr lang="en-US" sz="2800" b="1" dirty="0">
                <a:solidFill>
                  <a:srgbClr val="00B0F0"/>
                </a:solidFill>
              </a:rPr>
              <a:t>Were + subject + …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If I were you, I would apologize.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Were I you</a:t>
            </a:r>
            <a:r>
              <a:rPr lang="en-US" sz="2800" dirty="0"/>
              <a:t>, I would apologize.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she were here, she would help us.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Were she here</a:t>
            </a:r>
            <a:r>
              <a:rPr lang="en-US" sz="2800" dirty="0"/>
              <a:t>, she would help us.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</a:t>
            </a:r>
            <a:r>
              <a:rPr lang="en-US" sz="2800" dirty="0" err="1"/>
              <a:t>Bilolhuja</a:t>
            </a:r>
            <a:r>
              <a:rPr lang="en-US" sz="2800" dirty="0"/>
              <a:t> were my teacher, I would study harder.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Were </a:t>
            </a:r>
            <a:r>
              <a:rPr lang="en-US" sz="2800" b="1" dirty="0" err="1"/>
              <a:t>Bilolhuja</a:t>
            </a:r>
            <a:r>
              <a:rPr lang="en-US" sz="2800" b="1" dirty="0"/>
              <a:t> my teacher</a:t>
            </a:r>
            <a:r>
              <a:rPr lang="en-US" sz="2800" dirty="0"/>
              <a:t>, I would study harder.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they were ready, we could leave.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Were they ready</a:t>
            </a:r>
            <a:r>
              <a:rPr lang="en-US" sz="2800" dirty="0"/>
              <a:t>, we could leave.</a:t>
            </a:r>
          </a:p>
        </p:txBody>
      </p:sp>
    </p:spTree>
    <p:extLst>
      <p:ext uri="{BB962C8B-B14F-4D97-AF65-F5344CB8AC3E}">
        <p14:creationId xmlns:p14="http://schemas.microsoft.com/office/powerpoint/2010/main" val="1238971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4052-F23B-F6F6-AB55-C7DD88C8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58DA-A37E-B19E-39B5-B5A501A66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WERE TO INVERSION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7F4F3-7503-1522-2AF2-EE9D0F705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S + were + to V1… </a:t>
            </a:r>
            <a:r>
              <a:rPr lang="en-US" sz="2800" dirty="0">
                <a:solidFill>
                  <a:srgbClr val="00B0F0"/>
                </a:solidFill>
              </a:rPr>
              <a:t>→ </a:t>
            </a:r>
            <a:r>
              <a:rPr lang="en-US" sz="2800" b="1" dirty="0">
                <a:solidFill>
                  <a:srgbClr val="00B0F0"/>
                </a:solidFill>
              </a:rPr>
              <a:t>Were + S + to + V1…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If Quddus were to apply, he would get the job.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Were Quddus to apply, </a:t>
            </a:r>
            <a:r>
              <a:rPr lang="en-US" sz="2800" dirty="0"/>
              <a:t>he would get the job.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Bahodir were to lose his job, it would be a disaster.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Were Bahodir to lose </a:t>
            </a:r>
            <a:r>
              <a:rPr lang="en-US" sz="2800" dirty="0"/>
              <a:t>his job, it would be a disaster.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the company were to close, many people would lose their jobs.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Were the company to close, </a:t>
            </a:r>
            <a:r>
              <a:rPr lang="en-US" sz="2800" dirty="0"/>
              <a:t>many people would lose their jobs.</a:t>
            </a:r>
          </a:p>
        </p:txBody>
      </p:sp>
    </p:spTree>
    <p:extLst>
      <p:ext uri="{BB962C8B-B14F-4D97-AF65-F5344CB8AC3E}">
        <p14:creationId xmlns:p14="http://schemas.microsoft.com/office/powerpoint/2010/main" val="1636961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5183-972B-9109-1548-D6F87F8D3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FBFF1-313C-7BB2-C50F-B7C4B29DC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73394"/>
            <a:ext cx="12192000" cy="58846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If + subject + were (negative) → Were + subject + not + adjective/verb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I weren’t busy, I would help you.</a:t>
            </a:r>
            <a:br>
              <a:rPr lang="en-US" sz="2800" dirty="0"/>
            </a:br>
            <a:r>
              <a:rPr lang="en-US" sz="2800" dirty="0"/>
              <a:t>→ Were I not busy, I would help you.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he weren’t so tired, he would come with us.</a:t>
            </a:r>
            <a:br>
              <a:rPr lang="en-US" sz="2800" dirty="0"/>
            </a:br>
            <a:r>
              <a:rPr lang="en-US" sz="2800" dirty="0"/>
              <a:t>→ Were he not so tired, he would come with us.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they weren’t at home, we would visit them.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 teacher weren’t here now, we would be sleeping. →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AF60FC-9A12-A6F1-7462-EEFC027C069F}"/>
              </a:ext>
            </a:extLst>
          </p:cNvPr>
          <p:cNvSpPr txBox="1">
            <a:spLocks/>
          </p:cNvSpPr>
          <p:nvPr/>
        </p:nvSpPr>
        <p:spPr>
          <a:xfrm>
            <a:off x="985684" y="0"/>
            <a:ext cx="10220632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WERE TO INVERSION NEGATIVE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304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0734F-F921-7BA2-DE42-9EF2CD47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939E9-C38F-654A-7E4C-D0CEAF85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Special Fixed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9088C-54E9-1BA9-1689-3B4A1645F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If it were not for... </a:t>
            </a:r>
            <a:r>
              <a:rPr lang="en-US" sz="2800" i="1" dirty="0">
                <a:highlight>
                  <a:srgbClr val="FFFF00"/>
                </a:highlight>
              </a:rPr>
              <a:t>Means </a:t>
            </a:r>
            <a:r>
              <a:rPr lang="en-US" sz="2800" b="1" i="1" dirty="0">
                <a:highlight>
                  <a:srgbClr val="FFFF00"/>
                </a:highlight>
              </a:rPr>
              <a:t>Without... – </a:t>
            </a:r>
            <a:r>
              <a:rPr lang="en-US" sz="2800" i="1" dirty="0" err="1">
                <a:highlight>
                  <a:srgbClr val="FFFF00"/>
                </a:highlight>
              </a:rPr>
              <a:t>bo’lmasaydi</a:t>
            </a:r>
            <a:endParaRPr lang="en-US" sz="2800" i="1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r>
              <a:rPr lang="en-US" sz="2800" b="1" dirty="0"/>
              <a:t>Normal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If it were not for your help, I would fail.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Inverted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Were it not for your help, I would fail.</a:t>
            </a:r>
            <a:r>
              <a:rPr lang="en-US" sz="2800" dirty="0"/>
              <a:t> 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Were it not for the rain, we would go out. 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Were it not for her support, I would quit. 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Were it not for technology, communication would be much slower.</a:t>
            </a:r>
          </a:p>
        </p:txBody>
      </p:sp>
    </p:spTree>
    <p:extLst>
      <p:ext uri="{BB962C8B-B14F-4D97-AF65-F5344CB8AC3E}">
        <p14:creationId xmlns:p14="http://schemas.microsoft.com/office/powerpoint/2010/main" val="3988403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51DF2-8C81-58E1-ACCC-9D5376DA9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0151-FA04-471E-3E15-04A75DC3F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PAST SIMPLE ❌ CANNOT BE INVERTED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1E72C-865C-55EB-D5D1-4FC16065E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924232"/>
            <a:ext cx="11769213" cy="59337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Normal - </a:t>
            </a:r>
            <a:r>
              <a:rPr lang="en-US" sz="2800" dirty="0"/>
              <a:t>If I had more money, I would buy a house.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Not:  Had I more money…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Not:  Did I have more money…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Correct Way - </a:t>
            </a:r>
            <a:r>
              <a:rPr lang="en-US" sz="2800" b="1" dirty="0">
                <a:solidFill>
                  <a:srgbClr val="00B0F0"/>
                </a:solidFill>
              </a:rPr>
              <a:t>If + S + V2/ed… </a:t>
            </a:r>
            <a:r>
              <a:rPr lang="en-US" sz="2800" dirty="0">
                <a:solidFill>
                  <a:srgbClr val="00B0F0"/>
                </a:solidFill>
              </a:rPr>
              <a:t>→ </a:t>
            </a:r>
            <a:r>
              <a:rPr lang="en-US" sz="2800" b="1" dirty="0">
                <a:solidFill>
                  <a:srgbClr val="00B0F0"/>
                </a:solidFill>
              </a:rPr>
              <a:t>Were + S + to + V1…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If I had more money, I would buy a house. →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Were I to have </a:t>
            </a:r>
            <a:r>
              <a:rPr lang="en-US" sz="2800" dirty="0"/>
              <a:t>more money, I would buy a house. (very formal)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Aziza studied in this group, I could see her everyday. </a:t>
            </a:r>
            <a:r>
              <a:rPr lang="en-US" sz="2800" b="1" dirty="0"/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041593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2A754-77E5-CB95-E9D0-B721EB475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48BC5-C037-C68A-EC19-DB320E685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930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IMPORTANT IDEA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D181583-E8BA-54EB-9461-9BF153F28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216256"/>
              </p:ext>
            </p:extLst>
          </p:nvPr>
        </p:nvGraphicFramePr>
        <p:xfrm>
          <a:off x="0" y="1108595"/>
          <a:ext cx="12192000" cy="4862515"/>
        </p:xfrm>
        <a:graphic>
          <a:graphicData uri="http://schemas.openxmlformats.org/drawingml/2006/table">
            <a:tbl>
              <a:tblPr/>
              <a:tblGrid>
                <a:gridCol w="6096000">
                  <a:extLst>
                    <a:ext uri="{9D8B030D-6E8A-4147-A177-3AD203B41FA5}">
                      <a16:colId xmlns:a16="http://schemas.microsoft.com/office/drawing/2014/main" val="10897707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4070008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buNone/>
                      </a:pPr>
                      <a:r>
                        <a:rPr lang="en-US" sz="2800" b="1"/>
                        <a:t>Normal 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buNone/>
                      </a:pPr>
                      <a:r>
                        <a:rPr lang="en-US" sz="2800" b="1" dirty="0"/>
                        <a:t>Inversion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36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buNone/>
                      </a:pPr>
                      <a:r>
                        <a:rPr lang="en-US" sz="2800" dirty="0"/>
                        <a:t>If I were rich, I would travel.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buNone/>
                      </a:pPr>
                      <a:r>
                        <a:rPr lang="en-US" sz="2800"/>
                        <a:t>Were I rich, I would travel.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824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buNone/>
                      </a:pPr>
                      <a:r>
                        <a:rPr lang="en-US" sz="2800" dirty="0"/>
                        <a:t>If she were here, she would help.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buNone/>
                      </a:pPr>
                      <a:r>
                        <a:rPr lang="en-US" sz="2800" dirty="0"/>
                        <a:t>Were she here, she would help.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900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buNone/>
                      </a:pPr>
                      <a:r>
                        <a:rPr lang="en-US" sz="2800"/>
                        <a:t>If he were to resign, we'd suffer.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buNone/>
                      </a:pPr>
                      <a:r>
                        <a:rPr lang="en-US" sz="2800"/>
                        <a:t>Were he to resign, we'd suffer.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817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buNone/>
                      </a:pPr>
                      <a:r>
                        <a:rPr lang="en-US" sz="2800"/>
                        <a:t>If it were not for you, I'd fail.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buNone/>
                      </a:pPr>
                      <a:r>
                        <a:rPr lang="en-US" sz="2800" dirty="0"/>
                        <a:t>Were it not for you, I'd fail.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96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3959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100</TotalTime>
  <Words>1688</Words>
  <Application>Microsoft Office PowerPoint</Application>
  <PresentationFormat>Widescreen</PresentationFormat>
  <Paragraphs>178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Arial Black</vt:lpstr>
      <vt:lpstr>Wingdings</vt:lpstr>
      <vt:lpstr>Wood Type</vt:lpstr>
      <vt:lpstr>SECOND CONDITIONAL</vt:lpstr>
      <vt:lpstr>Type 2</vt:lpstr>
      <vt:lpstr>BASIC FORM</vt:lpstr>
      <vt:lpstr>IMPORTANT IDEA</vt:lpstr>
      <vt:lpstr>PRESENT UNREAL SITUATIONS</vt:lpstr>
      <vt:lpstr>FUTURE UNLIKELY SITUATIONS</vt:lpstr>
      <vt:lpstr>IF I WERE YOU</vt:lpstr>
      <vt:lpstr>WERE vs WAS</vt:lpstr>
      <vt:lpstr>SPECIAL FORM</vt:lpstr>
      <vt:lpstr>MODAL VERBS IN THE MAIN CLAUSE</vt:lpstr>
      <vt:lpstr>IF + PAST CONTINUOUS</vt:lpstr>
      <vt:lpstr>would/could/might + be + Ving</vt:lpstr>
      <vt:lpstr>Imaginary Present Situation</vt:lpstr>
      <vt:lpstr>Imaginary Present Situation</vt:lpstr>
      <vt:lpstr>Would vs Could vs Might</vt:lpstr>
      <vt:lpstr>Compare These Carefully</vt:lpstr>
      <vt:lpstr>More Examples</vt:lpstr>
      <vt:lpstr>SUMMARY</vt:lpstr>
      <vt:lpstr>WERE INVERSION</vt:lpstr>
      <vt:lpstr>WERE TO INVERSION</vt:lpstr>
      <vt:lpstr>PowerPoint Presentation</vt:lpstr>
      <vt:lpstr>Special Fixed Expression</vt:lpstr>
      <vt:lpstr>PAST SIMPLE ❌ CANNOT BE INVERTED</vt:lpstr>
      <vt:lpstr>IMPORTANT IDEA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16</cp:revision>
  <dcterms:created xsi:type="dcterms:W3CDTF">2026-06-11T04:04:58Z</dcterms:created>
  <dcterms:modified xsi:type="dcterms:W3CDTF">2026-06-11T05:45:53Z</dcterms:modified>
</cp:coreProperties>
</file>