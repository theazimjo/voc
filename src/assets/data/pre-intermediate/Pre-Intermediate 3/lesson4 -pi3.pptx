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0" r:id="rId12"/>
    <p:sldId id="284" r:id="rId13"/>
    <p:sldId id="28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59A31-54BB-45F3-844B-739D3E7C33F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B85288BD-B936-48B8-890C-D059B8B4D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67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59A31-54BB-45F3-844B-739D3E7C33F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88BD-B936-48B8-890C-D059B8B4D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00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9D59A31-54BB-45F3-844B-739D3E7C33F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B85288BD-B936-48B8-890C-D059B8B4D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11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59A31-54BB-45F3-844B-739D3E7C33F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88BD-B936-48B8-890C-D059B8B4D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9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59A31-54BB-45F3-844B-739D3E7C33F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88BD-B936-48B8-890C-D059B8B4D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883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59A31-54BB-45F3-844B-739D3E7C33F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88BD-B936-48B8-890C-D059B8B4D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90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59A31-54BB-45F3-844B-739D3E7C33F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88BD-B936-48B8-890C-D059B8B4D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97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59A31-54BB-45F3-844B-739D3E7C33F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88BD-B936-48B8-890C-D059B8B4D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104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59A31-54BB-45F3-844B-739D3E7C33F3}" type="datetimeFigureOut">
              <a:rPr lang="en-US" smtClean="0"/>
              <a:t>6/11/2026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88BD-B936-48B8-890C-D059B8B4D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33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59A31-54BB-45F3-844B-739D3E7C33F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88BD-B936-48B8-890C-D059B8B4D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180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59A31-54BB-45F3-844B-739D3E7C33F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288BD-B936-48B8-890C-D059B8B4D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17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9D59A31-54BB-45F3-844B-739D3E7C33F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B85288BD-B936-48B8-890C-D059B8B4D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50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FE256C-E041-6E10-3B88-2E8BBDE20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7484"/>
            <a:ext cx="12192000" cy="788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88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C489C-FC0B-0BED-87E2-D9B6FEAF4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87" y="0"/>
            <a:ext cx="11474245" cy="112087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THIRD CONDITIONAL (TYPE 3)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6603D-0737-63F7-416C-353089F0C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1120877"/>
            <a:ext cx="11897032" cy="573712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The </a:t>
            </a:r>
            <a:r>
              <a:rPr lang="en-US" sz="2800" b="1" dirty="0"/>
              <a:t>Third Conditional</a:t>
            </a:r>
            <a:r>
              <a:rPr lang="en-US" sz="2800" dirty="0"/>
              <a:t> is used to talk about:</a:t>
            </a:r>
          </a:p>
          <a:p>
            <a:pPr lvl="2"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</a:rPr>
              <a:t>Unreal past situations</a:t>
            </a:r>
          </a:p>
          <a:p>
            <a:pPr lvl="2"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</a:rPr>
              <a:t>Things that did not happen in the past</a:t>
            </a:r>
          </a:p>
          <a:p>
            <a:pPr lvl="2"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</a:rPr>
              <a:t>Regrets</a:t>
            </a:r>
          </a:p>
          <a:p>
            <a:pPr lvl="2"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</a:rPr>
              <a:t>Criticism</a:t>
            </a:r>
          </a:p>
          <a:p>
            <a:pPr lvl="2"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</a:rPr>
              <a:t>Imagined past results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In Type 3, both the condition and the result are impossible now because the past cannot be changed.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33228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830D5-CB09-BE09-C0CD-7932AFBD7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2EDA2-72C2-EFA4-A2CB-A77AF54D7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87" y="0"/>
            <a:ext cx="11474245" cy="112087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BASIC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B4B80-9F60-E8E0-C903-F50A709DA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1120877"/>
            <a:ext cx="11897032" cy="573712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If + S + had + V3, S + would have + V3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I had known you were coming, I would have met you at the airport.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Reality: ❌ I didn't know. ❌ I didn't meet you.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she had called me, I would have helped her.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Reality: ❌ She didn't call. ❌ I didn't help her.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he had studied harder, he would have passed the exam.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Reality: ❌ He didn't study harder. ❌ He didn't pass.</a:t>
            </a:r>
          </a:p>
        </p:txBody>
      </p:sp>
    </p:spTree>
    <p:extLst>
      <p:ext uri="{BB962C8B-B14F-4D97-AF65-F5344CB8AC3E}">
        <p14:creationId xmlns:p14="http://schemas.microsoft.com/office/powerpoint/2010/main" val="1552115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8197B-5CA0-ECC6-E19E-F1B71C525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51D11-7FB3-8D93-810B-3C4ABBC97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87" y="0"/>
            <a:ext cx="11474245" cy="112087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MEANING OF TYPE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CAB26-82CB-DF89-F357-41A038D81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1120877"/>
            <a:ext cx="11897032" cy="573712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Type 2:</a:t>
            </a:r>
            <a:r>
              <a:rPr lang="en-US" sz="2800" dirty="0"/>
              <a:t> If I had a car, I would drive.  </a:t>
            </a:r>
            <a:r>
              <a:rPr lang="en-US" sz="2800" i="1" dirty="0">
                <a:highlight>
                  <a:srgbClr val="FFFF00"/>
                </a:highlight>
              </a:rPr>
              <a:t>(Present/Future unreal)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Type 3:</a:t>
            </a:r>
            <a:r>
              <a:rPr lang="en-US" sz="2800" dirty="0"/>
              <a:t> If I had had a car, I would have driven. </a:t>
            </a:r>
            <a:r>
              <a:rPr lang="en-US" sz="2800" i="1" dirty="0">
                <a:highlight>
                  <a:srgbClr val="FFFF00"/>
                </a:highlight>
              </a:rPr>
              <a:t>(Past unreal)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</a:rPr>
              <a:t>Past: ❌ Condition did not happen ❌ Result did not happen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Example</a:t>
            </a:r>
            <a:r>
              <a:rPr lang="en-US" sz="2800" dirty="0"/>
              <a:t>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I had woken up earlier, I would have caught the train.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Reality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0070C0"/>
                </a:solidFill>
              </a:rPr>
              <a:t>I didn't wake up early.  I missed the train.</a:t>
            </a:r>
          </a:p>
        </p:txBody>
      </p:sp>
    </p:spTree>
    <p:extLst>
      <p:ext uri="{BB962C8B-B14F-4D97-AF65-F5344CB8AC3E}">
        <p14:creationId xmlns:p14="http://schemas.microsoft.com/office/powerpoint/2010/main" val="831370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A3B42-9224-24B3-FBDB-45DEBD41C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11ADC-5D0B-73BF-4731-7BAAB52FB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87" y="0"/>
            <a:ext cx="11474245" cy="11208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MODAL VERBS IN THE MAIN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972F5-D012-404A-E7EE-70A74EE70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1120877"/>
            <a:ext cx="11897032" cy="573712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70C0"/>
                </a:solidFill>
              </a:rPr>
              <a:t>Would have + V3 - </a:t>
            </a:r>
            <a:r>
              <a:rPr lang="en-US" sz="3200" i="1" dirty="0">
                <a:solidFill>
                  <a:srgbClr val="0070C0"/>
                </a:solidFill>
              </a:rPr>
              <a:t>Imagined result in the past.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If I had seen him, I </a:t>
            </a:r>
            <a:r>
              <a:rPr lang="en-US" sz="3200" b="1" dirty="0"/>
              <a:t>would have spoken </a:t>
            </a:r>
            <a:r>
              <a:rPr lang="en-US" sz="3200" dirty="0"/>
              <a:t>to him. 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70C0"/>
                </a:solidFill>
              </a:rPr>
              <a:t>Could have + V3 - </a:t>
            </a:r>
            <a:r>
              <a:rPr lang="en-US" sz="3200" i="1" dirty="0">
                <a:solidFill>
                  <a:srgbClr val="0070C0"/>
                </a:solidFill>
              </a:rPr>
              <a:t>Imagined ability / possibility in the past.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If we had found him earlier, we </a:t>
            </a:r>
            <a:r>
              <a:rPr lang="en-US" sz="3200" b="1" dirty="0"/>
              <a:t>could have saved </a:t>
            </a:r>
            <a:r>
              <a:rPr lang="en-US" sz="3200" dirty="0"/>
              <a:t>his life. 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70C0"/>
                </a:solidFill>
              </a:rPr>
              <a:t>Might have + V3 - </a:t>
            </a:r>
            <a:r>
              <a:rPr lang="en-US" sz="3200" i="1" dirty="0">
                <a:solidFill>
                  <a:srgbClr val="0070C0"/>
                </a:solidFill>
              </a:rPr>
              <a:t>imagined possibility in the past.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If we had left earlier, we </a:t>
            </a:r>
            <a:r>
              <a:rPr lang="en-US" sz="3200" b="1" dirty="0"/>
              <a:t>might have caught </a:t>
            </a:r>
            <a:r>
              <a:rPr lang="en-US" sz="3200" dirty="0"/>
              <a:t>the train. </a:t>
            </a:r>
          </a:p>
        </p:txBody>
      </p:sp>
    </p:spTree>
    <p:extLst>
      <p:ext uri="{BB962C8B-B14F-4D97-AF65-F5344CB8AC3E}">
        <p14:creationId xmlns:p14="http://schemas.microsoft.com/office/powerpoint/2010/main" val="2780086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BA368-58CD-EA51-7F99-A8FC711EA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8C574-BE77-4EFB-29C0-DC78966E2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87" y="0"/>
            <a:ext cx="11474245" cy="112087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TYPE 3 CONTINUOUS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9941D-19D1-A802-12AA-6B1E7056C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23" y="1120877"/>
            <a:ext cx="11926529" cy="551589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700" b="1" dirty="0"/>
              <a:t>If + Past Perfect, would/could/might have been + Ving</a:t>
            </a:r>
            <a:endParaRPr lang="en-US" sz="2700" dirty="0"/>
          </a:p>
          <a:p>
            <a:pPr>
              <a:lnSpc>
                <a:spcPct val="150000"/>
              </a:lnSpc>
            </a:pPr>
            <a:r>
              <a:rPr lang="en-US" sz="2700" dirty="0"/>
              <a:t>If Tom's son had not been there, I would have been sitting in the front. </a:t>
            </a:r>
          </a:p>
          <a:p>
            <a:pPr>
              <a:lnSpc>
                <a:spcPct val="150000"/>
              </a:lnSpc>
            </a:pPr>
            <a:r>
              <a:rPr lang="en-US" sz="2700" dirty="0"/>
              <a:t>Reality: ❌ Tom's son was there. ❌ I wasn't sitting in front.</a:t>
            </a:r>
          </a:p>
          <a:p>
            <a:pPr>
              <a:lnSpc>
                <a:spcPct val="150000"/>
              </a:lnSpc>
            </a:pPr>
            <a:r>
              <a:rPr lang="en-US" sz="2700" dirty="0"/>
              <a:t>If Ali hadn’t brought the book, I couldn't have been preparing for the exam. </a:t>
            </a:r>
          </a:p>
          <a:p>
            <a:pPr>
              <a:lnSpc>
                <a:spcPct val="150000"/>
              </a:lnSpc>
            </a:pPr>
            <a:r>
              <a:rPr lang="en-US" sz="2700" dirty="0"/>
              <a:t>Reality: ❌ Ali brought the book. </a:t>
            </a:r>
          </a:p>
          <a:p>
            <a:pPr>
              <a:lnSpc>
                <a:spcPct val="150000"/>
              </a:lnSpc>
            </a:pPr>
            <a:r>
              <a:rPr lang="en-US" sz="2700" dirty="0"/>
              <a:t>If I had got the job, I would have been working in Seoul last year. </a:t>
            </a:r>
          </a:p>
          <a:p>
            <a:pPr>
              <a:lnSpc>
                <a:spcPct val="150000"/>
              </a:lnSpc>
            </a:pPr>
            <a:r>
              <a:rPr lang="en-US" sz="2700" dirty="0"/>
              <a:t>Reality: ❌ I didn't get the job.</a:t>
            </a:r>
          </a:p>
        </p:txBody>
      </p:sp>
    </p:spTree>
    <p:extLst>
      <p:ext uri="{BB962C8B-B14F-4D97-AF65-F5344CB8AC3E}">
        <p14:creationId xmlns:p14="http://schemas.microsoft.com/office/powerpoint/2010/main" val="124068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D2729-1C00-C7BA-3499-29A706E2B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62309-57B5-0C7C-0D12-7FA8318CC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87" y="0"/>
            <a:ext cx="11474245" cy="1120877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PAST PERFECT CONTINUOUS IN THE IF-CLAUSE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830BA-FCFF-BFAB-A899-8538438E8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0877"/>
            <a:ext cx="12192000" cy="573712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700" b="1" dirty="0">
                <a:solidFill>
                  <a:srgbClr val="00B0F0"/>
                </a:solidFill>
              </a:rPr>
              <a:t>If + S +had been + Ving, S + would have + V3 / would have been + Ving</a:t>
            </a:r>
            <a:endParaRPr lang="en-US" sz="27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700" dirty="0"/>
              <a:t>If Ali had not been wearing a seat belt, he would have been seriously injured. </a:t>
            </a:r>
          </a:p>
          <a:p>
            <a:pPr lvl="1">
              <a:lnSpc>
                <a:spcPct val="150000"/>
              </a:lnSpc>
            </a:pPr>
            <a:r>
              <a:rPr lang="en-US" sz="2500" b="1" dirty="0"/>
              <a:t>Reality</a:t>
            </a:r>
            <a:r>
              <a:rPr lang="en-US" sz="2500" dirty="0"/>
              <a:t>:  He was wearing a seat belt.</a:t>
            </a:r>
          </a:p>
          <a:p>
            <a:pPr>
              <a:lnSpc>
                <a:spcPct val="150000"/>
              </a:lnSpc>
            </a:pPr>
            <a:r>
              <a:rPr lang="en-US" sz="2700" dirty="0"/>
              <a:t>If it had not been snowing heavily, we would not have gone skiing. </a:t>
            </a:r>
          </a:p>
          <a:p>
            <a:pPr lvl="1">
              <a:lnSpc>
                <a:spcPct val="150000"/>
              </a:lnSpc>
            </a:pPr>
            <a:r>
              <a:rPr lang="en-US" sz="2500" b="1" dirty="0"/>
              <a:t>Reality</a:t>
            </a:r>
            <a:r>
              <a:rPr lang="en-US" sz="2500" dirty="0"/>
              <a:t>: It was snowing heavily.</a:t>
            </a:r>
          </a:p>
          <a:p>
            <a:pPr>
              <a:lnSpc>
                <a:spcPct val="150000"/>
              </a:lnSpc>
            </a:pPr>
            <a:r>
              <a:rPr lang="en-US" sz="2700" dirty="0"/>
              <a:t>If I had been living in Tashkent, I would have been working at a bank. </a:t>
            </a:r>
          </a:p>
          <a:p>
            <a:pPr lvl="1">
              <a:lnSpc>
                <a:spcPct val="150000"/>
              </a:lnSpc>
            </a:pPr>
            <a:r>
              <a:rPr lang="en-US" sz="2500" b="1" dirty="0"/>
              <a:t>Reality</a:t>
            </a:r>
            <a:r>
              <a:rPr lang="en-US" sz="2500" dirty="0"/>
              <a:t>: I wasn't living in Tashkent.</a:t>
            </a:r>
          </a:p>
        </p:txBody>
      </p:sp>
    </p:spTree>
    <p:extLst>
      <p:ext uri="{BB962C8B-B14F-4D97-AF65-F5344CB8AC3E}">
        <p14:creationId xmlns:p14="http://schemas.microsoft.com/office/powerpoint/2010/main" val="2349405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1ED91-1E50-B0F9-7894-18295D7D3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F0B50-99B4-9D0E-72DF-66269A5C4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87" y="0"/>
            <a:ext cx="11474245" cy="1120877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PAST CONDITION → PRESENT RESULT (Mixed)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611D2-CC5A-A6F7-E75D-C847BE60F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865239"/>
            <a:ext cx="11897032" cy="59927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(Type 3 + Type 2)</a:t>
            </a:r>
            <a:r>
              <a:rPr lang="en-US" sz="2800" b="1" i="1" dirty="0">
                <a:highlight>
                  <a:srgbClr val="FFFF00"/>
                </a:highlight>
              </a:rPr>
              <a:t> - </a:t>
            </a:r>
            <a:r>
              <a:rPr lang="en-US" sz="2800" i="1" dirty="0">
                <a:highlight>
                  <a:srgbClr val="FFFF00"/>
                </a:highlight>
              </a:rPr>
              <a:t>Past mistake affects the present.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If + Past Perfect, would/could/might + Verb1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If I had studied harder, I would have a good job now. </a:t>
            </a:r>
          </a:p>
          <a:p>
            <a:pPr lvl="1">
              <a:lnSpc>
                <a:spcPct val="150000"/>
              </a:lnSpc>
            </a:pPr>
            <a:r>
              <a:rPr lang="en-US" sz="2600" b="1" dirty="0"/>
              <a:t>Reality</a:t>
            </a:r>
            <a:r>
              <a:rPr lang="en-US" sz="2600" dirty="0"/>
              <a:t>: I didn't study harder. I don't have a good job now.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she had taken the medicine, she would be better now. </a:t>
            </a:r>
          </a:p>
          <a:p>
            <a:pPr lvl="1">
              <a:lnSpc>
                <a:spcPct val="150000"/>
              </a:lnSpc>
            </a:pPr>
            <a:r>
              <a:rPr lang="en-US" sz="2600" b="1" dirty="0"/>
              <a:t>Reality</a:t>
            </a:r>
            <a:r>
              <a:rPr lang="en-US" sz="2600" dirty="0"/>
              <a:t>: She didn't take it. She isn't better now.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he hadn't missed the flight, he would be here now. </a:t>
            </a:r>
          </a:p>
          <a:p>
            <a:pPr lvl="1">
              <a:lnSpc>
                <a:spcPct val="150000"/>
              </a:lnSpc>
            </a:pPr>
            <a:r>
              <a:rPr lang="en-US" sz="2600" b="1" dirty="0"/>
              <a:t>Reality</a:t>
            </a:r>
            <a:r>
              <a:rPr lang="en-US" sz="2600" dirty="0"/>
              <a:t>: He missed the flight. He isn't here.</a:t>
            </a:r>
          </a:p>
        </p:txBody>
      </p:sp>
    </p:spTree>
    <p:extLst>
      <p:ext uri="{BB962C8B-B14F-4D97-AF65-F5344CB8AC3E}">
        <p14:creationId xmlns:p14="http://schemas.microsoft.com/office/powerpoint/2010/main" val="3736498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B22A9-4007-C03A-2C7B-68F6AFCC1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D2448-6ADA-1E9C-7EE9-BD766FD40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87" y="0"/>
            <a:ext cx="11474245" cy="1120877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PRESENT CONDITION → PAST RESULT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A8812-CE2A-01F2-EBDC-19E3A3FA8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835743"/>
            <a:ext cx="11897032" cy="602225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(Type 2 + Type 3) - Present unreal situation affected the past.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If + Past Simple, would/could/might + have + V3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If I were taller, I would have become a basketball player. </a:t>
            </a:r>
          </a:p>
          <a:p>
            <a:pPr lvl="1">
              <a:lnSpc>
                <a:spcPct val="150000"/>
              </a:lnSpc>
            </a:pPr>
            <a:r>
              <a:rPr lang="en-US" sz="2600" b="1" dirty="0"/>
              <a:t>Reality</a:t>
            </a:r>
            <a:r>
              <a:rPr lang="en-US" sz="2600" dirty="0"/>
              <a:t>: I'm not tall.  I didn't become a basketball player.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she spoke English well, she would have got the job. </a:t>
            </a:r>
          </a:p>
          <a:p>
            <a:pPr lvl="1">
              <a:lnSpc>
                <a:spcPct val="150000"/>
              </a:lnSpc>
            </a:pPr>
            <a:r>
              <a:rPr lang="en-US" sz="2600" b="1" dirty="0"/>
              <a:t>Reality</a:t>
            </a:r>
            <a:r>
              <a:rPr lang="en-US" sz="2600" dirty="0"/>
              <a:t>: She doesn't speak English well. She didn't get the job.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If he weren't so careless, he wouldn't have lost his phone. </a:t>
            </a:r>
          </a:p>
          <a:p>
            <a:pPr lvl="1">
              <a:lnSpc>
                <a:spcPct val="150000"/>
              </a:lnSpc>
            </a:pPr>
            <a:r>
              <a:rPr lang="en-US" sz="2600" b="1" dirty="0"/>
              <a:t>Reality</a:t>
            </a:r>
            <a:r>
              <a:rPr lang="en-US" sz="2600" dirty="0"/>
              <a:t>: He is careless. He lost his phone.</a:t>
            </a:r>
          </a:p>
        </p:txBody>
      </p:sp>
    </p:spTree>
    <p:extLst>
      <p:ext uri="{BB962C8B-B14F-4D97-AF65-F5344CB8AC3E}">
        <p14:creationId xmlns:p14="http://schemas.microsoft.com/office/powerpoint/2010/main" val="4253773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7D859-D72D-23B8-9D7F-A6F0E1637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D367D-641B-2A84-74B2-4F2EA9BE4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87" y="0"/>
            <a:ext cx="11474245" cy="112087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Compare All Conditionals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73453E-FD9D-E286-121C-575D0E0954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6742979"/>
              </p:ext>
            </p:extLst>
          </p:nvPr>
        </p:nvGraphicFramePr>
        <p:xfrm>
          <a:off x="0" y="1120876"/>
          <a:ext cx="12192000" cy="5737122"/>
        </p:xfrm>
        <a:graphic>
          <a:graphicData uri="http://schemas.openxmlformats.org/drawingml/2006/table">
            <a:tbl>
              <a:tblPr/>
              <a:tblGrid>
                <a:gridCol w="1838632">
                  <a:extLst>
                    <a:ext uri="{9D8B030D-6E8A-4147-A177-3AD203B41FA5}">
                      <a16:colId xmlns:a16="http://schemas.microsoft.com/office/drawing/2014/main" val="1755847032"/>
                    </a:ext>
                  </a:extLst>
                </a:gridCol>
                <a:gridCol w="6056671">
                  <a:extLst>
                    <a:ext uri="{9D8B030D-6E8A-4147-A177-3AD203B41FA5}">
                      <a16:colId xmlns:a16="http://schemas.microsoft.com/office/drawing/2014/main" val="4095451697"/>
                    </a:ext>
                  </a:extLst>
                </a:gridCol>
                <a:gridCol w="4296697">
                  <a:extLst>
                    <a:ext uri="{9D8B030D-6E8A-4147-A177-3AD203B41FA5}">
                      <a16:colId xmlns:a16="http://schemas.microsoft.com/office/drawing/2014/main" val="2107140472"/>
                    </a:ext>
                  </a:extLst>
                </a:gridCol>
              </a:tblGrid>
              <a:tr h="956187">
                <a:tc>
                  <a:txBody>
                    <a:bodyPr/>
                    <a:lstStyle/>
                    <a:p>
                      <a:pPr lvl="1">
                        <a:lnSpc>
                          <a:spcPct val="200000"/>
                        </a:lnSpc>
                        <a:buNone/>
                      </a:pPr>
                      <a:r>
                        <a:rPr lang="en-US" sz="2600" b="1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600" b="1"/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600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220595"/>
                  </a:ext>
                </a:extLst>
              </a:tr>
              <a:tr h="956187">
                <a:tc>
                  <a:txBody>
                    <a:bodyPr/>
                    <a:lstStyle/>
                    <a:p>
                      <a:pPr lvl="1">
                        <a:lnSpc>
                          <a:spcPct val="200000"/>
                        </a:lnSpc>
                        <a:buNone/>
                      </a:pPr>
                      <a:r>
                        <a:rPr lang="en-US" sz="2600" b="1"/>
                        <a:t>Zero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600"/>
                        <a:t>If + Present, Present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600" dirty="0"/>
                        <a:t>facts, habits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379488"/>
                  </a:ext>
                </a:extLst>
              </a:tr>
              <a:tr h="956187">
                <a:tc>
                  <a:txBody>
                    <a:bodyPr/>
                    <a:lstStyle/>
                    <a:p>
                      <a:pPr lvl="1">
                        <a:lnSpc>
                          <a:spcPct val="200000"/>
                        </a:lnSpc>
                        <a:buNone/>
                      </a:pPr>
                      <a:r>
                        <a:rPr lang="en-US" sz="2600" b="1"/>
                        <a:t>First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600" dirty="0"/>
                        <a:t>If + Present, Will + 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600"/>
                        <a:t>real future possibility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245074"/>
                  </a:ext>
                </a:extLst>
              </a:tr>
              <a:tr h="956187">
                <a:tc>
                  <a:txBody>
                    <a:bodyPr/>
                    <a:lstStyle/>
                    <a:p>
                      <a:pPr lvl="1">
                        <a:lnSpc>
                          <a:spcPct val="200000"/>
                        </a:lnSpc>
                        <a:buNone/>
                      </a:pPr>
                      <a:r>
                        <a:rPr lang="en-US" sz="2600" b="1"/>
                        <a:t>Second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600" dirty="0"/>
                        <a:t>If + Past, Would + 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600"/>
                        <a:t>unreal present/future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152104"/>
                  </a:ext>
                </a:extLst>
              </a:tr>
              <a:tr h="956187">
                <a:tc>
                  <a:txBody>
                    <a:bodyPr/>
                    <a:lstStyle/>
                    <a:p>
                      <a:pPr lvl="1">
                        <a:lnSpc>
                          <a:spcPct val="200000"/>
                        </a:lnSpc>
                        <a:buNone/>
                      </a:pPr>
                      <a:r>
                        <a:rPr lang="en-US" sz="2600" b="1"/>
                        <a:t>Third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600" dirty="0"/>
                        <a:t>If + Past Perfect, Would have + V3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600"/>
                        <a:t>unreal past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953067"/>
                  </a:ext>
                </a:extLst>
              </a:tr>
              <a:tr h="956187">
                <a:tc>
                  <a:txBody>
                    <a:bodyPr/>
                    <a:lstStyle/>
                    <a:p>
                      <a:pPr lvl="1">
                        <a:lnSpc>
                          <a:spcPct val="200000"/>
                        </a:lnSpc>
                        <a:buNone/>
                      </a:pPr>
                      <a:r>
                        <a:rPr lang="en-US" sz="2600" b="1" dirty="0"/>
                        <a:t>Mixed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600" dirty="0"/>
                        <a:t>Type 3 + Type 2 / Type 2 + Type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600" dirty="0"/>
                        <a:t>past ↔ present connection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3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326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05723-DB1A-ACE6-BB92-6F01DA630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8EAAB-C506-3F29-C08B-FD9F51D15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973394"/>
            <a:ext cx="12192000" cy="58846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If + past perfect → Had + subject + V3/ed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If I had known the truth, I would have told you.</a:t>
            </a:r>
            <a:br>
              <a:rPr lang="en-US" sz="2800" dirty="0"/>
            </a:br>
            <a:r>
              <a:rPr lang="en-US" sz="2800" dirty="0"/>
              <a:t>→ Had I known the truth, I would have told you.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Iroda had arrived earlier, she would have seen </a:t>
            </a:r>
            <a:r>
              <a:rPr lang="en-US" sz="2800" dirty="0" err="1"/>
              <a:t>Tomsonjon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→ Had Iroda arrived earlier, she would have seen </a:t>
            </a:r>
            <a:r>
              <a:rPr lang="en-US" sz="2800" dirty="0" err="1"/>
              <a:t>Tomsonjon</a:t>
            </a:r>
            <a:r>
              <a:rPr lang="en-US" sz="28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</a:t>
            </a:r>
            <a:r>
              <a:rPr lang="en-US" sz="2800" dirty="0" err="1"/>
              <a:t>Husanboy</a:t>
            </a:r>
            <a:r>
              <a:rPr lang="en-US" sz="2800" dirty="0"/>
              <a:t> had studied harder, he would have passed. →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you had come yesterday, you could have learned the topic. →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68511DD-DFE7-7D71-FC96-AA7EDB6D1A9C}"/>
              </a:ext>
            </a:extLst>
          </p:cNvPr>
          <p:cNvSpPr txBox="1">
            <a:spLocks/>
          </p:cNvSpPr>
          <p:nvPr/>
        </p:nvSpPr>
        <p:spPr>
          <a:xfrm>
            <a:off x="1066800" y="0"/>
            <a:ext cx="10058400" cy="1101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0000"/>
                </a:solidFill>
              </a:rPr>
              <a:t>Conditional Inversion – Type3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662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241B1-ADF1-DDE3-6CF0-161901785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B4863-F716-910F-B014-922079C2F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973394"/>
            <a:ext cx="12192000" cy="58846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If + subject + had + not + V3 → Had + subject + not + V3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If I hadn’t studied, I would have failed.</a:t>
            </a:r>
            <a:br>
              <a:rPr lang="en-US" sz="2800" dirty="0"/>
            </a:br>
            <a:r>
              <a:rPr lang="en-US" sz="2800" dirty="0"/>
              <a:t>→ Had I not studied, I would have failed.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she hadn’t called me, I wouldn’t have known about the exam.</a:t>
            </a:r>
            <a:br>
              <a:rPr lang="en-US" sz="2800" dirty="0"/>
            </a:br>
            <a:r>
              <a:rPr lang="en-US" sz="2800" dirty="0"/>
              <a:t>→ Had she not called me, I wouldn’t have known about the exam.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they hadn’t arrived on time, they would have missed the train. →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you hadn’t helped him yesterday, he couldn’t have finished his work. →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9D214E-67B3-D62A-0B3C-FEE4B7D295B0}"/>
              </a:ext>
            </a:extLst>
          </p:cNvPr>
          <p:cNvSpPr txBox="1">
            <a:spLocks/>
          </p:cNvSpPr>
          <p:nvPr/>
        </p:nvSpPr>
        <p:spPr>
          <a:xfrm>
            <a:off x="931606" y="0"/>
            <a:ext cx="10328787" cy="1101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0000"/>
                </a:solidFill>
              </a:rPr>
              <a:t>Conditional Inversion – Type3 - 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790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C1594-37E6-F2CB-2126-DB13E9831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53D0F-273D-3DBD-4A9F-96BE99C94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973394"/>
            <a:ext cx="12192000" cy="58846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If + past perfect → Had + subject + (not) + V3/ed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If I hadn’t studied hard, I wouldn’t be successful now.</a:t>
            </a:r>
            <a:br>
              <a:rPr lang="en-US" sz="2800" dirty="0"/>
            </a:br>
            <a:r>
              <a:rPr lang="en-US" sz="2800" dirty="0"/>
              <a:t>→ Had I not studied hard, I wouldn’t be successful now.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she had moved to London, she wouldn’t have this job now.</a:t>
            </a:r>
            <a:br>
              <a:rPr lang="en-US" sz="2800" dirty="0"/>
            </a:br>
            <a:r>
              <a:rPr lang="en-US" sz="2800" dirty="0"/>
              <a:t>→ Had she moved to London, she wouldn’t have this job now.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Akmal hadn’t trained earlier, he wouldn’t be strong now. →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Anvar had tried harder, he would be a doctor now. →</a:t>
            </a:r>
          </a:p>
          <a:p>
            <a:pPr lvl="1">
              <a:lnSpc>
                <a:spcPct val="150000"/>
              </a:lnSpc>
            </a:pPr>
            <a:endParaRPr lang="en-US" sz="2800" dirty="0"/>
          </a:p>
          <a:p>
            <a:pPr lvl="1"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A4FEA01-FB40-032C-F26D-FF34B188B84E}"/>
              </a:ext>
            </a:extLst>
          </p:cNvPr>
          <p:cNvSpPr txBox="1">
            <a:spLocks/>
          </p:cNvSpPr>
          <p:nvPr/>
        </p:nvSpPr>
        <p:spPr>
          <a:xfrm>
            <a:off x="235974" y="0"/>
            <a:ext cx="11710220" cy="1101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0000"/>
                </a:solidFill>
              </a:rPr>
              <a:t>Conditional Inversion – Type Mixed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4347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182</TotalTime>
  <Words>1113</Words>
  <Application>Microsoft Office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Wingdings</vt:lpstr>
      <vt:lpstr>Wood Type</vt:lpstr>
      <vt:lpstr>PowerPoint Presentation</vt:lpstr>
      <vt:lpstr>THIRD CONDITIONAL (TYPE 3)</vt:lpstr>
      <vt:lpstr>BASIC FORM</vt:lpstr>
      <vt:lpstr>MEANING OF TYPE 3</vt:lpstr>
      <vt:lpstr>MODAL VERBS IN THE MAIN CLAUSE</vt:lpstr>
      <vt:lpstr>TYPE 3 CONTINUOUS RESULT</vt:lpstr>
      <vt:lpstr>PAST PERFECT CONTINUOUS IN THE IF-CLAUSE</vt:lpstr>
      <vt:lpstr>PAST CONDITION → PRESENT RESULT (Mixed)</vt:lpstr>
      <vt:lpstr>PRESENT CONDITION → PAST RESULT</vt:lpstr>
      <vt:lpstr>Compare All Conditionals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14</cp:revision>
  <dcterms:created xsi:type="dcterms:W3CDTF">2026-06-11T05:49:29Z</dcterms:created>
  <dcterms:modified xsi:type="dcterms:W3CDTF">2026-06-11T08:52:02Z</dcterms:modified>
</cp:coreProperties>
</file>