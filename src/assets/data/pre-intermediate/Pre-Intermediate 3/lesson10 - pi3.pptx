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AFF2-AFD9-4FC4-97D8-8BA54F9A67D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B58B0379-6C22-437A-8D35-5FBA807B2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16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AFF2-AFD9-4FC4-97D8-8BA54F9A67D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B0379-6C22-437A-8D35-5FBA807B2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78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70CAFF2-AFD9-4FC4-97D8-8BA54F9A67D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58B0379-6C22-437A-8D35-5FBA807B2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2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AFF2-AFD9-4FC4-97D8-8BA54F9A67D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B0379-6C22-437A-8D35-5FBA807B2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7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AFF2-AFD9-4FC4-97D8-8BA54F9A67D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B0379-6C22-437A-8D35-5FBA807B2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51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AFF2-AFD9-4FC4-97D8-8BA54F9A67D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B0379-6C22-437A-8D35-5FBA807B2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5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AFF2-AFD9-4FC4-97D8-8BA54F9A67D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B0379-6C22-437A-8D35-5FBA807B2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56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AFF2-AFD9-4FC4-97D8-8BA54F9A67D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B0379-6C22-437A-8D35-5FBA807B2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089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AFF2-AFD9-4FC4-97D8-8BA54F9A67D9}" type="datetimeFigureOut">
              <a:rPr lang="en-US" smtClean="0"/>
              <a:t>6/12/2026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B0379-6C22-437A-8D35-5FBA807B2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24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AFF2-AFD9-4FC4-97D8-8BA54F9A67D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B0379-6C22-437A-8D35-5FBA807B2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73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CAFF2-AFD9-4FC4-97D8-8BA54F9A67D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B0379-6C22-437A-8D35-5FBA807B2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31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70CAFF2-AFD9-4FC4-97D8-8BA54F9A67D9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B58B0379-6C22-437A-8D35-5FBA807B2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5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0B38-EFF1-0CAA-80D1-43C87755D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297" y="1317523"/>
            <a:ext cx="11346425" cy="3150508"/>
          </a:xfrm>
        </p:spPr>
        <p:txBody>
          <a:bodyPr/>
          <a:lstStyle/>
          <a:p>
            <a:pPr algn="ctr"/>
            <a:r>
              <a:rPr lang="en-US" sz="11000" b="1" dirty="0"/>
              <a:t>HAD BETTER</a:t>
            </a:r>
            <a:endParaRPr lang="en-US" sz="11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0EF46-ADEE-7A1E-181C-A1A4D9C653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6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5FB54-E78E-96E7-4684-607147D08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256"/>
            <a:ext cx="12192000" cy="994468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HAD BETTER</a:t>
            </a: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38D4C-2EB4-530B-42AE-EDACCE851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786581"/>
            <a:ext cx="11877366" cy="60531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Had better</a:t>
            </a:r>
            <a:r>
              <a:rPr lang="en-US" sz="2800" dirty="0"/>
              <a:t> = </a:t>
            </a:r>
            <a:r>
              <a:rPr lang="en-US" sz="2800" b="1" dirty="0"/>
              <a:t>should / ought to</a:t>
            </a:r>
            <a:r>
              <a:rPr lang="en-US" sz="2800" dirty="0"/>
              <a:t> ga </a:t>
            </a:r>
            <a:r>
              <a:rPr lang="en-US" sz="2800" dirty="0" err="1"/>
              <a:t>o'xshash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Ma'nosi</a:t>
            </a:r>
            <a:r>
              <a:rPr lang="en-US" sz="2800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sz="2800" dirty="0" err="1"/>
              <a:t>ma'qulroq</a:t>
            </a:r>
            <a:r>
              <a:rPr lang="en-US" sz="2800" dirty="0"/>
              <a:t> </a:t>
            </a:r>
            <a:r>
              <a:rPr lang="en-US" sz="2800" dirty="0" err="1"/>
              <a:t>bo'ladi</a:t>
            </a:r>
            <a:r>
              <a:rPr lang="en-US" sz="2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dirty="0" err="1"/>
              <a:t>yaxshisi</a:t>
            </a:r>
            <a:r>
              <a:rPr lang="en-US" sz="2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dirty="0" err="1"/>
              <a:t>maslahat</a:t>
            </a:r>
            <a:r>
              <a:rPr lang="en-US" sz="2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dirty="0" err="1"/>
              <a:t>ogohlantirish</a:t>
            </a:r>
            <a:r>
              <a:rPr lang="en-US" sz="2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2800" dirty="0" err="1"/>
              <a:t>aks</a:t>
            </a:r>
            <a:r>
              <a:rPr lang="en-US" sz="2800" dirty="0"/>
              <a:t> </a:t>
            </a:r>
            <a:r>
              <a:rPr lang="en-US" sz="2800" dirty="0" err="1"/>
              <a:t>holda</a:t>
            </a:r>
            <a:r>
              <a:rPr lang="en-US" sz="2800" dirty="0"/>
              <a:t> </a:t>
            </a:r>
            <a:r>
              <a:rPr lang="en-US" sz="2800" dirty="0" err="1"/>
              <a:t>salbiy</a:t>
            </a:r>
            <a:r>
              <a:rPr lang="en-US" sz="2800" dirty="0"/>
              <a:t> </a:t>
            </a:r>
            <a:r>
              <a:rPr lang="en-US" sz="2800" dirty="0" err="1"/>
              <a:t>natija</a:t>
            </a:r>
            <a:r>
              <a:rPr lang="en-US" sz="2800" dirty="0"/>
              <a:t> </a:t>
            </a:r>
            <a:r>
              <a:rPr lang="en-US" sz="2800" dirty="0" err="1"/>
              <a:t>bo'lishi</a:t>
            </a:r>
            <a:r>
              <a:rPr lang="en-US" sz="2800" dirty="0"/>
              <a:t> </a:t>
            </a:r>
            <a:r>
              <a:rPr lang="en-US" sz="2800" dirty="0" err="1"/>
              <a:t>mumkin</a:t>
            </a:r>
            <a:r>
              <a:rPr lang="en-US" sz="2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Ko'pincha</a:t>
            </a:r>
            <a:r>
              <a:rPr lang="en-US" sz="2800" dirty="0"/>
              <a:t>: </a:t>
            </a:r>
            <a:r>
              <a:rPr lang="en-US" sz="2800" b="1" dirty="0"/>
              <a:t>"</a:t>
            </a:r>
            <a:r>
              <a:rPr lang="en-US" sz="2800" b="1" dirty="0" err="1"/>
              <a:t>Yaxshisi</a:t>
            </a:r>
            <a:r>
              <a:rPr lang="en-US" sz="2800" b="1" dirty="0"/>
              <a:t> ... </a:t>
            </a:r>
            <a:r>
              <a:rPr lang="en-US" sz="2800" b="1" dirty="0" err="1"/>
              <a:t>qilganing</a:t>
            </a:r>
            <a:r>
              <a:rPr lang="en-US" sz="2800" b="1" dirty="0"/>
              <a:t> </a:t>
            </a:r>
            <a:r>
              <a:rPr lang="en-US" sz="2800" b="1" dirty="0" err="1"/>
              <a:t>ma'qul</a:t>
            </a:r>
            <a:r>
              <a:rPr lang="en-US" sz="2800" b="1" dirty="0"/>
              <a:t>."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55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BFF02-CED7-4D36-D03A-9D2719DBB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6B73-1A51-5EEA-18CE-D55D2CC6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-30904"/>
            <a:ext cx="12192000" cy="994468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7C2A0-38CF-070B-F0FA-0B74743A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855406"/>
            <a:ext cx="11877366" cy="5984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Subject + had better + V1 </a:t>
            </a:r>
            <a:r>
              <a:rPr lang="en-US" sz="2800" b="1" dirty="0"/>
              <a:t>= </a:t>
            </a:r>
            <a:r>
              <a:rPr lang="en-US" sz="2800" b="1" dirty="0">
                <a:solidFill>
                  <a:srgbClr val="7030A0"/>
                </a:solidFill>
              </a:rPr>
              <a:t>I'd better / You'd better / He'd better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I'd better leave now.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We'd better call him.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She'd better study harder.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Subject + had better not + V1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You'd better not be late.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We'd better not tell him.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She'd better not drive.</a:t>
            </a:r>
          </a:p>
        </p:txBody>
      </p:sp>
    </p:spTree>
    <p:extLst>
      <p:ext uri="{BB962C8B-B14F-4D97-AF65-F5344CB8AC3E}">
        <p14:creationId xmlns:p14="http://schemas.microsoft.com/office/powerpoint/2010/main" val="1190626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116B5-DE92-1320-8527-A6F9615D7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3AA9-E178-67C0-46D4-9CED34C15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256"/>
            <a:ext cx="12192000" cy="994468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Question (rare)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D1290-48AE-4388-D60C-9C052260B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904568"/>
            <a:ext cx="11877366" cy="59351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Question </a:t>
            </a:r>
            <a:r>
              <a:rPr lang="en-US" sz="2800" i="1" dirty="0" err="1">
                <a:highlight>
                  <a:srgbClr val="FFFF00"/>
                </a:highlight>
              </a:rPr>
              <a:t>shakli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oddiy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suhbatda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deyarli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ishlatilmaydi</a:t>
            </a:r>
            <a:r>
              <a:rPr lang="en-US" sz="2800" i="1" dirty="0">
                <a:highlight>
                  <a:srgbClr val="FFFF00"/>
                </a:highlight>
              </a:rPr>
              <a:t>. </a:t>
            </a:r>
            <a:r>
              <a:rPr lang="en-US" sz="2800" i="1" dirty="0" err="1">
                <a:highlight>
                  <a:srgbClr val="FFFF00"/>
                </a:highlight>
              </a:rPr>
              <a:t>Rasmiyroq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shakli</a:t>
            </a:r>
            <a:r>
              <a:rPr lang="en-US" sz="2800" i="1" dirty="0">
                <a:highlight>
                  <a:srgbClr val="FFFF00"/>
                </a:highlight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Hadn't + subject + better + V1 ?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Hadn't you better ask him first?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Hadn't we better leave now? </a:t>
            </a:r>
          </a:p>
          <a:p>
            <a:pPr>
              <a:lnSpc>
                <a:spcPct val="150000"/>
              </a:lnSpc>
            </a:pPr>
            <a:r>
              <a:rPr lang="en-US" sz="2800" dirty="0" err="1"/>
              <a:t>Ma'nosi</a:t>
            </a:r>
            <a:r>
              <a:rPr lang="en-US" sz="2800" dirty="0"/>
              <a:t> - </a:t>
            </a:r>
            <a:r>
              <a:rPr lang="en-US" sz="2800" dirty="0" err="1"/>
              <a:t>Yaxshisi</a:t>
            </a:r>
            <a:r>
              <a:rPr lang="en-US" sz="2800" dirty="0"/>
              <a:t> </a:t>
            </a:r>
            <a:r>
              <a:rPr lang="en-US" sz="2800" dirty="0" err="1"/>
              <a:t>undan</a:t>
            </a:r>
            <a:r>
              <a:rPr lang="en-US" sz="2800" dirty="0"/>
              <a:t> </a:t>
            </a:r>
            <a:r>
              <a:rPr lang="en-US" sz="2800" dirty="0" err="1"/>
              <a:t>avval</a:t>
            </a:r>
            <a:r>
              <a:rPr lang="en-US" sz="2800" dirty="0"/>
              <a:t> </a:t>
            </a:r>
            <a:r>
              <a:rPr lang="en-US" sz="2800" dirty="0" err="1"/>
              <a:t>so'ramaysanmi</a:t>
            </a:r>
            <a:r>
              <a:rPr lang="en-US" sz="2800" dirty="0"/>
              <a:t>?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Bu </a:t>
            </a:r>
            <a:r>
              <a:rPr lang="en-US" sz="2800" dirty="0" err="1"/>
              <a:t>juda</a:t>
            </a:r>
            <a:r>
              <a:rPr lang="en-US" sz="2800" dirty="0"/>
              <a:t> formal. </a:t>
            </a:r>
            <a:r>
              <a:rPr lang="en-US" sz="2800" dirty="0" err="1"/>
              <a:t>Amaliyotda</a:t>
            </a:r>
            <a:r>
              <a:rPr lang="en-US" sz="2800" dirty="0"/>
              <a:t> </a:t>
            </a:r>
            <a:r>
              <a:rPr lang="en-US" sz="2800" dirty="0" err="1"/>
              <a:t>odamlar</a:t>
            </a:r>
            <a:r>
              <a:rPr lang="en-US" sz="2800" dirty="0"/>
              <a:t> </a:t>
            </a:r>
            <a:r>
              <a:rPr lang="en-US" sz="2800" dirty="0" err="1"/>
              <a:t>ko'proq</a:t>
            </a:r>
            <a:r>
              <a:rPr lang="en-US" sz="28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Shouldn't you...? </a:t>
            </a:r>
            <a:r>
              <a:rPr lang="en-US" sz="2800" dirty="0" err="1"/>
              <a:t>deyishadi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432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AC5B4-C058-6875-E9C6-245799B9D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A3860-6550-1CBD-6D33-C879D379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256"/>
            <a:ext cx="12192000" cy="994468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HAD BETTER vs SHOULD</a:t>
            </a: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23CD4-DC95-0861-A7E3-A51247238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786581"/>
            <a:ext cx="11877366" cy="60531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Meaning</a:t>
            </a:r>
            <a:r>
              <a:rPr lang="en-US" sz="2800" b="1" dirty="0"/>
              <a:t> - Had better </a:t>
            </a:r>
            <a:r>
              <a:rPr lang="en-US" sz="2800" dirty="0" err="1"/>
              <a:t>oddiy</a:t>
            </a:r>
            <a:r>
              <a:rPr lang="en-US" sz="2800" dirty="0"/>
              <a:t> </a:t>
            </a:r>
            <a:r>
              <a:rPr lang="en-US" sz="2800" dirty="0" err="1"/>
              <a:t>maslahat</a:t>
            </a:r>
            <a:r>
              <a:rPr lang="en-US" sz="2800" dirty="0"/>
              <a:t> </a:t>
            </a:r>
            <a:r>
              <a:rPr lang="en-US" sz="2800" dirty="0" err="1"/>
              <a:t>emas</a:t>
            </a:r>
            <a:r>
              <a:rPr lang="en-US" sz="2800" dirty="0"/>
              <a:t>. Unda </a:t>
            </a:r>
            <a:r>
              <a:rPr lang="en-US" sz="2800" b="1" dirty="0"/>
              <a:t>warning (</a:t>
            </a:r>
            <a:r>
              <a:rPr lang="en-US" sz="2800" b="1" dirty="0" err="1"/>
              <a:t>ogohlantirish</a:t>
            </a:r>
            <a:r>
              <a:rPr lang="en-US" sz="2800" b="1" dirty="0"/>
              <a:t>)</a:t>
            </a:r>
            <a:r>
              <a:rPr lang="en-US" sz="2800" dirty="0"/>
              <a:t> bor.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Should - </a:t>
            </a:r>
            <a:r>
              <a:rPr lang="en-US" sz="2800" dirty="0" err="1"/>
              <a:t>yumshoq</a:t>
            </a:r>
            <a:r>
              <a:rPr lang="en-US" sz="2800" dirty="0"/>
              <a:t> </a:t>
            </a:r>
            <a:r>
              <a:rPr lang="en-US" sz="2800" dirty="0" err="1"/>
              <a:t>maslahat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You should see a doctor.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Had better - </a:t>
            </a:r>
            <a:r>
              <a:rPr lang="en-US" sz="2800" dirty="0" err="1"/>
              <a:t>kuchli</a:t>
            </a:r>
            <a:r>
              <a:rPr lang="en-US" sz="2800" dirty="0"/>
              <a:t> </a:t>
            </a:r>
            <a:r>
              <a:rPr lang="en-US" sz="2800" dirty="0" err="1"/>
              <a:t>maslahat</a:t>
            </a:r>
            <a:r>
              <a:rPr lang="en-US" sz="2800" dirty="0"/>
              <a:t> + </a:t>
            </a:r>
            <a:r>
              <a:rPr lang="en-US" sz="2800" dirty="0" err="1"/>
              <a:t>ogohlantirish</a:t>
            </a:r>
            <a:endParaRPr lang="en-US" sz="2800" dirty="0"/>
          </a:p>
          <a:p>
            <a:pPr lvl="1">
              <a:lnSpc>
                <a:spcPct val="150000"/>
              </a:lnSpc>
            </a:pPr>
            <a:r>
              <a:rPr lang="en-US" sz="2800" dirty="0"/>
              <a:t>You'd better see a doctor.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Aks </a:t>
            </a:r>
            <a:r>
              <a:rPr lang="en-US" sz="2800" dirty="0" err="1"/>
              <a:t>holda</a:t>
            </a:r>
            <a:r>
              <a:rPr lang="en-US" sz="2800" dirty="0"/>
              <a:t> </a:t>
            </a:r>
            <a:r>
              <a:rPr lang="en-US" sz="2800" dirty="0" err="1"/>
              <a:t>sog'lig'ing</a:t>
            </a:r>
            <a:r>
              <a:rPr lang="en-US" sz="2800" dirty="0"/>
              <a:t> </a:t>
            </a:r>
            <a:r>
              <a:rPr lang="en-US" sz="2800" dirty="0" err="1"/>
              <a:t>yomonlashishi</a:t>
            </a:r>
            <a:r>
              <a:rPr lang="en-US" sz="2800" dirty="0"/>
              <a:t> </a:t>
            </a:r>
            <a:r>
              <a:rPr lang="en-US" sz="2800" dirty="0" err="1"/>
              <a:t>mumkin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690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F2945-ED87-E569-BE6C-CFDA860E6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4FBD7-796A-9568-2651-D7B9BEB80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256"/>
            <a:ext cx="12192000" cy="994468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Tense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CD192-F0DB-DEE1-AE43-A02B3F132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786581"/>
            <a:ext cx="11877366" cy="60531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Had better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formasi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had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bo'lsa</a:t>
            </a:r>
            <a:r>
              <a:rPr lang="en-US" sz="2800" i="1" dirty="0">
                <a:highlight>
                  <a:srgbClr val="FFFF00"/>
                </a:highlight>
              </a:rPr>
              <a:t> ham, ❌ Past tense </a:t>
            </a:r>
            <a:r>
              <a:rPr lang="en-US" sz="2800" i="1" dirty="0" err="1">
                <a:highlight>
                  <a:srgbClr val="FFFF00"/>
                </a:highlight>
              </a:rPr>
              <a:t>emas</a:t>
            </a:r>
            <a:r>
              <a:rPr lang="en-US" sz="2800" i="1" dirty="0">
                <a:highlight>
                  <a:srgbClr val="FFFF00"/>
                </a:highlight>
              </a:rPr>
              <a:t>. U </a:t>
            </a:r>
            <a:r>
              <a:rPr lang="en-US" sz="2800" i="1" dirty="0" err="1">
                <a:highlight>
                  <a:srgbClr val="FFFF00"/>
                </a:highlight>
              </a:rPr>
              <a:t>odatda</a:t>
            </a:r>
            <a:r>
              <a:rPr lang="en-US" sz="2800" i="1" dirty="0">
                <a:highlight>
                  <a:srgbClr val="FFFF00"/>
                </a:highlight>
              </a:rPr>
              <a:t>: </a:t>
            </a:r>
            <a:r>
              <a:rPr lang="en-US" sz="2800" b="1" i="1" dirty="0">
                <a:highlight>
                  <a:srgbClr val="FFFF00"/>
                </a:highlight>
              </a:rPr>
              <a:t>Present advice | Future advice </a:t>
            </a:r>
            <a:r>
              <a:rPr lang="en-US" sz="2800" i="1" dirty="0" err="1">
                <a:highlight>
                  <a:srgbClr val="FFFF00"/>
                </a:highlight>
              </a:rPr>
              <a:t>uchun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ishlatiladi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Present</a:t>
            </a:r>
            <a:r>
              <a:rPr lang="en-US" sz="2800" dirty="0"/>
              <a:t> - You'd better stop smoking.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Future</a:t>
            </a:r>
            <a:r>
              <a:rPr lang="en-US" sz="2800" dirty="0"/>
              <a:t> - We'd better leave at 6 tomorrow.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NOT used for the past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❌ I had better study yesterday.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should have studied yesterday</a:t>
            </a:r>
            <a:r>
              <a:rPr lang="en-US" sz="2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5349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46657-9FBB-44C3-8A44-CE4CECD3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AEC6-F0EB-F9C5-ECF6-BC6868A06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256"/>
            <a:ext cx="12192000" cy="994468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Time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47270-FB5C-9AE3-E48A-F1EAE5A16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786581"/>
            <a:ext cx="11877366" cy="6053163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800" dirty="0"/>
              <a:t>I'd better ring him </a:t>
            </a:r>
            <a:r>
              <a:rPr lang="en-US" sz="2800" b="1" dirty="0"/>
              <a:t>now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I'd better ring him </a:t>
            </a:r>
            <a:r>
              <a:rPr lang="en-US" sz="2800" b="1" dirty="0"/>
              <a:t>tomorrow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We'd better leave </a:t>
            </a:r>
            <a:r>
              <a:rPr lang="en-US" sz="2800" b="1" dirty="0"/>
              <a:t>early</a:t>
            </a:r>
            <a:r>
              <a:rPr lang="en-US" sz="28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We'd better leave </a:t>
            </a:r>
            <a:r>
              <a:rPr lang="en-US" sz="2800" b="1" dirty="0"/>
              <a:t>at six</a:t>
            </a:r>
            <a:r>
              <a:rPr lang="en-US" sz="26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Or clause - </a:t>
            </a:r>
            <a:r>
              <a:rPr lang="en-US" sz="2800" b="1" dirty="0">
                <a:solidFill>
                  <a:srgbClr val="00B0F0"/>
                </a:solidFill>
              </a:rPr>
              <a:t>Had better + or + bad result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We'd better hurry </a:t>
            </a:r>
            <a:r>
              <a:rPr lang="en-US" sz="2800" b="1" dirty="0"/>
              <a:t>or</a:t>
            </a:r>
            <a:r>
              <a:rPr lang="en-US" sz="2800" dirty="0"/>
              <a:t> we'll miss the bus.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You'd better study </a:t>
            </a:r>
            <a:r>
              <a:rPr lang="en-US" sz="2800" b="1" dirty="0"/>
              <a:t>or</a:t>
            </a:r>
            <a:r>
              <a:rPr lang="en-US" sz="2800" dirty="0"/>
              <a:t> you'll fail.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We'd better take a taxi </a:t>
            </a:r>
            <a:r>
              <a:rPr lang="en-US" sz="2800" b="1" dirty="0"/>
              <a:t>or</a:t>
            </a:r>
            <a:r>
              <a:rPr lang="en-US" sz="2800" dirty="0"/>
              <a:t> we'll be late.</a:t>
            </a:r>
          </a:p>
        </p:txBody>
      </p:sp>
    </p:spTree>
    <p:extLst>
      <p:ext uri="{BB962C8B-B14F-4D97-AF65-F5344CB8AC3E}">
        <p14:creationId xmlns:p14="http://schemas.microsoft.com/office/powerpoint/2010/main" val="2862255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F3F22-10F0-4A0E-186C-99D2DF039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9D6DA-64E2-ED62-40D6-04A09CF50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256"/>
            <a:ext cx="12192000" cy="994468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Indirect Speech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64D44-7AE4-DBF8-EBE4-6061B164B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1101213"/>
            <a:ext cx="11877366" cy="57385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Indirect </a:t>
            </a:r>
            <a:r>
              <a:rPr lang="en-US" sz="2800" i="1" dirty="0" err="1">
                <a:highlight>
                  <a:srgbClr val="FFFF00"/>
                </a:highlight>
              </a:rPr>
              <a:t>speechda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had better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odatda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o'zgarmaydi</a:t>
            </a:r>
            <a:r>
              <a:rPr lang="en-US" sz="2800" i="1" dirty="0">
                <a:highlight>
                  <a:srgbClr val="FFFF00"/>
                </a:highlight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Direct</a:t>
            </a:r>
            <a:r>
              <a:rPr lang="en-US" sz="2800" dirty="0"/>
              <a:t> - He said, "I'd better hurry."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Indirect</a:t>
            </a:r>
            <a:r>
              <a:rPr lang="en-US" sz="2800" dirty="0"/>
              <a:t> - He said (that) he'd better hurry. 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Direct</a:t>
            </a:r>
            <a:r>
              <a:rPr lang="en-US" sz="2800" dirty="0"/>
              <a:t> - He said, "Ann had better hurry."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Indirect</a:t>
            </a:r>
            <a:r>
              <a:rPr lang="en-US" sz="2800" dirty="0"/>
              <a:t> - He said (that) Ann had better hurry.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Direct</a:t>
            </a:r>
            <a:r>
              <a:rPr lang="en-US" sz="2800" dirty="0"/>
              <a:t> - He said, "You had better get into business."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Indirect</a:t>
            </a:r>
            <a:r>
              <a:rPr lang="en-US" sz="2800" dirty="0"/>
              <a:t> - He said (that) I had better get into business.</a:t>
            </a:r>
          </a:p>
          <a:p>
            <a:pPr lvl="1">
              <a:lnSpc>
                <a:spcPct val="150000"/>
              </a:lnSpc>
            </a:pPr>
            <a:r>
              <a:rPr lang="en-US" sz="2800" b="1" dirty="0"/>
              <a:t>Or</a:t>
            </a:r>
            <a:r>
              <a:rPr lang="en-US" sz="2800" dirty="0"/>
              <a:t> - He advised me to get into business.</a:t>
            </a:r>
          </a:p>
        </p:txBody>
      </p:sp>
    </p:spTree>
    <p:extLst>
      <p:ext uri="{BB962C8B-B14F-4D97-AF65-F5344CB8AC3E}">
        <p14:creationId xmlns:p14="http://schemas.microsoft.com/office/powerpoint/2010/main" val="3553663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5C451-CEEC-BA40-767B-F8A1B9888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934E-1354-E8BE-194B-0FE6A944F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256"/>
            <a:ext cx="12192000" cy="994468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Common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E8993-FDF2-3D0F-6E46-D823034FA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1101213"/>
            <a:ext cx="11877366" cy="57385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❌ You had better to go. ✔ You had better go.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You had better going. ✔ You had better go.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You had better goes. ✔ You had better go.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He had better went. ✔ He had better go.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I had better studied. ✔ I had better study.</a:t>
            </a:r>
          </a:p>
        </p:txBody>
      </p:sp>
    </p:spTree>
    <p:extLst>
      <p:ext uri="{BB962C8B-B14F-4D97-AF65-F5344CB8AC3E}">
        <p14:creationId xmlns:p14="http://schemas.microsoft.com/office/powerpoint/2010/main" val="1523632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C1C72-EF45-4B8C-C75C-C124C305D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31F2-E203-1438-D9D2-F7B5FC43B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8256"/>
            <a:ext cx="12192000" cy="994468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Summary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7CC1E70-493F-39AA-D0FF-FBB6C15D2F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2598247"/>
              </p:ext>
            </p:extLst>
          </p:nvPr>
        </p:nvGraphicFramePr>
        <p:xfrm>
          <a:off x="0" y="895148"/>
          <a:ext cx="12192000" cy="6005290"/>
        </p:xfrm>
        <a:graphic>
          <a:graphicData uri="http://schemas.openxmlformats.org/drawingml/2006/table">
            <a:tbl>
              <a:tblPr/>
              <a:tblGrid>
                <a:gridCol w="3542097">
                  <a:extLst>
                    <a:ext uri="{9D8B030D-6E8A-4147-A177-3AD203B41FA5}">
                      <a16:colId xmlns:a16="http://schemas.microsoft.com/office/drawing/2014/main" val="1553023085"/>
                    </a:ext>
                  </a:extLst>
                </a:gridCol>
                <a:gridCol w="4109987">
                  <a:extLst>
                    <a:ext uri="{9D8B030D-6E8A-4147-A177-3AD203B41FA5}">
                      <a16:colId xmlns:a16="http://schemas.microsoft.com/office/drawing/2014/main" val="3658692809"/>
                    </a:ext>
                  </a:extLst>
                </a:gridCol>
                <a:gridCol w="4539916">
                  <a:extLst>
                    <a:ext uri="{9D8B030D-6E8A-4147-A177-3AD203B41FA5}">
                      <a16:colId xmlns:a16="http://schemas.microsoft.com/office/drawing/2014/main" val="743989196"/>
                    </a:ext>
                  </a:extLst>
                </a:gridCol>
              </a:tblGrid>
              <a:tr h="7926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/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107921"/>
                  </a:ext>
                </a:extLst>
              </a:tr>
              <a:tr h="792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had better + V1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kuchli maslahat / ogohlantirish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You'd better leave now.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950311"/>
                  </a:ext>
                </a:extLst>
              </a:tr>
              <a:tr h="792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had better not + V1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qilmaganing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ma'qul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You'd better not smoke here.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838166"/>
                  </a:ext>
                </a:extLst>
              </a:tr>
              <a:tr h="792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Hadn't + subject + better...?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rasmiy maslahat so'rash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Hadn't you better ask first?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399112"/>
                  </a:ext>
                </a:extLst>
              </a:tr>
              <a:tr h="1387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had better + or...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aks holda yomon natija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We'd better hurry or we'll miss the train.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334933"/>
                  </a:ext>
                </a:extLst>
              </a:tr>
              <a:tr h="13870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had best + V1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had better bilan bir xil, lekin kamroq ishlatiladi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You had best leave now.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97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5524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70</TotalTime>
  <Words>549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Wingdings</vt:lpstr>
      <vt:lpstr>Wood Type</vt:lpstr>
      <vt:lpstr>HAD BETTER</vt:lpstr>
      <vt:lpstr>HAD BETTER</vt:lpstr>
      <vt:lpstr>Structure</vt:lpstr>
      <vt:lpstr>Question (rare)</vt:lpstr>
      <vt:lpstr>HAD BETTER vs SHOULD</vt:lpstr>
      <vt:lpstr>Tense</vt:lpstr>
      <vt:lpstr>Time expressions</vt:lpstr>
      <vt:lpstr>Indirect Speech</vt:lpstr>
      <vt:lpstr>Common mistakes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8</cp:revision>
  <dcterms:created xsi:type="dcterms:W3CDTF">2026-06-12T09:02:24Z</dcterms:created>
  <dcterms:modified xsi:type="dcterms:W3CDTF">2026-06-12T10:13:14Z</dcterms:modified>
</cp:coreProperties>
</file>