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40E4"/>
    <a:srgbClr val="B36B47"/>
    <a:srgbClr val="F4B20C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BD22E-A1EE-44EB-BB27-A319555D5C2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CD0CE-2940-49EE-B4AC-11861284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CD0CE-2940-49EE-B4AC-11861284B3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56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9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8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9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2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9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7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6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241A63A-AD6C-4376-A14F-BB3C2151AAC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A48A3A55-2409-4ECD-9859-B68265AA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8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1191-2EC1-BC53-3614-6B79EFBE6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748" y="1268361"/>
            <a:ext cx="10530349" cy="3199670"/>
          </a:xfrm>
        </p:spPr>
        <p:txBody>
          <a:bodyPr/>
          <a:lstStyle/>
          <a:p>
            <a:pPr algn="ctr"/>
            <a:r>
              <a:rPr lang="en-US" sz="13800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CLEFT SENTENCES</a:t>
            </a:r>
            <a:endParaRPr lang="en-US" sz="13800" b="1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EF2A6-C23E-8F2D-C41F-A3370CC994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8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60209E-17 -4.07407E-6 L -2.91667E-6 -0.12523 " pathEditMode="relative" rAng="0" ptsTypes="AA">
                                      <p:cBhvr>
                                        <p:cTn id="6" dur="7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-7801"/>
                                    </p:animMotion>
                                    <p:animRot by="1500000">
                                      <p:cBhvr>
                                        <p:cTn id="7" dur="3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37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375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375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F220-4E15-6063-2563-6D0E72D7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CLEFT SENTENCES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0F15D-F99B-A85B-6F04-850FEDF34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 </a:t>
            </a:r>
            <a:r>
              <a:rPr lang="en-US" sz="2800" b="1" i="1" dirty="0">
                <a:highlight>
                  <a:srgbClr val="FFFF00"/>
                </a:highlight>
              </a:rPr>
              <a:t>cleft sentence</a:t>
            </a:r>
            <a:r>
              <a:rPr lang="en-US" sz="2800" i="1" dirty="0">
                <a:highlight>
                  <a:srgbClr val="FFFF00"/>
                </a:highlight>
              </a:rPr>
              <a:t> is a sentence structure used to </a:t>
            </a:r>
            <a:r>
              <a:rPr lang="en-US" sz="2800" b="1" i="1" dirty="0">
                <a:highlight>
                  <a:srgbClr val="FFFF00"/>
                </a:highlight>
              </a:rPr>
              <a:t>focus or emphasize one particular part of a sentence</a:t>
            </a:r>
            <a:r>
              <a:rPr lang="en-US" sz="2800" i="1" dirty="0">
                <a:highlight>
                  <a:srgbClr val="FFFF00"/>
                </a:highlight>
              </a:rPr>
              <a:t> by dividing one simple sentence into </a:t>
            </a:r>
            <a:r>
              <a:rPr lang="en-US" sz="2800" b="1" i="1" dirty="0">
                <a:highlight>
                  <a:srgbClr val="FFFF00"/>
                </a:highlight>
              </a:rPr>
              <a:t>two clauses</a:t>
            </a:r>
            <a:r>
              <a:rPr lang="en-US" sz="2800" i="1" dirty="0">
                <a:highlight>
                  <a:srgbClr val="FFFF00"/>
                </a:highlight>
              </a:rPr>
              <a:t>. The word </a:t>
            </a:r>
            <a:r>
              <a:rPr lang="en-US" sz="2800" b="1" i="1" dirty="0">
                <a:highlight>
                  <a:srgbClr val="FFFF00"/>
                </a:highlight>
              </a:rPr>
              <a:t>cleft</a:t>
            </a:r>
            <a:r>
              <a:rPr lang="en-US" sz="2800" i="1" dirty="0">
                <a:highlight>
                  <a:srgbClr val="FFFF00"/>
                </a:highlight>
              </a:rPr>
              <a:t> means </a:t>
            </a:r>
            <a:r>
              <a:rPr lang="en-US" sz="2800" b="1" i="1" dirty="0">
                <a:highlight>
                  <a:srgbClr val="FFFF00"/>
                </a:highlight>
              </a:rPr>
              <a:t>split</a:t>
            </a:r>
            <a:r>
              <a:rPr lang="en-US" sz="2800" i="1" dirty="0">
                <a:highlight>
                  <a:srgbClr val="FFFF00"/>
                </a:highlight>
              </a:rPr>
              <a:t> or </a:t>
            </a:r>
            <a:r>
              <a:rPr lang="en-US" sz="2800" b="1" i="1" dirty="0">
                <a:highlight>
                  <a:srgbClr val="FFFF00"/>
                </a:highlight>
              </a:rPr>
              <a:t>divided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Normal sentence - Tom bought the car yesterday.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Cleft sentence - </a:t>
            </a:r>
            <a:r>
              <a:rPr lang="en-US" sz="2800" b="1" dirty="0">
                <a:solidFill>
                  <a:srgbClr val="0070C0"/>
                </a:solidFill>
              </a:rPr>
              <a:t>It was Tom who bought the car yesterday.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800" i="1" dirty="0"/>
              <a:t>The information is the same, but the cleft sentence emphasizes </a:t>
            </a:r>
            <a:r>
              <a:rPr lang="en-US" sz="2800" b="1" i="1" dirty="0"/>
              <a:t>Tom</a:t>
            </a:r>
            <a:r>
              <a:rPr lang="en-US" sz="2800" i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8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5A3A-8429-E801-1A0C-A2872E52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CFA6-C7AF-FD22-9D56-5A961FF2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Why do we use cleft sentences?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4CE8C-CCBF-014C-DF7E-A76A041F9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 use cleft sentences to: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a person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a thing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time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place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reason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emphasize an action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correct wrong information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</a:rPr>
              <a:t>compare or contrast information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make speech or writing more natural and dramatic</a:t>
            </a:r>
          </a:p>
        </p:txBody>
      </p:sp>
    </p:spTree>
    <p:extLst>
      <p:ext uri="{BB962C8B-B14F-4D97-AF65-F5344CB8AC3E}">
        <p14:creationId xmlns:p14="http://schemas.microsoft.com/office/powerpoint/2010/main" val="384752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3A53-59F6-B0DB-1E7D-5AAA113E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037C-B74F-A409-83C3-5C4A92C3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Main Types of Cleft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5ADA3-6845-C478-6A31-821C5FEC0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There are </a:t>
            </a:r>
            <a:r>
              <a:rPr lang="en-US" sz="2800" b="1" dirty="0"/>
              <a:t>six major types</a:t>
            </a:r>
            <a:r>
              <a:rPr lang="en-US" sz="28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It-cleft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- </a:t>
            </a:r>
            <a:r>
              <a:rPr lang="en-US" sz="2800" b="1" dirty="0">
                <a:solidFill>
                  <a:srgbClr val="00B0F0"/>
                </a:solidFill>
              </a:rPr>
              <a:t>it be + emphasized part + </a:t>
            </a:r>
            <a:r>
              <a:rPr lang="en-US" sz="2800" b="1" dirty="0" err="1">
                <a:solidFill>
                  <a:srgbClr val="00B0F0"/>
                </a:solidFill>
              </a:rPr>
              <a:t>wh</a:t>
            </a:r>
            <a:r>
              <a:rPr lang="en-US" sz="2800" b="1" dirty="0">
                <a:solidFill>
                  <a:srgbClr val="00B0F0"/>
                </a:solidFill>
              </a:rPr>
              <a:t>…+ rest of sentence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2060"/>
                </a:solidFill>
              </a:rPr>
              <a:t>Wh</a:t>
            </a:r>
            <a:r>
              <a:rPr lang="en-US" sz="2800" b="1" dirty="0">
                <a:solidFill>
                  <a:srgbClr val="002060"/>
                </a:solidFill>
              </a:rPr>
              <a:t>-cleft</a:t>
            </a:r>
            <a:r>
              <a:rPr lang="en-US" sz="2800" dirty="0">
                <a:solidFill>
                  <a:srgbClr val="0070C0"/>
                </a:solidFill>
              </a:rPr>
              <a:t> - </a:t>
            </a:r>
            <a:r>
              <a:rPr lang="en-US" sz="2800" b="1" dirty="0" err="1">
                <a:solidFill>
                  <a:srgbClr val="00B0F0"/>
                </a:solidFill>
              </a:rPr>
              <a:t>Wh</a:t>
            </a:r>
            <a:r>
              <a:rPr lang="en-US" sz="2800" b="1" dirty="0">
                <a:solidFill>
                  <a:srgbClr val="00B0F0"/>
                </a:solidFill>
              </a:rPr>
              <a:t>… + clause + be + emphasized information</a:t>
            </a:r>
            <a:endParaRPr lang="en-US" sz="2800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Reversed </a:t>
            </a:r>
            <a:r>
              <a:rPr lang="en-US" sz="2800" b="1" dirty="0" err="1">
                <a:solidFill>
                  <a:srgbClr val="002060"/>
                </a:solidFill>
              </a:rPr>
              <a:t>Wh</a:t>
            </a:r>
            <a:r>
              <a:rPr lang="en-US" sz="2800" b="1" dirty="0">
                <a:solidFill>
                  <a:srgbClr val="002060"/>
                </a:solidFill>
              </a:rPr>
              <a:t>-cleft </a:t>
            </a:r>
            <a:r>
              <a:rPr lang="en-US" sz="2800" b="1" dirty="0">
                <a:solidFill>
                  <a:srgbClr val="0070C0"/>
                </a:solidFill>
              </a:rPr>
              <a:t>- </a:t>
            </a:r>
            <a:r>
              <a:rPr lang="en-US" sz="2800" b="1" dirty="0">
                <a:solidFill>
                  <a:srgbClr val="00B0F0"/>
                </a:solidFill>
              </a:rPr>
              <a:t>Emphasized information + be + what-clause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All-cleft </a:t>
            </a:r>
            <a:r>
              <a:rPr lang="en-US" sz="2800" b="1" dirty="0">
                <a:solidFill>
                  <a:srgbClr val="0070C0"/>
                </a:solidFill>
              </a:rPr>
              <a:t>- </a:t>
            </a:r>
            <a:r>
              <a:rPr lang="en-US" sz="2800" b="1" dirty="0">
                <a:solidFill>
                  <a:srgbClr val="00B0F0"/>
                </a:solidFill>
              </a:rPr>
              <a:t>All + clause + be + emphasized information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Inferential (Reason) clefts -</a:t>
            </a:r>
            <a:r>
              <a:rPr lang="en-US" sz="2800" b="1" dirty="0">
                <a:solidFill>
                  <a:srgbClr val="00B0F0"/>
                </a:solidFill>
              </a:rPr>
              <a:t> It + be+ because + S + V + that + S + V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</a:rPr>
              <a:t>The thing/person/place that... </a:t>
            </a:r>
            <a:endParaRPr lang="en-US" sz="2800" b="1" dirty="0">
              <a:solidFill>
                <a:srgbClr val="00B0F0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C5000-E359-D271-96B5-758621403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A075-ACB3-AE01-7B6C-D695289F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IT-CLEFT (Most Common)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95039-5539-164B-2203-D5B3C456C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45575"/>
            <a:ext cx="12054348" cy="60124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It + be + emphasized part + who/that/which + rest of sentence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Emphasizing a Person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Sarah won the prize.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Sarah who won the prize.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Jack broke the window.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Jack who broke the window.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My father cooked dinner.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my father who cooked dinner.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76621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E304-8F81-F8F5-288A-E0D6F0B0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0155-E27B-513D-3168-806D4FF6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IT CLEFT SENTENCES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6F6E-3852-2E72-9AF4-65C2221F1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Emphasizing a Thing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She bought a laptop.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a laptop that she bought.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They need more money.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is more money that they need.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Emphasizing Time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He arrived yesterday.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yesterday that he arrived.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We met in June.</a:t>
            </a:r>
          </a:p>
          <a:p>
            <a:pPr lvl="1"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b="1" dirty="0"/>
              <a:t>It was in June that we met.</a:t>
            </a:r>
          </a:p>
        </p:txBody>
      </p:sp>
    </p:spTree>
    <p:extLst>
      <p:ext uri="{BB962C8B-B14F-4D97-AF65-F5344CB8AC3E}">
        <p14:creationId xmlns:p14="http://schemas.microsoft.com/office/powerpoint/2010/main" val="2015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93B7-27C0-A75D-D926-10936588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8CDC-1AE3-E7EE-DFDE-F198503E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IT CLEFT SENTENCES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CC23-2811-7AF1-AC39-1E5CAD49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717755"/>
            <a:ext cx="12054348" cy="614024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Emphasizing Place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They found the keys in the kitchen.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i="1" dirty="0"/>
              <a:t>It was in the kitchen that they found the keys.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Emphasizing Reason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She left because she was tired.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i="1" dirty="0"/>
              <a:t>It was because she was tired that she left.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Emphasizing a Whole Clause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She forgot to call me.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Cleft</a:t>
            </a:r>
            <a:r>
              <a:rPr lang="en-US" sz="2800" dirty="0"/>
              <a:t>: </a:t>
            </a:r>
            <a:r>
              <a:rPr lang="en-US" sz="2800" i="1" u="sng" dirty="0"/>
              <a:t>It was that she forgot to call me that upset me.</a:t>
            </a:r>
          </a:p>
        </p:txBody>
      </p:sp>
    </p:spTree>
    <p:extLst>
      <p:ext uri="{BB962C8B-B14F-4D97-AF65-F5344CB8AC3E}">
        <p14:creationId xmlns:p14="http://schemas.microsoft.com/office/powerpoint/2010/main" val="944684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4DA7-BB03-555A-6916-9AE89D73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51D1-39A4-6E3C-235E-EA660360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</a:rPr>
              <a:t>Tense in It-clefts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BDECD-8B9A-6090-FECB-32B004A34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 verb </a:t>
            </a:r>
            <a:r>
              <a:rPr lang="en-US" sz="2800" b="1" i="1" dirty="0">
                <a:highlight>
                  <a:srgbClr val="FFFF00"/>
                </a:highlight>
              </a:rPr>
              <a:t>be</a:t>
            </a:r>
            <a:r>
              <a:rPr lang="en-US" sz="2800" i="1" dirty="0">
                <a:highlight>
                  <a:srgbClr val="FFFF00"/>
                </a:highlight>
              </a:rPr>
              <a:t> changes according to the tense.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Present</a:t>
            </a:r>
            <a:r>
              <a:rPr lang="en-US" sz="2800" dirty="0"/>
              <a:t>: It is John who helps me.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Past</a:t>
            </a:r>
            <a:r>
              <a:rPr lang="en-US" sz="2800" dirty="0"/>
              <a:t>: It was John who helped me.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Future</a:t>
            </a:r>
            <a:r>
              <a:rPr lang="en-US" sz="2800" dirty="0"/>
              <a:t>: It will be John who helps me.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Present Perfect: </a:t>
            </a:r>
            <a:r>
              <a:rPr lang="en-US" sz="2800" dirty="0"/>
              <a:t>It has been John who has helped me.</a:t>
            </a:r>
          </a:p>
        </p:txBody>
      </p:sp>
    </p:spTree>
    <p:extLst>
      <p:ext uri="{BB962C8B-B14F-4D97-AF65-F5344CB8AC3E}">
        <p14:creationId xmlns:p14="http://schemas.microsoft.com/office/powerpoint/2010/main" val="3245328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05D6-A5AE-B570-BC6C-C5579BF7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BE57-90A1-E369-4434-DDC9353D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Relative Pronouns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4D8A-F1DF-1C1A-099C-B3F48929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934065"/>
            <a:ext cx="12054348" cy="59239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After a person </a:t>
            </a:r>
            <a:r>
              <a:rPr lang="en-US" sz="2800" dirty="0"/>
              <a:t>- </a:t>
            </a:r>
            <a:r>
              <a:rPr lang="en-US" sz="2800" u="sng" dirty="0"/>
              <a:t>Usually</a:t>
            </a:r>
            <a:r>
              <a:rPr lang="en-US" sz="2800" dirty="0"/>
              <a:t>: </a:t>
            </a:r>
            <a:r>
              <a:rPr lang="en-US" sz="2800" b="1" dirty="0"/>
              <a:t>who</a:t>
            </a:r>
            <a:r>
              <a:rPr lang="en-US" sz="2800" dirty="0"/>
              <a:t> Sometimes: </a:t>
            </a:r>
            <a:r>
              <a:rPr lang="en-US" sz="2800" b="1" dirty="0"/>
              <a:t>that</a:t>
            </a:r>
            <a:r>
              <a:rPr lang="en-US" sz="2800" dirty="0"/>
              <a:t> </a:t>
            </a:r>
            <a:r>
              <a:rPr lang="en-US" sz="2800" dirty="0" err="1"/>
              <a:t>ishlatiladi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It was Anna </a:t>
            </a:r>
            <a:r>
              <a:rPr lang="en-US" sz="2800" b="1" dirty="0"/>
              <a:t>who</a:t>
            </a:r>
            <a:r>
              <a:rPr lang="en-US" sz="2800" dirty="0"/>
              <a:t> called.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It was Anna </a:t>
            </a:r>
            <a:r>
              <a:rPr lang="en-US" sz="2800" b="1" dirty="0"/>
              <a:t>that</a:t>
            </a:r>
            <a:r>
              <a:rPr lang="en-US" sz="2800" dirty="0"/>
              <a:t> called.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After things </a:t>
            </a:r>
            <a:r>
              <a:rPr lang="en-US" sz="2800" dirty="0"/>
              <a:t>- </a:t>
            </a:r>
            <a:r>
              <a:rPr lang="en-US" sz="2800" u="sng" dirty="0"/>
              <a:t>Usually</a:t>
            </a:r>
            <a:r>
              <a:rPr lang="en-US" sz="2800" dirty="0"/>
              <a:t>: </a:t>
            </a:r>
            <a:r>
              <a:rPr lang="en-US" sz="2800" b="1" dirty="0"/>
              <a:t>that</a:t>
            </a:r>
            <a:r>
              <a:rPr lang="en-US" sz="2800" dirty="0"/>
              <a:t>  Sometimes: </a:t>
            </a:r>
            <a:r>
              <a:rPr lang="en-US" sz="2800" b="1" dirty="0"/>
              <a:t>which</a:t>
            </a:r>
            <a:r>
              <a:rPr lang="en-US" sz="2800" dirty="0"/>
              <a:t> </a:t>
            </a:r>
            <a:r>
              <a:rPr lang="en-US" sz="2800" dirty="0" err="1"/>
              <a:t>ishlatiladi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It was the book </a:t>
            </a:r>
            <a:r>
              <a:rPr lang="en-US" sz="2800" b="1" dirty="0"/>
              <a:t>that</a:t>
            </a:r>
            <a:r>
              <a:rPr lang="en-US" sz="2800" dirty="0"/>
              <a:t> I lost.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It was the book </a:t>
            </a:r>
            <a:r>
              <a:rPr lang="en-US" sz="2800" b="1" dirty="0"/>
              <a:t>which</a:t>
            </a:r>
            <a:r>
              <a:rPr lang="en-US" sz="2800" dirty="0"/>
              <a:t> I lost.</a:t>
            </a:r>
          </a:p>
        </p:txBody>
      </p:sp>
    </p:spTree>
    <p:extLst>
      <p:ext uri="{BB962C8B-B14F-4D97-AF65-F5344CB8AC3E}">
        <p14:creationId xmlns:p14="http://schemas.microsoft.com/office/powerpoint/2010/main" val="266227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6C64-9A05-6BCB-ECCD-2167458D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B590-90C4-A951-FAAE-4AAFA54C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WH-CLEFT (Pseudo-cleft)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B2DA-FD45-965D-5628-453546BB7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What + clause + be + emphasized information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This focuses on the </a:t>
            </a:r>
            <a:r>
              <a:rPr lang="en-US" sz="2800" b="1" i="1" dirty="0">
                <a:highlight>
                  <a:srgbClr val="FFFF00"/>
                </a:highlight>
              </a:rPr>
              <a:t>important information at the end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I need a holiday. </a:t>
            </a:r>
            <a:r>
              <a:rPr lang="en-US" sz="2800" b="1" dirty="0" err="1">
                <a:solidFill>
                  <a:srgbClr val="00B050"/>
                </a:solidFill>
              </a:rPr>
              <a:t>Wh</a:t>
            </a:r>
            <a:r>
              <a:rPr lang="en-US" sz="2800" b="1" dirty="0">
                <a:solidFill>
                  <a:srgbClr val="00B050"/>
                </a:solidFill>
              </a:rPr>
              <a:t>-cleft</a:t>
            </a:r>
            <a:r>
              <a:rPr lang="en-US" sz="2800" dirty="0">
                <a:solidFill>
                  <a:srgbClr val="00B050"/>
                </a:solidFill>
              </a:rPr>
              <a:t>: </a:t>
            </a:r>
            <a:r>
              <a:rPr lang="en-US" sz="2800" dirty="0"/>
              <a:t>What I need is a holiday.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She wants a new phone. </a:t>
            </a:r>
            <a:r>
              <a:rPr lang="en-US" sz="2800" b="1" dirty="0" err="1">
                <a:solidFill>
                  <a:srgbClr val="00B050"/>
                </a:solidFill>
              </a:rPr>
              <a:t>Wh</a:t>
            </a:r>
            <a:r>
              <a:rPr lang="en-US" sz="2800" b="1" dirty="0">
                <a:solidFill>
                  <a:srgbClr val="00B050"/>
                </a:solidFill>
              </a:rPr>
              <a:t>-cleft</a:t>
            </a:r>
            <a:r>
              <a:rPr lang="en-US" sz="2800" dirty="0"/>
              <a:t>: What she wants is a new phone.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They bought a new car. </a:t>
            </a:r>
            <a:r>
              <a:rPr lang="en-US" sz="2800" b="1" dirty="0" err="1">
                <a:solidFill>
                  <a:srgbClr val="00B050"/>
                </a:solidFill>
              </a:rPr>
              <a:t>Wh</a:t>
            </a:r>
            <a:r>
              <a:rPr lang="en-US" sz="2800" b="1" dirty="0">
                <a:solidFill>
                  <a:srgbClr val="00B050"/>
                </a:solidFill>
              </a:rPr>
              <a:t>-cleft</a:t>
            </a:r>
            <a:r>
              <a:rPr lang="en-US" sz="2800" dirty="0"/>
              <a:t>: What they bought was a new car.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I enjoy reading. </a:t>
            </a:r>
            <a:r>
              <a:rPr lang="en-US" sz="2800" b="1" dirty="0" err="1">
                <a:solidFill>
                  <a:srgbClr val="00B050"/>
                </a:solidFill>
              </a:rPr>
              <a:t>Wh</a:t>
            </a:r>
            <a:r>
              <a:rPr lang="en-US" sz="2800" b="1" dirty="0">
                <a:solidFill>
                  <a:srgbClr val="00B050"/>
                </a:solidFill>
              </a:rPr>
              <a:t>-cleft</a:t>
            </a:r>
            <a:r>
              <a:rPr lang="en-US" sz="2800" dirty="0"/>
              <a:t>: What I enjoy is reading.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We need more time. </a:t>
            </a:r>
            <a:r>
              <a:rPr lang="en-US" sz="2800" b="1" dirty="0" err="1">
                <a:solidFill>
                  <a:srgbClr val="00B050"/>
                </a:solidFill>
              </a:rPr>
              <a:t>Wh</a:t>
            </a:r>
            <a:r>
              <a:rPr lang="en-US" sz="2800" b="1" dirty="0">
                <a:solidFill>
                  <a:srgbClr val="00B050"/>
                </a:solidFill>
              </a:rPr>
              <a:t>-cleft</a:t>
            </a:r>
            <a:r>
              <a:rPr lang="en-US" sz="2800" dirty="0"/>
              <a:t>: What we need is more time.</a:t>
            </a:r>
          </a:p>
        </p:txBody>
      </p:sp>
    </p:spTree>
    <p:extLst>
      <p:ext uri="{BB962C8B-B14F-4D97-AF65-F5344CB8AC3E}">
        <p14:creationId xmlns:p14="http://schemas.microsoft.com/office/powerpoint/2010/main" val="248730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79BC-9BD5-D2B3-EAFF-3CBCD8709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9827-E4EC-0F8F-F07F-E4B4186C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 </a:t>
            </a:r>
            <a:r>
              <a:rPr lang="en-US" b="1" dirty="0" err="1">
                <a:solidFill>
                  <a:srgbClr val="FF0000"/>
                </a:solidFill>
              </a:rPr>
              <a:t>WH-words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B5E8-3DF0-F616-5DF8-5332A715B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Although </a:t>
            </a:r>
            <a:r>
              <a:rPr lang="en-US" sz="2800" b="1" i="1" dirty="0">
                <a:highlight>
                  <a:srgbClr val="FFFF00"/>
                </a:highlight>
              </a:rPr>
              <a:t>what</a:t>
            </a:r>
            <a:r>
              <a:rPr lang="en-US" sz="2800" i="1" dirty="0">
                <a:highlight>
                  <a:srgbClr val="FFFF00"/>
                </a:highlight>
              </a:rPr>
              <a:t> is the most common, other </a:t>
            </a:r>
            <a:r>
              <a:rPr lang="en-US" sz="2800" i="1" dirty="0" err="1">
                <a:highlight>
                  <a:srgbClr val="FFFF00"/>
                </a:highlight>
              </a:rPr>
              <a:t>WH-words</a:t>
            </a:r>
            <a:r>
              <a:rPr lang="en-US" sz="2800" i="1" dirty="0">
                <a:highlight>
                  <a:srgbClr val="FFFF00"/>
                </a:highlight>
              </a:rPr>
              <a:t> are also possible.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Where</a:t>
            </a:r>
          </a:p>
          <a:p>
            <a:pPr lvl="1">
              <a:lnSpc>
                <a:spcPct val="150000"/>
              </a:lnSpc>
            </a:pPr>
            <a:r>
              <a:rPr lang="en-US" sz="3000" u="sng" dirty="0"/>
              <a:t>Where we met </a:t>
            </a:r>
            <a:r>
              <a:rPr lang="en-US" sz="3000" dirty="0"/>
              <a:t>was the library.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When</a:t>
            </a:r>
          </a:p>
          <a:p>
            <a:pPr lvl="1">
              <a:lnSpc>
                <a:spcPct val="150000"/>
              </a:lnSpc>
            </a:pPr>
            <a:r>
              <a:rPr lang="en-US" sz="3000" u="sng" dirty="0"/>
              <a:t>When I feel happiest </a:t>
            </a:r>
            <a:r>
              <a:rPr lang="en-US" sz="3000" dirty="0"/>
              <a:t>is during the holidays.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Why</a:t>
            </a:r>
          </a:p>
          <a:p>
            <a:pPr lvl="1">
              <a:lnSpc>
                <a:spcPct val="150000"/>
              </a:lnSpc>
            </a:pPr>
            <a:r>
              <a:rPr lang="en-US" sz="3000" u="sng" dirty="0"/>
              <a:t>Why he resigned </a:t>
            </a:r>
            <a:r>
              <a:rPr lang="en-US" sz="3000" dirty="0"/>
              <a:t>is still unclear.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How</a:t>
            </a:r>
          </a:p>
          <a:p>
            <a:pPr lvl="1">
              <a:lnSpc>
                <a:spcPct val="150000"/>
              </a:lnSpc>
            </a:pPr>
            <a:r>
              <a:rPr lang="en-US" sz="3000" u="sng" dirty="0"/>
              <a:t>How she solved the problem </a:t>
            </a:r>
            <a:r>
              <a:rPr lang="en-US" sz="3000" dirty="0"/>
              <a:t>was amazing.</a:t>
            </a:r>
          </a:p>
        </p:txBody>
      </p:sp>
    </p:spTree>
    <p:extLst>
      <p:ext uri="{BB962C8B-B14F-4D97-AF65-F5344CB8AC3E}">
        <p14:creationId xmlns:p14="http://schemas.microsoft.com/office/powerpoint/2010/main" val="281451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61850-2088-1706-4BAB-5EBBE473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E0A9-5AA0-60E1-02E4-116E17E99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REVERSED WH-CLEFT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B0155-B902-322B-37F2-4E4C67FA8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Emphasized information + be + what-clause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Normal</a:t>
            </a:r>
            <a:r>
              <a:rPr lang="en-US" sz="2800" dirty="0"/>
              <a:t>: I need a holiday.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Reversed</a:t>
            </a:r>
            <a:r>
              <a:rPr lang="en-US" sz="2800" dirty="0"/>
              <a:t>: A holiday is </a:t>
            </a:r>
            <a:r>
              <a:rPr lang="en-US" sz="2800" u="sng" dirty="0"/>
              <a:t>what I need.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More sleep is </a:t>
            </a:r>
            <a:r>
              <a:rPr lang="en-US" sz="2800" u="sng" dirty="0"/>
              <a:t>what you need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new car is </a:t>
            </a:r>
            <a:r>
              <a:rPr lang="en-US" sz="2800" u="sng" dirty="0"/>
              <a:t>what they bought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Peace is </a:t>
            </a:r>
            <a:r>
              <a:rPr lang="en-US" sz="2800" u="sng" dirty="0"/>
              <a:t>what everyone wants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Success is </a:t>
            </a:r>
            <a:r>
              <a:rPr lang="en-US" sz="2800" u="sng" dirty="0"/>
              <a:t>what he dreams about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5653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91E4-D781-7C3B-13C2-890851D6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C3CD-5823-6A13-2511-83561266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ALL-CLEFT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AFD54-196E-6207-8BC4-4F783A59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All + clause + be + emphasized information</a:t>
            </a:r>
          </a:p>
          <a:p>
            <a:pPr>
              <a:lnSpc>
                <a:spcPct val="12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This means </a:t>
            </a:r>
            <a:r>
              <a:rPr lang="en-US" sz="2800" b="1" i="1" dirty="0">
                <a:highlight>
                  <a:srgbClr val="FFFF00"/>
                </a:highlight>
              </a:rPr>
              <a:t>the only thing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Examples</a:t>
            </a:r>
          </a:p>
          <a:p>
            <a:pPr lvl="1">
              <a:lnSpc>
                <a:spcPct val="120000"/>
              </a:lnSpc>
            </a:pPr>
            <a:r>
              <a:rPr lang="en-US" sz="2800" u="sng" dirty="0"/>
              <a:t>All I want </a:t>
            </a:r>
            <a:r>
              <a:rPr lang="en-US" sz="2800" dirty="0"/>
              <a:t>is peace. – The only thing that I want is peace.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All she needs is rest.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All we did was wait.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All they asked for was help.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All he wanted was some advice</a:t>
            </a:r>
            <a:r>
              <a:rPr lang="en-US" sz="26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Notice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All I did was apologize. = I only apologized.</a:t>
            </a:r>
          </a:p>
        </p:txBody>
      </p:sp>
    </p:spTree>
    <p:extLst>
      <p:ext uri="{BB962C8B-B14F-4D97-AF65-F5344CB8AC3E}">
        <p14:creationId xmlns:p14="http://schemas.microsoft.com/office/powerpoint/2010/main" val="222307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2803-E8FB-ED3D-6ED9-905A6B17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9DBB-0E4F-85A3-18CE-6E565029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THE THING / THE PERSON / THE PLACE THAT...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F071-3EA8-413A-BFAA-AC180D2EF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Instead of "what“ we can use them</a:t>
            </a:r>
          </a:p>
          <a:p>
            <a:pPr>
              <a:lnSpc>
                <a:spcPct val="150000"/>
              </a:lnSpc>
            </a:pPr>
            <a:r>
              <a:rPr lang="en-US" sz="2800" b="1" u="sng" dirty="0"/>
              <a:t>The thing that surprised me </a:t>
            </a:r>
            <a:r>
              <a:rPr lang="en-US" sz="2800" dirty="0"/>
              <a:t>was his answer.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= </a:t>
            </a:r>
            <a:r>
              <a:rPr lang="en-US" sz="2800" b="1" u="sng" dirty="0"/>
              <a:t>What surprised me </a:t>
            </a:r>
            <a:r>
              <a:rPr lang="en-US" sz="2800" dirty="0"/>
              <a:t>was his answer.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person who helped me was John.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place where we met was Paris.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reason why she left was obvious.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day when we met changed my life.</a:t>
            </a:r>
          </a:p>
        </p:txBody>
      </p:sp>
    </p:spTree>
    <p:extLst>
      <p:ext uri="{BB962C8B-B14F-4D97-AF65-F5344CB8AC3E}">
        <p14:creationId xmlns:p14="http://schemas.microsoft.com/office/powerpoint/2010/main" val="296818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AAFE-DCF3-74D6-B20B-C7106640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46F4-F060-86B3-12C4-35AE7B67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INFERENTIAL (Reason) CLEFTS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C5A11-5303-3034-A792-1D379EDF0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727587"/>
            <a:ext cx="12054348" cy="61304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to explain or infer a reason.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It + be+ because + S + V + that + S + V</a:t>
            </a:r>
            <a:endParaRPr lang="en-US" sz="2800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It's because he was tired </a:t>
            </a:r>
            <a:r>
              <a:rPr lang="en-US" sz="2800" dirty="0"/>
              <a:t>that he fell asleep.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It's because of the weather </a:t>
            </a:r>
            <a:r>
              <a:rPr lang="en-US" sz="2800" dirty="0"/>
              <a:t>that the match was cancelled.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The reason (why) + S + V + is (that) + S + V / noun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reason </a:t>
            </a:r>
            <a:r>
              <a:rPr lang="en-US" sz="2800" b="1" dirty="0"/>
              <a:t>why he fell asleep </a:t>
            </a:r>
            <a:r>
              <a:rPr lang="en-US" sz="2800" dirty="0"/>
              <a:t>was </a:t>
            </a:r>
            <a:r>
              <a:rPr lang="en-US" sz="2800" b="1" dirty="0"/>
              <a:t>that he was tired.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reason </a:t>
            </a:r>
            <a:r>
              <a:rPr lang="en-US" sz="2800" b="1" dirty="0"/>
              <a:t>why the match as cancelled </a:t>
            </a:r>
            <a:r>
              <a:rPr lang="en-US" sz="2800" dirty="0"/>
              <a:t>was </a:t>
            </a:r>
            <a:r>
              <a:rPr lang="en-US" sz="2800" b="1" dirty="0"/>
              <a:t>the weather.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reason </a:t>
            </a:r>
            <a:r>
              <a:rPr lang="en-US" sz="2800" b="1" dirty="0"/>
              <a:t>why they moved</a:t>
            </a:r>
            <a:r>
              <a:rPr lang="en-US" sz="2800" dirty="0"/>
              <a:t> is </a:t>
            </a:r>
            <a:r>
              <a:rPr lang="en-US" sz="2800" b="1" dirty="0"/>
              <a:t>that they found a better job.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47016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0EAB-AF6F-D168-76DD-4E0D183E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CEB0-545D-7C10-1A72-31215F7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Emphasizing Different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FECF-71AE-F03C-7EC9-C5B2BE764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Tom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B36B47"/>
                </a:solidFill>
              </a:rPr>
              <a:t>bought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B050"/>
                </a:solidFill>
              </a:rPr>
              <a:t>a new laptop </a:t>
            </a:r>
            <a:r>
              <a:rPr lang="en-US" sz="2800" b="1" dirty="0">
                <a:solidFill>
                  <a:srgbClr val="00B0F0"/>
                </a:solidFill>
              </a:rPr>
              <a:t>yesterday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F4B20C"/>
                </a:solidFill>
              </a:rPr>
              <a:t>in London </a:t>
            </a:r>
            <a:r>
              <a:rPr lang="en-US" sz="2800" b="1" dirty="0">
                <a:solidFill>
                  <a:srgbClr val="C940E4"/>
                </a:solidFill>
              </a:rPr>
              <a:t>because he needed it</a:t>
            </a:r>
            <a:r>
              <a:rPr lang="en-US" sz="28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Person</a:t>
            </a:r>
            <a:r>
              <a:rPr lang="en-US" sz="2800" dirty="0"/>
              <a:t>: </a:t>
            </a:r>
            <a:r>
              <a:rPr lang="en-US" sz="2800" b="1" dirty="0"/>
              <a:t>It was Tom </a:t>
            </a:r>
            <a:r>
              <a:rPr lang="en-US" sz="2800" dirty="0"/>
              <a:t>who bought a new laptop yesterday.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Thing</a:t>
            </a:r>
            <a:r>
              <a:rPr lang="en-US" sz="2800" dirty="0"/>
              <a:t>: </a:t>
            </a:r>
            <a:r>
              <a:rPr lang="en-US" sz="2800" b="1" dirty="0"/>
              <a:t>It was a new laptop </a:t>
            </a:r>
            <a:r>
              <a:rPr lang="en-US" sz="2800" dirty="0"/>
              <a:t>that Tom bought yesterday.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Time</a:t>
            </a:r>
            <a:r>
              <a:rPr lang="en-US" sz="2800" dirty="0"/>
              <a:t>: </a:t>
            </a:r>
            <a:r>
              <a:rPr lang="en-US" sz="2800" b="1" dirty="0"/>
              <a:t>It was yesterday </a:t>
            </a:r>
            <a:r>
              <a:rPr lang="en-US" sz="2800" dirty="0"/>
              <a:t>that Tom bought a new laptop.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4B20C"/>
                </a:solidFill>
              </a:rPr>
              <a:t>Place</a:t>
            </a:r>
            <a:r>
              <a:rPr lang="en-US" sz="2800" dirty="0"/>
              <a:t>: </a:t>
            </a:r>
            <a:r>
              <a:rPr lang="en-US" sz="2800" b="1" dirty="0"/>
              <a:t>It was in London </a:t>
            </a:r>
            <a:r>
              <a:rPr lang="en-US" sz="2800" dirty="0"/>
              <a:t>that Tom bought a new laptop.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Reason</a:t>
            </a:r>
            <a:r>
              <a:rPr lang="en-US" sz="2800" dirty="0"/>
              <a:t>: </a:t>
            </a:r>
            <a:r>
              <a:rPr lang="en-US" sz="2800" b="1" dirty="0"/>
              <a:t>It was because he needed it </a:t>
            </a:r>
            <a:r>
              <a:rPr lang="en-US" sz="2800" dirty="0"/>
              <a:t>that Tom bought a new laptop.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B36B47"/>
                </a:solidFill>
              </a:rPr>
              <a:t>Action</a:t>
            </a:r>
            <a:r>
              <a:rPr lang="en-US" sz="2800" dirty="0"/>
              <a:t>: what Tom did yesterday in London </a:t>
            </a:r>
            <a:r>
              <a:rPr lang="en-US" sz="2800" b="1" dirty="0"/>
              <a:t>was to buy a new laptop.</a:t>
            </a:r>
          </a:p>
        </p:txBody>
      </p:sp>
    </p:spTree>
    <p:extLst>
      <p:ext uri="{BB962C8B-B14F-4D97-AF65-F5344CB8AC3E}">
        <p14:creationId xmlns:p14="http://schemas.microsoft.com/office/powerpoint/2010/main" val="2832860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1E72-7B56-055A-13D6-6CF86ECA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B3E5-4739-DD23-0B36-C84ABCCF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BCB45-3CFE-4396-EFDB-7AF0D693F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875071"/>
            <a:ext cx="12054348" cy="598292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❌ Wrong - </a:t>
            </a:r>
            <a:r>
              <a:rPr lang="en-US" sz="2800" dirty="0"/>
              <a:t>It is John </a:t>
            </a:r>
            <a:r>
              <a:rPr lang="en-US" sz="2800" b="1" dirty="0"/>
              <a:t>which</a:t>
            </a:r>
            <a:r>
              <a:rPr lang="en-US" sz="2800" dirty="0"/>
              <a:t> helped me.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✅ Correct - </a:t>
            </a:r>
            <a:r>
              <a:rPr lang="en-US" sz="2800" dirty="0"/>
              <a:t>It is John </a:t>
            </a:r>
            <a:r>
              <a:rPr lang="en-US" sz="2800" b="1" dirty="0"/>
              <a:t>who</a:t>
            </a:r>
            <a:r>
              <a:rPr lang="en-US" sz="2800" dirty="0"/>
              <a:t> helped me.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❌ Wrong - </a:t>
            </a:r>
            <a:r>
              <a:rPr lang="en-US" sz="2800" dirty="0"/>
              <a:t>What I need </a:t>
            </a:r>
            <a:r>
              <a:rPr lang="en-US" sz="2800" b="1" dirty="0"/>
              <a:t>are</a:t>
            </a:r>
            <a:r>
              <a:rPr lang="en-US" sz="2800" dirty="0"/>
              <a:t> a car.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✅ Correct - </a:t>
            </a:r>
            <a:r>
              <a:rPr lang="en-US" sz="2800" dirty="0"/>
              <a:t>What I need </a:t>
            </a:r>
            <a:r>
              <a:rPr lang="en-US" sz="2800" b="1" dirty="0"/>
              <a:t>is</a:t>
            </a:r>
            <a:r>
              <a:rPr lang="en-US" sz="2800" dirty="0"/>
              <a:t> a car.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(Although in informal English, "are" is sometimes heard with plural complements.)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❌ Wrong - </a:t>
            </a:r>
            <a:r>
              <a:rPr lang="en-US" sz="2800" dirty="0"/>
              <a:t>It was </a:t>
            </a:r>
            <a:r>
              <a:rPr lang="en-US" sz="2800" b="1" dirty="0"/>
              <a:t>because tired </a:t>
            </a:r>
            <a:r>
              <a:rPr lang="en-US" sz="2800" dirty="0"/>
              <a:t>she left.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✅ Correct - </a:t>
            </a:r>
            <a:r>
              <a:rPr lang="en-US" sz="2800" dirty="0"/>
              <a:t>It was </a:t>
            </a:r>
            <a:r>
              <a:rPr lang="en-US" sz="2800" b="1" dirty="0"/>
              <a:t>because she </a:t>
            </a:r>
            <a:r>
              <a:rPr lang="en-US" sz="2800" dirty="0"/>
              <a:t>was tired that she left.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❌ Wrong - </a:t>
            </a:r>
            <a:r>
              <a:rPr lang="en-US" sz="2800" dirty="0"/>
              <a:t>What I bought </a:t>
            </a:r>
            <a:r>
              <a:rPr lang="en-US" sz="2800" b="1" dirty="0"/>
              <a:t>it was </a:t>
            </a:r>
            <a:r>
              <a:rPr lang="en-US" sz="2800" dirty="0"/>
              <a:t>a phone.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✅ Correct - </a:t>
            </a:r>
            <a:r>
              <a:rPr lang="en-US" sz="2800" dirty="0"/>
              <a:t>What I bought </a:t>
            </a:r>
            <a:r>
              <a:rPr lang="en-US" sz="2800" b="1" dirty="0"/>
              <a:t>was</a:t>
            </a:r>
            <a:r>
              <a:rPr lang="en-US" sz="2800" dirty="0"/>
              <a:t> a phone.</a:t>
            </a:r>
          </a:p>
        </p:txBody>
      </p:sp>
    </p:spTree>
    <p:extLst>
      <p:ext uri="{BB962C8B-B14F-4D97-AF65-F5344CB8AC3E}">
        <p14:creationId xmlns:p14="http://schemas.microsoft.com/office/powerpoint/2010/main" val="3383894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0C54-6ABA-975E-7554-AE6120D1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EB4D-2F4F-5EB7-2579-405A8BDB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Cleft vs Fronting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1B96-7AC0-63C9-1047-7F4F89A8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2" y="776747"/>
            <a:ext cx="12054348" cy="60812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Fronting simply moves information to the front.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Fronting</a:t>
            </a:r>
            <a:r>
              <a:rPr lang="en-US" sz="2800" dirty="0"/>
              <a:t>: Yesterday, I met Sarah.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Cleft</a:t>
            </a:r>
            <a:r>
              <a:rPr lang="en-US" sz="2800" dirty="0"/>
              <a:t>: It was yesterday that I met Sarah.</a:t>
            </a:r>
          </a:p>
          <a:p>
            <a:pPr>
              <a:lnSpc>
                <a:spcPct val="100000"/>
              </a:lnSpc>
            </a:pPr>
            <a:r>
              <a:rPr lang="en-US" sz="2800" i="1" dirty="0"/>
              <a:t>A cleft sentence gives </a:t>
            </a:r>
            <a:r>
              <a:rPr lang="en-US" sz="2800" b="1" i="1" dirty="0"/>
              <a:t>stronger emphasis</a:t>
            </a:r>
            <a:r>
              <a:rPr lang="en-US" sz="2800" i="1" dirty="0"/>
              <a:t> than fronting.</a:t>
            </a:r>
          </a:p>
          <a:p>
            <a:pPr>
              <a:lnSpc>
                <a:spcPct val="100000"/>
              </a:lnSpc>
            </a:pPr>
            <a:r>
              <a:rPr lang="en-US" sz="2600" b="1" dirty="0"/>
              <a:t>Cleft vs Passive - </a:t>
            </a:r>
            <a:r>
              <a:rPr lang="en-US" sz="2600" i="1" dirty="0"/>
              <a:t>Passive changes the focus to the receiver of the action.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Active</a:t>
            </a:r>
            <a:r>
              <a:rPr lang="en-US" sz="2800" dirty="0"/>
              <a:t>: Tom repaired the car.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Passive</a:t>
            </a:r>
            <a:r>
              <a:rPr lang="en-US" sz="2800" dirty="0"/>
              <a:t>: The car was repaired by Tom.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C940E4"/>
                </a:solidFill>
              </a:rPr>
              <a:t>Cleft</a:t>
            </a:r>
            <a:r>
              <a:rPr lang="en-US" sz="2800" dirty="0"/>
              <a:t>: It was Tom who repaired the car.</a:t>
            </a:r>
          </a:p>
          <a:p>
            <a:pPr>
              <a:lnSpc>
                <a:spcPct val="100000"/>
              </a:lnSpc>
            </a:pPr>
            <a:r>
              <a:rPr lang="en-US" sz="2800" i="1" dirty="0"/>
              <a:t>Passive focuses on </a:t>
            </a:r>
            <a:r>
              <a:rPr lang="en-US" sz="2800" b="1" i="1" dirty="0"/>
              <a:t>the car</a:t>
            </a:r>
            <a:r>
              <a:rPr lang="en-US" sz="2800" i="1" dirty="0"/>
              <a:t>, while the cleft focuses on </a:t>
            </a:r>
            <a:r>
              <a:rPr lang="en-US" sz="2800" b="1" i="1" dirty="0"/>
              <a:t>Tom</a:t>
            </a:r>
            <a:r>
              <a:rPr lang="en-US" sz="28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9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7F42-0082-0282-A677-85929741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D4F09F-CB9C-6638-4E3E-D2704BE1B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17159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12026">
                  <a:extLst>
                    <a:ext uri="{9D8B030D-6E8A-4147-A177-3AD203B41FA5}">
                      <a16:colId xmlns:a16="http://schemas.microsoft.com/office/drawing/2014/main" val="1854056822"/>
                    </a:ext>
                  </a:extLst>
                </a:gridCol>
                <a:gridCol w="5683045">
                  <a:extLst>
                    <a:ext uri="{9D8B030D-6E8A-4147-A177-3AD203B41FA5}">
                      <a16:colId xmlns:a16="http://schemas.microsoft.com/office/drawing/2014/main" val="4228912659"/>
                    </a:ext>
                  </a:extLst>
                </a:gridCol>
                <a:gridCol w="3696929">
                  <a:extLst>
                    <a:ext uri="{9D8B030D-6E8A-4147-A177-3AD203B41FA5}">
                      <a16:colId xmlns:a16="http://schemas.microsoft.com/office/drawing/2014/main" val="2873432514"/>
                    </a:ext>
                  </a:extLst>
                </a:gridCol>
              </a:tblGrid>
              <a:tr h="758403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3200" b="1"/>
                        <a:t>Type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Structure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Example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653515"/>
                  </a:ext>
                </a:extLst>
              </a:tr>
              <a:tr h="8295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It-cleft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It + be + focus + who/that + clause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It was Sarah who called.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734387"/>
                  </a:ext>
                </a:extLst>
              </a:tr>
              <a:tr h="7584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</a:t>
                      </a:r>
                      <a:r>
                        <a:rPr lang="en-US" sz="2400" b="0" dirty="0" err="1"/>
                        <a:t>Wh</a:t>
                      </a:r>
                      <a:r>
                        <a:rPr lang="en-US" sz="2400" b="0" dirty="0"/>
                        <a:t>-cleft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What + clause + be + focus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What I need is sleep.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401175"/>
                  </a:ext>
                </a:extLst>
              </a:tr>
              <a:tr h="1098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Reversed </a:t>
                      </a:r>
                      <a:r>
                        <a:rPr lang="en-US" sz="2400" b="0" dirty="0" err="1"/>
                        <a:t>Wh</a:t>
                      </a:r>
                      <a:r>
                        <a:rPr lang="en-US" sz="2400" b="0" dirty="0"/>
                        <a:t>-cleft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Focus + be + what-clause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Sleep is what I need.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3449"/>
                  </a:ext>
                </a:extLst>
              </a:tr>
              <a:tr h="7584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All-cleft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All + clause + be + focus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All I want is peace.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80569"/>
                  </a:ext>
                </a:extLst>
              </a:tr>
              <a:tr h="13272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Thing/Person 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The thing/person/place + relative clause + be + focus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The thing that matters is honesty.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854767"/>
                  </a:ext>
                </a:extLst>
              </a:tr>
              <a:tr h="13272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dirty="0"/>
                        <a:t> Reason cleft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It + be + because... + that + clause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It was because he was tired that he left.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7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85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100</TotalTime>
  <Words>1385</Words>
  <Application>Microsoft Office PowerPoint</Application>
  <PresentationFormat>Widescreen</PresentationFormat>
  <Paragraphs>175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Arial Black</vt:lpstr>
      <vt:lpstr>Bahnschrift Condensed</vt:lpstr>
      <vt:lpstr>Wingdings</vt:lpstr>
      <vt:lpstr>Wood Type</vt:lpstr>
      <vt:lpstr>CLEFT SENTENCES</vt:lpstr>
      <vt:lpstr>CLEFT SENTENCES</vt:lpstr>
      <vt:lpstr>Why do we use cleft sentences?</vt:lpstr>
      <vt:lpstr>Main Types of Cleft Sentences</vt:lpstr>
      <vt:lpstr>IT-CLEFT (Most Common)</vt:lpstr>
      <vt:lpstr>IT CLEFT SENTENCES</vt:lpstr>
      <vt:lpstr>IT CLEFT SENTENCES</vt:lpstr>
      <vt:lpstr>Tense in It-clefts</vt:lpstr>
      <vt:lpstr>Relative Pronouns</vt:lpstr>
      <vt:lpstr>WH-CLEFT (Pseudo-cleft)</vt:lpstr>
      <vt:lpstr>Other WH-words</vt:lpstr>
      <vt:lpstr>REVERSED WH-CLEFT</vt:lpstr>
      <vt:lpstr>ALL-CLEFT</vt:lpstr>
      <vt:lpstr>THE THING / THE PERSON / THE PLACE THAT...</vt:lpstr>
      <vt:lpstr>INFERENTIAL (Reason) CLEFTS</vt:lpstr>
      <vt:lpstr>Emphasizing Different Parts</vt:lpstr>
      <vt:lpstr>Common Mistakes</vt:lpstr>
      <vt:lpstr>Cleft vs Fronting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19</cp:revision>
  <dcterms:created xsi:type="dcterms:W3CDTF">2026-06-12T03:41:53Z</dcterms:created>
  <dcterms:modified xsi:type="dcterms:W3CDTF">2026-06-12T05:22:36Z</dcterms:modified>
</cp:coreProperties>
</file>