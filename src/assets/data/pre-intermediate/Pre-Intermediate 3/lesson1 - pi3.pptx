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6" r:id="rId8"/>
    <p:sldId id="267" r:id="rId9"/>
    <p:sldId id="26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3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2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3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7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8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7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0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C43AEF6-72D2-4905-9FDF-B6036A967A0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09BA3F43-35B3-42E6-A99D-B0F78284D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9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446E-BDE5-3070-740F-9ED73C099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800" dirty="0">
                <a:solidFill>
                  <a:srgbClr val="FF0000"/>
                </a:solidFill>
              </a:rPr>
              <a:t>CONDITIONALS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7604D-726C-2894-1AD8-75D5EB252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319" y="3301180"/>
            <a:ext cx="7891272" cy="106984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Type zero</a:t>
            </a:r>
          </a:p>
        </p:txBody>
      </p:sp>
    </p:spTree>
    <p:extLst>
      <p:ext uri="{BB962C8B-B14F-4D97-AF65-F5344CB8AC3E}">
        <p14:creationId xmlns:p14="http://schemas.microsoft.com/office/powerpoint/2010/main" val="147836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7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3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37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375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375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7BB9-445F-1683-504F-2E960417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003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ZERO CONDITIONAL (Type 0)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C3D4-AD81-880A-A8EF-4867626F4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170039"/>
            <a:ext cx="10250129" cy="56879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We use the </a:t>
            </a:r>
            <a:r>
              <a:rPr lang="en-US" sz="2800" b="1" dirty="0"/>
              <a:t>zero conditional</a:t>
            </a:r>
            <a:r>
              <a:rPr lang="en-US" sz="2800" dirty="0"/>
              <a:t> to talk about: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general truths</a:t>
            </a:r>
            <a:br>
              <a:rPr lang="en-US" sz="2800" dirty="0"/>
            </a:br>
            <a:r>
              <a:rPr lang="en-US" sz="2800" dirty="0"/>
              <a:t>✔ scientific facts</a:t>
            </a:r>
            <a:br>
              <a:rPr lang="en-US" sz="2800" dirty="0"/>
            </a:br>
            <a:r>
              <a:rPr lang="en-US" sz="2800" dirty="0"/>
              <a:t>✔ things that are always true</a:t>
            </a:r>
            <a:br>
              <a:rPr lang="en-US" sz="2800" dirty="0"/>
            </a:br>
            <a:r>
              <a:rPr lang="en-US" sz="2800" dirty="0"/>
              <a:t>✔ habits or routines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means: “Whenever this happens, that always happens.”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9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FCA5-19DA-3F7C-2A73-9B19992F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96645"/>
            <a:ext cx="11026058" cy="66613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Formula: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dirty="0">
                <a:solidFill>
                  <a:srgbClr val="00B0F0"/>
                </a:solidFill>
              </a:rPr>
              <a:t>If + Subject + Verb (present), Subject + Verb (present)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General truths: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you heat ice, it melts. 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you mix red and blue, you get purple.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Science facts: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water reaches 100°C, it boils. 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you drop an object, it falls to the ground.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Habits / routines: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I drink coffee at night, I don’t sleep well. 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she eats too much sugar, she feels sick.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Cause and effect: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you press this button, the machine starts. </a:t>
            </a:r>
          </a:p>
          <a:p>
            <a:pPr lvl="1">
              <a:lnSpc>
                <a:spcPct val="120000"/>
              </a:lnSpc>
            </a:pPr>
            <a:r>
              <a:rPr lang="en-US" sz="2800" dirty="0"/>
              <a:t>If you don’t water plants, they die.</a:t>
            </a:r>
          </a:p>
          <a:p>
            <a:pPr>
              <a:lnSpc>
                <a:spcPct val="12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575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2568-874C-595F-40CA-6BDF895D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Present Simple + Present Simple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F9087-8C24-CACC-0B62-A92D92232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11045"/>
            <a:ext cx="10058400" cy="57469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Most common form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Present Simple, Present Simple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the weather is fine, we eat outside.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 feel tired, I go to bed early.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Anvar doesn’t sleep well, </a:t>
            </a:r>
            <a:r>
              <a:rPr lang="en-US" sz="2800" b="1" dirty="0"/>
              <a:t>if</a:t>
            </a:r>
            <a:r>
              <a:rPr lang="en-US" sz="2800" dirty="0"/>
              <a:t> he drinks coffee.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</a:t>
            </a:r>
            <a:r>
              <a:rPr lang="en-US" sz="2800" i="1" dirty="0">
                <a:highlight>
                  <a:srgbClr val="FFFF00"/>
                </a:highlight>
              </a:rPr>
              <a:t>Meaning: every time this happens → this result happens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6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FBA7-BA0B-A96F-F455-52D203AD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82D2-0CC2-E32B-F3C3-3B426F6D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Present Continuous + Present Simple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E3A23-8DA8-8AB8-8C6A-4ACB1858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11045"/>
            <a:ext cx="11122152" cy="57469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Used </a:t>
            </a:r>
            <a:r>
              <a:rPr lang="en-US" sz="2800" i="1" dirty="0">
                <a:highlight>
                  <a:srgbClr val="FFFF00"/>
                </a:highlight>
              </a:rPr>
              <a:t>when situation is happening NOW / temporarily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Present Continuous, Present Simple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the kids are playing outside, I don’t interrupt them.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she is working late, she usually skips dinner.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If I am studying hard, I don’t use my phone.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Meaning: “at this moment / this period”</a:t>
            </a:r>
          </a:p>
        </p:txBody>
      </p:sp>
    </p:spTree>
    <p:extLst>
      <p:ext uri="{BB962C8B-B14F-4D97-AF65-F5344CB8AC3E}">
        <p14:creationId xmlns:p14="http://schemas.microsoft.com/office/powerpoint/2010/main" val="94850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3F9D9-E027-DD7D-9929-6D4F87BD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DAD6-14C1-4C75-AA93-D390FC02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0"/>
            <a:ext cx="11021961" cy="11110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Present Continuous + Present Continuous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8E29-69C2-7F45-0D77-03E174B90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11045"/>
            <a:ext cx="11122152" cy="57469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Both</a:t>
            </a:r>
            <a:r>
              <a:rPr lang="en-US" sz="2800" dirty="0"/>
              <a:t> </a:t>
            </a:r>
            <a:r>
              <a:rPr lang="en-US" sz="2800" i="1" dirty="0">
                <a:highlight>
                  <a:srgbClr val="FFFF00"/>
                </a:highlight>
              </a:rPr>
              <a:t>actions are temporary ongoing situations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Present Continuous, Present Continuous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the economy is growing fast, it is becoming unstable.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 am feeling stressed, I am eating less.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she is studying, she is avoiding social media.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Meaning: </a:t>
            </a:r>
            <a:r>
              <a:rPr lang="en-US" sz="2800" i="1" dirty="0">
                <a:highlight>
                  <a:srgbClr val="FFFF00"/>
                </a:highlight>
              </a:rPr>
              <a:t>both actions are happening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39871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1613-C235-46E0-52F3-7FDB8B42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5643-02DE-FBC5-4514-C448ED7A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 Past Simple + Past Simple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33B28-BE05-BF4D-CEEB-C315D58F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943897"/>
            <a:ext cx="11434916" cy="59141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We use them for: repeated actions, habits, situations that always happened in the past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Simple, Past Simple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my father had a day off, we went to visit grandparents.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it rained, we stayed at home.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 was hungry, I ate snacks.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</a:t>
            </a:r>
            <a:r>
              <a:rPr lang="en-US" sz="2800" i="1" dirty="0">
                <a:highlight>
                  <a:srgbClr val="FFFF00"/>
                </a:highlight>
              </a:rPr>
              <a:t>Meaning: every time in the past → same result</a:t>
            </a:r>
          </a:p>
        </p:txBody>
      </p:sp>
    </p:spTree>
    <p:extLst>
      <p:ext uri="{BB962C8B-B14F-4D97-AF65-F5344CB8AC3E}">
        <p14:creationId xmlns:p14="http://schemas.microsoft.com/office/powerpoint/2010/main" val="395401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67E54-7273-AFD1-07CA-45C81AD8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5C4D-6FE5-EC5E-DC88-F1944B01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 Past Simple + Past Continuous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BF19C-B62E-51AA-73A7-18142452E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943897"/>
            <a:ext cx="11434916" cy="59141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Repeated and ongoing action in the past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Simple, Past Continuous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Kevin always came in </a:t>
            </a:r>
            <a:r>
              <a:rPr lang="en-US" sz="2800" b="1" dirty="0"/>
              <a:t>if</a:t>
            </a:r>
            <a:r>
              <a:rPr lang="en-US" sz="2800" dirty="0"/>
              <a:t> he was passing our house.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 was walking to school, I listened to music.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she was cooking, I helped her.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</a:t>
            </a:r>
            <a:r>
              <a:rPr lang="en-US" sz="2800" i="1" dirty="0">
                <a:highlight>
                  <a:srgbClr val="FFFF00"/>
                </a:highlight>
              </a:rPr>
              <a:t>Meaning: one action happens during another ongoing action</a:t>
            </a:r>
          </a:p>
          <a:p>
            <a:pPr>
              <a:lnSpc>
                <a:spcPct val="150000"/>
              </a:lnSpc>
            </a:pP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52610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FEAF-27DD-B13A-3FF8-04CB354D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6127F-5AB6-C1BA-26ED-8D4964A1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 Past Simple + Past Continuous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B0328-7E33-9EC2-D50B-5CDCA4987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943897"/>
            <a:ext cx="11434916" cy="59141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Repeated and ongoing action in the past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If + Past Simple, Past Continuous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Kevin always came in </a:t>
            </a:r>
            <a:r>
              <a:rPr lang="en-US" sz="2800" b="1" dirty="0"/>
              <a:t>if</a:t>
            </a:r>
            <a:r>
              <a:rPr lang="en-US" sz="2800" dirty="0"/>
              <a:t> he was passing our house.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I was walking to school, I listened to music.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she was cooking, I helped her.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</a:t>
            </a:r>
            <a:r>
              <a:rPr lang="en-US" sz="2800" i="1" dirty="0">
                <a:highlight>
                  <a:srgbClr val="FFFF00"/>
                </a:highlight>
              </a:rPr>
              <a:t>Meaning: one action happens during another ongoing action</a:t>
            </a:r>
          </a:p>
          <a:p>
            <a:pPr>
              <a:lnSpc>
                <a:spcPct val="150000"/>
              </a:lnSpc>
            </a:pP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58029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0881-067B-CEEA-1B8E-2A13461C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3574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Rules of Zero Conditional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3322-E449-4B22-DED2-E00F66C5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717755"/>
            <a:ext cx="11464413" cy="614024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1. NOT imaginary - </a:t>
            </a:r>
            <a:r>
              <a:rPr lang="en-US" sz="2600" dirty="0"/>
              <a:t>Real conditionals are NOT “fantasy”:</a:t>
            </a:r>
            <a:br>
              <a:rPr lang="en-US" sz="2600" dirty="0"/>
            </a:br>
            <a:r>
              <a:rPr lang="en-US" sz="2600" dirty="0"/>
              <a:t>❌ If I were rich, I would… (this is unreal conditional)</a:t>
            </a:r>
            <a:br>
              <a:rPr lang="en-US" sz="2600" dirty="0"/>
            </a:br>
            <a:r>
              <a:rPr lang="en-US" sz="2600" dirty="0"/>
              <a:t>✔ If I have money, I spend it. (real)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2. Tense depends on time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Present → present forms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Past → past forms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3. Often = repeated behavior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Words like: </a:t>
            </a:r>
            <a:r>
              <a:rPr lang="en-US" sz="2600" b="1" dirty="0">
                <a:solidFill>
                  <a:srgbClr val="00B050"/>
                </a:solidFill>
              </a:rPr>
              <a:t>always | usually | every time |often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signal </a:t>
            </a:r>
            <a:r>
              <a:rPr lang="en-US" sz="2600" b="1" dirty="0"/>
              <a:t>REAL</a:t>
            </a:r>
            <a:r>
              <a:rPr lang="en-US" sz="2600" dirty="0"/>
              <a:t> conditional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F1BD-995A-B6BB-C0A9-58AC4DCE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4221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Negative/Question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DF57-D018-162A-6E3D-F090BAC8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35743"/>
            <a:ext cx="10886178" cy="60222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Negative form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Plants die </a:t>
            </a:r>
            <a:r>
              <a:rPr lang="en-US" sz="2800" b="1" dirty="0"/>
              <a:t>if</a:t>
            </a:r>
            <a:r>
              <a:rPr lang="en-US" sz="2800" dirty="0"/>
              <a:t> you don’t water them.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he doesn’t study, he fails exams.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feel tired </a:t>
            </a:r>
            <a:r>
              <a:rPr lang="en-US" sz="2800" b="1" dirty="0"/>
              <a:t>if</a:t>
            </a:r>
            <a:r>
              <a:rPr lang="en-US" sz="2800" dirty="0"/>
              <a:t> I don’t eat breakfast.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Question form - </a:t>
            </a:r>
            <a:r>
              <a:rPr lang="en-US" sz="2800" dirty="0"/>
              <a:t>We usually use the result clause as a question: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What happens </a:t>
            </a:r>
            <a:r>
              <a:rPr lang="en-US" sz="2800" b="1" dirty="0"/>
              <a:t>if</a:t>
            </a:r>
            <a:r>
              <a:rPr lang="en-US" sz="2800" dirty="0"/>
              <a:t> you heat water?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If</a:t>
            </a:r>
            <a:r>
              <a:rPr lang="en-US" sz="2800" dirty="0"/>
              <a:t> you press this button, what happens?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Does ice melt </a:t>
            </a:r>
            <a:r>
              <a:rPr lang="en-US" sz="2800" b="1" dirty="0"/>
              <a:t>if</a:t>
            </a:r>
            <a:r>
              <a:rPr lang="en-US" sz="2800" dirty="0"/>
              <a:t> you heat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97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C40D-1B0B-2073-DF8F-A4DC208B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0"/>
            <a:ext cx="10058400" cy="160934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7C7A46-A64F-A151-F6DD-7917A5C20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998902"/>
              </p:ext>
            </p:extLst>
          </p:nvPr>
        </p:nvGraphicFramePr>
        <p:xfrm>
          <a:off x="1069975" y="1527236"/>
          <a:ext cx="10058400" cy="3249932"/>
        </p:xfrm>
        <a:graphic>
          <a:graphicData uri="http://schemas.openxmlformats.org/drawingml/2006/table">
            <a:tbl>
              <a:tblPr/>
              <a:tblGrid>
                <a:gridCol w="3649509">
                  <a:extLst>
                    <a:ext uri="{9D8B030D-6E8A-4147-A177-3AD203B41FA5}">
                      <a16:colId xmlns:a16="http://schemas.microsoft.com/office/drawing/2014/main" val="2888220753"/>
                    </a:ext>
                  </a:extLst>
                </a:gridCol>
                <a:gridCol w="6408891">
                  <a:extLst>
                    <a:ext uri="{9D8B030D-6E8A-4147-A177-3AD203B41FA5}">
                      <a16:colId xmlns:a16="http://schemas.microsoft.com/office/drawing/2014/main" val="1966431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36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Present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If + present, 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18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Continuous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If + continuous, present/continuous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6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Past real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If + past, 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23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45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71</TotalTime>
  <Words>731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Wingdings</vt:lpstr>
      <vt:lpstr>Wood Type</vt:lpstr>
      <vt:lpstr>CONDITIONALS</vt:lpstr>
      <vt:lpstr>ZERO CONDITIONAL (Type 0)</vt:lpstr>
      <vt:lpstr>PowerPoint Presentation</vt:lpstr>
      <vt:lpstr>Present Simple + Present Simple</vt:lpstr>
      <vt:lpstr>Present Continuous + Present Simple</vt:lpstr>
      <vt:lpstr>Present Continuous + Present Continuous</vt:lpstr>
      <vt:lpstr> Past Simple + Past Simple</vt:lpstr>
      <vt:lpstr> Past Simple + Past Continuous</vt:lpstr>
      <vt:lpstr> Past Simple + Past Continuous</vt:lpstr>
      <vt:lpstr>Rules of Zero Conditional</vt:lpstr>
      <vt:lpstr>Negative/Question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11</cp:revision>
  <dcterms:created xsi:type="dcterms:W3CDTF">2026-06-10T12:21:45Z</dcterms:created>
  <dcterms:modified xsi:type="dcterms:W3CDTF">2026-06-10T13:33:19Z</dcterms:modified>
</cp:coreProperties>
</file>