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14A54-91C8-4993-B577-D5140D3547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285A1E76-C500-4574-A1DE-A005434A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5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14A54-91C8-4993-B577-D5140D3547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A1E76-C500-4574-A1DE-A005434A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98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8314A54-91C8-4993-B577-D5140D3547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85A1E76-C500-4574-A1DE-A005434A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25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14A54-91C8-4993-B577-D5140D3547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A1E76-C500-4574-A1DE-A005434A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20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14A54-91C8-4993-B577-D5140D3547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A1E76-C500-4574-A1DE-A005434A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7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14A54-91C8-4993-B577-D5140D3547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A1E76-C500-4574-A1DE-A005434A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3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14A54-91C8-4993-B577-D5140D3547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A1E76-C500-4574-A1DE-A005434A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5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14A54-91C8-4993-B577-D5140D3547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A1E76-C500-4574-A1DE-A005434A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79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14A54-91C8-4993-B577-D5140D354709}" type="datetimeFigureOut">
              <a:rPr lang="en-US" smtClean="0"/>
              <a:t>6/11/2026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A1E76-C500-4574-A1DE-A005434A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61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14A54-91C8-4993-B577-D5140D3547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A1E76-C500-4574-A1DE-A005434A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4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14A54-91C8-4993-B577-D5140D3547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A1E76-C500-4574-A1DE-A005434A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0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8314A54-91C8-4993-B577-D5140D3547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285A1E76-C500-4574-A1DE-A005434A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3AA1-13B9-15DE-7020-4A73BEC89D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FIRST CONDITIONAL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6250E-0F79-761A-7645-4788DE3AC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8016" y="2359152"/>
            <a:ext cx="7891272" cy="106984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Type one</a:t>
            </a:r>
          </a:p>
        </p:txBody>
      </p:sp>
    </p:spTree>
    <p:extLst>
      <p:ext uri="{BB962C8B-B14F-4D97-AF65-F5344CB8AC3E}">
        <p14:creationId xmlns:p14="http://schemas.microsoft.com/office/powerpoint/2010/main" val="277507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3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9D45-9A14-861B-2CB0-9CB803A1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5037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FIRST CONDITIONAL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FDB34-9BDE-5F08-ADAF-42ECD90FA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50374"/>
            <a:ext cx="10266746" cy="56338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Meaning: </a:t>
            </a:r>
            <a:r>
              <a:rPr lang="en-US" sz="2800" i="1" dirty="0">
                <a:highlight>
                  <a:srgbClr val="FFFF00"/>
                </a:highlight>
              </a:rPr>
              <a:t>We use the </a:t>
            </a:r>
            <a:r>
              <a:rPr lang="en-US" sz="2800" b="1" i="1" dirty="0">
                <a:highlight>
                  <a:srgbClr val="FFFF00"/>
                </a:highlight>
              </a:rPr>
              <a:t>first conditional</a:t>
            </a:r>
            <a:r>
              <a:rPr lang="en-US" sz="2800" i="1" dirty="0">
                <a:highlight>
                  <a:srgbClr val="FFFF00"/>
                </a:highlight>
              </a:rPr>
              <a:t> to talk about: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✔ a possible future situation</a:t>
            </a:r>
            <a:br>
              <a:rPr lang="en-US" sz="2800" dirty="0"/>
            </a:br>
            <a:r>
              <a:rPr lang="en-US" sz="2800" dirty="0"/>
              <a:t>✔ a real/likely condition</a:t>
            </a:r>
            <a:br>
              <a:rPr lang="en-US" sz="2800" dirty="0"/>
            </a:br>
            <a:r>
              <a:rPr lang="en-US" sz="2800" dirty="0"/>
              <a:t>✔ its possible result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 means: </a:t>
            </a:r>
            <a:r>
              <a:rPr lang="en-US" sz="2800" b="1" dirty="0">
                <a:solidFill>
                  <a:srgbClr val="0070C0"/>
                </a:solidFill>
              </a:rPr>
              <a:t>“If this happens, that will probably happen.”</a:t>
            </a:r>
            <a:endParaRPr lang="en-US" sz="2800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022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8D87D-817A-4F2E-1E47-AC91028F0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B6C1-7E00-BFE0-B5A2-DD1E717B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5037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BASIC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F625F-2129-B8F4-E792-8145DA93F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50374"/>
            <a:ext cx="11122152" cy="563388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If + Present Simple, will + V1 </a:t>
            </a:r>
            <a:r>
              <a:rPr lang="en-US" sz="2800" dirty="0"/>
              <a:t>(</a:t>
            </a:r>
            <a:r>
              <a:rPr lang="en-US" sz="2800" i="1" dirty="0">
                <a:highlight>
                  <a:srgbClr val="FFFF00"/>
                </a:highlight>
              </a:rPr>
              <a:t>or other modal verbs</a:t>
            </a:r>
            <a:r>
              <a:rPr lang="en-US" sz="28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it rains, I will stay at home.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you study hard, you will pass the exam.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she calls, I will answer.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IMPORTANT RULE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❌ WRONG: If he will come, I will go.</a:t>
            </a:r>
            <a:br>
              <a:rPr lang="en-US" sz="2600" dirty="0"/>
            </a:br>
            <a:r>
              <a:rPr lang="en-US" sz="2600" dirty="0"/>
              <a:t>✅ CORRECT: If he comes, I will go.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✔ </a:t>
            </a:r>
            <a:r>
              <a:rPr lang="en-US" sz="2800" i="1" dirty="0">
                <a:highlight>
                  <a:srgbClr val="FFFF00"/>
                </a:highlight>
              </a:rPr>
              <a:t>We NEVER use </a:t>
            </a:r>
            <a:r>
              <a:rPr lang="en-US" sz="2800" b="1" i="1" dirty="0">
                <a:highlight>
                  <a:srgbClr val="FFFF00"/>
                </a:highlight>
              </a:rPr>
              <a:t>will </a:t>
            </a:r>
            <a:r>
              <a:rPr lang="en-US" sz="2800" i="1" dirty="0">
                <a:highlight>
                  <a:srgbClr val="FFFF00"/>
                </a:highlight>
              </a:rPr>
              <a:t>in the if-clause</a:t>
            </a:r>
          </a:p>
        </p:txBody>
      </p:sp>
    </p:spTree>
    <p:extLst>
      <p:ext uri="{BB962C8B-B14F-4D97-AF65-F5344CB8AC3E}">
        <p14:creationId xmlns:p14="http://schemas.microsoft.com/office/powerpoint/2010/main" val="1195931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7D8D7-096E-16E9-E33E-5D022AA2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FE35E-0999-B5CB-8F08-CE9A236A9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86523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DIFFERENT VERB VARIATIONS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20003-7B82-E3F2-FDA9-1646F6393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993058"/>
            <a:ext cx="10266746" cy="5791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IF-clause can use: </a:t>
            </a:r>
            <a:r>
              <a:rPr lang="en-US" sz="2800" b="1" dirty="0">
                <a:solidFill>
                  <a:srgbClr val="00B0F0"/>
                </a:solidFill>
              </a:rPr>
              <a:t>Present Simple / Continuous / Perfect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Present Simple (most common)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If you work hard, you will succeed. 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If he arrives early, we will start. 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Present Continuous (temporary future)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If you are studying, I will not disturb you. 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If you are staying tonight, I will prepare dinner. 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Present Perfect (finished action before future result)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If you have finished your homework, you can go out. 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If she has written the report, I will check it.</a:t>
            </a:r>
          </a:p>
        </p:txBody>
      </p:sp>
    </p:spTree>
    <p:extLst>
      <p:ext uri="{BB962C8B-B14F-4D97-AF65-F5344CB8AC3E}">
        <p14:creationId xmlns:p14="http://schemas.microsoft.com/office/powerpoint/2010/main" val="399121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C9016-B1D9-48ED-E16F-0B7FC258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997D-C0C0-8A2E-D79E-293F89E2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5037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MODALS IN MAIN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FC98E-F0DC-4829-21D9-F615FACDD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52052"/>
            <a:ext cx="10266746" cy="5805948"/>
          </a:xfrm>
        </p:spPr>
        <p:txBody>
          <a:bodyPr>
            <a:normAutofit lnSpcReduction="10000"/>
          </a:bodyPr>
          <a:lstStyle/>
          <a:p>
            <a:r>
              <a:rPr lang="en-US" sz="2800" i="1" dirty="0">
                <a:highlight>
                  <a:srgbClr val="FFFF00"/>
                </a:highlight>
              </a:rPr>
              <a:t>Instead of “will”, we can use:</a:t>
            </a:r>
          </a:p>
          <a:p>
            <a:pPr lvl="1"/>
            <a:r>
              <a:rPr lang="en-US" sz="2600" b="1" dirty="0">
                <a:solidFill>
                  <a:srgbClr val="00B0F0"/>
                </a:solidFill>
              </a:rPr>
              <a:t>may / might </a:t>
            </a:r>
            <a:r>
              <a:rPr lang="en-US" sz="2600" dirty="0">
                <a:solidFill>
                  <a:srgbClr val="00B0F0"/>
                </a:solidFill>
              </a:rPr>
              <a:t>→ possibility | </a:t>
            </a:r>
            <a:r>
              <a:rPr lang="en-US" sz="2600" b="1" dirty="0">
                <a:solidFill>
                  <a:srgbClr val="00B0F0"/>
                </a:solidFill>
              </a:rPr>
              <a:t>can</a:t>
            </a:r>
            <a:r>
              <a:rPr lang="en-US" sz="2600" dirty="0">
                <a:solidFill>
                  <a:srgbClr val="00B0F0"/>
                </a:solidFill>
              </a:rPr>
              <a:t> → ability / permission </a:t>
            </a:r>
          </a:p>
          <a:p>
            <a:pPr lvl="1"/>
            <a:r>
              <a:rPr lang="en-US" sz="2600" b="1" dirty="0">
                <a:solidFill>
                  <a:srgbClr val="00B0F0"/>
                </a:solidFill>
              </a:rPr>
              <a:t>must / should </a:t>
            </a:r>
            <a:r>
              <a:rPr lang="en-US" sz="2600" dirty="0">
                <a:solidFill>
                  <a:srgbClr val="00B0F0"/>
                </a:solidFill>
              </a:rPr>
              <a:t>→ advice / obligation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it rains, the match </a:t>
            </a:r>
            <a:r>
              <a:rPr lang="en-US" sz="2800" b="1" dirty="0"/>
              <a:t>may</a:t>
            </a:r>
            <a:r>
              <a:rPr lang="en-US" sz="2800" dirty="0"/>
              <a:t> be cancelled.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you hurry, you </a:t>
            </a:r>
            <a:r>
              <a:rPr lang="en-US" sz="2800" b="1" dirty="0"/>
              <a:t>might</a:t>
            </a:r>
            <a:r>
              <a:rPr lang="en-US" sz="2800" dirty="0"/>
              <a:t> catch the bus.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 you finish early, you </a:t>
            </a:r>
            <a:r>
              <a:rPr lang="en-US" sz="2800" b="1" dirty="0"/>
              <a:t>can</a:t>
            </a:r>
            <a:r>
              <a:rPr lang="en-US" sz="2800" dirty="0"/>
              <a:t> go home.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you have ID, you </a:t>
            </a:r>
            <a:r>
              <a:rPr lang="en-US" sz="2800" b="1" dirty="0"/>
              <a:t>can</a:t>
            </a:r>
            <a:r>
              <a:rPr lang="en-US" sz="2800" dirty="0"/>
              <a:t> enter the library.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you want to pass, you </a:t>
            </a:r>
            <a:r>
              <a:rPr lang="en-US" sz="2800" b="1" dirty="0"/>
              <a:t>must</a:t>
            </a:r>
            <a:r>
              <a:rPr lang="en-US" sz="2800" dirty="0"/>
              <a:t> study.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you feel sick, you </a:t>
            </a:r>
            <a:r>
              <a:rPr lang="en-US" sz="2800" b="1" dirty="0"/>
              <a:t>should</a:t>
            </a:r>
            <a:r>
              <a:rPr lang="en-US" sz="2800" dirty="0"/>
              <a:t> see a doctor.</a:t>
            </a:r>
          </a:p>
        </p:txBody>
      </p:sp>
    </p:spTree>
    <p:extLst>
      <p:ext uri="{BB962C8B-B14F-4D97-AF65-F5344CB8AC3E}">
        <p14:creationId xmlns:p14="http://schemas.microsoft.com/office/powerpoint/2010/main" val="2831948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AE274-8D9F-D470-4941-67D55D75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A9071-8238-CB3A-B893-739915FDC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5037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IF-CLAUSE VARIATIONS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13B64-6657-86E4-D2D4-12E7A8C59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50374"/>
            <a:ext cx="10266746" cy="563388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/>
              <a:t>Present Continuous in IF-clause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If you are waiting for a bus, you should sit down.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If you are looking for Tom, he is upstairs.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If you are staying longer, I will book a room.</a:t>
            </a:r>
          </a:p>
        </p:txBody>
      </p:sp>
    </p:spTree>
    <p:extLst>
      <p:ext uri="{BB962C8B-B14F-4D97-AF65-F5344CB8AC3E}">
        <p14:creationId xmlns:p14="http://schemas.microsoft.com/office/powerpoint/2010/main" val="1077840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D31F8-8923-BEA2-73EF-F111E40F7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0285-D87A-D3A0-79A8-8B26211B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5037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IF-CLAUSE VARIATIONS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1729E-C69C-15B5-FCE8-6816BD3DC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50374"/>
            <a:ext cx="10266746" cy="563388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/>
              <a:t>Present Perfect in IF-clause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If you have finished dinner, I will pay.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If he has completed the task, he can leave.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If they haven’t arrived yet, we will wait.</a:t>
            </a:r>
          </a:p>
        </p:txBody>
      </p:sp>
    </p:spTree>
    <p:extLst>
      <p:ext uri="{BB962C8B-B14F-4D97-AF65-F5344CB8AC3E}">
        <p14:creationId xmlns:p14="http://schemas.microsoft.com/office/powerpoint/2010/main" val="403989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01145-D8BF-60A2-BF34-EA70BAEC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1C17B-A3D7-2DE0-A73A-915401AC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5037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IF-CLAUSE VARIATIONS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42188-2F9C-624C-ACDF-23357683D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50374"/>
            <a:ext cx="10266746" cy="563388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/>
              <a:t>Modal verbs in IF-clause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If I can save money, I will travel.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If you could help me, I would be grateful.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If you should hide the truth, what will you do?</a:t>
            </a:r>
          </a:p>
        </p:txBody>
      </p:sp>
    </p:spTree>
    <p:extLst>
      <p:ext uri="{BB962C8B-B14F-4D97-AF65-F5344CB8AC3E}">
        <p14:creationId xmlns:p14="http://schemas.microsoft.com/office/powerpoint/2010/main" val="3875959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23F3-0732-0984-6648-CDDEE9DE4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8151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MIXED EXAMPLES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34DB6-9C1A-FC2D-4C06-18559794B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573161"/>
            <a:ext cx="10227417" cy="50144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If it rains, I will stay home.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you are working, I won’t disturb you.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she has finished, we can leave.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he studies, he might pass.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you see him, tell him to call 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516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0F76-EF96-03F9-6E3A-BBE88D58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C44D9-8557-8667-0BBC-39570086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5037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SUMMARY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F1D754F-FF62-1C29-5F9F-C5F45962EA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1614554"/>
              </p:ext>
            </p:extLst>
          </p:nvPr>
        </p:nvGraphicFramePr>
        <p:xfrm>
          <a:off x="1066800" y="1456797"/>
          <a:ext cx="10058400" cy="3661920"/>
        </p:xfrm>
        <a:graphic>
          <a:graphicData uri="http://schemas.openxmlformats.org/drawingml/2006/table">
            <a:tbl>
              <a:tblPr/>
              <a:tblGrid>
                <a:gridCol w="2669458">
                  <a:extLst>
                    <a:ext uri="{9D8B030D-6E8A-4147-A177-3AD203B41FA5}">
                      <a16:colId xmlns:a16="http://schemas.microsoft.com/office/drawing/2014/main" val="1036206019"/>
                    </a:ext>
                  </a:extLst>
                </a:gridCol>
                <a:gridCol w="7388942">
                  <a:extLst>
                    <a:ext uri="{9D8B030D-6E8A-4147-A177-3AD203B41FA5}">
                      <a16:colId xmlns:a16="http://schemas.microsoft.com/office/drawing/2014/main" val="24344432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3200" b="1" dirty="0"/>
                        <a:t>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3200" b="1" dirty="0"/>
                        <a:t>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35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3200"/>
                        <a:t>IF clause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3200"/>
                        <a:t>Present Simple / Continuous / Perfect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79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3200"/>
                        <a:t>Main clause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3200"/>
                        <a:t>will / may / might / can / must / should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922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32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3200" dirty="0"/>
                        <a:t>real future possibility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27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7014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29</TotalTime>
  <Words>512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Wingdings</vt:lpstr>
      <vt:lpstr>Wood Type</vt:lpstr>
      <vt:lpstr>FIRST CONDITIONAL</vt:lpstr>
      <vt:lpstr>FIRST CONDITIONAL</vt:lpstr>
      <vt:lpstr>BASIC STRUCTURE</vt:lpstr>
      <vt:lpstr>DIFFERENT VERB VARIATIONS</vt:lpstr>
      <vt:lpstr>MODALS IN MAIN CLAUSE</vt:lpstr>
      <vt:lpstr>IF-CLAUSE VARIATIONS</vt:lpstr>
      <vt:lpstr>IF-CLAUSE VARIATIONS</vt:lpstr>
      <vt:lpstr>IF-CLAUSE VARIATIONS</vt:lpstr>
      <vt:lpstr>MIXED EXAMPLES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7</cp:revision>
  <dcterms:created xsi:type="dcterms:W3CDTF">2026-06-10T13:41:03Z</dcterms:created>
  <dcterms:modified xsi:type="dcterms:W3CDTF">2026-06-11T04:03:38Z</dcterms:modified>
</cp:coreProperties>
</file>