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4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1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9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7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0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8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7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4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7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5E95469-3FE2-4AEB-B50D-E971D8871BEB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6799E221-8734-4902-9014-FBD385FF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5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253C-4D19-D1F3-0490-04017FB74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F8704-54DE-491E-CC45-14BF057EDC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5BF36-F25C-DEF1-6A38-26F757AFC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88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3F12-AF29-4AEF-0C54-772C0163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80852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2EFA1-CF87-736D-46E2-0DB0CD13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644893"/>
            <a:ext cx="11932118" cy="62131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“In case” </a:t>
            </a:r>
            <a:r>
              <a:rPr lang="en-US" sz="2800" i="1" dirty="0" err="1">
                <a:highlight>
                  <a:srgbClr val="FFFF00"/>
                </a:highlight>
              </a:rPr>
              <a:t>ko‘pincha</a:t>
            </a:r>
            <a:r>
              <a:rPr lang="en-US" sz="2800" i="1" dirty="0">
                <a:highlight>
                  <a:srgbClr val="FFFF00"/>
                </a:highlight>
              </a:rPr>
              <a:t> “</a:t>
            </a:r>
            <a:r>
              <a:rPr lang="en-US" sz="2800" i="1" dirty="0" err="1">
                <a:highlight>
                  <a:srgbClr val="FFFF00"/>
                </a:highlight>
              </a:rPr>
              <a:t>ehtimol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bo‘lishi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mumkin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vaziyatga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tayyor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bo‘lish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”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 in case = </a:t>
            </a:r>
            <a:r>
              <a:rPr lang="en-US" sz="2800" i="1" dirty="0" err="1">
                <a:highlight>
                  <a:srgbClr val="FFFF00"/>
                </a:highlight>
              </a:rPr>
              <a:t>ehtimol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bo‘lsa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bo‘lib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qolsa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tayyorlik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. Bu “agar” (if) </a:t>
            </a:r>
            <a:r>
              <a:rPr lang="en-US" sz="2800" i="1" dirty="0" err="1">
                <a:highlight>
                  <a:srgbClr val="FFFF00"/>
                </a:highlight>
              </a:rPr>
              <a:t>bilan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xil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Conjunction : </a:t>
            </a:r>
            <a:r>
              <a:rPr lang="en-US" sz="2800" b="1" dirty="0">
                <a:solidFill>
                  <a:srgbClr val="00B0F0"/>
                </a:solidFill>
              </a:rPr>
              <a:t>Main clause + in case + Present Simple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In case </a:t>
            </a:r>
            <a:r>
              <a:rPr lang="en-US" sz="2800" dirty="0"/>
              <a:t>I forget later, here are the keys to the garage.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I’ll take cash </a:t>
            </a:r>
            <a:r>
              <a:rPr lang="en-US" sz="2800" b="1" dirty="0"/>
              <a:t>in case </a:t>
            </a:r>
            <a:r>
              <a:rPr lang="en-US" sz="2800" dirty="0"/>
              <a:t>we need it on the ferry.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case </a:t>
            </a:r>
            <a:r>
              <a:rPr lang="en-US" sz="2800" dirty="0"/>
              <a:t>dan </a:t>
            </a:r>
            <a:r>
              <a:rPr lang="en-US" sz="2800" dirty="0" err="1"/>
              <a:t>keyin</a:t>
            </a:r>
            <a:r>
              <a:rPr lang="en-US" sz="2800" dirty="0"/>
              <a:t> </a:t>
            </a:r>
            <a:r>
              <a:rPr lang="en-US" sz="2800" dirty="0" err="1"/>
              <a:t>odatda</a:t>
            </a:r>
            <a:r>
              <a:rPr lang="en-US" sz="2800" dirty="0"/>
              <a:t> Present Simple </a:t>
            </a:r>
            <a:r>
              <a:rPr lang="en-US" sz="2800" dirty="0" err="1"/>
              <a:t>ishlatiladi</a:t>
            </a:r>
            <a:r>
              <a:rPr lang="en-US" sz="2800" dirty="0"/>
              <a:t>, </a:t>
            </a:r>
            <a:r>
              <a:rPr lang="en-US" sz="2800" dirty="0" err="1"/>
              <a:t>hatto</a:t>
            </a:r>
            <a:r>
              <a:rPr lang="en-US" sz="2800" dirty="0"/>
              <a:t> </a:t>
            </a:r>
            <a:r>
              <a:rPr lang="en-US" sz="2800" dirty="0" err="1"/>
              <a:t>kelajak</a:t>
            </a:r>
            <a:r>
              <a:rPr lang="en-US" sz="2800" dirty="0"/>
              <a:t> </a:t>
            </a:r>
            <a:r>
              <a:rPr lang="en-US" sz="2800" dirty="0" err="1"/>
              <a:t>ma’nosi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 ham.✅ in case he is hungry ❌ in case he will be hungry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7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6808-1537-C9CC-E012-193E3AFA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As Adverb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44E1-09EC-77CC-CB51-400B94372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/>
              <a:t>Ba’zan</a:t>
            </a:r>
            <a:r>
              <a:rPr lang="en-US" sz="2800" i="1" dirty="0"/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just in case </a:t>
            </a:r>
            <a:r>
              <a:rPr lang="en-US" sz="2800" i="1" dirty="0" err="1">
                <a:highlight>
                  <a:srgbClr val="FFFF00"/>
                </a:highlight>
              </a:rPr>
              <a:t>alohida</a:t>
            </a:r>
            <a:r>
              <a:rPr lang="en-US" sz="2800" i="1" dirty="0">
                <a:highlight>
                  <a:srgbClr val="FFFF00"/>
                </a:highlight>
              </a:rPr>
              <a:t> ham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doesn’t want to say anything </a:t>
            </a:r>
            <a:r>
              <a:rPr lang="en-US" sz="2800" b="1" dirty="0"/>
              <a:t>just in case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U </a:t>
            </a:r>
            <a:r>
              <a:rPr lang="en-US" sz="2600" dirty="0" err="1"/>
              <a:t>har</a:t>
            </a:r>
            <a:r>
              <a:rPr lang="en-US" sz="2600" dirty="0"/>
              <a:t> </a:t>
            </a:r>
            <a:r>
              <a:rPr lang="en-US" sz="2600" dirty="0" err="1"/>
              <a:t>ehtiyot</a:t>
            </a:r>
            <a:r>
              <a:rPr lang="en-US" sz="2600" dirty="0"/>
              <a:t> deb, </a:t>
            </a:r>
            <a:r>
              <a:rPr lang="en-US" sz="2600" dirty="0" err="1"/>
              <a:t>hech</a:t>
            </a:r>
            <a:r>
              <a:rPr lang="en-US" sz="2600" dirty="0"/>
              <a:t> </a:t>
            </a:r>
            <a:r>
              <a:rPr lang="en-US" sz="2600" dirty="0" err="1"/>
              <a:t>narsa</a:t>
            </a:r>
            <a:r>
              <a:rPr lang="en-US" sz="2600" dirty="0"/>
              <a:t> </a:t>
            </a:r>
            <a:r>
              <a:rPr lang="en-US" sz="2600" dirty="0" err="1"/>
              <a:t>aytishni</a:t>
            </a:r>
            <a:r>
              <a:rPr lang="en-US" sz="2600" dirty="0"/>
              <a:t> </a:t>
            </a:r>
            <a:r>
              <a:rPr lang="en-US" sz="2600" dirty="0" err="1"/>
              <a:t>istamayapti</a:t>
            </a:r>
            <a:r>
              <a:rPr lang="en-US" sz="2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Take an umbrella, </a:t>
            </a:r>
            <a:r>
              <a:rPr lang="en-US" sz="2800" b="1" dirty="0"/>
              <a:t>just in case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Har </a:t>
            </a:r>
            <a:r>
              <a:rPr lang="en-US" sz="2600" dirty="0" err="1"/>
              <a:t>ehtiyot</a:t>
            </a:r>
            <a:r>
              <a:rPr lang="en-US" sz="2600" dirty="0"/>
              <a:t> </a:t>
            </a:r>
            <a:r>
              <a:rPr lang="en-US" sz="2600" dirty="0" err="1"/>
              <a:t>uchun</a:t>
            </a:r>
            <a:r>
              <a:rPr lang="en-US" sz="2600" dirty="0"/>
              <a:t> </a:t>
            </a:r>
            <a:r>
              <a:rPr lang="en-US" sz="2600" dirty="0" err="1"/>
              <a:t>soyabon</a:t>
            </a:r>
            <a:r>
              <a:rPr lang="en-US" sz="2600" dirty="0"/>
              <a:t> </a:t>
            </a:r>
            <a:r>
              <a:rPr lang="en-US" sz="2600" dirty="0" err="1"/>
              <a:t>ol</a:t>
            </a:r>
            <a:r>
              <a:rPr lang="en-US" sz="2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Bu </a:t>
            </a:r>
            <a:r>
              <a:rPr lang="en-US" sz="2800" dirty="0" err="1"/>
              <a:t>yerda</a:t>
            </a:r>
            <a:r>
              <a:rPr lang="en-US" sz="2800" dirty="0"/>
              <a:t> </a:t>
            </a:r>
            <a:r>
              <a:rPr lang="en-US" sz="2800" b="1" dirty="0"/>
              <a:t>just in case </a:t>
            </a:r>
            <a:r>
              <a:rPr lang="en-US" sz="2800" dirty="0"/>
              <a:t>= </a:t>
            </a:r>
            <a:r>
              <a:rPr lang="en-US" sz="2800" dirty="0" err="1"/>
              <a:t>ehtiyot</a:t>
            </a:r>
            <a:r>
              <a:rPr lang="en-US" sz="2800" dirty="0"/>
              <a:t> </a:t>
            </a:r>
            <a:r>
              <a:rPr lang="en-US" sz="2800" dirty="0" err="1"/>
              <a:t>uchun</a:t>
            </a:r>
            <a:r>
              <a:rPr lang="en-US" sz="2800" dirty="0"/>
              <a:t> / </a:t>
            </a:r>
            <a:r>
              <a:rPr lang="en-US" sz="2800" dirty="0" err="1"/>
              <a:t>bo‘lib</a:t>
            </a:r>
            <a:r>
              <a:rPr lang="en-US" sz="2800" dirty="0"/>
              <a:t> </a:t>
            </a:r>
            <a:r>
              <a:rPr lang="en-US" sz="2800" dirty="0" err="1"/>
              <a:t>qolsa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933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0054-25F2-4695-F427-F1585D7F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D3C77-EC7E-CC01-67CC-F00FEEE06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“In case” = “if” </a:t>
            </a:r>
            <a:r>
              <a:rPr lang="en-US" b="1" dirty="0" err="1">
                <a:solidFill>
                  <a:srgbClr val="FF0000"/>
                </a:solidFill>
              </a:rPr>
              <a:t>emas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16B18-B428-5390-F925-64DD52F98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1"/>
            <a:ext cx="11978800" cy="115503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I’ll take cash </a:t>
            </a:r>
            <a:r>
              <a:rPr lang="en-US" sz="2800" b="1" dirty="0"/>
              <a:t>in case </a:t>
            </a:r>
            <a:r>
              <a:rPr lang="en-US" sz="2800" dirty="0"/>
              <a:t>we need it on the ferry.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I’ll take cash </a:t>
            </a:r>
            <a:r>
              <a:rPr lang="en-US" sz="2800" b="1" dirty="0"/>
              <a:t>if</a:t>
            </a:r>
            <a:r>
              <a:rPr lang="en-US" sz="2800" dirty="0"/>
              <a:t> we need it on the ferry.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29A437-B638-A65C-FC49-A49160D7D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293871"/>
              </p:ext>
            </p:extLst>
          </p:nvPr>
        </p:nvGraphicFramePr>
        <p:xfrm>
          <a:off x="77002" y="2415941"/>
          <a:ext cx="12114998" cy="444205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6057499">
                  <a:extLst>
                    <a:ext uri="{9D8B030D-6E8A-4147-A177-3AD203B41FA5}">
                      <a16:colId xmlns:a16="http://schemas.microsoft.com/office/drawing/2014/main" val="112610444"/>
                    </a:ext>
                  </a:extLst>
                </a:gridCol>
                <a:gridCol w="6057499">
                  <a:extLst>
                    <a:ext uri="{9D8B030D-6E8A-4147-A177-3AD203B41FA5}">
                      <a16:colId xmlns:a16="http://schemas.microsoft.com/office/drawing/2014/main" val="1642603108"/>
                    </a:ext>
                  </a:extLst>
                </a:gridCol>
              </a:tblGrid>
              <a:tr h="7677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In case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If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841014"/>
                  </a:ext>
                </a:extLst>
              </a:tr>
              <a:tr h="23070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Let’s take our swimming costumes in case there’s a pool at the hotel.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Let’s take our swimming costumes if there’s a pool at the hotel.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70397"/>
                  </a:ext>
                </a:extLst>
              </a:tr>
              <a:tr h="13672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Biz </a:t>
                      </a:r>
                      <a:r>
                        <a:rPr lang="en-US" sz="2800" dirty="0" err="1"/>
                        <a:t>basseyn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bor-yo‘qligini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bilmaymiz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lekin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tayyor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bo‘lyapmiz</a:t>
                      </a:r>
                      <a:r>
                        <a:rPr lang="en-US" sz="2800" dirty="0"/>
                        <a:t>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/>
                        <a:t>Avval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basseyn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borligini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bilamiz</a:t>
                      </a:r>
                      <a:r>
                        <a:rPr lang="en-US" sz="2800" dirty="0"/>
                        <a:t>, </a:t>
                      </a:r>
                      <a:r>
                        <a:rPr lang="en-US" sz="2800" dirty="0" err="1"/>
                        <a:t>keyin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qaror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qilamiz</a:t>
                      </a:r>
                      <a:r>
                        <a:rPr lang="en-US" sz="2800" dirty="0"/>
                        <a:t>.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43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43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0E40-95A8-961E-5576-5B452927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6EAE-75A3-FAFF-C006-D0393F5F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 case </a:t>
            </a:r>
            <a:r>
              <a:rPr lang="en-US" b="1" dirty="0" err="1">
                <a:solidFill>
                  <a:srgbClr val="FF0000"/>
                </a:solidFill>
              </a:rPr>
              <a:t>qachon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ishlatiladi</a:t>
            </a:r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FFB11-43BA-2808-7CCF-CE9D9E63D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/>
              <a:t>Tayyor</a:t>
            </a:r>
            <a:r>
              <a:rPr lang="en-US" sz="2800" b="1" dirty="0"/>
              <a:t> </a:t>
            </a:r>
            <a:r>
              <a:rPr lang="en-US" sz="2800" b="1" dirty="0" err="1"/>
              <a:t>bo‘lish</a:t>
            </a:r>
            <a:r>
              <a:rPr lang="en-US" sz="2800" b="1" dirty="0"/>
              <a:t> </a:t>
            </a:r>
            <a:r>
              <a:rPr lang="en-US" sz="2800" b="1" dirty="0" err="1"/>
              <a:t>uchun</a:t>
            </a:r>
            <a:endParaRPr lang="en-US" sz="2800" b="1" dirty="0"/>
          </a:p>
          <a:p>
            <a:pPr lvl="2">
              <a:lnSpc>
                <a:spcPct val="150000"/>
              </a:lnSpc>
            </a:pPr>
            <a:r>
              <a:rPr lang="en-US" sz="2800" dirty="0"/>
              <a:t>Take a jacket in case it gets cold.</a:t>
            </a:r>
          </a:p>
          <a:p>
            <a:pPr lvl="2">
              <a:lnSpc>
                <a:spcPct val="150000"/>
              </a:lnSpc>
            </a:pPr>
            <a:r>
              <a:rPr lang="en-US" sz="2800" dirty="0" err="1"/>
              <a:t>Sovuq</a:t>
            </a:r>
            <a:r>
              <a:rPr lang="en-US" sz="2800" dirty="0"/>
              <a:t> </a:t>
            </a:r>
            <a:r>
              <a:rPr lang="en-US" sz="2800" dirty="0" err="1"/>
              <a:t>bo‘lib</a:t>
            </a:r>
            <a:r>
              <a:rPr lang="en-US" sz="2800" dirty="0"/>
              <a:t> </a:t>
            </a:r>
            <a:r>
              <a:rPr lang="en-US" sz="2800" dirty="0" err="1"/>
              <a:t>qolsa</a:t>
            </a:r>
            <a:r>
              <a:rPr lang="en-US" sz="2800" dirty="0"/>
              <a:t> deb, </a:t>
            </a:r>
            <a:r>
              <a:rPr lang="en-US" sz="2800" dirty="0" err="1"/>
              <a:t>kurtka</a:t>
            </a:r>
            <a:r>
              <a:rPr lang="en-US" sz="2800" dirty="0"/>
              <a:t> </a:t>
            </a:r>
            <a:r>
              <a:rPr lang="en-US" sz="2800" dirty="0" err="1"/>
              <a:t>ol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Ehtiyot</a:t>
            </a:r>
            <a:r>
              <a:rPr lang="en-US" sz="2800" b="1" dirty="0"/>
              <a:t> </a:t>
            </a:r>
            <a:r>
              <a:rPr lang="en-US" sz="2800" b="1" dirty="0" err="1"/>
              <a:t>chorasi</a:t>
            </a:r>
            <a:r>
              <a:rPr lang="en-US" sz="2800" b="1" dirty="0"/>
              <a:t> </a:t>
            </a:r>
            <a:r>
              <a:rPr lang="en-US" sz="2800" b="1" dirty="0" err="1"/>
              <a:t>sifatida</a:t>
            </a:r>
            <a:endParaRPr lang="en-US" sz="2800" b="1" dirty="0"/>
          </a:p>
          <a:p>
            <a:pPr lvl="2">
              <a:lnSpc>
                <a:spcPct val="150000"/>
              </a:lnSpc>
            </a:pPr>
            <a:r>
              <a:rPr lang="en-US" sz="2800" dirty="0"/>
              <a:t>Write down the address in case your phone dies.</a:t>
            </a:r>
          </a:p>
          <a:p>
            <a:pPr lvl="2">
              <a:lnSpc>
                <a:spcPct val="150000"/>
              </a:lnSpc>
            </a:pPr>
            <a:r>
              <a:rPr lang="en-US" sz="2800" dirty="0" err="1"/>
              <a:t>Telefoning</a:t>
            </a:r>
            <a:r>
              <a:rPr lang="en-US" sz="2800" dirty="0"/>
              <a:t> </a:t>
            </a:r>
            <a:r>
              <a:rPr lang="en-US" sz="2800" dirty="0" err="1"/>
              <a:t>o‘chib</a:t>
            </a:r>
            <a:r>
              <a:rPr lang="en-US" sz="2800" dirty="0"/>
              <a:t> </a:t>
            </a:r>
            <a:r>
              <a:rPr lang="en-US" sz="2800" dirty="0" err="1"/>
              <a:t>qolsa</a:t>
            </a:r>
            <a:r>
              <a:rPr lang="en-US" sz="2800" dirty="0"/>
              <a:t> deb, </a:t>
            </a:r>
            <a:r>
              <a:rPr lang="en-US" sz="2800" dirty="0" err="1"/>
              <a:t>manzilni</a:t>
            </a:r>
            <a:r>
              <a:rPr lang="en-US" sz="2800" dirty="0"/>
              <a:t> </a:t>
            </a:r>
            <a:r>
              <a:rPr lang="en-US" sz="2800" dirty="0" err="1"/>
              <a:t>yozib</a:t>
            </a:r>
            <a:r>
              <a:rPr lang="en-US" sz="2800" dirty="0"/>
              <a:t> </a:t>
            </a:r>
            <a:r>
              <a:rPr lang="en-US" sz="2800" dirty="0" err="1"/>
              <a:t>qo‘y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Kelajakdagi</a:t>
            </a:r>
            <a:r>
              <a:rPr lang="en-US" sz="2800" b="1" dirty="0"/>
              <a:t> </a:t>
            </a:r>
            <a:r>
              <a:rPr lang="en-US" sz="2800" b="1" dirty="0" err="1"/>
              <a:t>noma’lum</a:t>
            </a:r>
            <a:r>
              <a:rPr lang="en-US" sz="2800" b="1" dirty="0"/>
              <a:t> </a:t>
            </a:r>
            <a:r>
              <a:rPr lang="en-US" sz="2800" b="1" dirty="0" err="1"/>
              <a:t>vaziyat</a:t>
            </a:r>
            <a:r>
              <a:rPr lang="en-US" sz="2800" b="1" dirty="0"/>
              <a:t> </a:t>
            </a:r>
            <a:r>
              <a:rPr lang="en-US" sz="2800" b="1" dirty="0" err="1"/>
              <a:t>uchun</a:t>
            </a:r>
            <a:endParaRPr lang="en-US" sz="2800" b="1" dirty="0"/>
          </a:p>
          <a:p>
            <a:pPr lvl="2">
              <a:lnSpc>
                <a:spcPct val="150000"/>
              </a:lnSpc>
            </a:pPr>
            <a:r>
              <a:rPr lang="en-US" sz="2800" dirty="0"/>
              <a:t>We bought extra food in case guests come.</a:t>
            </a:r>
          </a:p>
          <a:p>
            <a:pPr lvl="2">
              <a:lnSpc>
                <a:spcPct val="150000"/>
              </a:lnSpc>
            </a:pPr>
            <a:r>
              <a:rPr lang="en-US" sz="2800" dirty="0" err="1"/>
              <a:t>Mehmonlar</a:t>
            </a:r>
            <a:r>
              <a:rPr lang="en-US" sz="2800" dirty="0"/>
              <a:t> </a:t>
            </a:r>
            <a:r>
              <a:rPr lang="en-US" sz="2800" dirty="0" err="1"/>
              <a:t>kelib</a:t>
            </a:r>
            <a:r>
              <a:rPr lang="en-US" sz="2800" dirty="0"/>
              <a:t> </a:t>
            </a:r>
            <a:r>
              <a:rPr lang="en-US" sz="2800" dirty="0" err="1"/>
              <a:t>qolsa</a:t>
            </a:r>
            <a:r>
              <a:rPr lang="en-US" sz="2800" dirty="0"/>
              <a:t> deb, </a:t>
            </a:r>
            <a:r>
              <a:rPr lang="en-US" sz="2800" dirty="0" err="1"/>
              <a:t>qo‘shimcha</a:t>
            </a:r>
            <a:r>
              <a:rPr lang="en-US" sz="2800" dirty="0"/>
              <a:t> </a:t>
            </a:r>
            <a:r>
              <a:rPr lang="en-US" sz="2800" dirty="0" err="1"/>
              <a:t>ovqat</a:t>
            </a:r>
            <a:r>
              <a:rPr lang="en-US" sz="2800" dirty="0"/>
              <a:t> </a:t>
            </a:r>
            <a:r>
              <a:rPr lang="en-US" sz="2800" dirty="0" err="1"/>
              <a:t>oldik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415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0DF9-C88F-F6B8-2223-FC171F28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105D-0EBE-741D-7927-8DF17526B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Important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4079-1AB6-C713-9E90-F812351E3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 case + Present Simple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Kelajak</a:t>
            </a:r>
            <a:r>
              <a:rPr lang="en-US" sz="2800" dirty="0"/>
              <a:t> </a:t>
            </a:r>
            <a:r>
              <a:rPr lang="en-US" sz="2800" dirty="0" err="1"/>
              <a:t>haqida</a:t>
            </a:r>
            <a:r>
              <a:rPr lang="en-US" sz="2800" dirty="0"/>
              <a:t> </a:t>
            </a:r>
            <a:r>
              <a:rPr lang="en-US" sz="2800" dirty="0" err="1"/>
              <a:t>gapirayotgan</a:t>
            </a:r>
            <a:r>
              <a:rPr lang="en-US" sz="2800" dirty="0"/>
              <a:t> </a:t>
            </a:r>
            <a:r>
              <a:rPr lang="en-US" sz="2800" dirty="0" err="1"/>
              <a:t>bo‘lsak</a:t>
            </a:r>
            <a:r>
              <a:rPr lang="en-US" sz="2800" dirty="0"/>
              <a:t> ham: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✅ Take your passport in case they ask for it.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Take your passport in case they will ask for it.</a:t>
            </a:r>
          </a:p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Xuddi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if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when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dagi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kabi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b="1" i="1" dirty="0">
                <a:highlight>
                  <a:srgbClr val="FFFF00"/>
                </a:highlight>
              </a:rPr>
              <a:t>in case </a:t>
            </a:r>
            <a:r>
              <a:rPr lang="en-US" sz="2800" i="1" dirty="0">
                <a:highlight>
                  <a:srgbClr val="FFFF00"/>
                </a:highlight>
              </a:rPr>
              <a:t>dan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ham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will </a:t>
            </a:r>
            <a:r>
              <a:rPr lang="en-US" sz="2800" i="1" dirty="0" err="1">
                <a:highlight>
                  <a:srgbClr val="FFFF00"/>
                </a:highlight>
              </a:rPr>
              <a:t>ishlatilmaydi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704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8E4D-AA9D-E6DE-F928-8F3D9970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9AAA-D6CF-E5C5-9E6A-656961E0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 CASE OF + noun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F9CF-4711-EB96-E8D7-BCED8E89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 case of + noun</a:t>
            </a:r>
            <a:r>
              <a:rPr lang="en-US" sz="2800" dirty="0"/>
              <a:t> = </a:t>
            </a:r>
            <a:r>
              <a:rPr lang="en-US" sz="2800" i="1" dirty="0">
                <a:highlight>
                  <a:srgbClr val="FFFF00"/>
                </a:highlight>
              </a:rPr>
              <a:t>“agar … </a:t>
            </a:r>
            <a:r>
              <a:rPr lang="en-US" sz="2800" i="1" dirty="0" err="1">
                <a:highlight>
                  <a:srgbClr val="FFFF00"/>
                </a:highlight>
              </a:rPr>
              <a:t>bo‘lsa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sodir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bo‘lsa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yuz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bersa</a:t>
            </a:r>
            <a:r>
              <a:rPr lang="en-US" sz="2800" i="1" dirty="0">
                <a:highlight>
                  <a:srgbClr val="FFFF00"/>
                </a:highlight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Bu </a:t>
            </a:r>
            <a:r>
              <a:rPr lang="en-US" sz="2800" i="1" dirty="0" err="1">
                <a:highlight>
                  <a:srgbClr val="FFFF00"/>
                </a:highlight>
              </a:rPr>
              <a:t>favqulodda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holatlar</a:t>
            </a:r>
            <a:r>
              <a:rPr lang="en-US" sz="2800" i="1" dirty="0">
                <a:highlight>
                  <a:srgbClr val="FFFF00"/>
                </a:highlight>
              </a:rPr>
              <a:t> (emergency situations)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In case of + noun, + imperative </a:t>
            </a:r>
            <a:r>
              <a:rPr lang="en-US" sz="2800" b="1" dirty="0"/>
              <a:t>(</a:t>
            </a:r>
            <a:r>
              <a:rPr lang="en-US" sz="2800" b="1" dirty="0" err="1"/>
              <a:t>buyruq</a:t>
            </a:r>
            <a:r>
              <a:rPr lang="en-US" sz="2800" b="1" dirty="0"/>
              <a:t> gap)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In case of </a:t>
            </a:r>
            <a:r>
              <a:rPr lang="en-US" sz="2800" dirty="0"/>
              <a:t>breakdown, please press the alarm button and call this number.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Lift </a:t>
            </a:r>
            <a:r>
              <a:rPr lang="en-US" sz="2800" dirty="0" err="1"/>
              <a:t>buzilib</a:t>
            </a:r>
            <a:r>
              <a:rPr lang="en-US" sz="2800" dirty="0"/>
              <a:t> </a:t>
            </a:r>
            <a:r>
              <a:rPr lang="en-US" sz="2800" dirty="0" err="1"/>
              <a:t>qolsa</a:t>
            </a:r>
            <a:r>
              <a:rPr lang="en-US" sz="2800" dirty="0"/>
              <a:t>, signal </a:t>
            </a:r>
            <a:r>
              <a:rPr lang="en-US" sz="2800" dirty="0" err="1"/>
              <a:t>tugmasini</a:t>
            </a:r>
            <a:r>
              <a:rPr lang="en-US" sz="2800" dirty="0"/>
              <a:t> </a:t>
            </a:r>
            <a:r>
              <a:rPr lang="en-US" sz="2800" dirty="0" err="1"/>
              <a:t>bosing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shu</a:t>
            </a:r>
            <a:r>
              <a:rPr lang="en-US" sz="2800" dirty="0"/>
              <a:t> </a:t>
            </a:r>
            <a:r>
              <a:rPr lang="en-US" sz="2800" dirty="0" err="1"/>
              <a:t>raqamga</a:t>
            </a:r>
            <a:r>
              <a:rPr lang="en-US" sz="2800" dirty="0"/>
              <a:t> </a:t>
            </a:r>
            <a:r>
              <a:rPr lang="en-US" sz="2800" dirty="0" err="1"/>
              <a:t>qo‘ng‘iroq</a:t>
            </a:r>
            <a:r>
              <a:rPr lang="en-US" sz="2800" dirty="0"/>
              <a:t> </a:t>
            </a:r>
            <a:r>
              <a:rPr lang="en-US" sz="2800" dirty="0" err="1"/>
              <a:t>qiling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908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ECCE-6FB5-E342-3786-D272D81E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4A6C-D29D-4BCD-D866-23762633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EA68-5BA3-CC5D-D646-3E6349F5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In case of fire, use the stairs.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Yong‘in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, </a:t>
            </a:r>
            <a:r>
              <a:rPr lang="en-US" sz="2800" dirty="0" err="1"/>
              <a:t>zinadan</a:t>
            </a:r>
            <a:r>
              <a:rPr lang="en-US" sz="2800" dirty="0"/>
              <a:t> </a:t>
            </a:r>
            <a:r>
              <a:rPr lang="en-US" sz="2800" dirty="0" err="1"/>
              <a:t>foydalaning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case of emergency, call 911.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Favqulodda</a:t>
            </a:r>
            <a:r>
              <a:rPr lang="en-US" sz="2800" dirty="0"/>
              <a:t> </a:t>
            </a:r>
            <a:r>
              <a:rPr lang="en-US" sz="2800" dirty="0" err="1"/>
              <a:t>holatda</a:t>
            </a:r>
            <a:r>
              <a:rPr lang="en-US" sz="2800" dirty="0"/>
              <a:t> 911 ga </a:t>
            </a:r>
            <a:r>
              <a:rPr lang="en-US" sz="2800" dirty="0" err="1"/>
              <a:t>qo‘ng‘iroq</a:t>
            </a:r>
            <a:r>
              <a:rPr lang="en-US" sz="2800" dirty="0"/>
              <a:t> </a:t>
            </a:r>
            <a:r>
              <a:rPr lang="en-US" sz="2800" dirty="0" err="1"/>
              <a:t>qiling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case of breakdown, stop the car immediately.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Mashina</a:t>
            </a:r>
            <a:r>
              <a:rPr lang="en-US" sz="2800" dirty="0"/>
              <a:t> </a:t>
            </a:r>
            <a:r>
              <a:rPr lang="en-US" sz="2800" dirty="0" err="1"/>
              <a:t>buzilsa</a:t>
            </a:r>
            <a:r>
              <a:rPr lang="en-US" sz="2800" dirty="0"/>
              <a:t>, </a:t>
            </a:r>
            <a:r>
              <a:rPr lang="en-US" sz="2800" dirty="0" err="1"/>
              <a:t>darhol</a:t>
            </a:r>
            <a:r>
              <a:rPr lang="en-US" sz="2800" dirty="0"/>
              <a:t> </a:t>
            </a:r>
            <a:r>
              <a:rPr lang="en-US" sz="2800" dirty="0" err="1"/>
              <a:t>to‘xtating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case of illness, stay at home.</a:t>
            </a:r>
            <a:r>
              <a:rPr lang="en-US" sz="2800" dirty="0"/>
              <a:t> </a:t>
            </a:r>
            <a:r>
              <a:rPr lang="en-US" sz="2800" dirty="0" err="1"/>
              <a:t>Kasallik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, </a:t>
            </a:r>
            <a:r>
              <a:rPr lang="en-US" sz="2800" dirty="0" err="1"/>
              <a:t>uyda</a:t>
            </a:r>
            <a:r>
              <a:rPr lang="en-US" sz="2800" dirty="0"/>
              <a:t> </a:t>
            </a:r>
            <a:r>
              <a:rPr lang="en-US" sz="2800" dirty="0" err="1"/>
              <a:t>qoling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 case of delay, wait here.</a:t>
            </a:r>
            <a:r>
              <a:rPr lang="en-US" sz="2800" dirty="0"/>
              <a:t> </a:t>
            </a:r>
            <a:r>
              <a:rPr lang="en-US" sz="2800" dirty="0" err="1"/>
              <a:t>Kechikish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, </a:t>
            </a:r>
            <a:r>
              <a:rPr lang="en-US" sz="2800" dirty="0" err="1"/>
              <a:t>shu</a:t>
            </a:r>
            <a:r>
              <a:rPr lang="en-US" sz="2800" dirty="0"/>
              <a:t> </a:t>
            </a:r>
            <a:r>
              <a:rPr lang="en-US" sz="2800" dirty="0" err="1"/>
              <a:t>yerda</a:t>
            </a:r>
            <a:r>
              <a:rPr lang="en-US" sz="2800" dirty="0"/>
              <a:t> </a:t>
            </a:r>
            <a:r>
              <a:rPr lang="en-US" sz="2800" dirty="0" err="1"/>
              <a:t>kuting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0624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66B02-56AF-E191-31C2-4FA7ADCB0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D37E-281F-2B24-9137-4CA2F38C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 CASE vs IN CASE OF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7F1CF6-6889-1677-7AC6-DBA785B35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76142"/>
              </p:ext>
            </p:extLst>
          </p:nvPr>
        </p:nvGraphicFramePr>
        <p:xfrm>
          <a:off x="0" y="1443792"/>
          <a:ext cx="12192000" cy="2814066"/>
        </p:xfrm>
        <a:graphic>
          <a:graphicData uri="http://schemas.openxmlformats.org/drawingml/2006/table">
            <a:tbl>
              <a:tblPr/>
              <a:tblGrid>
                <a:gridCol w="3416968">
                  <a:extLst>
                    <a:ext uri="{9D8B030D-6E8A-4147-A177-3AD203B41FA5}">
                      <a16:colId xmlns:a16="http://schemas.microsoft.com/office/drawing/2014/main" val="560250295"/>
                    </a:ext>
                  </a:extLst>
                </a:gridCol>
                <a:gridCol w="4677878">
                  <a:extLst>
                    <a:ext uri="{9D8B030D-6E8A-4147-A177-3AD203B41FA5}">
                      <a16:colId xmlns:a16="http://schemas.microsoft.com/office/drawing/2014/main" val="3003688387"/>
                    </a:ext>
                  </a:extLst>
                </a:gridCol>
                <a:gridCol w="4097154">
                  <a:extLst>
                    <a:ext uri="{9D8B030D-6E8A-4147-A177-3AD203B41FA5}">
                      <a16:colId xmlns:a16="http://schemas.microsoft.com/office/drawing/2014/main" val="2167449323"/>
                    </a:ext>
                  </a:extLst>
                </a:gridCol>
              </a:tblGrid>
              <a:tr h="53925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1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519032"/>
                  </a:ext>
                </a:extLst>
              </a:tr>
              <a:tr h="10682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1" dirty="0"/>
                        <a:t>in case + sentence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Take an umbrella in case it rains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dirty="0" err="1"/>
                        <a:t>bo‘lib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qolsa</a:t>
                      </a:r>
                      <a:r>
                        <a:rPr lang="en-US" sz="2400" dirty="0"/>
                        <a:t> deb (</a:t>
                      </a:r>
                      <a:r>
                        <a:rPr lang="en-US" sz="2400" dirty="0" err="1"/>
                        <a:t>tayyorgarlik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95062"/>
                  </a:ext>
                </a:extLst>
              </a:tr>
              <a:tr h="10682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b="1"/>
                        <a:t>in case of + noun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/>
                        <a:t>In case of rain, stay inside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dirty="0"/>
                        <a:t>agar/</a:t>
                      </a:r>
                      <a:r>
                        <a:rPr lang="en-US" sz="2400" dirty="0" err="1"/>
                        <a:t>yuz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bersa</a:t>
                      </a:r>
                      <a:r>
                        <a:rPr lang="en-US" sz="2400" dirty="0"/>
                        <a:t> (</a:t>
                      </a:r>
                      <a:r>
                        <a:rPr lang="en-US" sz="2400" dirty="0" err="1"/>
                        <a:t>rasmiy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ko‘rsatma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4806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7C7040-C5DF-C31A-A9B5-8C896625ADA5}"/>
              </a:ext>
            </a:extLst>
          </p:cNvPr>
          <p:cNvSpPr txBox="1"/>
          <p:nvPr/>
        </p:nvSpPr>
        <p:spPr>
          <a:xfrm>
            <a:off x="171651" y="4594744"/>
            <a:ext cx="11848698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Take an umbrella in case it rains.</a:t>
            </a:r>
            <a:r>
              <a:rPr lang="en-US" sz="2800" dirty="0"/>
              <a:t> </a:t>
            </a:r>
            <a:r>
              <a:rPr lang="en-US" sz="2800" dirty="0" err="1"/>
              <a:t>Yomg‘ir</a:t>
            </a:r>
            <a:r>
              <a:rPr lang="en-US" sz="2800" dirty="0"/>
              <a:t> </a:t>
            </a:r>
            <a:r>
              <a:rPr lang="en-US" sz="2800" dirty="0" err="1"/>
              <a:t>yog‘ib</a:t>
            </a:r>
            <a:r>
              <a:rPr lang="en-US" sz="2800" dirty="0"/>
              <a:t> </a:t>
            </a:r>
            <a:r>
              <a:rPr lang="en-US" sz="2800" dirty="0" err="1"/>
              <a:t>qolsa</a:t>
            </a:r>
            <a:r>
              <a:rPr lang="en-US" sz="2800" dirty="0"/>
              <a:t> deb </a:t>
            </a:r>
            <a:r>
              <a:rPr lang="en-US" sz="2800" dirty="0" err="1"/>
              <a:t>soyabon</a:t>
            </a:r>
            <a:r>
              <a:rPr lang="en-US" sz="2800" dirty="0"/>
              <a:t> </a:t>
            </a:r>
            <a:r>
              <a:rPr lang="en-US" sz="2800" dirty="0" err="1"/>
              <a:t>ol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In case of rain, stay indoors.</a:t>
            </a:r>
            <a:r>
              <a:rPr lang="en-US" sz="2800" dirty="0"/>
              <a:t> </a:t>
            </a:r>
            <a:r>
              <a:rPr lang="en-US" sz="2800" dirty="0" err="1"/>
              <a:t>Yomg‘ir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, </a:t>
            </a:r>
            <a:r>
              <a:rPr lang="en-US" sz="2800" dirty="0" err="1"/>
              <a:t>ichkarida</a:t>
            </a:r>
            <a:r>
              <a:rPr lang="en-US" sz="2800" dirty="0"/>
              <a:t> </a:t>
            </a:r>
            <a:r>
              <a:rPr lang="en-US" sz="2800" dirty="0" err="1"/>
              <a:t>qoling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3586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31DFF-9DB4-B87B-9022-E5D6E484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5410-E41C-9370-64C9-A26A14E7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E6BA-AE44-29E7-3E50-BC8E4558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If only</a:t>
            </a:r>
            <a:r>
              <a:rPr lang="en-US" sz="2800" i="1" dirty="0">
                <a:highlight>
                  <a:srgbClr val="FFFF00"/>
                </a:highlight>
              </a:rPr>
              <a:t> = </a:t>
            </a:r>
            <a:r>
              <a:rPr lang="en-US" sz="2800" i="1" dirty="0" err="1">
                <a:highlight>
                  <a:srgbClr val="FFFF00"/>
                </a:highlight>
              </a:rPr>
              <a:t>kuchli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orzular</a:t>
            </a:r>
            <a:r>
              <a:rPr lang="en-US" sz="2800" b="1" i="1" dirty="0">
                <a:highlight>
                  <a:srgbClr val="FFFF00"/>
                </a:highlight>
              </a:rPr>
              <a:t> / </a:t>
            </a:r>
            <a:r>
              <a:rPr lang="en-US" sz="2800" b="1" i="1" dirty="0" err="1">
                <a:highlight>
                  <a:srgbClr val="FFFF00"/>
                </a:highlight>
              </a:rPr>
              <a:t>afsus</a:t>
            </a:r>
            <a:r>
              <a:rPr lang="en-US" sz="2800" b="1" i="1" dirty="0">
                <a:highlight>
                  <a:srgbClr val="FFFF00"/>
                </a:highlight>
              </a:rPr>
              <a:t> / </a:t>
            </a:r>
            <a:r>
              <a:rPr lang="en-US" sz="2800" b="1" i="1" dirty="0" err="1">
                <a:highlight>
                  <a:srgbClr val="FFFF00"/>
                </a:highlight>
              </a:rPr>
              <a:t>istak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bildiradi</a:t>
            </a:r>
            <a:r>
              <a:rPr lang="en-US" sz="2800" i="1" dirty="0">
                <a:highlight>
                  <a:srgbClr val="FFFF00"/>
                </a:highlight>
              </a:rPr>
              <a:t>. “</a:t>
            </a:r>
            <a:r>
              <a:rPr lang="en-US" sz="2800" i="1" dirty="0" err="1">
                <a:highlight>
                  <a:srgbClr val="FFFF00"/>
                </a:highlight>
              </a:rPr>
              <a:t>Qaniydi</a:t>
            </a:r>
            <a:r>
              <a:rPr lang="en-US" sz="2800" i="1" dirty="0">
                <a:highlight>
                  <a:srgbClr val="FFFF00"/>
                </a:highlight>
              </a:rPr>
              <a:t> / Koshki” </a:t>
            </a:r>
            <a:r>
              <a:rPr lang="en-US" sz="2800" i="1" dirty="0" err="1">
                <a:highlight>
                  <a:srgbClr val="FFFF00"/>
                </a:highlight>
              </a:rPr>
              <a:t>degan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ma’noni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“I wish” </a:t>
            </a:r>
            <a:r>
              <a:rPr lang="en-US" sz="2800" i="1" dirty="0">
                <a:highlight>
                  <a:srgbClr val="FFFF00"/>
                </a:highlight>
              </a:rPr>
              <a:t>dan </a:t>
            </a:r>
            <a:r>
              <a:rPr lang="en-US" sz="2800" i="1" dirty="0" err="1">
                <a:highlight>
                  <a:srgbClr val="FFFF00"/>
                </a:highlight>
              </a:rPr>
              <a:t>kuchliroq</a:t>
            </a:r>
            <a:r>
              <a:rPr lang="en-US" sz="2800" b="1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E0E798-70CE-7229-6409-76E3541C4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147051"/>
              </p:ext>
            </p:extLst>
          </p:nvPr>
        </p:nvGraphicFramePr>
        <p:xfrm>
          <a:off x="1066800" y="2450305"/>
          <a:ext cx="10058400" cy="1957389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30515048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829390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/>
                        <a:t>Expression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/>
                        <a:t>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48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I wish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normal wish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811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If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stronger, emotional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6801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8DBC92-0086-F03C-B803-DA8C222B97CE}"/>
              </a:ext>
            </a:extLst>
          </p:cNvPr>
          <p:cNvSpPr txBox="1"/>
          <p:nvPr/>
        </p:nvSpPr>
        <p:spPr>
          <a:xfrm>
            <a:off x="1066800" y="4819794"/>
            <a:ext cx="6107228" cy="130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I wish he was here.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he were here!</a:t>
            </a:r>
            <a:r>
              <a:rPr lang="en-US" sz="2800" dirty="0"/>
              <a:t> (</a:t>
            </a:r>
            <a:r>
              <a:rPr lang="en-US" sz="2800" dirty="0" err="1"/>
              <a:t>kuchliroq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387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B666-F5F6-BE0D-BE0A-5C4E9E8E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C04F-DE80-ACC7-E0C5-EA4416BC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PRESENT (</a:t>
            </a:r>
            <a:r>
              <a:rPr lang="en-US" b="1" dirty="0" err="1">
                <a:solidFill>
                  <a:srgbClr val="FF0000"/>
                </a:solidFill>
              </a:rPr>
              <a:t>hozirgi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holat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41264-DA72-F6B8-1E7C-1ABA1268D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Formula: </a:t>
            </a:r>
            <a:r>
              <a:rPr lang="en-US" sz="2800" b="1" dirty="0">
                <a:solidFill>
                  <a:srgbClr val="00B0F0"/>
                </a:solidFill>
              </a:rPr>
              <a:t>If only + Past Simple </a:t>
            </a:r>
            <a:r>
              <a:rPr lang="en-US" sz="2800" b="1" dirty="0"/>
              <a:t>- </a:t>
            </a:r>
            <a:r>
              <a:rPr lang="en-US" sz="2800" i="1" dirty="0" err="1">
                <a:highlight>
                  <a:srgbClr val="FFFF00"/>
                </a:highlight>
              </a:rPr>
              <a:t>Haqiqiy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holat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hozir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shunday</a:t>
            </a:r>
            <a:r>
              <a:rPr lang="en-US" sz="2800" i="1" dirty="0">
                <a:highlight>
                  <a:srgbClr val="FFFF00"/>
                </a:highlight>
              </a:rPr>
              <a:t> EMAS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he knew the truth.</a:t>
            </a:r>
            <a:r>
              <a:rPr lang="en-US" sz="2800" dirty="0"/>
              <a:t> </a:t>
            </a:r>
            <a:r>
              <a:rPr lang="en-US" sz="2400" dirty="0" err="1"/>
              <a:t>Qaniydi</a:t>
            </a:r>
            <a:r>
              <a:rPr lang="en-US" sz="2400" dirty="0"/>
              <a:t> u </a:t>
            </a:r>
            <a:r>
              <a:rPr lang="en-US" sz="2400" dirty="0" err="1"/>
              <a:t>haqiqatni</a:t>
            </a:r>
            <a:r>
              <a:rPr lang="en-US" sz="2400" dirty="0"/>
              <a:t> </a:t>
            </a:r>
            <a:r>
              <a:rPr lang="en-US" sz="2400" dirty="0" err="1"/>
              <a:t>bilsa</a:t>
            </a:r>
            <a:r>
              <a:rPr lang="en-US" sz="2400" dirty="0"/>
              <a:t>. (</a:t>
            </a:r>
            <a:r>
              <a:rPr lang="en-US" sz="2400" dirty="0" err="1"/>
              <a:t>lekin</a:t>
            </a:r>
            <a:r>
              <a:rPr lang="en-US" sz="2400" dirty="0"/>
              <a:t> u </a:t>
            </a:r>
            <a:r>
              <a:rPr lang="en-US" sz="2400" dirty="0" err="1"/>
              <a:t>bilmaydi</a:t>
            </a:r>
            <a:r>
              <a:rPr lang="en-US" sz="2400" dirty="0"/>
              <a:t>)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I had more money.</a:t>
            </a:r>
            <a:r>
              <a:rPr lang="en-US" sz="2800" dirty="0"/>
              <a:t> </a:t>
            </a:r>
            <a:r>
              <a:rPr lang="en-US" sz="2400" dirty="0" err="1"/>
              <a:t>Qaniydi</a:t>
            </a:r>
            <a:r>
              <a:rPr lang="en-US" sz="2400" dirty="0"/>
              <a:t> </a:t>
            </a:r>
            <a:r>
              <a:rPr lang="en-US" sz="2400" dirty="0" err="1"/>
              <a:t>menda</a:t>
            </a:r>
            <a:r>
              <a:rPr lang="en-US" sz="2400" dirty="0"/>
              <a:t> </a:t>
            </a:r>
            <a:r>
              <a:rPr lang="en-US" sz="2400" dirty="0" err="1"/>
              <a:t>ko‘proq</a:t>
            </a:r>
            <a:r>
              <a:rPr lang="en-US" sz="2400" dirty="0"/>
              <a:t> </a:t>
            </a:r>
            <a:r>
              <a:rPr lang="en-US" sz="2400" dirty="0" err="1"/>
              <a:t>pul</a:t>
            </a:r>
            <a:r>
              <a:rPr lang="en-US" sz="2400" dirty="0"/>
              <a:t> </a:t>
            </a:r>
            <a:r>
              <a:rPr lang="en-US" sz="2400" dirty="0" err="1"/>
              <a:t>bo‘lsa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she weren’t so tired.</a:t>
            </a:r>
            <a:r>
              <a:rPr lang="en-US" sz="2800" dirty="0"/>
              <a:t> </a:t>
            </a:r>
            <a:r>
              <a:rPr lang="en-US" sz="2400" dirty="0" err="1"/>
              <a:t>Qaniydi</a:t>
            </a:r>
            <a:r>
              <a:rPr lang="en-US" sz="2400" dirty="0"/>
              <a:t> u </a:t>
            </a:r>
            <a:r>
              <a:rPr lang="en-US" sz="2400" dirty="0" err="1"/>
              <a:t>bunchalik</a:t>
            </a:r>
            <a:r>
              <a:rPr lang="en-US" sz="2400" dirty="0"/>
              <a:t> </a:t>
            </a:r>
            <a:r>
              <a:rPr lang="en-US" sz="2400" dirty="0" err="1"/>
              <a:t>charchamagan</a:t>
            </a:r>
            <a:r>
              <a:rPr lang="en-US" sz="2400" dirty="0"/>
              <a:t> </a:t>
            </a:r>
            <a:r>
              <a:rPr lang="en-US" sz="2400" dirty="0" err="1"/>
              <a:t>bo‘lsa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Formal: were (was </a:t>
            </a:r>
            <a:r>
              <a:rPr lang="en-US" sz="2800" dirty="0" err="1"/>
              <a:t>emas</a:t>
            </a:r>
            <a:r>
              <a:rPr lang="en-US" sz="2800" dirty="0"/>
              <a:t>)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If only he </a:t>
            </a:r>
            <a:r>
              <a:rPr lang="en-US" sz="2400" b="1" dirty="0"/>
              <a:t>were</a:t>
            </a:r>
            <a:r>
              <a:rPr lang="en-US" sz="2400" dirty="0"/>
              <a:t> here.</a:t>
            </a:r>
          </a:p>
        </p:txBody>
      </p:sp>
    </p:spTree>
    <p:extLst>
      <p:ext uri="{BB962C8B-B14F-4D97-AF65-F5344CB8AC3E}">
        <p14:creationId xmlns:p14="http://schemas.microsoft.com/office/powerpoint/2010/main" val="103927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79C6-094A-DED1-D176-A370F2B4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F8129-9B34-2EF6-A89E-7AA09190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FUTURE (</a:t>
            </a:r>
            <a:r>
              <a:rPr lang="en-US" b="1" dirty="0" err="1">
                <a:solidFill>
                  <a:srgbClr val="FF0000"/>
                </a:solidFill>
              </a:rPr>
              <a:t>kelajak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istagi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6F1B-7FF3-49B5-7475-DD9986B4C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Formula: </a:t>
            </a:r>
            <a:r>
              <a:rPr lang="en-US" sz="2800" b="1" dirty="0">
                <a:solidFill>
                  <a:srgbClr val="00B0F0"/>
                </a:solidFill>
              </a:rPr>
              <a:t>If only + would + verb </a:t>
            </a:r>
            <a:r>
              <a:rPr lang="en-US" sz="2800" b="1" dirty="0"/>
              <a:t>- </a:t>
            </a:r>
            <a:r>
              <a:rPr lang="en-US" sz="2800" i="1" dirty="0" err="1">
                <a:highlight>
                  <a:srgbClr val="FFFF00"/>
                </a:highlight>
              </a:rPr>
              <a:t>O‘zgarishini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xohlaymiz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If only someone would help me.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Qaniydi</a:t>
            </a:r>
            <a:r>
              <a:rPr lang="en-US" sz="2800" dirty="0"/>
              <a:t> </a:t>
            </a:r>
            <a:r>
              <a:rPr lang="en-US" sz="2800" dirty="0" err="1"/>
              <a:t>kimdir</a:t>
            </a:r>
            <a:r>
              <a:rPr lang="en-US" sz="2800" dirty="0"/>
              <a:t> </a:t>
            </a:r>
            <a:r>
              <a:rPr lang="en-US" sz="2800" dirty="0" err="1"/>
              <a:t>menga</a:t>
            </a:r>
            <a:r>
              <a:rPr lang="en-US" sz="2800" dirty="0"/>
              <a:t> </a:t>
            </a:r>
            <a:r>
              <a:rPr lang="en-US" sz="2800" dirty="0" err="1"/>
              <a:t>yordam</a:t>
            </a:r>
            <a:r>
              <a:rPr lang="en-US" sz="2800" dirty="0"/>
              <a:t> </a:t>
            </a:r>
            <a:r>
              <a:rPr lang="en-US" sz="2800" dirty="0" err="1"/>
              <a:t>bersa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he would listen.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Qaniydi</a:t>
            </a:r>
            <a:r>
              <a:rPr lang="en-US" sz="2800" dirty="0"/>
              <a:t> u </a:t>
            </a:r>
            <a:r>
              <a:rPr lang="en-US" sz="2800" dirty="0" err="1"/>
              <a:t>quloq</a:t>
            </a:r>
            <a:r>
              <a:rPr lang="en-US" sz="2800" dirty="0"/>
              <a:t> </a:t>
            </a:r>
            <a:r>
              <a:rPr lang="en-US" sz="2800" dirty="0" err="1"/>
              <a:t>solsa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it would stop raining.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Qaniydi</a:t>
            </a:r>
            <a:r>
              <a:rPr lang="en-US" sz="2800" dirty="0"/>
              <a:t> </a:t>
            </a:r>
            <a:r>
              <a:rPr lang="en-US" sz="2800" dirty="0" err="1"/>
              <a:t>yomg‘ir</a:t>
            </a:r>
            <a:r>
              <a:rPr lang="en-US" sz="2800" dirty="0"/>
              <a:t> </a:t>
            </a:r>
            <a:r>
              <a:rPr lang="en-US" sz="2800" dirty="0" err="1"/>
              <a:t>to‘xtasa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540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C5333-0FF0-D0CE-EBC2-07536128A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AFB4-D39A-3D80-2666-5ADE9C6BF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PAST (</a:t>
            </a:r>
            <a:r>
              <a:rPr lang="en-US" b="1" dirty="0" err="1">
                <a:solidFill>
                  <a:srgbClr val="FF0000"/>
                </a:solidFill>
              </a:rPr>
              <a:t>o‘tgan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afsus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3E42-DC3F-D7E5-85F6-7C161525B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Formula: </a:t>
            </a:r>
            <a:r>
              <a:rPr lang="en-US" sz="2800" b="1" dirty="0">
                <a:solidFill>
                  <a:srgbClr val="00B0F0"/>
                </a:solidFill>
              </a:rPr>
              <a:t>If only + Past Perfect </a:t>
            </a:r>
            <a:r>
              <a:rPr lang="en-US" sz="2800" b="1" dirty="0"/>
              <a:t>- </a:t>
            </a:r>
            <a:r>
              <a:rPr lang="en-US" sz="2800" i="1" dirty="0" err="1">
                <a:highlight>
                  <a:srgbClr val="FFFF00"/>
                </a:highlight>
              </a:rPr>
              <a:t>O‘tgan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voqea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afsus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If only I had studied harder.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Qaniydi</a:t>
            </a:r>
            <a:r>
              <a:rPr lang="en-US" sz="2800" dirty="0"/>
              <a:t> </a:t>
            </a:r>
            <a:r>
              <a:rPr lang="en-US" sz="2800" dirty="0" err="1"/>
              <a:t>ko‘proq</a:t>
            </a:r>
            <a:r>
              <a:rPr lang="en-US" sz="2800" dirty="0"/>
              <a:t> </a:t>
            </a:r>
            <a:r>
              <a:rPr lang="en-US" sz="2800" dirty="0" err="1"/>
              <a:t>o‘qigan</a:t>
            </a:r>
            <a:r>
              <a:rPr lang="en-US" sz="2800" dirty="0"/>
              <a:t> </a:t>
            </a:r>
            <a:r>
              <a:rPr lang="en-US" sz="2800" dirty="0" err="1"/>
              <a:t>bo‘lsam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he had come earlier.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Qaniydi</a:t>
            </a:r>
            <a:r>
              <a:rPr lang="en-US" sz="2800" dirty="0"/>
              <a:t> u </a:t>
            </a:r>
            <a:r>
              <a:rPr lang="en-US" sz="2800" dirty="0" err="1"/>
              <a:t>ertaroq</a:t>
            </a:r>
            <a:r>
              <a:rPr lang="en-US" sz="2800" dirty="0"/>
              <a:t> </a:t>
            </a:r>
            <a:r>
              <a:rPr lang="en-US" sz="2800" dirty="0" err="1"/>
              <a:t>kelgan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If only she hadn’t said that.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Qaniydi</a:t>
            </a:r>
            <a:r>
              <a:rPr lang="en-US" sz="2800" dirty="0"/>
              <a:t> u </a:t>
            </a:r>
            <a:r>
              <a:rPr lang="en-US" sz="2800" dirty="0" err="1"/>
              <a:t>buni</a:t>
            </a:r>
            <a:r>
              <a:rPr lang="en-US" sz="2800" dirty="0"/>
              <a:t> </a:t>
            </a:r>
            <a:r>
              <a:rPr lang="en-US" sz="2800" dirty="0" err="1"/>
              <a:t>aytmagan</a:t>
            </a:r>
            <a:r>
              <a:rPr lang="en-US" sz="2800" dirty="0"/>
              <a:t> </a:t>
            </a:r>
            <a:r>
              <a:rPr lang="en-US" sz="2800" dirty="0" err="1"/>
              <a:t>bo‘lsa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9781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3551-B5BD-C9D2-82E9-890FFB3F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033C-3A58-9EFD-61E1-26EFBBA9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AC97-F7E5-074C-FF20-57C8A3164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0" y="914400"/>
            <a:ext cx="11978800" cy="5943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❌ If only he knows the truth</a:t>
            </a:r>
            <a:br>
              <a:rPr lang="en-US" sz="3200" dirty="0"/>
            </a:br>
            <a:r>
              <a:rPr lang="en-US" sz="3200" dirty="0"/>
              <a:t>✔ If only he </a:t>
            </a:r>
            <a:r>
              <a:rPr lang="en-US" sz="3200" b="1" dirty="0"/>
              <a:t>knew</a:t>
            </a:r>
            <a:r>
              <a:rPr lang="en-US" sz="3200" dirty="0"/>
              <a:t> the truth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❌ If only she is here</a:t>
            </a:r>
            <a:br>
              <a:rPr lang="en-US" sz="3200" dirty="0"/>
            </a:br>
            <a:r>
              <a:rPr lang="en-US" sz="3200" dirty="0"/>
              <a:t>✔ If only she </a:t>
            </a:r>
            <a:r>
              <a:rPr lang="en-US" sz="3200" b="1" dirty="0"/>
              <a:t>were</a:t>
            </a:r>
            <a:r>
              <a:rPr lang="en-US" sz="3200" dirty="0"/>
              <a:t> here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❌ If only he will come</a:t>
            </a:r>
            <a:br>
              <a:rPr lang="en-US" sz="3200" dirty="0"/>
            </a:br>
            <a:r>
              <a:rPr lang="en-US" sz="3200" dirty="0"/>
              <a:t>✔ If only he </a:t>
            </a:r>
            <a:r>
              <a:rPr lang="en-US" sz="3200" b="1" dirty="0"/>
              <a:t>would come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82839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10E8-65BC-D866-F476-3D891932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3547-A1F6-9742-3074-F10C65E2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B4999F-4122-BB1E-369C-5D6C13D55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461964"/>
              </p:ext>
            </p:extLst>
          </p:nvPr>
        </p:nvGraphicFramePr>
        <p:xfrm>
          <a:off x="147588" y="885524"/>
          <a:ext cx="11896824" cy="3249932"/>
        </p:xfrm>
        <a:graphic>
          <a:graphicData uri="http://schemas.openxmlformats.org/drawingml/2006/table">
            <a:tbl>
              <a:tblPr/>
              <a:tblGrid>
                <a:gridCol w="1713295">
                  <a:extLst>
                    <a:ext uri="{9D8B030D-6E8A-4147-A177-3AD203B41FA5}">
                      <a16:colId xmlns:a16="http://schemas.microsoft.com/office/drawing/2014/main" val="1349000939"/>
                    </a:ext>
                  </a:extLst>
                </a:gridCol>
                <a:gridCol w="3590223">
                  <a:extLst>
                    <a:ext uri="{9D8B030D-6E8A-4147-A177-3AD203B41FA5}">
                      <a16:colId xmlns:a16="http://schemas.microsoft.com/office/drawing/2014/main" val="3199091642"/>
                    </a:ext>
                  </a:extLst>
                </a:gridCol>
                <a:gridCol w="6593306">
                  <a:extLst>
                    <a:ext uri="{9D8B030D-6E8A-4147-A177-3AD203B41FA5}">
                      <a16:colId xmlns:a16="http://schemas.microsoft.com/office/drawing/2014/main" val="505554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/>
                        <a:t>Zamon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/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542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If only +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hozir boshqacha bo‘lishini xohlaymiz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25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Future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If only + would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o‘zgarishini xohlaymiz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4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If only + past perfect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 err="1"/>
                        <a:t>afsus</a:t>
                      </a:r>
                      <a:r>
                        <a:rPr lang="en-US" sz="2800" dirty="0"/>
                        <a:t> (</a:t>
                      </a:r>
                      <a:r>
                        <a:rPr lang="en-US" sz="2800" dirty="0" err="1"/>
                        <a:t>o‘tgan</a:t>
                      </a:r>
                      <a:r>
                        <a:rPr lang="en-US" sz="2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331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E4FA10-9FF9-DFDB-0416-5D2981D11541}"/>
              </a:ext>
            </a:extLst>
          </p:cNvPr>
          <p:cNvSpPr txBox="1"/>
          <p:nvPr/>
        </p:nvSpPr>
        <p:spPr>
          <a:xfrm>
            <a:off x="147588" y="4301229"/>
            <a:ext cx="10407316" cy="195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If only I had started earlier, I would have passed the exam.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If only he would take my advice.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If only I were more confident.</a:t>
            </a:r>
          </a:p>
        </p:txBody>
      </p:sp>
    </p:spTree>
    <p:extLst>
      <p:ext uri="{BB962C8B-B14F-4D97-AF65-F5344CB8AC3E}">
        <p14:creationId xmlns:p14="http://schemas.microsoft.com/office/powerpoint/2010/main" val="4211635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53</TotalTime>
  <Words>1028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Wingdings</vt:lpstr>
      <vt:lpstr>Wood Type</vt:lpstr>
      <vt:lpstr>PowerPoint Presentation</vt:lpstr>
      <vt:lpstr>In case</vt:lpstr>
      <vt:lpstr>As Adverb</vt:lpstr>
      <vt:lpstr>“In case” = “if” emas</vt:lpstr>
      <vt:lpstr>In case qachon ishlatiladi?</vt:lpstr>
      <vt:lpstr>Important Rule</vt:lpstr>
      <vt:lpstr>IN CASE OF + noun</vt:lpstr>
      <vt:lpstr>More Examples</vt:lpstr>
      <vt:lpstr>IN CASE vs IN CASE OF</vt:lpstr>
      <vt:lpstr>IF ONLY</vt:lpstr>
      <vt:lpstr>PRESENT (hozirgi holat)</vt:lpstr>
      <vt:lpstr>FUTURE (kelajak istagi)</vt:lpstr>
      <vt:lpstr>PAST (o‘tgan afsus)</vt:lpstr>
      <vt:lpstr>Common mistakes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14</cp:revision>
  <dcterms:created xsi:type="dcterms:W3CDTF">2026-06-11T12:13:51Z</dcterms:created>
  <dcterms:modified xsi:type="dcterms:W3CDTF">2026-06-11T13:07:38Z</dcterms:modified>
</cp:coreProperties>
</file>