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5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5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0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4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5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6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6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5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6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24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9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B846A2C-8295-4C82-BAAD-DB62669B4E1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28712D06-A8F9-41B8-912E-BC82E97BD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5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C518-4F95-6DC3-7E8C-D06B35E3C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1FCB6-B7F8-AA7A-0EBC-5D9EB616E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777D2-3640-3DA1-76EF-3C1F0876F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8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6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DD0B-474D-6193-383F-2ED3FC49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UNLESS (= if not / except if)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FF87A-D0FA-B14D-B19D-C4FACA40B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Structure</a:t>
            </a:r>
            <a:r>
              <a:rPr lang="en-US" sz="2600" b="1" dirty="0"/>
              <a:t>: </a:t>
            </a:r>
            <a:r>
              <a:rPr lang="en-US" sz="2600" b="1" dirty="0">
                <a:solidFill>
                  <a:srgbClr val="00B0F0"/>
                </a:solidFill>
              </a:rPr>
              <a:t>Unless + Present Simple, will/can/may + Verb</a:t>
            </a:r>
            <a:endParaRPr lang="en-US" sz="26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600" b="1" dirty="0"/>
              <a:t>Unless</a:t>
            </a:r>
            <a:r>
              <a:rPr lang="en-US" sz="2600" dirty="0"/>
              <a:t> I phone you, you can assume the train is on time. = If I don’t phone…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We’ll cancel the show </a:t>
            </a:r>
            <a:r>
              <a:rPr lang="en-US" sz="2600" b="1" dirty="0"/>
              <a:t>unless</a:t>
            </a:r>
            <a:r>
              <a:rPr lang="en-US" sz="2600" dirty="0"/>
              <a:t> we sell more tickets. = If we don’t sell more…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You will fail </a:t>
            </a:r>
            <a:r>
              <a:rPr lang="en-US" sz="2600" b="1" dirty="0"/>
              <a:t>unless</a:t>
            </a:r>
            <a:r>
              <a:rPr lang="en-US" sz="2600" dirty="0"/>
              <a:t> you study. = If you don’t study… 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Important rules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❌ Don’t use “unless” for impossible past conditions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❌ Don’t combine “unless + if”</a:t>
            </a:r>
          </a:p>
          <a:p>
            <a:pPr lvl="1">
              <a:lnSpc>
                <a:spcPct val="150000"/>
              </a:lnSpc>
            </a:pPr>
            <a:r>
              <a:rPr lang="en-US" sz="2600" strike="sngStrike" dirty="0"/>
              <a:t>Unless the government had raised prices...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If the government had not raised prices...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60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3A799-4912-FA09-B7E1-85EC43AF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0C03-E279-CBF6-C59E-77FF25F0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SHOULD + SUBJECT (formal conditional)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C75D-35CB-2331-D8B8-974E191B4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7" y="796413"/>
            <a:ext cx="11946194" cy="6061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/>
              <a:t>Meaning - </a:t>
            </a:r>
            <a:r>
              <a:rPr lang="en-US" sz="2600" i="1" dirty="0">
                <a:highlight>
                  <a:srgbClr val="FFFF00"/>
                </a:highlight>
              </a:rPr>
              <a:t>Very formal way of saying:  “If something happens (maybe unlikely)…”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Structure: </a:t>
            </a:r>
            <a:r>
              <a:rPr lang="en-US" sz="2600" b="1" dirty="0">
                <a:solidFill>
                  <a:srgbClr val="00B0F0"/>
                </a:solidFill>
              </a:rPr>
              <a:t>Should + Subject + Verb, main clause</a:t>
            </a:r>
            <a:endParaRPr lang="en-US" sz="26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600" dirty="0"/>
              <a:t>Should you wish to cancel your order, contact us. = If you wish to cancel…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Should your child become anxious, inform the teacher. = If your child becomes… 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Usage – </a:t>
            </a:r>
            <a:r>
              <a:rPr lang="en-US" sz="2600" dirty="0"/>
              <a:t>formal letters | rules and instructions | official documents</a:t>
            </a:r>
          </a:p>
        </p:txBody>
      </p:sp>
    </p:spTree>
    <p:extLst>
      <p:ext uri="{BB962C8B-B14F-4D97-AF65-F5344CB8AC3E}">
        <p14:creationId xmlns:p14="http://schemas.microsoft.com/office/powerpoint/2010/main" val="407253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1AF2-1577-69A6-CF25-9668A1D4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D81B-3F02-D5FC-9856-C5F68A81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HAD + SUBJECT (third conditional inversion)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38F8E-3156-91F5-3A32-6BC8A65D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Meaning - </a:t>
            </a:r>
            <a:r>
              <a:rPr lang="en-US" sz="2800" i="1" dirty="0">
                <a:highlight>
                  <a:srgbClr val="FFFF00"/>
                </a:highlight>
              </a:rPr>
              <a:t>Used instead of: If + Past Perfect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Had + Subject + V3, would have + V3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800" dirty="0"/>
              <a:t>Had I known you were waiting, I would have helped. = If I had known…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Had she studied harder, she would have passed. = If she had studied… </a:t>
            </a:r>
          </a:p>
        </p:txBody>
      </p:sp>
    </p:spTree>
    <p:extLst>
      <p:ext uri="{BB962C8B-B14F-4D97-AF65-F5344CB8AC3E}">
        <p14:creationId xmlns:p14="http://schemas.microsoft.com/office/powerpoint/2010/main" val="398415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C150-BEDD-A684-C63C-387F04C1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3DC8-D1A0-B981-8170-8602F722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>
            <a:noAutofit/>
          </a:bodyPr>
          <a:lstStyle/>
          <a:p>
            <a:pPr algn="ctr"/>
            <a:r>
              <a:rPr lang="en-US" sz="3200" b="1" spc="-150" dirty="0">
                <a:solidFill>
                  <a:srgbClr val="FF0000"/>
                </a:solidFill>
              </a:rPr>
              <a:t>As long as / so long as / provided that / on condition that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658BB-7CF7-690E-0B99-6235099BB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865239"/>
            <a:ext cx="11853333" cy="599276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/>
              <a:t>Meaning - </a:t>
            </a:r>
            <a:r>
              <a:rPr lang="en-US" sz="2800" dirty="0"/>
              <a:t>These express: strong conditions / limits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Main clause + as long as + condition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800" dirty="0"/>
              <a:t>You can play </a:t>
            </a:r>
            <a:r>
              <a:rPr lang="en-US" sz="2800" b="1" dirty="0"/>
              <a:t>as long as </a:t>
            </a:r>
            <a:r>
              <a:rPr lang="en-US" sz="2800" dirty="0"/>
              <a:t>you don’t make noise.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You can go out </a:t>
            </a:r>
            <a:r>
              <a:rPr lang="en-US" sz="2800" b="1" dirty="0"/>
              <a:t>provided that </a:t>
            </a:r>
            <a:r>
              <a:rPr lang="en-US" sz="2800" dirty="0"/>
              <a:t>you finish your homework.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The bank gave money </a:t>
            </a:r>
            <a:r>
              <a:rPr lang="en-US" sz="2800" b="1" dirty="0"/>
              <a:t>on condition that </a:t>
            </a:r>
            <a:r>
              <a:rPr lang="en-US" sz="2800" dirty="0"/>
              <a:t>it was repaid.</a:t>
            </a:r>
          </a:p>
        </p:txBody>
      </p:sp>
    </p:spTree>
    <p:extLst>
      <p:ext uri="{BB962C8B-B14F-4D97-AF65-F5344CB8AC3E}">
        <p14:creationId xmlns:p14="http://schemas.microsoft.com/office/powerpoint/2010/main" val="290679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1DF0-CE13-AE0F-C1C7-37C6ECE9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3B0D-33AE-AC7E-C73C-19C820B8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AS LONG AS = SO LONG 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120-9C48-51DC-2943-F3DCF6F3D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b="1" i="1" dirty="0">
                <a:highlight>
                  <a:srgbClr val="FFFF00"/>
                </a:highlight>
              </a:rPr>
              <a:t>agar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b="1" i="1" dirty="0" err="1">
                <a:highlight>
                  <a:srgbClr val="FFFF00"/>
                </a:highlight>
              </a:rPr>
              <a:t>faqat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shunda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b="1" i="1" dirty="0">
                <a:highlight>
                  <a:srgbClr val="FFFF00"/>
                </a:highlight>
              </a:rPr>
              <a:t>... </a:t>
            </a:r>
            <a:r>
              <a:rPr lang="en-US" sz="2800" b="1" i="1" dirty="0" err="1">
                <a:highlight>
                  <a:srgbClr val="FFFF00"/>
                </a:highlight>
              </a:rPr>
              <a:t>ekan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As long as + Present Simple, will/can/may + Verb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Main clause + as long as + Present Simple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borrow my car </a:t>
            </a:r>
            <a:r>
              <a:rPr lang="en-US" sz="2800" b="1" dirty="0"/>
              <a:t>as long as</a:t>
            </a:r>
            <a:r>
              <a:rPr lang="en-US" sz="2800" dirty="0"/>
              <a:t> you drive carefully.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dirty="0" err="1"/>
              <a:t>Mashinamni</a:t>
            </a:r>
            <a:r>
              <a:rPr lang="en-US" sz="2800" dirty="0"/>
              <a:t> </a:t>
            </a:r>
            <a:r>
              <a:rPr lang="en-US" sz="2800" dirty="0" err="1"/>
              <a:t>olishingiz</a:t>
            </a:r>
            <a:r>
              <a:rPr lang="en-US" sz="2800" dirty="0"/>
              <a:t> </a:t>
            </a:r>
            <a:r>
              <a:rPr lang="en-US" sz="2800" dirty="0" err="1"/>
              <a:t>mumkin</a:t>
            </a:r>
            <a:r>
              <a:rPr lang="en-US" sz="2800" dirty="0"/>
              <a:t>, </a:t>
            </a:r>
            <a:r>
              <a:rPr lang="en-US" sz="2800" b="1" dirty="0"/>
              <a:t>agar </a:t>
            </a:r>
            <a:r>
              <a:rPr lang="en-US" sz="2800" b="1" dirty="0" err="1"/>
              <a:t>ehtiyotkor</a:t>
            </a:r>
            <a:r>
              <a:rPr lang="en-US" sz="2800" b="1" dirty="0"/>
              <a:t> </a:t>
            </a:r>
            <a:r>
              <a:rPr lang="en-US" sz="2800" b="1" dirty="0" err="1"/>
              <a:t>haydasangizgina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As long as </a:t>
            </a:r>
            <a:r>
              <a:rPr lang="en-US" sz="2800" dirty="0"/>
              <a:t>it doesn't rain, we'll play football.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don't mind where we go </a:t>
            </a:r>
            <a:r>
              <a:rPr lang="en-US" sz="2800" b="1" dirty="0"/>
              <a:t>so long as</a:t>
            </a:r>
            <a:r>
              <a:rPr lang="en-US" sz="2800" dirty="0"/>
              <a:t> we get home before midnight.</a:t>
            </a:r>
          </a:p>
        </p:txBody>
      </p:sp>
    </p:spTree>
    <p:extLst>
      <p:ext uri="{BB962C8B-B14F-4D97-AF65-F5344CB8AC3E}">
        <p14:creationId xmlns:p14="http://schemas.microsoft.com/office/powerpoint/2010/main" val="403462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86E7-43AE-F3BA-9C70-89CD1B27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4D46-9693-36CE-5008-99E20687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Provided (that) | providing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87C82-8166-79AC-3762-DCDADD05E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Ma'nosi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b="1" i="1" dirty="0" err="1">
                <a:highlight>
                  <a:srgbClr val="FFFF00"/>
                </a:highlight>
              </a:rPr>
              <a:t>sharti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bilan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b="1" i="1" dirty="0">
                <a:highlight>
                  <a:srgbClr val="FFFF00"/>
                </a:highlight>
              </a:rPr>
              <a:t>agar - </a:t>
            </a:r>
            <a:r>
              <a:rPr lang="en-US" sz="2800" i="1" dirty="0">
                <a:highlight>
                  <a:srgbClr val="FFFF00"/>
                </a:highlight>
              </a:rPr>
              <a:t>Bu </a:t>
            </a:r>
            <a:r>
              <a:rPr lang="en-US" sz="2800" i="1" dirty="0" err="1">
                <a:highlight>
                  <a:srgbClr val="FFFF00"/>
                </a:highlight>
              </a:rPr>
              <a:t>biroz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rasmiyroq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You can stay here </a:t>
            </a:r>
            <a:r>
              <a:rPr lang="en-US" sz="2800" b="1" dirty="0"/>
              <a:t>provided (that) </a:t>
            </a:r>
            <a:r>
              <a:rPr lang="en-US" sz="2800" dirty="0"/>
              <a:t>you keep quiet.</a:t>
            </a:r>
            <a:br>
              <a:rPr lang="en-US" sz="2800" dirty="0"/>
            </a:br>
            <a:r>
              <a:rPr lang="en-US" sz="2800" dirty="0"/>
              <a:t>→ Bu </a:t>
            </a:r>
            <a:r>
              <a:rPr lang="en-US" sz="2800" dirty="0" err="1"/>
              <a:t>yerda</a:t>
            </a:r>
            <a:r>
              <a:rPr lang="en-US" sz="2800" dirty="0"/>
              <a:t> </a:t>
            </a:r>
            <a:r>
              <a:rPr lang="en-US" sz="2800" dirty="0" err="1"/>
              <a:t>qolishingiz</a:t>
            </a:r>
            <a:r>
              <a:rPr lang="en-US" sz="2800" dirty="0"/>
              <a:t> </a:t>
            </a:r>
            <a:r>
              <a:rPr lang="en-US" sz="2800" dirty="0" err="1"/>
              <a:t>mumkin</a:t>
            </a:r>
            <a:r>
              <a:rPr lang="en-US" sz="2800" dirty="0"/>
              <a:t>, </a:t>
            </a:r>
            <a:r>
              <a:rPr lang="en-US" sz="2800" b="1" dirty="0" err="1"/>
              <a:t>jim</a:t>
            </a:r>
            <a:r>
              <a:rPr lang="en-US" sz="2800" b="1" dirty="0"/>
              <a:t> </a:t>
            </a:r>
            <a:r>
              <a:rPr lang="en-US" sz="2800" b="1" dirty="0" err="1"/>
              <a:t>tursangizgina</a:t>
            </a:r>
            <a:r>
              <a:rPr lang="en-US" sz="280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We'll give you a refund </a:t>
            </a:r>
            <a:r>
              <a:rPr lang="en-US" sz="2800" b="1" dirty="0"/>
              <a:t>providing </a:t>
            </a:r>
            <a:r>
              <a:rPr lang="en-US" sz="2800" dirty="0"/>
              <a:t>you have the receipt.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dirty="0" err="1"/>
              <a:t>Pulingizni</a:t>
            </a:r>
            <a:r>
              <a:rPr lang="en-US" sz="2800" dirty="0"/>
              <a:t> </a:t>
            </a:r>
            <a:r>
              <a:rPr lang="en-US" sz="2800" dirty="0" err="1"/>
              <a:t>qaytaramiz</a:t>
            </a:r>
            <a:r>
              <a:rPr lang="en-US" sz="2800" dirty="0"/>
              <a:t>, </a:t>
            </a:r>
            <a:r>
              <a:rPr lang="en-US" sz="2800" b="1" dirty="0" err="1"/>
              <a:t>chekingiz</a:t>
            </a:r>
            <a:r>
              <a:rPr lang="en-US" sz="2800" b="1" dirty="0"/>
              <a:t> </a:t>
            </a:r>
            <a:r>
              <a:rPr lang="en-US" sz="2800" b="1" dirty="0" err="1"/>
              <a:t>bo‘lsagina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110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9F86-EAEA-F48C-8FD9-DBEDF4CC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7BAF-FB7D-E5BD-D0F3-5B1F5622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ON CONDITION THAT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0831-1861-6323-51AB-9693EE3F0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600" i="1" dirty="0" err="1">
                <a:highlight>
                  <a:srgbClr val="FFFF00"/>
                </a:highlight>
              </a:rPr>
              <a:t>Ma'nosi</a:t>
            </a:r>
            <a:r>
              <a:rPr lang="en-US" sz="2600" i="1" dirty="0">
                <a:highlight>
                  <a:srgbClr val="FFFF00"/>
                </a:highlight>
              </a:rPr>
              <a:t>: </a:t>
            </a:r>
            <a:r>
              <a:rPr lang="en-US" sz="2600" b="1" i="1" dirty="0">
                <a:highlight>
                  <a:srgbClr val="FFFF00"/>
                </a:highlight>
              </a:rPr>
              <a:t>... </a:t>
            </a:r>
            <a:r>
              <a:rPr lang="en-US" sz="2600" b="1" i="1" dirty="0" err="1">
                <a:highlight>
                  <a:srgbClr val="FFFF00"/>
                </a:highlight>
              </a:rPr>
              <a:t>sharti</a:t>
            </a:r>
            <a:r>
              <a:rPr lang="en-US" sz="2600" b="1" i="1" dirty="0">
                <a:highlight>
                  <a:srgbClr val="FFFF00"/>
                </a:highlight>
              </a:rPr>
              <a:t> </a:t>
            </a:r>
            <a:r>
              <a:rPr lang="en-US" sz="2600" b="1" i="1" dirty="0" err="1">
                <a:highlight>
                  <a:srgbClr val="FFFF00"/>
                </a:highlight>
              </a:rPr>
              <a:t>bilan</a:t>
            </a:r>
            <a:r>
              <a:rPr lang="en-US" sz="2600" b="1" i="1" dirty="0">
                <a:highlight>
                  <a:srgbClr val="FFFF00"/>
                </a:highlight>
              </a:rPr>
              <a:t> - </a:t>
            </a:r>
            <a:r>
              <a:rPr lang="en-US" sz="2600" i="1" dirty="0">
                <a:highlight>
                  <a:srgbClr val="FFFF00"/>
                </a:highlight>
              </a:rPr>
              <a:t>Eng </a:t>
            </a:r>
            <a:r>
              <a:rPr lang="en-US" sz="2600" i="1" dirty="0" err="1">
                <a:highlight>
                  <a:srgbClr val="FFFF00"/>
                </a:highlight>
              </a:rPr>
              <a:t>rasmiy</a:t>
            </a:r>
            <a:r>
              <a:rPr lang="en-US" sz="2600" i="1" dirty="0">
                <a:highlight>
                  <a:srgbClr val="FFFF00"/>
                </a:highlight>
              </a:rPr>
              <a:t> </a:t>
            </a:r>
            <a:r>
              <a:rPr lang="en-US" sz="2600" i="1" dirty="0" err="1">
                <a:highlight>
                  <a:srgbClr val="FFFF00"/>
                </a:highlight>
              </a:rPr>
              <a:t>variantlardan</a:t>
            </a:r>
            <a:r>
              <a:rPr lang="en-US" sz="2600" i="1" dirty="0">
                <a:highlight>
                  <a:srgbClr val="FFFF00"/>
                </a:highlight>
              </a:rPr>
              <a:t> </a:t>
            </a:r>
            <a:r>
              <a:rPr lang="en-US" sz="2600" i="1" dirty="0" err="1">
                <a:highlight>
                  <a:srgbClr val="FFFF00"/>
                </a:highlight>
              </a:rPr>
              <a:t>biri</a:t>
            </a:r>
            <a:r>
              <a:rPr lang="en-US" sz="26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I will lend you the money </a:t>
            </a:r>
            <a:r>
              <a:rPr lang="en-US" sz="2600" b="1" dirty="0"/>
              <a:t>on condition that</a:t>
            </a:r>
            <a:r>
              <a:rPr lang="en-US" sz="2600" dirty="0"/>
              <a:t> you pay it back next week.</a:t>
            </a:r>
            <a:br>
              <a:rPr lang="en-US" sz="2600" dirty="0"/>
            </a:br>
            <a:r>
              <a:rPr lang="en-US" sz="2600" dirty="0"/>
              <a:t>→ </a:t>
            </a:r>
            <a:r>
              <a:rPr lang="en-US" sz="2600" dirty="0" err="1"/>
              <a:t>Pulni</a:t>
            </a:r>
            <a:r>
              <a:rPr lang="en-US" sz="2600" dirty="0"/>
              <a:t> </a:t>
            </a:r>
            <a:r>
              <a:rPr lang="en-US" sz="2600" dirty="0" err="1"/>
              <a:t>beraman</a:t>
            </a:r>
            <a:r>
              <a:rPr lang="en-US" sz="2600" dirty="0"/>
              <a:t>, </a:t>
            </a:r>
            <a:r>
              <a:rPr lang="en-US" sz="2600" b="1" dirty="0" err="1"/>
              <a:t>kelasi</a:t>
            </a:r>
            <a:r>
              <a:rPr lang="en-US" sz="2600" b="1" dirty="0"/>
              <a:t> </a:t>
            </a:r>
            <a:r>
              <a:rPr lang="en-US" sz="2600" b="1" dirty="0" err="1"/>
              <a:t>hafta</a:t>
            </a:r>
            <a:r>
              <a:rPr lang="en-US" sz="2600" b="1" dirty="0"/>
              <a:t> </a:t>
            </a:r>
            <a:r>
              <a:rPr lang="en-US" sz="2600" b="1" dirty="0" err="1"/>
              <a:t>qaytarishingiz</a:t>
            </a:r>
            <a:r>
              <a:rPr lang="en-US" sz="2600" b="1" dirty="0"/>
              <a:t> </a:t>
            </a:r>
            <a:r>
              <a:rPr lang="en-US" sz="2600" b="1" dirty="0" err="1"/>
              <a:t>sharti</a:t>
            </a:r>
            <a:r>
              <a:rPr lang="en-US" sz="2600" b="1" dirty="0"/>
              <a:t> </a:t>
            </a:r>
            <a:r>
              <a:rPr lang="en-US" sz="2600" b="1" dirty="0" err="1"/>
              <a:t>bilan</a:t>
            </a:r>
            <a:r>
              <a:rPr lang="en-US" sz="2600" dirty="0"/>
              <a:t>.</a:t>
            </a:r>
          </a:p>
          <a:p>
            <a:pPr>
              <a:lnSpc>
                <a:spcPct val="200000"/>
              </a:lnSpc>
            </a:pPr>
            <a:r>
              <a:rPr lang="en-US" sz="2600" dirty="0"/>
              <a:t>The company agreed to hire him </a:t>
            </a:r>
            <a:r>
              <a:rPr lang="en-US" sz="2600" b="1" dirty="0"/>
              <a:t>on condition that</a:t>
            </a:r>
            <a:r>
              <a:rPr lang="en-US" sz="2600" dirty="0"/>
              <a:t> he completed the training.</a:t>
            </a:r>
            <a:br>
              <a:rPr lang="en-US" sz="2600" dirty="0"/>
            </a:br>
            <a:r>
              <a:rPr lang="en-US" sz="2600" dirty="0"/>
              <a:t>→ </a:t>
            </a:r>
            <a:r>
              <a:rPr lang="en-US" sz="2600" dirty="0" err="1"/>
              <a:t>Kompaniya</a:t>
            </a:r>
            <a:r>
              <a:rPr lang="en-US" sz="2600" dirty="0"/>
              <a:t> </a:t>
            </a:r>
            <a:r>
              <a:rPr lang="en-US" sz="2600" dirty="0" err="1"/>
              <a:t>uni</a:t>
            </a:r>
            <a:r>
              <a:rPr lang="en-US" sz="2600" dirty="0"/>
              <a:t> </a:t>
            </a:r>
            <a:r>
              <a:rPr lang="en-US" sz="2600" dirty="0" err="1"/>
              <a:t>ishga</a:t>
            </a:r>
            <a:r>
              <a:rPr lang="en-US" sz="2600" dirty="0"/>
              <a:t> </a:t>
            </a:r>
            <a:r>
              <a:rPr lang="en-US" sz="2600" dirty="0" err="1"/>
              <a:t>olishga</a:t>
            </a:r>
            <a:r>
              <a:rPr lang="en-US" sz="2600" dirty="0"/>
              <a:t> </a:t>
            </a:r>
            <a:r>
              <a:rPr lang="en-US" sz="2600" dirty="0" err="1"/>
              <a:t>rozi</a:t>
            </a:r>
            <a:r>
              <a:rPr lang="en-US" sz="2600" dirty="0"/>
              <a:t> </a:t>
            </a:r>
            <a:r>
              <a:rPr lang="en-US" sz="2600" dirty="0" err="1"/>
              <a:t>bo‘ldi</a:t>
            </a:r>
            <a:r>
              <a:rPr lang="en-US" sz="2600" dirty="0"/>
              <a:t>, </a:t>
            </a:r>
            <a:r>
              <a:rPr lang="en-US" sz="2600" b="1" dirty="0" err="1"/>
              <a:t>treningni</a:t>
            </a:r>
            <a:r>
              <a:rPr lang="en-US" sz="2600" b="1" dirty="0"/>
              <a:t> </a:t>
            </a:r>
            <a:r>
              <a:rPr lang="en-US" sz="2600" b="1" dirty="0" err="1"/>
              <a:t>tugatishi</a:t>
            </a:r>
            <a:r>
              <a:rPr lang="en-US" sz="2600" b="1" dirty="0"/>
              <a:t> </a:t>
            </a:r>
            <a:r>
              <a:rPr lang="en-US" sz="2600" b="1" dirty="0" err="1"/>
              <a:t>sharti</a:t>
            </a:r>
            <a:r>
              <a:rPr lang="en-US" sz="2600" b="1" dirty="0"/>
              <a:t> </a:t>
            </a:r>
            <a:r>
              <a:rPr lang="en-US" sz="2600" b="1" dirty="0" err="1"/>
              <a:t>bilan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9163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8B1B-13D7-C8E9-B812-C3344F18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E98E-883D-CD25-9E94-6ECEC2EB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Compare with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3CFE-6C7F-4DD9-4698-2999032A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you study hard, you will pass the exam.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b="1" dirty="0"/>
              <a:t>Agar </a:t>
            </a:r>
            <a:r>
              <a:rPr lang="en-US" sz="2800" b="1" dirty="0" err="1"/>
              <a:t>qattiq</a:t>
            </a:r>
            <a:r>
              <a:rPr lang="en-US" sz="2800" b="1" dirty="0"/>
              <a:t> </a:t>
            </a:r>
            <a:r>
              <a:rPr lang="en-US" sz="2800" b="1" dirty="0" err="1"/>
              <a:t>o‘qisang</a:t>
            </a:r>
            <a:r>
              <a:rPr lang="en-US" sz="2800" dirty="0"/>
              <a:t>, </a:t>
            </a:r>
            <a:r>
              <a:rPr lang="en-US" sz="2800" dirty="0" err="1"/>
              <a:t>imtihondan</a:t>
            </a:r>
            <a:r>
              <a:rPr lang="en-US" sz="2800" dirty="0"/>
              <a:t> </a:t>
            </a:r>
            <a:r>
              <a:rPr lang="en-US" sz="2800" dirty="0" err="1"/>
              <a:t>o‘tasan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As long as </a:t>
            </a:r>
            <a:r>
              <a:rPr lang="en-US" sz="2800" dirty="0"/>
              <a:t>you study hard, you will pass the exam.</a:t>
            </a:r>
            <a:br>
              <a:rPr lang="en-US" sz="2800" dirty="0"/>
            </a:br>
            <a:r>
              <a:rPr lang="en-US" sz="2800" dirty="0"/>
              <a:t>→ </a:t>
            </a:r>
            <a:r>
              <a:rPr lang="en-US" sz="2800" dirty="0" err="1"/>
              <a:t>Imtihondan</a:t>
            </a:r>
            <a:r>
              <a:rPr lang="en-US" sz="2800" dirty="0"/>
              <a:t> </a:t>
            </a:r>
            <a:r>
              <a:rPr lang="en-US" sz="2800" dirty="0" err="1"/>
              <a:t>o‘tasan</a:t>
            </a:r>
            <a:r>
              <a:rPr lang="en-US" sz="2800" dirty="0"/>
              <a:t>, </a:t>
            </a:r>
            <a:r>
              <a:rPr lang="en-US" sz="2800" b="1" dirty="0" err="1"/>
              <a:t>faqat</a:t>
            </a:r>
            <a:r>
              <a:rPr lang="en-US" sz="2800" b="1" dirty="0"/>
              <a:t> </a:t>
            </a:r>
            <a:r>
              <a:rPr lang="en-US" sz="2800" b="1" dirty="0" err="1"/>
              <a:t>qattiq</a:t>
            </a:r>
            <a:r>
              <a:rPr lang="en-US" sz="2800" b="1" dirty="0"/>
              <a:t> </a:t>
            </a:r>
            <a:r>
              <a:rPr lang="en-US" sz="2800" b="1" dirty="0" err="1"/>
              <a:t>o‘qisangina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Inversion - </a:t>
            </a:r>
            <a:r>
              <a:rPr lang="en-US" sz="2800" i="1" dirty="0">
                <a:highlight>
                  <a:srgbClr val="FFFF00"/>
                </a:highlight>
              </a:rPr>
              <a:t>Bu </a:t>
            </a:r>
            <a:r>
              <a:rPr lang="en-US" sz="2800" i="1" dirty="0" err="1">
                <a:highlight>
                  <a:srgbClr val="FFFF00"/>
                </a:highlight>
              </a:rPr>
              <a:t>bog‘lovchilar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inversion </a:t>
            </a:r>
            <a:r>
              <a:rPr lang="en-US" sz="2800" i="1" dirty="0" err="1">
                <a:highlight>
                  <a:srgbClr val="FFFF00"/>
                </a:highlight>
              </a:rPr>
              <a:t>qilinmaydi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can go out </a:t>
            </a:r>
            <a:r>
              <a:rPr lang="en-US" sz="2800" b="1" dirty="0"/>
              <a:t>provided that</a:t>
            </a:r>
            <a:r>
              <a:rPr lang="en-US" sz="2800" dirty="0"/>
              <a:t> you finish your homework.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Provided that finish your homework, can you go out. (wrong)</a:t>
            </a:r>
          </a:p>
        </p:txBody>
      </p:sp>
    </p:spTree>
    <p:extLst>
      <p:ext uri="{BB962C8B-B14F-4D97-AF65-F5344CB8AC3E}">
        <p14:creationId xmlns:p14="http://schemas.microsoft.com/office/powerpoint/2010/main" val="401828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4263B-EE30-9D24-5971-B4B72FC5B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C6A9-2ED3-2065-22F6-1A13DC77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OR (= if not)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4FBD-32CB-6FF8-D845-B469D901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OR and OTHERWISE - Or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otherwise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ko‘pincha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if not</a:t>
            </a:r>
            <a:r>
              <a:rPr lang="en-US" sz="2800" i="1" dirty="0">
                <a:highlight>
                  <a:srgbClr val="FFFF00"/>
                </a:highlight>
              </a:rPr>
              <a:t> ("agar </a:t>
            </a:r>
            <a:r>
              <a:rPr lang="en-US" sz="2800" i="1" dirty="0" err="1">
                <a:highlight>
                  <a:srgbClr val="FFFF00"/>
                </a:highlight>
              </a:rPr>
              <a:t>bo‘lmasa</a:t>
            </a:r>
            <a:r>
              <a:rPr lang="en-US" sz="2800" i="1" dirty="0">
                <a:highlight>
                  <a:srgbClr val="FFFF00"/>
                </a:highlight>
              </a:rPr>
              <a:t>", "</a:t>
            </a:r>
            <a:r>
              <a:rPr lang="en-US" sz="2800" i="1" dirty="0" err="1">
                <a:highlight>
                  <a:srgbClr val="FFFF00"/>
                </a:highlight>
              </a:rPr>
              <a:t>aks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holda</a:t>
            </a:r>
            <a:r>
              <a:rPr lang="en-US" sz="2800" i="1" dirty="0">
                <a:highlight>
                  <a:srgbClr val="FFFF00"/>
                </a:highlight>
              </a:rPr>
              <a:t>") </a:t>
            </a:r>
            <a:r>
              <a:rPr lang="en-US" sz="2800" i="1" dirty="0" err="1">
                <a:highlight>
                  <a:srgbClr val="FFFF00"/>
                </a:highlight>
              </a:rPr>
              <a:t>ma'nosida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Imperative/clause, or + result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You've got to start studying, or you'll fail all those exams.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= If you don't start studying, you'll fail all those exams.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Hurry up, or we'll miss the bus.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= If we don't hurry up, we'll miss the bus.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Wear a coat, or you'll get cold.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= If you don't wear a coat, you'll get cold.</a:t>
            </a:r>
          </a:p>
        </p:txBody>
      </p:sp>
    </p:spTree>
    <p:extLst>
      <p:ext uri="{BB962C8B-B14F-4D97-AF65-F5344CB8AC3E}">
        <p14:creationId xmlns:p14="http://schemas.microsoft.com/office/powerpoint/2010/main" val="2768708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F231-ABA6-5E3E-1002-FAFAADBF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FEE0-D89F-B1C0-4C63-E351F069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OTHERWISE (= if not)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F42D5-54E8-D962-043C-191B6D4EE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Formula: </a:t>
            </a:r>
            <a:r>
              <a:rPr lang="en-US" sz="2800" b="1" dirty="0">
                <a:solidFill>
                  <a:srgbClr val="00B0F0"/>
                </a:solidFill>
              </a:rPr>
              <a:t>Statement/Command + otherwise + result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We'd better send it express; otherwise, it'll take days.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=If we don't send it express, it'll take days.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Study hard; otherwise, you'll fail.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=If you don't study hard, you'll fail.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Leave now; otherwise, we'll be late.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=If we don't leave now, we'll be late.</a:t>
            </a:r>
          </a:p>
        </p:txBody>
      </p:sp>
    </p:spTree>
    <p:extLst>
      <p:ext uri="{BB962C8B-B14F-4D97-AF65-F5344CB8AC3E}">
        <p14:creationId xmlns:p14="http://schemas.microsoft.com/office/powerpoint/2010/main" val="81344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FB52-3870-24B3-F4BA-B202B46E4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2E81-5B67-537D-E346-B1CC60B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5"/>
            <a:ext cx="12192000" cy="86153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OR vs OTHERWISE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AD86C-710D-6C5A-DB56-69CA3CA0E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667" y="796413"/>
            <a:ext cx="11853333" cy="60615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OR - </a:t>
            </a:r>
            <a:r>
              <a:rPr lang="en-US" sz="2800" dirty="0" err="1"/>
              <a:t>Ko‘proq</a:t>
            </a:r>
            <a:r>
              <a:rPr lang="en-US" sz="2800" dirty="0"/>
              <a:t> </a:t>
            </a:r>
            <a:r>
              <a:rPr lang="en-US" sz="2800" dirty="0" err="1"/>
              <a:t>buyruq</a:t>
            </a:r>
            <a:r>
              <a:rPr lang="en-US" sz="2800" dirty="0"/>
              <a:t> </a:t>
            </a:r>
            <a:r>
              <a:rPr lang="en-US" sz="2800" dirty="0" err="1"/>
              <a:t>yoki</a:t>
            </a:r>
            <a:r>
              <a:rPr lang="en-US" sz="2800" dirty="0"/>
              <a:t> </a:t>
            </a:r>
            <a:r>
              <a:rPr lang="en-US" sz="2800" dirty="0" err="1"/>
              <a:t>maslahatdan</a:t>
            </a:r>
            <a:r>
              <a:rPr lang="en-US" sz="2800" dirty="0"/>
              <a:t> </a:t>
            </a:r>
            <a:r>
              <a:rPr lang="en-US" sz="2800" dirty="0" err="1"/>
              <a:t>keyin</a:t>
            </a:r>
            <a:r>
              <a:rPr lang="en-US" sz="2800" dirty="0"/>
              <a:t> </a:t>
            </a:r>
            <a:r>
              <a:rPr lang="en-US" sz="2800" dirty="0" err="1"/>
              <a:t>ishlatiladi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Hurry up, or we'll miss the bus.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Study harder, or you'll fail.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OTHERWISE - </a:t>
            </a:r>
            <a:r>
              <a:rPr lang="en-US" sz="2800" dirty="0" err="1"/>
              <a:t>Ko‘proq</a:t>
            </a:r>
            <a:r>
              <a:rPr lang="en-US" sz="2800" dirty="0"/>
              <a:t> </a:t>
            </a:r>
            <a:r>
              <a:rPr lang="en-US" sz="2800" dirty="0" err="1"/>
              <a:t>rasmiyroq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yozma</a:t>
            </a:r>
            <a:r>
              <a:rPr lang="en-US" sz="2800" dirty="0"/>
              <a:t> </a:t>
            </a:r>
            <a:r>
              <a:rPr lang="en-US" sz="2800" dirty="0" err="1"/>
              <a:t>uslubda</a:t>
            </a:r>
            <a:r>
              <a:rPr lang="en-US" sz="2800" dirty="0"/>
              <a:t> </a:t>
            </a:r>
            <a:r>
              <a:rPr lang="en-US" sz="2800" dirty="0" err="1"/>
              <a:t>uchraydi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must leave now; otherwise, we'll be late.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Submit the form today; otherwise, your application will be rejected. </a:t>
            </a:r>
          </a:p>
        </p:txBody>
      </p:sp>
    </p:spTree>
    <p:extLst>
      <p:ext uri="{BB962C8B-B14F-4D97-AF65-F5344CB8AC3E}">
        <p14:creationId xmlns:p14="http://schemas.microsoft.com/office/powerpoint/2010/main" val="6707063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106</TotalTime>
  <Words>867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Wingdings</vt:lpstr>
      <vt:lpstr>Wood Type</vt:lpstr>
      <vt:lpstr>PowerPoint Presentation</vt:lpstr>
      <vt:lpstr>UNLESS (= if not / except if)</vt:lpstr>
      <vt:lpstr>SHOULD + SUBJECT (formal conditional)</vt:lpstr>
      <vt:lpstr>HAD + SUBJECT (third conditional inversion)</vt:lpstr>
      <vt:lpstr>As long as / so long as / provided that / on condition that</vt:lpstr>
      <vt:lpstr>AS LONG AS = SO LONG AS</vt:lpstr>
      <vt:lpstr>Provided (that) | providing</vt:lpstr>
      <vt:lpstr>ON CONDITION THAT</vt:lpstr>
      <vt:lpstr>Compare with IF</vt:lpstr>
      <vt:lpstr>OR (= if not)</vt:lpstr>
      <vt:lpstr>OTHERWISE (= if not)</vt:lpstr>
      <vt:lpstr>OR vs OTHERWISE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14</cp:revision>
  <dcterms:created xsi:type="dcterms:W3CDTF">2026-06-11T08:58:36Z</dcterms:created>
  <dcterms:modified xsi:type="dcterms:W3CDTF">2026-06-11T10:45:23Z</dcterms:modified>
</cp:coreProperties>
</file>