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5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89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5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63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7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64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1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28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1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9AD66B8-30E3-457F-9FAC-7656B42B712D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3EA3B07F-1343-4E17-90CC-4B3F2B6A4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5280-C72F-2E4F-995D-66FB1C93E2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b="1" dirty="0">
                <a:solidFill>
                  <a:srgbClr val="FF0000"/>
                </a:solidFill>
                <a:latin typeface="Rockwell" panose="02060603020205020403" pitchFamily="18" charset="0"/>
              </a:rPr>
              <a:t>CAUSATIVE VERBS</a:t>
            </a:r>
            <a:endParaRPr lang="en-US" sz="80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ED62F-5CE6-D682-DBCB-543790DF70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6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668D-E493-C2EC-8DAD-A7E798FF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are causative verbs?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0D56C-D515-B5E0-A770-9792386CF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</a:rPr>
              <a:t>A </a:t>
            </a:r>
            <a:r>
              <a:rPr lang="en-US" sz="2800" b="1" dirty="0">
                <a:highlight>
                  <a:srgbClr val="FFFF00"/>
                </a:highlight>
              </a:rPr>
              <a:t>causative verb</a:t>
            </a:r>
            <a:r>
              <a:rPr lang="en-US" sz="2800" dirty="0">
                <a:highlight>
                  <a:srgbClr val="FFFF00"/>
                </a:highlight>
              </a:rPr>
              <a:t> shows that </a:t>
            </a:r>
            <a:r>
              <a:rPr lang="en-US" sz="2800" b="1" dirty="0">
                <a:highlight>
                  <a:srgbClr val="FFFF00"/>
                </a:highlight>
              </a:rPr>
              <a:t>the subject causes another person or thing to do an action</a:t>
            </a:r>
            <a:r>
              <a:rPr lang="en-US" sz="2800" dirty="0">
                <a:highlight>
                  <a:srgbClr val="FFFF00"/>
                </a:highlight>
              </a:rPr>
              <a:t>, instead of performing the action themselves.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00FF00"/>
                </a:highlight>
              </a:rPr>
              <a:t>In other words: The subject is responsible for the action, but another person (or thing) actually performs it.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Subject (causes)</a:t>
            </a:r>
            <a:r>
              <a:rPr lang="en-US" sz="2800" dirty="0"/>
              <a:t> → </a:t>
            </a:r>
            <a:r>
              <a:rPr lang="en-US" sz="2800" b="1" dirty="0"/>
              <a:t>Another person (does the action)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I repaired my car. (I repaired it myself.)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had my car repaired. (Someone else repaired it for me.)</a:t>
            </a:r>
          </a:p>
        </p:txBody>
      </p:sp>
    </p:spTree>
    <p:extLst>
      <p:ext uri="{BB962C8B-B14F-4D97-AF65-F5344CB8AC3E}">
        <p14:creationId xmlns:p14="http://schemas.microsoft.com/office/powerpoint/2010/main" val="2337152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74BE-69A4-ACCF-AF09-D7FBE2F2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6814-BE2C-F242-1849-1D4FCED4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Why do we use causative verbs?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ABAC1-BCC3-C5E8-185C-553AC47D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00FF00"/>
                </a:highlight>
              </a:rPr>
              <a:t>We use causative verbs to express: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asking someone to do something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paying someone to do something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forcing someone to do something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persuading someone to do something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allowing someone to do something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getting something done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arranging services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experiencing something unexpectedly</a:t>
            </a:r>
          </a:p>
        </p:txBody>
      </p:sp>
    </p:spTree>
    <p:extLst>
      <p:ext uri="{BB962C8B-B14F-4D97-AF65-F5344CB8AC3E}">
        <p14:creationId xmlns:p14="http://schemas.microsoft.com/office/powerpoint/2010/main" val="108816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FDC4-ACC4-3EA5-AAC7-36426B65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6986-DDD8-55EE-8D56-4E2D1001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 Main Causative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4E953-5F58-F0EE-B57C-5B0147501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 numCol="2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make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have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get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let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help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force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persuade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convince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allow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require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order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cause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encourage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permit</a:t>
            </a:r>
          </a:p>
        </p:txBody>
      </p:sp>
    </p:spTree>
    <p:extLst>
      <p:ext uri="{BB962C8B-B14F-4D97-AF65-F5344CB8AC3E}">
        <p14:creationId xmlns:p14="http://schemas.microsoft.com/office/powerpoint/2010/main" val="102887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7BD4C-4D84-26E1-5C92-9CED6AD9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93A16-CF0F-3827-B43C-7C2C2B24E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 1 — MAKE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F28E9-9EBA-EFB6-A35C-BE79AA4A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Make = force someone to do something. </a:t>
            </a:r>
            <a:r>
              <a:rPr lang="en-US" sz="2800" dirty="0"/>
              <a:t>The person has </a:t>
            </a:r>
            <a:r>
              <a:rPr lang="en-US" sz="2800" b="1" dirty="0"/>
              <a:t>no choice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make + person + base verb (No "to")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teacher </a:t>
            </a:r>
            <a:r>
              <a:rPr lang="en-US" sz="2800" b="1" dirty="0"/>
              <a:t>made</a:t>
            </a:r>
            <a:r>
              <a:rPr lang="en-US" sz="2800" dirty="0"/>
              <a:t> us </a:t>
            </a:r>
            <a:r>
              <a:rPr lang="en-US" sz="2800" b="1" dirty="0"/>
              <a:t>stay</a:t>
            </a:r>
            <a:r>
              <a:rPr lang="en-US" sz="2800" dirty="0"/>
              <a:t> after class.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parents </a:t>
            </a:r>
            <a:r>
              <a:rPr lang="en-US" sz="2800" b="1" dirty="0"/>
              <a:t>made</a:t>
            </a:r>
            <a:r>
              <a:rPr lang="en-US" sz="2800" dirty="0"/>
              <a:t> me </a:t>
            </a:r>
            <a:r>
              <a:rPr lang="en-US" sz="2800" b="1" dirty="0"/>
              <a:t>clean</a:t>
            </a:r>
            <a:r>
              <a:rPr lang="en-US" sz="2800" dirty="0"/>
              <a:t> my room.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boss </a:t>
            </a:r>
            <a:r>
              <a:rPr lang="en-US" sz="2800" b="1" dirty="0"/>
              <a:t>made</a:t>
            </a:r>
            <a:r>
              <a:rPr lang="en-US" sz="2800" dirty="0"/>
              <a:t> everyone </a:t>
            </a:r>
            <a:r>
              <a:rPr lang="en-US" sz="2800" b="1" dirty="0"/>
              <a:t>work</a:t>
            </a:r>
            <a:r>
              <a:rPr lang="en-US" sz="2800" dirty="0"/>
              <a:t> overtime.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movie </a:t>
            </a:r>
            <a:r>
              <a:rPr lang="en-US" sz="2800" b="1" dirty="0"/>
              <a:t>made</a:t>
            </a:r>
            <a:r>
              <a:rPr lang="en-US" sz="2800" dirty="0"/>
              <a:t> me </a:t>
            </a:r>
            <a:r>
              <a:rPr lang="en-US" sz="2800" b="1" dirty="0"/>
              <a:t>cry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626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FE4A-ACC4-32CC-AFC4-22592680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93EF-FA62-A88E-E481-85A323414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Passive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1757C-2C31-7364-E737-9107A1F58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Structure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00B0F0"/>
                </a:solidFill>
              </a:rPr>
              <a:t>Subject + be made + to infinitive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Notice: </a:t>
            </a:r>
            <a:r>
              <a:rPr lang="en-US" sz="2800" b="1" dirty="0"/>
              <a:t>to</a:t>
            </a:r>
            <a:r>
              <a:rPr lang="en-US" sz="2800" dirty="0"/>
              <a:t> appears in passive.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was </a:t>
            </a:r>
            <a:r>
              <a:rPr lang="en-US" sz="2800" b="1" dirty="0"/>
              <a:t>made to apologize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was </a:t>
            </a:r>
            <a:r>
              <a:rPr lang="en-US" sz="2800" b="1" dirty="0"/>
              <a:t>made to leave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were </a:t>
            </a:r>
            <a:r>
              <a:rPr lang="en-US" sz="2800" b="1" dirty="0"/>
              <a:t>made to wait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Common mistake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She made me to cry. ✅ She made me cry.</a:t>
            </a:r>
          </a:p>
        </p:txBody>
      </p:sp>
    </p:spTree>
    <p:extLst>
      <p:ext uri="{BB962C8B-B14F-4D97-AF65-F5344CB8AC3E}">
        <p14:creationId xmlns:p14="http://schemas.microsoft.com/office/powerpoint/2010/main" val="2540170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0F98-EA4A-DECC-38BA-D5F55380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C486-6A53-700F-84A0-1A3CD2A4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 2 — HAVE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BBD97-EDC0-BBC7-841C-5F854FA6D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Have has two completely different causative meanings.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A. Have someone do something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Meaning - Arrange or instruct someone to do something.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have + person + base verb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I'll </a:t>
            </a:r>
            <a:r>
              <a:rPr lang="en-US" sz="2800" b="1" dirty="0"/>
              <a:t>have</a:t>
            </a:r>
            <a:r>
              <a:rPr lang="en-US" sz="2800" dirty="0"/>
              <a:t> </a:t>
            </a:r>
            <a:r>
              <a:rPr lang="en-US" sz="2800" u="sng" dirty="0"/>
              <a:t>my assistant </a:t>
            </a:r>
            <a:r>
              <a:rPr lang="en-US" sz="2800" b="1" dirty="0"/>
              <a:t>call</a:t>
            </a:r>
            <a:r>
              <a:rPr lang="en-US" sz="2800" dirty="0"/>
              <a:t> you.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the mechanic </a:t>
            </a:r>
            <a:r>
              <a:rPr lang="en-US" sz="2800" b="1" dirty="0"/>
              <a:t>check</a:t>
            </a:r>
            <a:r>
              <a:rPr lang="en-US" sz="2800" dirty="0"/>
              <a:t> the brakes.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manager </a:t>
            </a:r>
            <a:r>
              <a:rPr lang="en-US" sz="2800" b="1" dirty="0"/>
              <a:t>has</a:t>
            </a:r>
            <a:r>
              <a:rPr lang="en-US" sz="2800" dirty="0"/>
              <a:t> </a:t>
            </a:r>
            <a:r>
              <a:rPr lang="en-US" sz="2800" u="sng" dirty="0"/>
              <a:t>the secretary </a:t>
            </a:r>
            <a:r>
              <a:rPr lang="en-US" sz="2800" b="1" dirty="0"/>
              <a:t>print</a:t>
            </a:r>
            <a:r>
              <a:rPr lang="en-US" sz="2800" dirty="0"/>
              <a:t> reports everyday.</a:t>
            </a:r>
          </a:p>
        </p:txBody>
      </p:sp>
    </p:spTree>
    <p:extLst>
      <p:ext uri="{BB962C8B-B14F-4D97-AF65-F5344CB8AC3E}">
        <p14:creationId xmlns:p14="http://schemas.microsoft.com/office/powerpoint/2010/main" val="274362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F15B-B7CA-CBD7-EBAE-08CB8496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1E7D-75CE-9F06-B094-6010A2C0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 2 — HAVE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099-CD5A-64A9-9D96-BC516AE1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639098"/>
            <a:ext cx="11975690" cy="620064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B. Have something done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00FF00"/>
                </a:highlight>
              </a:rPr>
              <a:t>Meaning - Someone else performs a service for you.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have + object + V3/ed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my hair </a:t>
            </a:r>
            <a:r>
              <a:rPr lang="en-US" sz="2800" b="1" dirty="0"/>
              <a:t>cut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her house </a:t>
            </a:r>
            <a:r>
              <a:rPr lang="en-US" sz="2800" b="1" dirty="0"/>
              <a:t>painted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They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the roof </a:t>
            </a:r>
            <a:r>
              <a:rPr lang="en-US" sz="2800" b="1" dirty="0"/>
              <a:t>repaired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the computer </a:t>
            </a:r>
            <a:r>
              <a:rPr lang="en-US" sz="2800" b="1" dirty="0"/>
              <a:t>fixed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his teeth </a:t>
            </a:r>
            <a:r>
              <a:rPr lang="en-US" sz="2800" b="1" dirty="0"/>
              <a:t>cleaned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3000" dirty="0"/>
              <a:t>Notice - </a:t>
            </a:r>
            <a:r>
              <a:rPr lang="en-US" sz="2800" dirty="0"/>
              <a:t>You did NOT cut your own hair. Someone else did it.</a:t>
            </a:r>
          </a:p>
        </p:txBody>
      </p:sp>
    </p:spTree>
    <p:extLst>
      <p:ext uri="{BB962C8B-B14F-4D97-AF65-F5344CB8AC3E}">
        <p14:creationId xmlns:p14="http://schemas.microsoft.com/office/powerpoint/2010/main" val="2531711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AE96-CC5F-2538-E568-45EBC966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2012-C454-BDEC-3265-444AA8070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 3 — 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EA013-9BEB-67C6-5737-3AD8AE2AB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Get</a:t>
            </a:r>
            <a:r>
              <a:rPr lang="en-US" sz="2800" i="1" dirty="0">
                <a:highlight>
                  <a:srgbClr val="FFFF00"/>
                </a:highlight>
              </a:rPr>
              <a:t> is similar to </a:t>
            </a:r>
            <a:r>
              <a:rPr lang="en-US" sz="2800" b="1" i="1" dirty="0">
                <a:highlight>
                  <a:srgbClr val="FFFF00"/>
                </a:highlight>
              </a:rPr>
              <a:t>have</a:t>
            </a:r>
            <a:r>
              <a:rPr lang="en-US" sz="2800" i="1" dirty="0">
                <a:highlight>
                  <a:srgbClr val="FFFF00"/>
                </a:highlight>
              </a:rPr>
              <a:t> but slightly less formal. </a:t>
            </a:r>
            <a:r>
              <a:rPr lang="en-US" sz="2800" b="1" i="1" dirty="0">
                <a:highlight>
                  <a:srgbClr val="FFFF00"/>
                </a:highlight>
              </a:rPr>
              <a:t>A. Get someone to do something. </a:t>
            </a:r>
            <a:r>
              <a:rPr lang="en-US" sz="2800" i="1" dirty="0">
                <a:highlight>
                  <a:srgbClr val="FFFF00"/>
                </a:highlight>
              </a:rPr>
              <a:t>Meaning - Persuade, convince or manage to make someone do something.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Structure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00B0F0"/>
                </a:solidFill>
              </a:rPr>
              <a:t>Subject + get + person + to infinitive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 got my brother to help me.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She got him to apologize.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We got the children to clean their rooms.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Difference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00B050"/>
                </a:solidFill>
              </a:rPr>
              <a:t>Make = force | Get = persuade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The teacher made him study.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The teacher got him to study.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The first is stronger.</a:t>
            </a:r>
          </a:p>
        </p:txBody>
      </p:sp>
    </p:spTree>
    <p:extLst>
      <p:ext uri="{BB962C8B-B14F-4D97-AF65-F5344CB8AC3E}">
        <p14:creationId xmlns:p14="http://schemas.microsoft.com/office/powerpoint/2010/main" val="2211786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1518-5FFA-2AD1-4EA5-69E621D3B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03D8-155E-4EFB-DA97-B6F696B2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 3 — GET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05802-4856-95FC-35C6-1278B8591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B. Get something done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get + object + V3/ed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Meaning - Arrange for someone else to do something.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I'm </a:t>
            </a:r>
            <a:r>
              <a:rPr lang="en-US" sz="3000" b="1" dirty="0"/>
              <a:t>getting</a:t>
            </a:r>
            <a:r>
              <a:rPr lang="en-US" sz="3000" dirty="0"/>
              <a:t> </a:t>
            </a:r>
            <a:r>
              <a:rPr lang="en-US" sz="3000" u="sng" dirty="0"/>
              <a:t>my phone </a:t>
            </a:r>
            <a:r>
              <a:rPr lang="en-US" sz="3000" b="1" dirty="0"/>
              <a:t>repaired</a:t>
            </a:r>
            <a:r>
              <a:rPr lang="en-US" sz="3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She got her nails done.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They got the windows cleaned.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He got his passport renewed.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Difference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00B050"/>
                </a:solidFill>
              </a:rPr>
              <a:t>Have my hair cut. | Get my hair cut.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Both are correct. "</a:t>
            </a:r>
            <a:r>
              <a:rPr lang="en-US" sz="2800" b="1" dirty="0"/>
              <a:t>Get</a:t>
            </a:r>
            <a:r>
              <a:rPr lang="en-US" sz="2800" dirty="0"/>
              <a:t>" is more </a:t>
            </a:r>
            <a:r>
              <a:rPr lang="en-US" sz="2800" b="1" dirty="0"/>
              <a:t>common</a:t>
            </a:r>
            <a:r>
              <a:rPr lang="en-US" sz="2800" dirty="0"/>
              <a:t> in everyday English.</a:t>
            </a:r>
          </a:p>
        </p:txBody>
      </p:sp>
    </p:spTree>
    <p:extLst>
      <p:ext uri="{BB962C8B-B14F-4D97-AF65-F5344CB8AC3E}">
        <p14:creationId xmlns:p14="http://schemas.microsoft.com/office/powerpoint/2010/main" val="188559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3E193-0A54-260A-925F-8185B7F1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8906-BF3A-4565-6046-DA3EDA59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 4 — 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C8D9-FF4E-08DD-0BA4-86972A1E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1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Meaning - Allow or permit.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let + person + V1 </a:t>
            </a:r>
            <a:r>
              <a:rPr lang="en-US" sz="2800" b="1" dirty="0"/>
              <a:t>(No "to")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My parents </a:t>
            </a:r>
            <a:r>
              <a:rPr lang="en-US" sz="2800" b="1" dirty="0"/>
              <a:t>let</a:t>
            </a:r>
            <a:r>
              <a:rPr lang="en-US" sz="2800" dirty="0"/>
              <a:t> </a:t>
            </a:r>
            <a:r>
              <a:rPr lang="en-US" sz="2800" u="sng" dirty="0"/>
              <a:t>me</a:t>
            </a:r>
            <a:r>
              <a:rPr lang="en-US" sz="2800" dirty="0"/>
              <a:t> </a:t>
            </a:r>
            <a:r>
              <a:rPr lang="en-US" sz="2800" b="1" dirty="0"/>
              <a:t>drive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lets</a:t>
            </a:r>
            <a:r>
              <a:rPr lang="en-US" sz="2800" dirty="0"/>
              <a:t> </a:t>
            </a:r>
            <a:r>
              <a:rPr lang="en-US" sz="2800" u="sng" dirty="0"/>
              <a:t>her children </a:t>
            </a:r>
            <a:r>
              <a:rPr lang="en-US" sz="2800" b="1" dirty="0"/>
              <a:t>stay up late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They won't </a:t>
            </a:r>
            <a:r>
              <a:rPr lang="en-US" sz="2800" b="1" dirty="0"/>
              <a:t>let</a:t>
            </a:r>
            <a:r>
              <a:rPr lang="en-US" sz="2800" dirty="0"/>
              <a:t> </a:t>
            </a:r>
            <a:r>
              <a:rPr lang="en-US" sz="2800" u="sng" dirty="0"/>
              <a:t>us</a:t>
            </a:r>
            <a:r>
              <a:rPr lang="en-US" sz="2800" dirty="0"/>
              <a:t> </a:t>
            </a:r>
            <a:r>
              <a:rPr lang="en-US" sz="2800" b="1" dirty="0"/>
              <a:t>enter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Passive - "</a:t>
            </a:r>
            <a:r>
              <a:rPr lang="en-US" sz="2800" b="1" dirty="0"/>
              <a:t>Let</a:t>
            </a:r>
            <a:r>
              <a:rPr lang="en-US" sz="2800" dirty="0"/>
              <a:t>" is rarely used in passive instead use </a:t>
            </a:r>
            <a:r>
              <a:rPr lang="en-US" sz="2800" b="1" dirty="0"/>
              <a:t>allow / permit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was </a:t>
            </a:r>
            <a:r>
              <a:rPr lang="en-US" sz="2800" b="1" dirty="0"/>
              <a:t>allowed / permitted </a:t>
            </a:r>
            <a:r>
              <a:rPr lang="en-US" sz="2800" dirty="0"/>
              <a:t>to enter. NOT </a:t>
            </a:r>
            <a:r>
              <a:rPr lang="en-US" sz="2800" b="1" strike="sngStrike" dirty="0"/>
              <a:t>I was let to enter.</a:t>
            </a:r>
          </a:p>
        </p:txBody>
      </p:sp>
    </p:spTree>
    <p:extLst>
      <p:ext uri="{BB962C8B-B14F-4D97-AF65-F5344CB8AC3E}">
        <p14:creationId xmlns:p14="http://schemas.microsoft.com/office/powerpoint/2010/main" val="73968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5AF6A-EE05-F933-6215-1527106F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93DF-AB67-D546-13BB-11B5A4AE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TYPE 5 —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C401C-6A81-BF0B-0C32-DA68E798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Help has two correct structures.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 1: </a:t>
            </a:r>
            <a:r>
              <a:rPr lang="en-US" sz="2800" b="1" dirty="0">
                <a:solidFill>
                  <a:srgbClr val="00B0F0"/>
                </a:solidFill>
              </a:rPr>
              <a:t>help + person + base verb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helped</a:t>
            </a:r>
            <a:r>
              <a:rPr lang="en-US" sz="2800" dirty="0"/>
              <a:t> </a:t>
            </a:r>
            <a:r>
              <a:rPr lang="en-US" sz="2800" u="sng" dirty="0"/>
              <a:t>me</a:t>
            </a:r>
            <a:r>
              <a:rPr lang="en-US" sz="2800" dirty="0"/>
              <a:t> </a:t>
            </a:r>
            <a:r>
              <a:rPr lang="en-US" sz="2800" b="1" dirty="0"/>
              <a:t>carry</a:t>
            </a:r>
            <a:r>
              <a:rPr lang="en-US" sz="2800" dirty="0"/>
              <a:t> the boxes.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 2: </a:t>
            </a:r>
            <a:r>
              <a:rPr lang="en-US" sz="2800" b="1" dirty="0">
                <a:solidFill>
                  <a:srgbClr val="00B0F0"/>
                </a:solidFill>
              </a:rPr>
              <a:t>help + person + to infinitive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helped</a:t>
            </a:r>
            <a:r>
              <a:rPr lang="en-US" sz="2800" dirty="0"/>
              <a:t> </a:t>
            </a:r>
            <a:r>
              <a:rPr lang="en-US" sz="2800" u="sng" dirty="0"/>
              <a:t>me</a:t>
            </a:r>
            <a:r>
              <a:rPr lang="en-US" sz="2800" dirty="0"/>
              <a:t> </a:t>
            </a:r>
            <a:r>
              <a:rPr lang="en-US" sz="2800" b="1" dirty="0"/>
              <a:t>to carry </a:t>
            </a:r>
            <a:r>
              <a:rPr lang="en-US" sz="2800" dirty="0"/>
              <a:t>the boxes.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Both are correct.</a:t>
            </a:r>
          </a:p>
        </p:txBody>
      </p:sp>
    </p:spTree>
    <p:extLst>
      <p:ext uri="{BB962C8B-B14F-4D97-AF65-F5344CB8AC3E}">
        <p14:creationId xmlns:p14="http://schemas.microsoft.com/office/powerpoint/2010/main" val="749992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72A8-A4AD-8B32-E55F-1EE84D9B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F0D7-529B-6370-9AEC-EEEC59825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OTHER CAUSATIVE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3D49-0D81-396B-5190-3F8E5386E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Force – </a:t>
            </a:r>
            <a:r>
              <a:rPr lang="en-US" sz="2800" dirty="0"/>
              <a:t>Meaning - Strong obligation.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+ force + person + to V1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police </a:t>
            </a:r>
            <a:r>
              <a:rPr lang="en-US" sz="2800" b="1" dirty="0"/>
              <a:t>forced</a:t>
            </a:r>
            <a:r>
              <a:rPr lang="en-US" sz="2800" dirty="0"/>
              <a:t> </a:t>
            </a:r>
            <a:r>
              <a:rPr lang="en-US" sz="2800" u="sng" dirty="0"/>
              <a:t>him</a:t>
            </a:r>
            <a:r>
              <a:rPr lang="en-US" sz="2800" dirty="0"/>
              <a:t> </a:t>
            </a:r>
            <a:r>
              <a:rPr lang="en-US" sz="2800" b="1" dirty="0"/>
              <a:t>to stop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Persuade – </a:t>
            </a:r>
            <a:r>
              <a:rPr lang="en-US" sz="2800" dirty="0"/>
              <a:t>Meaning - Convince.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+ persuade + person + to V1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persuaded</a:t>
            </a:r>
            <a:r>
              <a:rPr lang="en-US" sz="2800" dirty="0"/>
              <a:t> </a:t>
            </a:r>
            <a:r>
              <a:rPr lang="en-US" sz="2800" u="sng" dirty="0"/>
              <a:t>me</a:t>
            </a:r>
            <a:r>
              <a:rPr lang="en-US" sz="2800" dirty="0"/>
              <a:t> </a:t>
            </a:r>
            <a:r>
              <a:rPr lang="en-US" sz="2800" b="1" dirty="0"/>
              <a:t>to apply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Order – </a:t>
            </a:r>
            <a:r>
              <a:rPr lang="en-US" sz="2800" dirty="0"/>
              <a:t>Meaning – Give commands</a:t>
            </a: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+ order + person + to V1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officer </a:t>
            </a:r>
            <a:r>
              <a:rPr lang="en-US" sz="2800" b="1" dirty="0"/>
              <a:t>ordered</a:t>
            </a:r>
            <a:r>
              <a:rPr lang="en-US" sz="2800" dirty="0"/>
              <a:t> </a:t>
            </a:r>
            <a:r>
              <a:rPr lang="en-US" sz="2800" u="sng" dirty="0"/>
              <a:t>everyone</a:t>
            </a:r>
            <a:r>
              <a:rPr lang="en-US" sz="2800" dirty="0"/>
              <a:t> </a:t>
            </a:r>
            <a:r>
              <a:rPr lang="en-US" sz="2800" b="1" dirty="0"/>
              <a:t>to leave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931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35B7D-890F-CFB5-470F-D00276EBE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FCB6-0720-0892-9576-4D059CB8E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OTHER CAUSATIVE VERBS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BDFE-9ACF-5259-21B8-0C13BE3F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Convince – </a:t>
            </a:r>
            <a:r>
              <a:rPr lang="en-US" sz="2800" dirty="0"/>
              <a:t>Meaning - Change someone's opinion.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+ convince + person + to infinitive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convinced her to stay.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Encourage – </a:t>
            </a:r>
            <a:r>
              <a:rPr lang="en-US" sz="2800" dirty="0"/>
              <a:t>Meaning - Give confidence.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+ encourage + person + to infinitive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My teacher encouraged me to continue.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Allow – </a:t>
            </a:r>
            <a:r>
              <a:rPr lang="en-US" sz="2800" dirty="0"/>
              <a:t>Meaning - Permit</a:t>
            </a: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+ allow + person + to infinitive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They allowed us to enter.</a:t>
            </a:r>
          </a:p>
        </p:txBody>
      </p:sp>
    </p:spTree>
    <p:extLst>
      <p:ext uri="{BB962C8B-B14F-4D97-AF65-F5344CB8AC3E}">
        <p14:creationId xmlns:p14="http://schemas.microsoft.com/office/powerpoint/2010/main" val="3840585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28C08-5795-A877-68A3-DB5C36936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4CF8-DF22-5ADD-5F4C-10820A4B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OTHER CAUSATIVE VERBS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8DB39-CEAF-C425-9387-7320F632D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Permit – </a:t>
            </a:r>
            <a:r>
              <a:rPr lang="en-US" sz="2800" dirty="0"/>
              <a:t>Meaning - Permit</a:t>
            </a: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- permit + person + to V1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Smoking isn't permitted.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Require – </a:t>
            </a:r>
            <a:r>
              <a:rPr lang="en-US" sz="2800" dirty="0"/>
              <a:t>Meaning - Say something is </a:t>
            </a:r>
            <a:r>
              <a:rPr lang="en-US" sz="2800" b="1" dirty="0"/>
              <a:t>necessary or compulsory</a:t>
            </a:r>
            <a:r>
              <a:rPr lang="en-US" sz="2800" dirty="0"/>
              <a:t>.</a:t>
            </a: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+ require + object + to infinitive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law requires drivers to wear seat belts.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Cause – </a:t>
            </a:r>
            <a:r>
              <a:rPr lang="en-US" sz="2800" dirty="0"/>
              <a:t>Meaning - Make something happen</a:t>
            </a: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 + cause + object + to infinitive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storm caused the bridge to collapse.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337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B1F1-2B49-7448-6FF7-19B8DA39B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FD0A-113B-A034-19E6-D765BA31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79026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Structures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3A669B-EC4D-8859-5026-B43B72A1F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573917"/>
              </p:ext>
            </p:extLst>
          </p:nvPr>
        </p:nvGraphicFramePr>
        <p:xfrm>
          <a:off x="838200" y="808522"/>
          <a:ext cx="10515600" cy="249094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379108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65376493"/>
                    </a:ext>
                  </a:extLst>
                </a:gridCol>
              </a:tblGrid>
              <a:tr h="622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99712"/>
                  </a:ext>
                </a:extLst>
              </a:tr>
              <a:tr h="622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More formal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More conversational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724758"/>
                  </a:ext>
                </a:extLst>
              </a:tr>
              <a:tr h="622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I had my car repaired.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I got my car repaired.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786271"/>
                  </a:ext>
                </a:extLst>
              </a:tr>
              <a:tr h="622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Common in writing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Common in speaking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26534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7719D3-6440-3AAE-0E97-15C73A77C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584469"/>
              </p:ext>
            </p:extLst>
          </p:nvPr>
        </p:nvGraphicFramePr>
        <p:xfrm>
          <a:off x="838200" y="3429000"/>
          <a:ext cx="10515600" cy="3281210"/>
        </p:xfrm>
        <a:graphic>
          <a:graphicData uri="http://schemas.openxmlformats.org/drawingml/2006/table">
            <a:tbl>
              <a:tblPr/>
              <a:tblGrid>
                <a:gridCol w="2107131">
                  <a:extLst>
                    <a:ext uri="{9D8B030D-6E8A-4147-A177-3AD203B41FA5}">
                      <a16:colId xmlns:a16="http://schemas.microsoft.com/office/drawing/2014/main" val="2841763993"/>
                    </a:ext>
                  </a:extLst>
                </a:gridCol>
                <a:gridCol w="2666197">
                  <a:extLst>
                    <a:ext uri="{9D8B030D-6E8A-4147-A177-3AD203B41FA5}">
                      <a16:colId xmlns:a16="http://schemas.microsoft.com/office/drawing/2014/main" val="4288151908"/>
                    </a:ext>
                  </a:extLst>
                </a:gridCol>
                <a:gridCol w="5742272">
                  <a:extLst>
                    <a:ext uri="{9D8B030D-6E8A-4147-A177-3AD203B41FA5}">
                      <a16:colId xmlns:a16="http://schemas.microsoft.com/office/drawing/2014/main" val="1707228756"/>
                    </a:ext>
                  </a:extLst>
                </a:gridCol>
              </a:tblGrid>
              <a:tr h="656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28024"/>
                  </a:ext>
                </a:extLst>
              </a:tr>
              <a:tr h="656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make + person + base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412060"/>
                  </a:ext>
                </a:extLst>
              </a:tr>
              <a:tr h="656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Persuade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get + person + to infinitive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874364"/>
                  </a:ext>
                </a:extLst>
              </a:tr>
              <a:tr h="656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Arrange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have + person + base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23642"/>
                  </a:ext>
                </a:extLst>
              </a:tr>
              <a:tr h="656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let + person + base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84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283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BA86-AB65-4E8F-5105-E3F987F6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2BF7-746E-EFF7-CFC4-E45CDA87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Active and Passive Causatives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443D8-75B7-09E9-C84F-D4BEFBD95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Active - </a:t>
            </a:r>
            <a:r>
              <a:rPr lang="en-US" sz="2800" i="1" dirty="0">
                <a:highlight>
                  <a:srgbClr val="FFFF00"/>
                </a:highlight>
              </a:rPr>
              <a:t>The subject causes another person to act.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had the plumber fix the sink.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made him apologize.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got them to help.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Passive - </a:t>
            </a:r>
            <a:r>
              <a:rPr lang="en-US" sz="2800" i="1" dirty="0">
                <a:highlight>
                  <a:srgbClr val="FFFF00"/>
                </a:highlight>
              </a:rPr>
              <a:t>The subject receives a service.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had my sink fixed.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got her dress cleaned.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He had his car washed.</a:t>
            </a:r>
          </a:p>
        </p:txBody>
      </p:sp>
    </p:spTree>
    <p:extLst>
      <p:ext uri="{BB962C8B-B14F-4D97-AF65-F5344CB8AC3E}">
        <p14:creationId xmlns:p14="http://schemas.microsoft.com/office/powerpoint/2010/main" val="1641308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A9FD-8E91-4C10-F704-B83FC50B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C659-34DF-9524-3C43-7B01A8B7F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Tense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2317F-97ED-2553-3DB6-75E8AA4BA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Present- </a:t>
            </a:r>
            <a:r>
              <a:rPr lang="en-US" sz="2800" dirty="0"/>
              <a:t>I </a:t>
            </a:r>
            <a:r>
              <a:rPr lang="en-US" sz="2800" b="1" dirty="0"/>
              <a:t>have</a:t>
            </a:r>
            <a:r>
              <a:rPr lang="en-US" sz="2800" dirty="0"/>
              <a:t> </a:t>
            </a:r>
            <a:r>
              <a:rPr lang="en-US" sz="2800" u="sng" dirty="0"/>
              <a:t>my hair </a:t>
            </a:r>
            <a:r>
              <a:rPr lang="en-US" sz="2800" b="1" dirty="0"/>
              <a:t>cut</a:t>
            </a:r>
            <a:r>
              <a:rPr lang="en-US" sz="2800" dirty="0"/>
              <a:t> every month.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Past - </a:t>
            </a:r>
            <a:r>
              <a:rPr lang="en-US" sz="2800" dirty="0"/>
              <a:t>I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my hair</a:t>
            </a:r>
            <a:r>
              <a:rPr lang="en-US" sz="2800" dirty="0"/>
              <a:t> </a:t>
            </a:r>
            <a:r>
              <a:rPr lang="en-US" sz="2800" b="1" dirty="0"/>
              <a:t>cut</a:t>
            </a:r>
            <a:r>
              <a:rPr lang="en-US" sz="2800" dirty="0"/>
              <a:t> yesterday.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Future - </a:t>
            </a:r>
            <a:r>
              <a:rPr lang="en-US" sz="2800" dirty="0"/>
              <a:t>I'll </a:t>
            </a:r>
            <a:r>
              <a:rPr lang="en-US" sz="2800" b="1" dirty="0"/>
              <a:t>have</a:t>
            </a:r>
            <a:r>
              <a:rPr lang="en-US" sz="2800" dirty="0"/>
              <a:t> </a:t>
            </a:r>
            <a:r>
              <a:rPr lang="en-US" sz="2800" u="sng" dirty="0"/>
              <a:t>my car </a:t>
            </a:r>
            <a:r>
              <a:rPr lang="en-US" sz="2800" b="1" dirty="0"/>
              <a:t>repaired</a:t>
            </a:r>
            <a:r>
              <a:rPr lang="en-US" sz="2800" dirty="0"/>
              <a:t> tomorrow.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Present Perfect - </a:t>
            </a:r>
            <a:r>
              <a:rPr lang="en-US" sz="2800" dirty="0"/>
              <a:t>I've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my phone </a:t>
            </a:r>
            <a:r>
              <a:rPr lang="en-US" sz="2800" b="1" dirty="0"/>
              <a:t>repaired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Past Perfect - </a:t>
            </a:r>
            <a:r>
              <a:rPr lang="en-US" sz="2800" dirty="0"/>
              <a:t>She had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the roof</a:t>
            </a:r>
            <a:r>
              <a:rPr lang="en-US" sz="2800" dirty="0"/>
              <a:t> </a:t>
            </a:r>
            <a:r>
              <a:rPr lang="en-US" sz="2800" b="1" dirty="0"/>
              <a:t>repaired</a:t>
            </a:r>
            <a:r>
              <a:rPr lang="en-US" sz="2800" dirty="0"/>
              <a:t> before winter.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Future Perfect - </a:t>
            </a:r>
            <a:r>
              <a:rPr lang="en-US" sz="2800" dirty="0"/>
              <a:t>They will have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the house </a:t>
            </a:r>
            <a:r>
              <a:rPr lang="en-US" sz="2800" b="1" dirty="0"/>
              <a:t>painted</a:t>
            </a:r>
            <a:r>
              <a:rPr lang="en-US" sz="2800" dirty="0"/>
              <a:t> by Friday.</a:t>
            </a:r>
          </a:p>
        </p:txBody>
      </p:sp>
    </p:spTree>
    <p:extLst>
      <p:ext uri="{BB962C8B-B14F-4D97-AF65-F5344CB8AC3E}">
        <p14:creationId xmlns:p14="http://schemas.microsoft.com/office/powerpoint/2010/main" val="2538946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9D9D-4C5F-B7A6-E49F-97EFE4C1D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C726-8530-7459-7749-7AC93817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Modal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CDDC-A60A-2C8A-A3C8-38EE6EBA4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Can</a:t>
            </a:r>
            <a:r>
              <a:rPr lang="en-US" sz="2800" dirty="0"/>
              <a:t> - I </a:t>
            </a:r>
            <a:r>
              <a:rPr lang="en-US" sz="2800" b="1" dirty="0">
                <a:solidFill>
                  <a:srgbClr val="436EF7"/>
                </a:solidFill>
              </a:rPr>
              <a:t>can</a:t>
            </a:r>
            <a:r>
              <a:rPr lang="en-US" sz="2800" dirty="0"/>
              <a:t> </a:t>
            </a:r>
            <a:r>
              <a:rPr lang="en-US" sz="2800" b="1" dirty="0"/>
              <a:t>have</a:t>
            </a:r>
            <a:r>
              <a:rPr lang="en-US" sz="2800" dirty="0"/>
              <a:t> </a:t>
            </a:r>
            <a:r>
              <a:rPr lang="en-US" sz="2800" u="sng" dirty="0"/>
              <a:t>it</a:t>
            </a:r>
            <a:r>
              <a:rPr lang="en-US" sz="2800" dirty="0"/>
              <a:t> </a:t>
            </a:r>
            <a:r>
              <a:rPr lang="en-US" sz="2800" b="1" dirty="0"/>
              <a:t>repaired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Must</a:t>
            </a:r>
            <a:r>
              <a:rPr lang="en-US" sz="2800" dirty="0"/>
              <a:t> - You </a:t>
            </a:r>
            <a:r>
              <a:rPr lang="en-US" sz="2800" b="1" dirty="0">
                <a:solidFill>
                  <a:srgbClr val="436EF7"/>
                </a:solidFill>
              </a:rPr>
              <a:t>must</a:t>
            </a:r>
            <a:r>
              <a:rPr lang="en-US" sz="2800" dirty="0"/>
              <a:t> </a:t>
            </a:r>
            <a:r>
              <a:rPr lang="en-US" sz="2800" b="1" dirty="0"/>
              <a:t>get</a:t>
            </a:r>
            <a:r>
              <a:rPr lang="en-US" sz="2800" dirty="0"/>
              <a:t> </a:t>
            </a:r>
            <a:r>
              <a:rPr lang="en-US" sz="2800" u="sng" dirty="0"/>
              <a:t>your passport </a:t>
            </a:r>
            <a:r>
              <a:rPr lang="en-US" sz="2800" b="1" dirty="0"/>
              <a:t>renewed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Should</a:t>
            </a:r>
            <a:r>
              <a:rPr lang="en-US" sz="2800" dirty="0"/>
              <a:t> - You </a:t>
            </a:r>
            <a:r>
              <a:rPr lang="en-US" sz="2800" b="1" dirty="0">
                <a:solidFill>
                  <a:srgbClr val="436EF7"/>
                </a:solidFill>
              </a:rPr>
              <a:t>should</a:t>
            </a:r>
            <a:r>
              <a:rPr lang="en-US" sz="2800" dirty="0"/>
              <a:t> </a:t>
            </a:r>
            <a:r>
              <a:rPr lang="en-US" sz="2800" b="1" dirty="0"/>
              <a:t>have</a:t>
            </a:r>
            <a:r>
              <a:rPr lang="en-US" sz="2800" dirty="0"/>
              <a:t> </a:t>
            </a:r>
            <a:r>
              <a:rPr lang="en-US" sz="2800" u="sng" dirty="0"/>
              <a:t>your eyes </a:t>
            </a:r>
            <a:r>
              <a:rPr lang="en-US" sz="2800" b="1" dirty="0"/>
              <a:t>tested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Might</a:t>
            </a:r>
            <a:r>
              <a:rPr lang="en-US" sz="2800" dirty="0"/>
              <a:t> - We </a:t>
            </a:r>
            <a:r>
              <a:rPr lang="en-US" sz="2800" b="1" dirty="0">
                <a:solidFill>
                  <a:srgbClr val="436EF7"/>
                </a:solidFill>
              </a:rPr>
              <a:t>might</a:t>
            </a:r>
            <a:r>
              <a:rPr lang="en-US" sz="2800" dirty="0"/>
              <a:t> </a:t>
            </a:r>
            <a:r>
              <a:rPr lang="en-US" sz="2800" b="1" dirty="0"/>
              <a:t>get</a:t>
            </a:r>
            <a:r>
              <a:rPr lang="en-US" sz="2800" dirty="0"/>
              <a:t> </a:t>
            </a:r>
            <a:r>
              <a:rPr lang="en-US" sz="2800" u="sng" dirty="0"/>
              <a:t>the kitchen </a:t>
            </a:r>
            <a:r>
              <a:rPr lang="en-US" sz="2800" b="1" dirty="0"/>
              <a:t>remodeled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Would</a:t>
            </a:r>
            <a:r>
              <a:rPr lang="en-US" sz="2800" dirty="0"/>
              <a:t> - If I were you, I </a:t>
            </a:r>
            <a:r>
              <a:rPr lang="en-US" sz="2800" b="1" dirty="0">
                <a:solidFill>
                  <a:srgbClr val="436EF7"/>
                </a:solidFill>
              </a:rPr>
              <a:t>would</a:t>
            </a:r>
            <a:r>
              <a:rPr lang="en-US" sz="2800" dirty="0"/>
              <a:t> </a:t>
            </a:r>
            <a:r>
              <a:rPr lang="en-US" sz="2800" b="1" dirty="0"/>
              <a:t>get</a:t>
            </a:r>
            <a:r>
              <a:rPr lang="en-US" sz="2800" dirty="0"/>
              <a:t> </a:t>
            </a:r>
            <a:r>
              <a:rPr lang="en-US" sz="2800" u="sng" dirty="0"/>
              <a:t>my hair </a:t>
            </a:r>
            <a:r>
              <a:rPr lang="en-US" sz="2800" b="1" dirty="0"/>
              <a:t>cut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Will</a:t>
            </a:r>
            <a:r>
              <a:rPr lang="en-US" sz="2800" dirty="0"/>
              <a:t> - We </a:t>
            </a:r>
            <a:r>
              <a:rPr lang="en-US" sz="2800" b="1" dirty="0">
                <a:solidFill>
                  <a:srgbClr val="436EF7"/>
                </a:solidFill>
              </a:rPr>
              <a:t>will</a:t>
            </a:r>
            <a:r>
              <a:rPr lang="en-US" sz="2800" dirty="0"/>
              <a:t> </a:t>
            </a:r>
            <a:r>
              <a:rPr lang="en-US" sz="2800" b="1" dirty="0"/>
              <a:t>get</a:t>
            </a:r>
            <a:r>
              <a:rPr lang="en-US" sz="2800" dirty="0"/>
              <a:t> </a:t>
            </a:r>
            <a:r>
              <a:rPr lang="en-US" sz="2800" u="sng" dirty="0"/>
              <a:t>our fences </a:t>
            </a:r>
            <a:r>
              <a:rPr lang="en-US" sz="2800" b="1" dirty="0"/>
              <a:t>painted</a:t>
            </a:r>
            <a:r>
              <a:rPr lang="en-US" sz="2800" dirty="0"/>
              <a:t> next week. </a:t>
            </a:r>
          </a:p>
        </p:txBody>
      </p:sp>
    </p:spTree>
    <p:extLst>
      <p:ext uri="{BB962C8B-B14F-4D97-AF65-F5344CB8AC3E}">
        <p14:creationId xmlns:p14="http://schemas.microsoft.com/office/powerpoint/2010/main" val="330308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37B7-9A3D-7E4C-A480-AAE954B4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C6F8-1BAF-7A0F-1EC9-FDF28B4E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Negative / Question </a:t>
            </a:r>
            <a:r>
              <a:rPr lang="en-US" b="1" dirty="0" err="1">
                <a:solidFill>
                  <a:srgbClr val="FF0000"/>
                </a:solidFill>
              </a:rPr>
              <a:t>foms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20B92-5029-D80D-DA90-97C7AC126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 didn't </a:t>
            </a:r>
            <a:r>
              <a:rPr lang="en-US" sz="2800" b="1" dirty="0"/>
              <a:t>have</a:t>
            </a:r>
            <a:r>
              <a:rPr lang="en-US" sz="2800" dirty="0"/>
              <a:t> </a:t>
            </a:r>
            <a:r>
              <a:rPr lang="en-US" sz="2800" u="sng" dirty="0"/>
              <a:t>my car </a:t>
            </a:r>
            <a:r>
              <a:rPr lang="en-US" sz="2800" b="1" dirty="0"/>
              <a:t>repaired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hasn't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her hair </a:t>
            </a:r>
            <a:r>
              <a:rPr lang="en-US" sz="2800" b="1" dirty="0"/>
              <a:t>cut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Don't </a:t>
            </a:r>
            <a:r>
              <a:rPr lang="en-US" sz="2800" b="1" dirty="0"/>
              <a:t>let</a:t>
            </a:r>
            <a:r>
              <a:rPr lang="en-US" sz="2800" dirty="0"/>
              <a:t> </a:t>
            </a:r>
            <a:r>
              <a:rPr lang="en-US" sz="2800" u="sng" dirty="0"/>
              <a:t>him</a:t>
            </a:r>
            <a:r>
              <a:rPr lang="en-US" sz="2800" dirty="0"/>
              <a:t> </a:t>
            </a:r>
            <a:r>
              <a:rPr lang="en-US" sz="2800" b="1" dirty="0"/>
              <a:t>leave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teacher didn't </a:t>
            </a:r>
            <a:r>
              <a:rPr lang="en-US" sz="2800" b="1" dirty="0"/>
              <a:t>make</a:t>
            </a:r>
            <a:r>
              <a:rPr lang="en-US" sz="2800" dirty="0"/>
              <a:t> </a:t>
            </a:r>
            <a:r>
              <a:rPr lang="en-US" sz="2800" u="sng" dirty="0"/>
              <a:t>us</a:t>
            </a:r>
            <a:r>
              <a:rPr lang="en-US" sz="2800" dirty="0"/>
              <a:t> </a:t>
            </a:r>
            <a:r>
              <a:rPr lang="en-US" sz="2800" b="1" dirty="0"/>
              <a:t>stay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Did you </a:t>
            </a:r>
            <a:r>
              <a:rPr lang="en-US" sz="2800" b="1" dirty="0"/>
              <a:t>have</a:t>
            </a:r>
            <a:r>
              <a:rPr lang="en-US" sz="2800" dirty="0"/>
              <a:t> </a:t>
            </a:r>
            <a:r>
              <a:rPr lang="en-US" sz="2800" u="sng" dirty="0"/>
              <a:t>your house </a:t>
            </a:r>
            <a:r>
              <a:rPr lang="en-US" sz="2800" b="1" dirty="0"/>
              <a:t>painted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Have you </a:t>
            </a:r>
            <a:r>
              <a:rPr lang="en-US" sz="2800" b="1" dirty="0"/>
              <a:t>had</a:t>
            </a:r>
            <a:r>
              <a:rPr lang="en-US" sz="2800" dirty="0"/>
              <a:t> </a:t>
            </a:r>
            <a:r>
              <a:rPr lang="en-US" sz="2800" u="sng" dirty="0"/>
              <a:t>your teeth </a:t>
            </a:r>
            <a:r>
              <a:rPr lang="en-US" sz="2800" b="1" dirty="0"/>
              <a:t>cleaned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Who </a:t>
            </a:r>
            <a:r>
              <a:rPr lang="en-US" sz="2800" b="1" dirty="0"/>
              <a:t>made</a:t>
            </a:r>
            <a:r>
              <a:rPr lang="en-US" sz="2800" dirty="0"/>
              <a:t> </a:t>
            </a:r>
            <a:r>
              <a:rPr lang="en-US" sz="2800" u="sng" dirty="0"/>
              <a:t>you</a:t>
            </a:r>
            <a:r>
              <a:rPr lang="en-US" sz="2800" dirty="0"/>
              <a:t> </a:t>
            </a:r>
            <a:r>
              <a:rPr lang="en-US" sz="2800" b="1" dirty="0"/>
              <a:t>cry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Can you </a:t>
            </a:r>
            <a:r>
              <a:rPr lang="en-US" sz="2800" b="1" dirty="0"/>
              <a:t>get</a:t>
            </a:r>
            <a:r>
              <a:rPr lang="en-US" sz="2800" dirty="0"/>
              <a:t> </a:t>
            </a:r>
            <a:r>
              <a:rPr lang="en-US" sz="2800" u="sng" dirty="0"/>
              <a:t>him</a:t>
            </a:r>
            <a:r>
              <a:rPr lang="en-US" sz="2800" dirty="0"/>
              <a:t> </a:t>
            </a:r>
            <a:r>
              <a:rPr lang="en-US" sz="2800" b="1" dirty="0"/>
              <a:t>to help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12451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BC2D-AE99-6A02-3C15-224F2385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307F-238B-7E61-0BE1-91F4E58D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B168F-6870-1D8F-CB44-0E56967F0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2800" b="1" dirty="0"/>
              <a:t>❌ Make + to infinitive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Wrong - She made me to leave. | Correct - She made me leave.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❌ Let + to infinitive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Wrong - They let me to drive. | Correct - They let me drive.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❌ Have + person + to infinitive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Wrong -  I had him to fix it. | Correct - I had him fix it.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❌ Get + person + base verb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Wrong - I got him help me. | Correct - I got him to help me.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❌ Passive after make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Wrong - I was made leave. | Correct - I was made to leave.</a:t>
            </a:r>
          </a:p>
        </p:txBody>
      </p:sp>
    </p:spTree>
    <p:extLst>
      <p:ext uri="{BB962C8B-B14F-4D97-AF65-F5344CB8AC3E}">
        <p14:creationId xmlns:p14="http://schemas.microsoft.com/office/powerpoint/2010/main" val="1770722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E5CA-5FD2-D4C1-6C2B-D2678FD9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6208CE5D-A2C2-9117-5B10-1E1DEB4C44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855969"/>
              </p:ext>
            </p:extLst>
          </p:nvPr>
        </p:nvGraphicFramePr>
        <p:xfrm>
          <a:off x="0" y="9625"/>
          <a:ext cx="12192000" cy="6858003"/>
        </p:xfrm>
        <a:graphic>
          <a:graphicData uri="http://schemas.openxmlformats.org/drawingml/2006/table">
            <a:tbl>
              <a:tblPr/>
              <a:tblGrid>
                <a:gridCol w="1395663">
                  <a:extLst>
                    <a:ext uri="{9D8B030D-6E8A-4147-A177-3AD203B41FA5}">
                      <a16:colId xmlns:a16="http://schemas.microsoft.com/office/drawing/2014/main" val="3751984896"/>
                    </a:ext>
                  </a:extLst>
                </a:gridCol>
                <a:gridCol w="1742173">
                  <a:extLst>
                    <a:ext uri="{9D8B030D-6E8A-4147-A177-3AD203B41FA5}">
                      <a16:colId xmlns:a16="http://schemas.microsoft.com/office/drawing/2014/main" val="1230314490"/>
                    </a:ext>
                  </a:extLst>
                </a:gridCol>
                <a:gridCol w="4119612">
                  <a:extLst>
                    <a:ext uri="{9D8B030D-6E8A-4147-A177-3AD203B41FA5}">
                      <a16:colId xmlns:a16="http://schemas.microsoft.com/office/drawing/2014/main" val="2953609600"/>
                    </a:ext>
                  </a:extLst>
                </a:gridCol>
                <a:gridCol w="4934552">
                  <a:extLst>
                    <a:ext uri="{9D8B030D-6E8A-4147-A177-3AD203B41FA5}">
                      <a16:colId xmlns:a16="http://schemas.microsoft.com/office/drawing/2014/main" val="2036413240"/>
                    </a:ext>
                  </a:extLst>
                </a:gridCol>
              </a:tblGrid>
              <a:tr h="517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 dirty="0"/>
                        <a:t> 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 dirty="0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6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538671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rgbClr val="436EF7"/>
                          </a:solidFill>
                        </a:rPr>
                        <a:t> Make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00B050"/>
                          </a:solidFill>
                        </a:rPr>
                        <a:t>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make + person +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V1</a:t>
                      </a:r>
                      <a:endParaRPr 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7030A0"/>
                          </a:solidFill>
                        </a:rPr>
                        <a:t>The teacher made us study.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633165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rgbClr val="436EF7"/>
                          </a:solidFill>
                        </a:rPr>
                        <a:t> 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00B050"/>
                          </a:solidFill>
                        </a:rPr>
                        <a:t>Arrange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have + person +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V1</a:t>
                      </a:r>
                      <a:endParaRPr 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7030A0"/>
                          </a:solidFill>
                        </a:rPr>
                        <a:t>I had my assistant call you.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241930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rgbClr val="436EF7"/>
                          </a:solidFill>
                        </a:rPr>
                        <a:t> 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00B050"/>
                          </a:solidFill>
                        </a:rPr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have + object + V3/ed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7030A0"/>
                          </a:solidFill>
                        </a:rPr>
                        <a:t>I had my hair cut.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220652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rgbClr val="436EF7"/>
                          </a:solidFill>
                        </a:rPr>
                        <a:t> 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00B050"/>
                          </a:solidFill>
                        </a:rPr>
                        <a:t>Persuade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get + person + to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V1</a:t>
                      </a:r>
                      <a:endParaRPr 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7030A0"/>
                          </a:solidFill>
                        </a:rPr>
                        <a:t>She got him to help.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90601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rgbClr val="436EF7"/>
                          </a:solidFill>
                        </a:rPr>
                        <a:t> 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00B050"/>
                          </a:solidFill>
                        </a:rPr>
                        <a:t>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get + object +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V3</a:t>
                      </a:r>
                      <a:endParaRPr 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7030A0"/>
                          </a:solidFill>
                        </a:rPr>
                        <a:t>I got my phone repaired.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217525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rgbClr val="436EF7"/>
                          </a:solidFill>
                        </a:rPr>
                        <a:t> 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00B050"/>
                          </a:solidFill>
                        </a:rPr>
                        <a:t>Allow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let + person +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V1</a:t>
                      </a:r>
                      <a:endParaRPr 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7030A0"/>
                          </a:solidFill>
                        </a:rPr>
                        <a:t>They let us leave early.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314563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0" dirty="0">
                          <a:solidFill>
                            <a:srgbClr val="436EF7"/>
                          </a:solidFill>
                        </a:rPr>
                        <a:t> Help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00B050"/>
                          </a:solidFill>
                        </a:rPr>
                        <a:t>Assist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help + person + (to) 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V1</a:t>
                      </a:r>
                      <a:endParaRPr lang="en-US" sz="2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7030A0"/>
                          </a:solidFill>
                        </a:rPr>
                        <a:t>She helped me (to) finish.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147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401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616E-407A-4AC3-D1D0-1801F32B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D2DED362-098A-0AB4-116B-A3AAA42542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884360"/>
              </p:ext>
            </p:extLst>
          </p:nvPr>
        </p:nvGraphicFramePr>
        <p:xfrm>
          <a:off x="0" y="9625"/>
          <a:ext cx="12192000" cy="6858003"/>
        </p:xfrm>
        <a:graphic>
          <a:graphicData uri="http://schemas.openxmlformats.org/drawingml/2006/table">
            <a:tbl>
              <a:tblPr/>
              <a:tblGrid>
                <a:gridCol w="1694046">
                  <a:extLst>
                    <a:ext uri="{9D8B030D-6E8A-4147-A177-3AD203B41FA5}">
                      <a16:colId xmlns:a16="http://schemas.microsoft.com/office/drawing/2014/main" val="375198489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30314490"/>
                    </a:ext>
                  </a:extLst>
                </a:gridCol>
                <a:gridCol w="4138863">
                  <a:extLst>
                    <a:ext uri="{9D8B030D-6E8A-4147-A177-3AD203B41FA5}">
                      <a16:colId xmlns:a16="http://schemas.microsoft.com/office/drawing/2014/main" val="2953609600"/>
                    </a:ext>
                  </a:extLst>
                </a:gridCol>
                <a:gridCol w="4713171">
                  <a:extLst>
                    <a:ext uri="{9D8B030D-6E8A-4147-A177-3AD203B41FA5}">
                      <a16:colId xmlns:a16="http://schemas.microsoft.com/office/drawing/2014/main" val="2036413240"/>
                    </a:ext>
                  </a:extLst>
                </a:gridCol>
              </a:tblGrid>
              <a:tr h="517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/>
                        <a:t>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538671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dirty="0">
                          <a:solidFill>
                            <a:srgbClr val="436EF7"/>
                          </a:solidFill>
                        </a:rPr>
                        <a:t>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Compel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force + person + to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7030A0"/>
                          </a:solidFill>
                        </a:rPr>
                        <a:t>They forced him to resign.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633165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dirty="0">
                          <a:solidFill>
                            <a:srgbClr val="436EF7"/>
                          </a:solidFill>
                        </a:rPr>
                        <a:t>persuade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Convince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persuade + person + to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7030A0"/>
                          </a:solidFill>
                        </a:rPr>
                        <a:t>I persuaded her to join.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241930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dirty="0">
                          <a:solidFill>
                            <a:srgbClr val="436EF7"/>
                          </a:solidFill>
                        </a:rPr>
                        <a:t>allow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Permit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allow + person + to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7030A0"/>
                          </a:solidFill>
                        </a:rPr>
                        <a:t>They allowed us to stay.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220652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dirty="0">
                          <a:solidFill>
                            <a:srgbClr val="436EF7"/>
                          </a:solidFill>
                        </a:rPr>
                        <a:t>encourage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Motivate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encourage + person + to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7030A0"/>
                          </a:solidFill>
                        </a:rPr>
                        <a:t>Ali encouraged me to study.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90601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dirty="0">
                          <a:solidFill>
                            <a:srgbClr val="436EF7"/>
                          </a:solidFill>
                        </a:rPr>
                        <a:t>cause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Make happen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cause + object + to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7030A0"/>
                          </a:solidFill>
                        </a:rPr>
                        <a:t>The accident caused traffic to stop.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217525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dirty="0">
                          <a:solidFill>
                            <a:srgbClr val="436EF7"/>
                          </a:solidFill>
                        </a:rPr>
                        <a:t>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order + person + to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7030A0"/>
                          </a:solidFill>
                        </a:rPr>
                        <a:t>The judge ordered him to pay the fine.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314563"/>
                  </a:ext>
                </a:extLst>
              </a:tr>
              <a:tr h="905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0" dirty="0">
                          <a:solidFill>
                            <a:srgbClr val="436EF7"/>
                          </a:solidFill>
                        </a:rPr>
                        <a:t>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00B050"/>
                          </a:solidFill>
                        </a:rPr>
                        <a:t>Compel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FF0000"/>
                          </a:solidFill>
                        </a:rPr>
                        <a:t>force + person + to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rgbClr val="7030A0"/>
                          </a:solidFill>
                        </a:rPr>
                        <a:t>They forced him to resign.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147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542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5CDB-7C02-CA15-B9E9-18CDE95B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B6801-20C8-48AA-03B9-253718F8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94530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Quick Rule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95327-0D10-D495-4932-5AE9956CA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75070"/>
            <a:ext cx="11975690" cy="59646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make + </a:t>
            </a:r>
            <a:r>
              <a:rPr lang="en-US" sz="2800" u="sng" dirty="0"/>
              <a:t>person</a:t>
            </a:r>
            <a:r>
              <a:rPr lang="en-US" sz="2800" b="1" dirty="0"/>
              <a:t> + V1 </a:t>
            </a:r>
            <a:r>
              <a:rPr lang="en-US" sz="2800" dirty="0"/>
              <a:t>→ force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have + </a:t>
            </a:r>
            <a:r>
              <a:rPr lang="en-US" sz="2800" u="sng" dirty="0"/>
              <a:t>person</a:t>
            </a:r>
            <a:r>
              <a:rPr lang="en-US" sz="2800" b="1" dirty="0"/>
              <a:t> + V1</a:t>
            </a:r>
            <a:r>
              <a:rPr lang="en-US" sz="2800" dirty="0"/>
              <a:t> → arrange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have + </a:t>
            </a:r>
            <a:r>
              <a:rPr lang="en-US" sz="2800" u="sng" dirty="0"/>
              <a:t>object</a:t>
            </a:r>
            <a:r>
              <a:rPr lang="en-US" sz="2800" b="1" dirty="0"/>
              <a:t> + V3/ed </a:t>
            </a:r>
            <a:r>
              <a:rPr lang="en-US" sz="2800" dirty="0"/>
              <a:t>→ someone does a service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get + </a:t>
            </a:r>
            <a:r>
              <a:rPr lang="en-US" sz="2800" u="sng" dirty="0"/>
              <a:t>person</a:t>
            </a:r>
            <a:r>
              <a:rPr lang="en-US" sz="2800" b="1" dirty="0"/>
              <a:t> + to V1</a:t>
            </a:r>
            <a:r>
              <a:rPr lang="en-US" sz="2800" dirty="0"/>
              <a:t> → persuade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get + </a:t>
            </a:r>
            <a:r>
              <a:rPr lang="en-US" sz="2800" u="sng" dirty="0"/>
              <a:t>object</a:t>
            </a:r>
            <a:r>
              <a:rPr lang="en-US" sz="2800" b="1" dirty="0"/>
              <a:t> + V3/ed </a:t>
            </a:r>
            <a:r>
              <a:rPr lang="en-US" sz="2800" dirty="0"/>
              <a:t>→ someone does a service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let + </a:t>
            </a:r>
            <a:r>
              <a:rPr lang="en-US" sz="2800" u="sng" dirty="0"/>
              <a:t>person</a:t>
            </a:r>
            <a:r>
              <a:rPr lang="en-US" sz="2800" b="1" dirty="0"/>
              <a:t> + V1</a:t>
            </a:r>
            <a:r>
              <a:rPr lang="en-US" sz="2800" dirty="0"/>
              <a:t>→ allow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help + </a:t>
            </a:r>
            <a:r>
              <a:rPr lang="en-US" sz="2800" u="sng" dirty="0"/>
              <a:t>person</a:t>
            </a:r>
            <a:r>
              <a:rPr lang="en-US" sz="2800" b="1" dirty="0"/>
              <a:t> + (to) V1 </a:t>
            </a:r>
            <a:r>
              <a:rPr lang="en-US" sz="2800" dirty="0"/>
              <a:t>→ assist</a:t>
            </a:r>
          </a:p>
        </p:txBody>
      </p:sp>
    </p:spTree>
    <p:extLst>
      <p:ext uri="{BB962C8B-B14F-4D97-AF65-F5344CB8AC3E}">
        <p14:creationId xmlns:p14="http://schemas.microsoft.com/office/powerpoint/2010/main" val="3485923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211</TotalTime>
  <Words>1623</Words>
  <Application>Microsoft Office PowerPoint</Application>
  <PresentationFormat>Widescreen</PresentationFormat>
  <Paragraphs>269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Rockwell</vt:lpstr>
      <vt:lpstr>Wingdings</vt:lpstr>
      <vt:lpstr>Wood Type</vt:lpstr>
      <vt:lpstr>CAUSATIVE VERBS</vt:lpstr>
      <vt:lpstr>What are causative verbs?</vt:lpstr>
      <vt:lpstr>Why do we use causative verbs?</vt:lpstr>
      <vt:lpstr>The Main Causative Verbs</vt:lpstr>
      <vt:lpstr>TYPE 1 — MAKE</vt:lpstr>
      <vt:lpstr>Passive</vt:lpstr>
      <vt:lpstr>TYPE 2 — HAVE</vt:lpstr>
      <vt:lpstr>TYPE 2 — HAVE</vt:lpstr>
      <vt:lpstr>TYPE 3 — GET</vt:lpstr>
      <vt:lpstr>TYPE 3 — GET</vt:lpstr>
      <vt:lpstr>TYPE 4 — LET</vt:lpstr>
      <vt:lpstr>TYPE 5 — HELP</vt:lpstr>
      <vt:lpstr>OTHER CAUSATIVE VERBS</vt:lpstr>
      <vt:lpstr>OTHER CAUSATIVE VERBS</vt:lpstr>
      <vt:lpstr>OTHER CAUSATIVE VERBS</vt:lpstr>
      <vt:lpstr>Structures</vt:lpstr>
      <vt:lpstr>Active and Passive Causatives</vt:lpstr>
      <vt:lpstr>Tense Changes</vt:lpstr>
      <vt:lpstr>Modal Verbs</vt:lpstr>
      <vt:lpstr>Negative / Question foms</vt:lpstr>
      <vt:lpstr>Common Mistakes</vt:lpstr>
      <vt:lpstr>PowerPoint Presentation</vt:lpstr>
      <vt:lpstr>PowerPoint Presentation</vt:lpstr>
      <vt:lpstr>Quick Rule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20</cp:revision>
  <dcterms:created xsi:type="dcterms:W3CDTF">2026-06-12T05:29:11Z</dcterms:created>
  <dcterms:modified xsi:type="dcterms:W3CDTF">2026-06-12T09:00:20Z</dcterms:modified>
</cp:coreProperties>
</file>