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 is a vocabulary and grammar app for Uzbek-speaking learners of English, now in public beta at vocabry.uz. The key idea: instead of giving everyone the same review schedule, it estimates — for each learner and each word — how likely they are to remember it, and shows them exactly which words to review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who learns a language knows this: you learn a set of words, and a week later many of them are gone. On day 1 the words are fresh, by day 3 some fade, and by day 7 the words you did not review are mostly lost. The key point: this is personal. Two learners forget different words at different speeds. So the real question is: which of YOUR words are you about to forget? That is what VOC is built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learning tools use a fixed review rhythm — review a word after 1 day, then 3, then 7. That assumes every learner and every word behave the same. VOC instead learns from each learner's answers: their history with each word, how confident they are (estimated from answer speed), whether they typed the answer or chose it from options, how many times they have reviewed the word, and their overall accuracy. What the learner sees is simple: the words that are at risk of being forgotten. So practice time goes to the words that actually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First, the inputs: for every word VOC uses the learner's full history with that word, how fast they answer — we estimate confidence from speed, we don't ask for it — whether they typed the answer or chose it from options (typing is stronger evidence of real memory), how many times they have reviewed it, and their overall accuracy. Second, the memory model turns these into one estimate per word: how likely the learner is to remember it, updated after every answer. Third, the learner doesn't see numbers or jargon — just a clear status like "Strong", "Weak · review today" or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separate parts. Part one, the important one: the chance that a learner remembers a word is a calibrated estimate computed from that learner's own history. Calibrated means the numbers can be trusted — of all the words the model marks at 70%, roughly 70% are actually remembered. We tested it on learners the model had never seen, and it scored an AUC of 0.78; a random guess scores 0.50. Part two: to decide WHEN to show a word again, we use a standard forgetting-curve formula, P of t equals e to the minus t over S. That formula is only used for scheduling — it is not how we judge what the learner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numbers from our public beta. We have more than 40 active learners. We analysed over 37,000 real reviews from 24 learners, and we kept 8 of those learners completely hidden from the model during training. On those unseen learners the model reached an AUC of 0.78. In plain words: if you take one word a learner remembered and one they forgot, the model ranks them correctly 78% of the time — a coin flip would get 50%. One honest note: our first model actually did worse than a simple average. We only found that out because we measured it properly, and then we fixed it — the full story is on our blog. And the limitation: this is a small sample, so these are early results, not final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interaction, step by step. The learner is asked for "although" and types the correct answer in 1.2 seconds. We don't ask how confident they are — we estimate confidence from their speed, and a fast answer means high confidence. VOC combines this with the learner's full history for the word. The result the learner sees is simple: the word is "Strong", and the next review is in 3 days. These values are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compare to Anki, Duolingo and FSRS? Let's be honest. On the core scheduling problem, our model performs on par with FSRS-6, the open-source scheduler used in Anki. We do not claim to be better. Our difference is everything around the model. First, a separate estimate for every word, shown to the learner as a simple status like "Weak · review today". Second, a simple interface built for Uzbek-speaking learners of English, not for power users who build their own decks. Third, a teacher and learning-centre panel — that's our B2B2C model: centres pay, their students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has four parts, all running on one memory model. Review is the core: it always starts with the learner's weakest words — for example "although", marked "Weak · review today". Grammar and tests check grammar inside real sentences. My Words and Results show every word's status, which words are at risk, and progress over time. And the fourth part is the teacher and learning-centre panel: group status, homework, and students join with a QR code or PIN. That panel is where our revenue comes from. The values shown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why VOC gets better over time. Follow the circle: you learn a word, review it, sometimes make a mistake; VOC updates its estimate for that word, brings it back at the right time, and your memory of it improves. At the same time — step 7 — every answer, especially every mistake, teaches VOC more about how this learner forgets, so the next estimate is more accurate. Both sides improve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B2B2C. Learners use VOC for free — this removes any barrier and every learner also helps the model improve. Revenue comes from learning centres, schools and universities, who pay a licence for the teacher and centre panel: group status, homework and progress tracking for every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go-to-market has three phases. Phase 1: Uzbek-speaking learners of English — students at schools, universities and language courses. They reach us through the free app, our website and blog, and through their teachers. Phase 2: free pilots at learning centres — teachers use the group panel for a term, and we measure how much more their students retain. Phase 3: those pilot results become case studies to sell paid licences to centres, schools and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separate what is already live from what is planned. Live now: our website vocabry.uz with the public beta; a blog with articles about memory and our results; joining by QR code or PIN — a teacher shares one code and the whole group joins at once, which is our strongest channel into classrooms; and analytics, so we know which channels bring learners who stay active. Planned next: a Telegram bot with a daily word and quiz, a referral programme, a shareable weekly progress report, and short videos with memory tips. We only move to paid ads once we know what converts.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today: VOC is live as a public beta, version 1.0.0-beta.1, with the calibrated memory model, the teacher and centre panel, and our website and blog. Next, two milestones: first, validate that our review schedule actually improves long-term memory, on many more learners; second, diagnosis — showing the learner why a word is being forgotten. The next two slides show what diagnosis will look like. Later, the long-term vision: a full personal memory model that understands how each person learns and recovers, and builds a learning path just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next stage, and it is not in the app yet. Today VOC shows which words are at risk. Next, we want it to explain why. The plan has four steps: detect a failed or very slow answer; diagnose the most likely reasons; choose a practice type that targets that reason; and re-estimate the word's status and next review date. The next slide shows an example of how this could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diagnosis could work, using the word "although". To be clear: this is planned, and the percentages are estimates that have not been validated. The diagnosis would say the most likely cause is confusion with a similar word, then a review gap that was too long, then weak confidence history, then too little exposure. Because confusion is the top cause, VOC would offer a contrastive drill: practising "although" next to "despite". For example, "He decided to go ___ the heavy rain" — the answer is "despite", because "despite" takes a noun, while "although" takes a full clause. The chart is illustrative: we expect the word to be forgotten more slowly after the drill. This drill has not been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open about what we have not proven yet. One: our model results come from 24 learners — we need to confirm them on a much larger group. Two: we have not yet tested whether our review schedule improves long-term memory compared with a simple fixed schedule. Three: the teacher panel is live, but we have not yet proven the price centres will pay or how many pilots convert to paid. Four: beta users are active, but we have not measured retention over many months. Five: diagnosis must actually lead to better practice — that is still to be tested. Each of these is a milestone in 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 is built by our team. Asadbek Abdukaxxarov is the designer — UX/UI, visual design and the design system. Xolmirzayev Azimjon is the product manager — product strategy, the learning system and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already built and measured. Our next hires, in priority order: first, an ML or data engineer to test and improve the model on much more data, because our current results come from a small sample. Second, a mobile or full-stack engineer to take the app and teacher panel from beta to a stable product. Third, a growth and partnerships lead to run pilots with learning centres and schools and turn them into paid licences. Fourth, a learning content lead — a linguist or teacher — to design the word lists and drills.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memory is personal. Every learner forgets different words, at different speeds. VOC already shows each learner which words they are about to forget, with a model we have measured honestly. Next, it will show why. Try it at vocabry.uz.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41"/>
            <a:ext cx="10566400" cy="533400"/>
          </a:xfrm>
          <a:prstGeom prst="rect">
            <a:avLst/>
          </a:prstGeom>
          <a:noFill/>
          <a:ln/>
        </p:spPr>
        <p:txBody>
          <a:bodyPr wrap="square" lIns="0" tIns="0" rIns="0" bIns="0" rtlCol="0" anchor="t"/>
          <a:lstStyle>
            <a:lvl1pPr algn="l" indent="0" marL="0">
              <a:lnSpc>
                <a:spcPct val="115000"/>
              </a:lnSpc>
              <a:buNone/>
              <a:defRPr lang="en-US" sz="4000" dirty="0">
                <a:solidFill>
                  <a:srgbClr val="1C1A17"/>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976041"/>
            <a:ext cx="10566400" cy="4069159"/>
          </a:xfrm>
          <a:prstGeom prst="rect">
            <a:avLst/>
          </a:prstGeom>
          <a:noFill/>
          <a:ln/>
        </p:spPr>
        <p:txBody>
          <a:bodyPr wrap="square" lIns="0" tIns="0" rIns="0" bIns="0" rtlCol="0" anchor="t"/>
          <a:lstStyle>
            <a:lvl1pPr algn="l" indent="0" marL="0">
              <a:lnSpc>
                <a:spcPct val="140000"/>
              </a:lnSpc>
              <a:buNone/>
              <a:defRPr lang="en-US" sz="1600" dirty="0">
                <a:solidFill>
                  <a:srgbClr val="1C1A1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41"/>
            <a:ext cx="10566400" cy="533400"/>
          </a:xfrm>
          <a:prstGeom prst="rect">
            <a:avLst/>
          </a:prstGeom>
          <a:noFill/>
          <a:ln/>
        </p:spPr>
        <p:txBody>
          <a:bodyPr wrap="square" lIns="0" tIns="0" rIns="0" bIns="0" rtlCol="0" anchor="t"/>
          <a:lstStyle>
            <a:lvl1pPr algn="l" indent="0" marL="0">
              <a:lnSpc>
                <a:spcPct val="115000"/>
              </a:lnSpc>
              <a:buNone/>
              <a:defRPr lang="en-US" sz="4000" dirty="0">
                <a:solidFill>
                  <a:srgbClr val="1C1A17"/>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976041"/>
            <a:ext cx="10566400" cy="4069159"/>
          </a:xfrm>
          <a:prstGeom prst="rect">
            <a:avLst/>
          </a:prstGeom>
          <a:noFill/>
          <a:ln/>
        </p:spPr>
        <p:txBody>
          <a:bodyPr wrap="square" lIns="0" tIns="0" rIns="0" bIns="0" rtlCol="0" anchor="t"/>
          <a:lstStyle>
            <a:lvl1pPr algn="l" indent="0" marL="0">
              <a:lnSpc>
                <a:spcPct val="140000"/>
              </a:lnSpc>
              <a:buNone/>
              <a:defRPr lang="en-US" sz="1600" dirty="0">
                <a:solidFill>
                  <a:srgbClr val="1C1A1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A17"/>
        </a:solidFill>
      </p:bgPr>
    </p:bg>
    <p:spTree>
      <p:nvGrpSpPr>
        <p:cNvPr id="1" name=""/>
        <p:cNvGrpSpPr/>
        <p:nvPr/>
      </p:nvGrpSpPr>
      <p:grpSpPr>
        <a:xfrm>
          <a:off x="0" y="0"/>
          <a:ext cx="0" cy="0"/>
          <a:chOff x="0" y="0"/>
          <a:chExt cx="0" cy="0"/>
        </a:xfrm>
      </p:grpSpPr>
      <p:sp>
        <p:nvSpPr>
          <p:cNvPr id="2" name="Text 0"/>
          <p:cNvSpPr/>
          <p:nvPr/>
        </p:nvSpPr>
        <p:spPr>
          <a:xfrm>
            <a:off x="812800" y="812800"/>
            <a:ext cx="520660" cy="381000"/>
          </a:xfrm>
          <a:prstGeom prst="rect">
            <a:avLst/>
          </a:prstGeom>
          <a:noFill/>
          <a:ln/>
        </p:spPr>
        <p:txBody>
          <a:bodyPr wrap="square" lIns="0" tIns="0" rIns="0" bIns="0" rtlCol="0" anchor="t">
            <a:normAutofit/>
          </a:bodyPr>
          <a:lstStyle/>
          <a:p>
            <a:pPr algn="l" indent="0" marL="0">
              <a:lnSpc>
                <a:spcPts val="2800"/>
              </a:lnSpc>
              <a:buNone/>
            </a:pPr>
            <a:r>
              <a:rPr lang="en-US" sz="2000" b="1" spc="200" kern="0" dirty="0">
                <a:solidFill>
                  <a:srgbClr val="F6F2EA"/>
                </a:solidFill>
                <a:latin typeface="Barlow Condensed" pitchFamily="34" charset="0"/>
                <a:ea typeface="Barlow Condensed" pitchFamily="34" charset="-122"/>
                <a:cs typeface="Barlow Condensed" pitchFamily="34" charset="-120"/>
              </a:rPr>
              <a:t>VOC</a:t>
            </a:r>
            <a:endParaRPr lang="en-US" sz="2000" dirty="0"/>
          </a:p>
        </p:txBody>
      </p:sp>
      <p:sp>
        <p:nvSpPr>
          <p:cNvPr id="3" name="Text 1"/>
          <p:cNvSpPr/>
          <p:nvPr/>
        </p:nvSpPr>
        <p:spPr>
          <a:xfrm>
            <a:off x="9154021" y="821730"/>
            <a:ext cx="2218829" cy="337741"/>
          </a:xfrm>
          <a:prstGeom prst="roundRect">
            <a:avLst>
              <a:gd name="adj" fmla="val 43243"/>
            </a:avLst>
          </a:prstGeom>
          <a:noFill/>
          <a:ln w="12700">
            <a:solidFill>
              <a:srgbClr val="E0A43A"/>
            </a:solidFill>
            <a:prstDash val="solid"/>
          </a:ln>
        </p:spPr>
        <p:txBody>
          <a:bodyPr wrap="none" lIns="0" tIns="0" rIns="0" bIns="0" rtlCol="0" anchor="ctr">
            <a:normAutofit/>
          </a:bodyPr>
          <a:lstStyle/>
          <a:p>
            <a:pPr algn="ctr" indent="0" marL="0">
              <a:lnSpc>
                <a:spcPts val="1960"/>
              </a:lnSpc>
              <a:buNone/>
            </a:pPr>
            <a:r>
              <a:rPr lang="en-US" sz="1400" b="1" spc="100" kern="0" dirty="0">
                <a:solidFill>
                  <a:srgbClr val="E0A43A"/>
                </a:solidFill>
                <a:latin typeface="Barlow Condensed" pitchFamily="34" charset="0"/>
                <a:ea typeface="Barlow Condensed" pitchFamily="34" charset="-122"/>
                <a:cs typeface="Barlow Condensed" pitchFamily="34" charset="-120"/>
              </a:rPr>
              <a:t>PUBLIC BETA · VOCABRY.UZ</a:t>
            </a:r>
            <a:endParaRPr lang="en-US" sz="1400" dirty="0"/>
          </a:p>
        </p:txBody>
      </p:sp>
      <p:sp>
        <p:nvSpPr>
          <p:cNvPr id="4" name="Text 2"/>
          <p:cNvSpPr/>
          <p:nvPr/>
        </p:nvSpPr>
        <p:spPr>
          <a:xfrm>
            <a:off x="812800" y="1544538"/>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B8B1A3"/>
                </a:solidFill>
                <a:latin typeface="Barlow Condensed" pitchFamily="34" charset="0"/>
                <a:ea typeface="Barlow Condensed" pitchFamily="34" charset="-122"/>
                <a:cs typeface="Barlow Condensed" pitchFamily="34" charset="-120"/>
              </a:rPr>
              <a:t>A PERSONAL MEMORY LAB</a:t>
            </a:r>
            <a:endParaRPr lang="en-US" sz="1600" dirty="0"/>
          </a:p>
        </p:txBody>
      </p:sp>
      <p:sp>
        <p:nvSpPr>
          <p:cNvPr id="5" name="Text 3"/>
          <p:cNvSpPr/>
          <p:nvPr>
            <p:ph type="title"/>
          </p:nvPr>
        </p:nvSpPr>
        <p:spPr>
          <a:xfrm>
            <a:off x="812800" y="2082998"/>
            <a:ext cx="8502650" cy="2148681"/>
          </a:xfrm>
          <a:prstGeom prst="rect">
            <a:avLst/>
          </a:prstGeom>
          <a:noFill/>
          <a:ln/>
        </p:spPr>
        <p:txBody>
          <a:bodyPr wrap="square" lIns="0" tIns="0" rIns="0" bIns="0" rtlCol="0" anchor="t">
            <a:normAutofit/>
          </a:bodyPr>
          <a:lstStyle/>
          <a:p>
            <a:pPr algn="l" indent="0" marL="0">
              <a:lnSpc>
                <a:spcPts val="8360"/>
              </a:lnSpc>
              <a:buNone/>
            </a:pPr>
            <a:r>
              <a:rPr lang="en-US" sz="8800" b="1" i="0" dirty="0">
                <a:solidFill>
                  <a:srgbClr val="F6F2EA"/>
                </a:solidFill>
                <a:latin typeface="Barlow Condensed" pitchFamily="34" charset="0"/>
                <a:ea typeface="Barlow Condensed" pitchFamily="34" charset="-122"/>
                <a:cs typeface="Barlow Condensed" pitchFamily="34" charset="-120"/>
              </a:rPr>
              <a:t>VOC learns how you forget.</a:t>
            </a:r>
            <a:endParaRPr lang="en-US" sz="8800" dirty="0"/>
          </a:p>
        </p:txBody>
      </p:sp>
      <p:sp>
        <p:nvSpPr>
          <p:cNvPr id="6" name="Text 4"/>
          <p:cNvSpPr/>
          <p:nvPr/>
        </p:nvSpPr>
        <p:spPr>
          <a:xfrm>
            <a:off x="812800" y="4460280"/>
            <a:ext cx="8175625" cy="98534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2C4"/>
                </a:solidFill>
                <a:latin typeface="Inter" pitchFamily="34" charset="0"/>
                <a:ea typeface="Inter" pitchFamily="34" charset="-122"/>
                <a:cs typeface="Inter" pitchFamily="34" charset="-120"/>
              </a:rPr>
              <a:t>A vocabulary app for Uzbek-speaking learners of English. It estimates, for every word, how likely you are to remember it — and tells you what to review today.</a:t>
            </a:r>
            <a:endParaRPr lang="en-US" sz="18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B1A3"/>
                </a:solidFill>
                <a:latin typeface="Inter" pitchFamily="34" charset="0"/>
                <a:ea typeface="Inter" pitchFamily="34" charset="-122"/>
                <a:cs typeface="Inter" pitchFamily="34" charset="-120"/>
              </a:rPr>
              <a:t>vocabry.uz</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01 · THE PROBLEM</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Learning a word does not mean you will remember it</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Forgetting is not random — it is personal. Each learner loses different words at a different speed.</a:t>
            </a:r>
            <a:endParaRPr lang="en-US" sz="1400" dirty="0"/>
          </a:p>
        </p:txBody>
      </p:sp>
      <p:sp>
        <p:nvSpPr>
          <p:cNvPr id="5" name="Shape 3"/>
          <p:cNvSpPr/>
          <p:nvPr/>
        </p:nvSpPr>
        <p:spPr>
          <a:xfrm>
            <a:off x="815975" y="2355056"/>
            <a:ext cx="3380284" cy="2312491"/>
          </a:xfrm>
          <a:prstGeom prst="roundRect">
            <a:avLst>
              <a:gd name="adj" fmla="val 2059"/>
            </a:avLst>
          </a:prstGeom>
          <a:solidFill>
            <a:srgbClr val="FFFDF8"/>
          </a:solidFill>
          <a:ln w="6350">
            <a:solidFill>
              <a:srgbClr val="DDD6C8"/>
            </a:solidFill>
            <a:prstDash val="solid"/>
          </a:ln>
        </p:spPr>
      </p:sp>
      <p:pic>
        <p:nvPicPr>
          <p:cNvPr id="6" name="Image 0" descr="Three solid word cards: all words remembered">    </p:cNvPr>
          <p:cNvPicPr>
            <a:picLocks noChangeAspect="1"/>
          </p:cNvPicPr>
          <p:nvPr/>
        </p:nvPicPr>
        <p:blipFill>
          <a:blip r:embed="rId1"/>
          <a:srcRect l="0" r="0" t="0" b="0"/>
          <a:stretch/>
        </p:blipFill>
        <p:spPr>
          <a:xfrm>
            <a:off x="1073150" y="2612231"/>
            <a:ext cx="1524000" cy="762000"/>
          </a:xfrm>
          <a:prstGeom prst="rect">
            <a:avLst/>
          </a:prstGeom>
        </p:spPr>
      </p:pic>
      <p:sp>
        <p:nvSpPr>
          <p:cNvPr id="7" name="Text 4"/>
          <p:cNvSpPr/>
          <p:nvPr/>
        </p:nvSpPr>
        <p:spPr>
          <a:xfrm>
            <a:off x="1073150" y="34758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Day 1</a:t>
            </a:r>
            <a:endParaRPr lang="en-US" sz="2200" dirty="0"/>
          </a:p>
        </p:txBody>
      </p:sp>
      <p:sp>
        <p:nvSpPr>
          <p:cNvPr id="8" name="Text 5"/>
          <p:cNvSpPr/>
          <p:nvPr/>
        </p:nvSpPr>
        <p:spPr>
          <a:xfrm>
            <a:off x="1073150" y="391269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Newly learned words feel fresh and easy to recall.</a:t>
            </a:r>
            <a:endParaRPr lang="en-US" sz="1400" dirty="0"/>
          </a:p>
        </p:txBody>
      </p:sp>
      <p:sp>
        <p:nvSpPr>
          <p:cNvPr id="9" name="Shape 6"/>
          <p:cNvSpPr/>
          <p:nvPr/>
        </p:nvSpPr>
        <p:spPr>
          <a:xfrm>
            <a:off x="4405809" y="2355056"/>
            <a:ext cx="3380383" cy="2312491"/>
          </a:xfrm>
          <a:prstGeom prst="roundRect">
            <a:avLst>
              <a:gd name="adj" fmla="val 2059"/>
            </a:avLst>
          </a:prstGeom>
          <a:solidFill>
            <a:srgbClr val="FFFDF8"/>
          </a:solidFill>
          <a:ln w="6350">
            <a:solidFill>
              <a:srgbClr val="DDD6C8"/>
            </a:solidFill>
            <a:prstDash val="solid"/>
          </a:ln>
        </p:spPr>
      </p:sp>
      <p:pic>
        <p:nvPicPr>
          <p:cNvPr id="10" name="Image 1" descr="Faded, drifting word cards: some words fading">    </p:cNvPr>
          <p:cNvPicPr>
            <a:picLocks noChangeAspect="1"/>
          </p:cNvPicPr>
          <p:nvPr/>
        </p:nvPicPr>
        <p:blipFill>
          <a:blip r:embed="rId2"/>
          <a:srcRect l="0" r="0" t="0" b="0"/>
          <a:stretch/>
        </p:blipFill>
        <p:spPr>
          <a:xfrm>
            <a:off x="4662984" y="2612231"/>
            <a:ext cx="1524000" cy="762000"/>
          </a:xfrm>
          <a:prstGeom prst="rect">
            <a:avLst/>
          </a:prstGeom>
        </p:spPr>
      </p:pic>
      <p:sp>
        <p:nvSpPr>
          <p:cNvPr id="11" name="Text 7"/>
          <p:cNvSpPr/>
          <p:nvPr/>
        </p:nvSpPr>
        <p:spPr>
          <a:xfrm>
            <a:off x="4662984" y="3475831"/>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Day 3</a:t>
            </a:r>
            <a:endParaRPr lang="en-US" sz="2200" dirty="0"/>
          </a:p>
        </p:txBody>
      </p:sp>
      <p:sp>
        <p:nvSpPr>
          <p:cNvPr id="12" name="Text 8"/>
          <p:cNvSpPr/>
          <p:nvPr/>
        </p:nvSpPr>
        <p:spPr>
          <a:xfrm>
            <a:off x="4662984" y="3912691"/>
            <a:ext cx="295201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Some words start to fade, and recall gets slower.</a:t>
            </a:r>
            <a:endParaRPr lang="en-US" sz="1400" dirty="0"/>
          </a:p>
        </p:txBody>
      </p:sp>
      <p:sp>
        <p:nvSpPr>
          <p:cNvPr id="13" name="Shape 9"/>
          <p:cNvSpPr/>
          <p:nvPr/>
        </p:nvSpPr>
        <p:spPr>
          <a:xfrm>
            <a:off x="7995741" y="2355056"/>
            <a:ext cx="3380284" cy="2312491"/>
          </a:xfrm>
          <a:prstGeom prst="roundRect">
            <a:avLst>
              <a:gd name="adj" fmla="val 2059"/>
            </a:avLst>
          </a:prstGeom>
          <a:solidFill>
            <a:srgbClr val="FFFDF8"/>
          </a:solidFill>
          <a:ln w="6350">
            <a:solidFill>
              <a:srgbClr val="DDD6C8"/>
            </a:solidFill>
            <a:prstDash val="solid"/>
          </a:ln>
        </p:spPr>
      </p:sp>
      <p:pic>
        <p:nvPicPr>
          <p:cNvPr id="14" name="Image 2" descr="Dashed empty card outlines: words forgotten">    </p:cNvPr>
          <p:cNvPicPr>
            <a:picLocks noChangeAspect="1"/>
          </p:cNvPicPr>
          <p:nvPr/>
        </p:nvPicPr>
        <p:blipFill>
          <a:blip r:embed="rId3"/>
          <a:srcRect l="0" r="0" t="0" b="0"/>
          <a:stretch/>
        </p:blipFill>
        <p:spPr>
          <a:xfrm>
            <a:off x="8252916" y="2612231"/>
            <a:ext cx="1524000" cy="762000"/>
          </a:xfrm>
          <a:prstGeom prst="rect">
            <a:avLst/>
          </a:prstGeom>
        </p:spPr>
      </p:pic>
      <p:sp>
        <p:nvSpPr>
          <p:cNvPr id="15" name="Text 10"/>
          <p:cNvSpPr/>
          <p:nvPr/>
        </p:nvSpPr>
        <p:spPr>
          <a:xfrm>
            <a:off x="8252916" y="34758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Day 7</a:t>
            </a:r>
            <a:endParaRPr lang="en-US" sz="2200" dirty="0"/>
          </a:p>
        </p:txBody>
      </p:sp>
      <p:sp>
        <p:nvSpPr>
          <p:cNvPr id="16" name="Text 11"/>
          <p:cNvSpPr/>
          <p:nvPr/>
        </p:nvSpPr>
        <p:spPr>
          <a:xfrm>
            <a:off x="8252916" y="391269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Many words are gone unless they were reviewed.</a:t>
            </a:r>
            <a:endParaRPr lang="en-US" sz="1400" dirty="0"/>
          </a:p>
        </p:txBody>
      </p:sp>
      <p:sp>
        <p:nvSpPr>
          <p:cNvPr id="17" name="Text 12"/>
          <p:cNvSpPr/>
          <p:nvPr/>
        </p:nvSpPr>
        <p:spPr>
          <a:xfrm>
            <a:off x="812800" y="5026323"/>
            <a:ext cx="10566400" cy="619720"/>
          </a:xfrm>
          <a:prstGeom prst="roundRect">
            <a:avLst>
              <a:gd name="adj" fmla="val 8197"/>
            </a:avLst>
          </a:prstGeom>
          <a:solidFill>
            <a:srgbClr val="1C1A17"/>
          </a:solidFill>
          <a:ln/>
        </p:spPr>
        <p:txBody>
          <a:bodyPr wrap="square" lIns="239121" tIns="162921" rIns="0" bIns="137521" rtlCol="0" anchor="t">
            <a:normAutofit/>
          </a:bodyPr>
          <a:lstStyle/>
          <a:p>
            <a:pPr algn="l" indent="0" marL="0">
              <a:lnSpc>
                <a:spcPts val="2080"/>
              </a:lnSpc>
              <a:buNone/>
            </a:pPr>
            <a:r>
              <a:rPr lang="en-US" sz="1600" b="1" dirty="0">
                <a:solidFill>
                  <a:srgbClr val="F6F2EA"/>
                </a:solidFill>
                <a:latin typeface="Inter" pitchFamily="34" charset="0"/>
                <a:ea typeface="Inter" pitchFamily="34" charset="-122"/>
                <a:cs typeface="Inter" pitchFamily="34" charset="-120"/>
              </a:rPr>
              <a:t>The question VOC answers:</a:t>
            </a:r>
            <a:r>
              <a:rPr lang="en-US" sz="1600" dirty="0">
                <a:solidFill>
                  <a:srgbClr val="F6F2EA"/>
                </a:solidFill>
                <a:latin typeface="Inter" pitchFamily="34" charset="0"/>
                <a:ea typeface="Inter" pitchFamily="34" charset="-122"/>
                <a:cs typeface="Inter" pitchFamily="34" charset="-120"/>
              </a:rPr>
              <a:t> which of </a:t>
            </a:r>
            <a:r>
              <a:rPr lang="en-US" sz="1600" i="1" dirty="0">
                <a:solidFill>
                  <a:srgbClr val="F6F2EA"/>
                </a:solidFill>
                <a:latin typeface="Inter" pitchFamily="34" charset="0"/>
                <a:ea typeface="Inter" pitchFamily="34" charset="-122"/>
                <a:cs typeface="Inter" pitchFamily="34" charset="-120"/>
              </a:rPr>
              <a:t>your</a:t>
            </a:r>
            <a:r>
              <a:rPr lang="en-US" sz="1600" dirty="0">
                <a:solidFill>
                  <a:srgbClr val="F6F2EA"/>
                </a:solidFill>
                <a:latin typeface="Inter" pitchFamily="34" charset="0"/>
                <a:ea typeface="Inter" pitchFamily="34" charset="-122"/>
                <a:cs typeface="Inter" pitchFamily="34" charset="-120"/>
              </a:rPr>
              <a:t> words are you about to forget?</a:t>
            </a:r>
            <a:endParaRPr lang="en-US" sz="1600" dirty="0"/>
          </a:p>
        </p:txBody>
      </p:sp>
      <p:sp>
        <p:nvSpPr>
          <p:cNvPr id="18" name="Text 13"/>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19" name="Text 14"/>
          <p:cNvSpPr/>
          <p:nvPr/>
        </p:nvSpPr>
        <p:spPr>
          <a:xfrm>
            <a:off x="11139289" y="6238280"/>
            <a:ext cx="23991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01 · THE GAP</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A fixed schedule treats every learner the same</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VOC replaces "review on day 1, 3, 7" with an estimate made for you, word by word.</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64581"/>
          <a:ext cx="10553700" cy="3202384"/>
        </p:xfrm>
        <a:graphic>
          <a:graphicData uri="http://schemas.openxmlformats.org/drawingml/2006/table">
            <a:tbl>
              <a:tblPr/>
              <a:tblGrid>
                <a:gridCol w="2638425"/>
                <a:gridCol w="3588258"/>
                <a:gridCol w="4327017"/>
              </a:tblGrid>
              <a:tr h="540941">
                <a:tc>
                  <a:txBody>
                    <a:bodyPr/>
                    <a:lstStyle/>
                    <a:p>
                      <a:pPr indent="0" marL="0">
                        <a:lnSpc>
                          <a:spcPts val="1960"/>
                        </a:lnSpc>
                        <a:buNone/>
                      </a:pP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9"/>
                    </a:solidFill>
                  </a:tcPr>
                </a:tc>
                <a:tc>
                  <a:txBody>
                    <a:bodyPr/>
                    <a:lstStyle/>
                    <a:p>
                      <a:pPr indent="0" marL="0">
                        <a:lnSpc>
                          <a:spcPts val="1960"/>
                        </a:lnSpc>
                        <a:buNone/>
                      </a:pPr>
                      <a:r>
                        <a:rPr lang="en-US" sz="1400" b="1" dirty="0">
                          <a:solidFill>
                            <a:srgbClr val="5A554C"/>
                          </a:solidFill>
                          <a:latin typeface="Inter" pitchFamily="34" charset="0"/>
                          <a:ea typeface="Inter" pitchFamily="34" charset="-122"/>
                          <a:cs typeface="Inter" pitchFamily="34" charset="-120"/>
                        </a:rPr>
                        <a:t>FIXED REVIEW SCHEDULE</a:t>
                      </a:r>
                      <a:endParaRPr lang="en-US" sz="1400" dirty="0">
                        <a:latin typeface="Inter" charset="0"/>
                        <a:ea typeface="Inter" charset="0"/>
                        <a:cs typeface="Inter" charset="0"/>
                      </a:endParaRPr>
                    </a:p>
                  </a:txBody>
                  <a:tcPr marL="152400" marR="152400" marT="139700" marB="139700"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9"/>
                    </a:solidFill>
                  </a:tcPr>
                </a:tc>
                <a:tc>
                  <a:txBody>
                    <a:bodyPr/>
                    <a:lstStyle/>
                    <a:p>
                      <a:pPr indent="0" marL="0">
                        <a:lnSpc>
                          <a:spcPts val="1960"/>
                        </a:lnSpc>
                        <a:buNone/>
                      </a:pPr>
                      <a:r>
                        <a:rPr lang="en-US" sz="1400" b="1" dirty="0">
                          <a:solidFill>
                            <a:srgbClr val="F6F2EA"/>
                          </a:solidFill>
                          <a:latin typeface="Inter" pitchFamily="34" charset="0"/>
                          <a:ea typeface="Inter" pitchFamily="34" charset="-122"/>
                          <a:cs typeface="Inter" pitchFamily="34" charset="-120"/>
                        </a:rPr>
                        <a:t>VOC</a:t>
                      </a:r>
                      <a:endParaRPr lang="en-US" sz="1400" dirty="0">
                        <a:latin typeface="Inter" charset="0"/>
                        <a:ea typeface="Inter" charset="0"/>
                        <a:cs typeface="Inter" charset="0"/>
                      </a:endParaRPr>
                    </a:p>
                  </a:txBody>
                  <a:tcPr marL="152400" marR="152400" marT="139700" marB="139700"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9"/>
                    </a:solidFill>
                  </a:tcPr>
                </a:tc>
              </a:tr>
              <a:tr h="540941">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When to review</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5A554C"/>
                          </a:solidFill>
                          <a:latin typeface="Inter" pitchFamily="34" charset="0"/>
                          <a:ea typeface="Inter" pitchFamily="34" charset="-122"/>
                          <a:cs typeface="Inter" pitchFamily="34" charset="-120"/>
                        </a:rPr>
                        <a:t>Same intervals for everyone</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Scheduled for you, word by word</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1038622">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What it learns from you</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5A554C"/>
                          </a:solidFill>
                          <a:latin typeface="Inter" pitchFamily="34" charset="0"/>
                          <a:ea typeface="Inter" pitchFamily="34" charset="-122"/>
                          <a:cs typeface="Inter" pitchFamily="34" charset="-120"/>
                        </a:rPr>
                        <a:t>Right or wrong</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Answer history, confidence, answer type (typed or chosen), number of reviews, overall accuracy</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540941">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What you see</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5A554C"/>
                          </a:solidFill>
                          <a:latin typeface="Inter" pitchFamily="34" charset="0"/>
                          <a:ea typeface="Inter" pitchFamily="34" charset="-122"/>
                          <a:cs typeface="Inter" pitchFamily="34" charset="-120"/>
                        </a:rPr>
                        <a:t>Whatever cards are due today</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The words at risk of being forgotten</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540941">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Result</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5A554C"/>
                          </a:solidFill>
                          <a:latin typeface="Inter" pitchFamily="34" charset="0"/>
                          <a:ea typeface="Inter" pitchFamily="34" charset="-122"/>
                          <a:cs typeface="Inter" pitchFamily="34" charset="-120"/>
                        </a:rPr>
                        <a:t>Generic practice</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C1A17"/>
                          </a:solidFill>
                          <a:latin typeface="Inter" pitchFamily="34" charset="0"/>
                          <a:ea typeface="Inter" pitchFamily="34" charset="-122"/>
                          <a:cs typeface="Inter" pitchFamily="34" charset="-120"/>
                        </a:rPr>
                        <a:t>Practice aimed at your weakest words</a:t>
                      </a:r>
                      <a:endParaRPr lang="en-US" sz="1400" dirty="0">
                        <a:latin typeface="Inter" charset="0"/>
                        <a:ea typeface="Inter" charset="0"/>
                        <a:cs typeface="Inter" charset="0"/>
                      </a:endParaRPr>
                    </a:p>
                  </a:txBody>
                  <a:tcPr marL="152400" marR="152400" marT="139700" marB="1397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6" name="Text 3"/>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7" name="Text 4"/>
          <p:cNvSpPr/>
          <p:nvPr/>
        </p:nvSpPr>
        <p:spPr>
          <a:xfrm>
            <a:off x="11138098" y="6238280"/>
            <a:ext cx="24110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64716"/>
          </a:xfrm>
          <a:prstGeom prst="rect">
            <a:avLst/>
          </a:prstGeom>
          <a:noFill/>
          <a:ln/>
        </p:spPr>
        <p:txBody>
          <a:bodyPr wrap="square" lIns="0" tIns="0" rIns="0" bIns="0" rtlCol="0" anchor="t">
            <a:normAutofit/>
          </a:bodyPr>
          <a:lstStyle/>
          <a:p>
            <a:pPr algn="l" indent="0" marL="0">
              <a:lnSpc>
                <a:spcPts val="1923"/>
              </a:lnSpc>
              <a:buNone/>
            </a:pPr>
            <a:r>
              <a:rPr lang="en-US" sz="1374" b="1" spc="100" kern="0" dirty="0">
                <a:solidFill>
                  <a:srgbClr val="5A554C"/>
                </a:solidFill>
                <a:latin typeface="Barlow Condensed" pitchFamily="34" charset="0"/>
                <a:ea typeface="Barlow Condensed" pitchFamily="34" charset="-122"/>
                <a:cs typeface="Barlow Condensed" pitchFamily="34" charset="-120"/>
              </a:rPr>
              <a:t>02 · THE SOLUTION</a:t>
            </a:r>
            <a:endParaRPr lang="en-US" sz="1374" dirty="0"/>
          </a:p>
        </p:txBody>
      </p:sp>
      <p:sp>
        <p:nvSpPr>
          <p:cNvPr id="3" name="Text 1"/>
          <p:cNvSpPr/>
          <p:nvPr>
            <p:ph type="title"/>
          </p:nvPr>
        </p:nvSpPr>
        <p:spPr>
          <a:xfrm>
            <a:off x="812800" y="1128316"/>
            <a:ext cx="10883392" cy="538262"/>
          </a:xfrm>
          <a:prstGeom prst="rect">
            <a:avLst/>
          </a:prstGeom>
          <a:noFill/>
          <a:ln/>
        </p:spPr>
        <p:txBody>
          <a:bodyPr wrap="square" lIns="0" tIns="0" rIns="0" bIns="0" rtlCol="0" anchor="t">
            <a:normAutofit/>
          </a:bodyPr>
          <a:lstStyle/>
          <a:p>
            <a:pPr algn="l" indent="0" marL="0">
              <a:lnSpc>
                <a:spcPts val="4069"/>
              </a:lnSpc>
              <a:buNone/>
            </a:pPr>
            <a:r>
              <a:rPr lang="en-US" sz="3875" b="1" i="0" dirty="0">
                <a:solidFill>
                  <a:srgbClr val="1C1A17"/>
                </a:solidFill>
                <a:latin typeface="Barlow Condensed" pitchFamily="34" charset="0"/>
                <a:ea typeface="Barlow Condensed" pitchFamily="34" charset="-122"/>
                <a:cs typeface="Barlow Condensed" pitchFamily="34" charset="-120"/>
              </a:rPr>
              <a:t>How VOC measures your memory</a:t>
            </a:r>
            <a:endParaRPr lang="en-US" sz="3875" dirty="0"/>
          </a:p>
        </p:txBody>
      </p:sp>
      <p:sp>
        <p:nvSpPr>
          <p:cNvPr id="4" name="Text 2"/>
          <p:cNvSpPr/>
          <p:nvPr/>
        </p:nvSpPr>
        <p:spPr>
          <a:xfrm>
            <a:off x="812800" y="1717377"/>
            <a:ext cx="10883392" cy="264716"/>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5A554C"/>
                </a:solidFill>
                <a:latin typeface="Inter" pitchFamily="34" charset="0"/>
                <a:ea typeface="Inter" pitchFamily="34" charset="-122"/>
                <a:cs typeface="Inter" pitchFamily="34" charset="-120"/>
              </a:rPr>
              <a:t>Signals from every answer go in. A simple status for each word comes out.</a:t>
            </a:r>
            <a:endParaRPr lang="en-US" sz="1374" dirty="0"/>
          </a:p>
        </p:txBody>
      </p:sp>
      <p:sp>
        <p:nvSpPr>
          <p:cNvPr id="5" name="Shape 3"/>
          <p:cNvSpPr/>
          <p:nvPr/>
        </p:nvSpPr>
        <p:spPr>
          <a:xfrm>
            <a:off x="815975" y="2254448"/>
            <a:ext cx="4057650" cy="3645495"/>
          </a:xfrm>
          <a:prstGeom prst="roundRect">
            <a:avLst>
              <a:gd name="adj" fmla="val 1306"/>
            </a:avLst>
          </a:prstGeom>
          <a:solidFill>
            <a:srgbClr val="FFFDF8"/>
          </a:solidFill>
          <a:ln w="6350">
            <a:solidFill>
              <a:srgbClr val="DDD6C8"/>
            </a:solidFill>
            <a:prstDash val="solid"/>
          </a:ln>
        </p:spPr>
      </p:sp>
      <p:sp>
        <p:nvSpPr>
          <p:cNvPr id="6" name="Text 4"/>
          <p:cNvSpPr/>
          <p:nvPr/>
        </p:nvSpPr>
        <p:spPr>
          <a:xfrm>
            <a:off x="1073150" y="2511623"/>
            <a:ext cx="3649599"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INPUT SIGNALS</a:t>
            </a:r>
            <a:endParaRPr lang="en-US" sz="1400" dirty="0"/>
          </a:p>
        </p:txBody>
      </p:sp>
      <p:sp>
        <p:nvSpPr>
          <p:cNvPr id="7" name="Text 5"/>
          <p:cNvSpPr/>
          <p:nvPr/>
        </p:nvSpPr>
        <p:spPr>
          <a:xfrm>
            <a:off x="1073150" y="2862064"/>
            <a:ext cx="36495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Word history</a:t>
            </a:r>
            <a:endParaRPr lang="en-US" sz="1400" dirty="0"/>
          </a:p>
        </p:txBody>
      </p:sp>
      <p:sp>
        <p:nvSpPr>
          <p:cNvPr id="8" name="Text 6"/>
          <p:cNvSpPr/>
          <p:nvPr/>
        </p:nvSpPr>
        <p:spPr>
          <a:xfrm>
            <a:off x="1073150" y="3123605"/>
            <a:ext cx="36495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Every past answer for this word</a:t>
            </a:r>
            <a:endParaRPr lang="en-US" sz="1200" dirty="0"/>
          </a:p>
        </p:txBody>
      </p:sp>
      <p:sp>
        <p:nvSpPr>
          <p:cNvPr id="9" name="Text 7"/>
          <p:cNvSpPr/>
          <p:nvPr/>
        </p:nvSpPr>
        <p:spPr>
          <a:xfrm>
            <a:off x="1073150" y="3438525"/>
            <a:ext cx="36495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Answer speed</a:t>
            </a:r>
            <a:endParaRPr lang="en-US" sz="1400" dirty="0"/>
          </a:p>
        </p:txBody>
      </p:sp>
      <p:sp>
        <p:nvSpPr>
          <p:cNvPr id="10" name="Text 8"/>
          <p:cNvSpPr/>
          <p:nvPr/>
        </p:nvSpPr>
        <p:spPr>
          <a:xfrm>
            <a:off x="1073150" y="3700066"/>
            <a:ext cx="36495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Confidence is estimated from it</a:t>
            </a:r>
            <a:endParaRPr lang="en-US" sz="1200" dirty="0"/>
          </a:p>
        </p:txBody>
      </p:sp>
      <p:sp>
        <p:nvSpPr>
          <p:cNvPr id="11" name="Text 9"/>
          <p:cNvSpPr/>
          <p:nvPr/>
        </p:nvSpPr>
        <p:spPr>
          <a:xfrm>
            <a:off x="1073150" y="4014986"/>
            <a:ext cx="36495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Active recall</a:t>
            </a:r>
            <a:endParaRPr lang="en-US" sz="1400" dirty="0"/>
          </a:p>
        </p:txBody>
      </p:sp>
      <p:sp>
        <p:nvSpPr>
          <p:cNvPr id="12" name="Text 10"/>
          <p:cNvSpPr/>
          <p:nvPr/>
        </p:nvSpPr>
        <p:spPr>
          <a:xfrm>
            <a:off x="1073150" y="4276527"/>
            <a:ext cx="36495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Typing the answer beats choosing it</a:t>
            </a:r>
            <a:endParaRPr lang="en-US" sz="1200" dirty="0"/>
          </a:p>
        </p:txBody>
      </p:sp>
      <p:sp>
        <p:nvSpPr>
          <p:cNvPr id="13" name="Text 11"/>
          <p:cNvSpPr/>
          <p:nvPr/>
        </p:nvSpPr>
        <p:spPr>
          <a:xfrm>
            <a:off x="1073150" y="4591447"/>
            <a:ext cx="36495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Number of reviews</a:t>
            </a:r>
            <a:endParaRPr lang="en-US" sz="1400" dirty="0"/>
          </a:p>
        </p:txBody>
      </p:sp>
      <p:sp>
        <p:nvSpPr>
          <p:cNvPr id="14" name="Text 12"/>
          <p:cNvSpPr/>
          <p:nvPr/>
        </p:nvSpPr>
        <p:spPr>
          <a:xfrm>
            <a:off x="1073150" y="4852988"/>
            <a:ext cx="36495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How often you have met the word</a:t>
            </a:r>
            <a:endParaRPr lang="en-US" sz="1200" dirty="0"/>
          </a:p>
        </p:txBody>
      </p:sp>
      <p:sp>
        <p:nvSpPr>
          <p:cNvPr id="15" name="Text 13"/>
          <p:cNvSpPr/>
          <p:nvPr/>
        </p:nvSpPr>
        <p:spPr>
          <a:xfrm>
            <a:off x="1073150" y="5167908"/>
            <a:ext cx="36495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Overall accuracy</a:t>
            </a:r>
            <a:endParaRPr lang="en-US" sz="1400" dirty="0"/>
          </a:p>
        </p:txBody>
      </p:sp>
      <p:sp>
        <p:nvSpPr>
          <p:cNvPr id="16" name="Text 14"/>
          <p:cNvSpPr/>
          <p:nvPr/>
        </p:nvSpPr>
        <p:spPr>
          <a:xfrm>
            <a:off x="1073150" y="5429448"/>
            <a:ext cx="36495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How well you do across all words</a:t>
            </a:r>
            <a:endParaRPr lang="en-US" sz="1200" dirty="0"/>
          </a:p>
        </p:txBody>
      </p:sp>
      <p:sp>
        <p:nvSpPr>
          <p:cNvPr id="17" name="Text 15"/>
          <p:cNvSpPr/>
          <p:nvPr/>
        </p:nvSpPr>
        <p:spPr>
          <a:xfrm>
            <a:off x="4851400" y="3863777"/>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18" name="Shape 16"/>
          <p:cNvSpPr/>
          <p:nvPr/>
        </p:nvSpPr>
        <p:spPr>
          <a:xfrm>
            <a:off x="5283200" y="3044825"/>
            <a:ext cx="2794000" cy="2064643"/>
          </a:xfrm>
          <a:prstGeom prst="roundRect">
            <a:avLst>
              <a:gd name="adj" fmla="val 2460"/>
            </a:avLst>
          </a:prstGeom>
          <a:solidFill>
            <a:srgbClr val="1C1A17"/>
          </a:solidFill>
          <a:ln/>
        </p:spPr>
      </p:sp>
      <p:sp>
        <p:nvSpPr>
          <p:cNvPr id="19" name="Text 17"/>
          <p:cNvSpPr/>
          <p:nvPr/>
        </p:nvSpPr>
        <p:spPr>
          <a:xfrm>
            <a:off x="5537200" y="3298825"/>
            <a:ext cx="235458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8B1A3"/>
                </a:solidFill>
                <a:latin typeface="Barlow Condensed" pitchFamily="34" charset="0"/>
                <a:ea typeface="Barlow Condensed" pitchFamily="34" charset="-122"/>
                <a:cs typeface="Barlow Condensed" pitchFamily="34" charset="-120"/>
              </a:rPr>
              <a:t>MEMORY MODEL</a:t>
            </a:r>
            <a:endParaRPr lang="en-US" sz="1400" dirty="0"/>
          </a:p>
        </p:txBody>
      </p:sp>
      <p:sp>
        <p:nvSpPr>
          <p:cNvPr id="20" name="Text 18"/>
          <p:cNvSpPr/>
          <p:nvPr/>
        </p:nvSpPr>
        <p:spPr>
          <a:xfrm>
            <a:off x="5537200" y="3674666"/>
            <a:ext cx="251460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One estimate per word</a:t>
            </a:r>
            <a:endParaRPr lang="en-US" sz="2200" dirty="0"/>
          </a:p>
        </p:txBody>
      </p:sp>
      <p:sp>
        <p:nvSpPr>
          <p:cNvPr id="21" name="Text 19"/>
          <p:cNvSpPr/>
          <p:nvPr/>
        </p:nvSpPr>
        <p:spPr>
          <a:xfrm>
            <a:off x="5537200" y="4108946"/>
            <a:ext cx="235458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2C4"/>
                </a:solidFill>
                <a:latin typeface="Inter" pitchFamily="34" charset="0"/>
                <a:ea typeface="Inter" pitchFamily="34" charset="-122"/>
                <a:cs typeface="Inter" pitchFamily="34" charset="-120"/>
              </a:rPr>
              <a:t>How likely you are to remember it. Updated after every answer.</a:t>
            </a:r>
            <a:endParaRPr lang="en-US" sz="1400" dirty="0"/>
          </a:p>
        </p:txBody>
      </p:sp>
      <p:sp>
        <p:nvSpPr>
          <p:cNvPr id="22" name="Text 20"/>
          <p:cNvSpPr/>
          <p:nvPr/>
        </p:nvSpPr>
        <p:spPr>
          <a:xfrm>
            <a:off x="8051800" y="3863777"/>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23" name="Shape 21"/>
          <p:cNvSpPr/>
          <p:nvPr/>
        </p:nvSpPr>
        <p:spPr>
          <a:xfrm>
            <a:off x="8486775" y="2904430"/>
            <a:ext cx="2889250" cy="2345432"/>
          </a:xfrm>
          <a:prstGeom prst="roundRect">
            <a:avLst>
              <a:gd name="adj" fmla="val 2031"/>
            </a:avLst>
          </a:prstGeom>
          <a:solidFill>
            <a:srgbClr val="FFFDF8"/>
          </a:solidFill>
          <a:ln w="6350">
            <a:solidFill>
              <a:srgbClr val="DDD6C8"/>
            </a:solidFill>
            <a:prstDash val="solid"/>
          </a:ln>
        </p:spPr>
      </p:sp>
      <p:sp>
        <p:nvSpPr>
          <p:cNvPr id="24" name="Text 22"/>
          <p:cNvSpPr/>
          <p:nvPr/>
        </p:nvSpPr>
        <p:spPr>
          <a:xfrm>
            <a:off x="8743950" y="3161605"/>
            <a:ext cx="244614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WHAT YOU SEE</a:t>
            </a:r>
            <a:endParaRPr lang="en-US" sz="1400" dirty="0"/>
          </a:p>
        </p:txBody>
      </p:sp>
      <p:sp>
        <p:nvSpPr>
          <p:cNvPr id="25" name="Text 23"/>
          <p:cNvSpPr/>
          <p:nvPr/>
        </p:nvSpPr>
        <p:spPr>
          <a:xfrm>
            <a:off x="8743950" y="3537446"/>
            <a:ext cx="2446147"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A clear status</a:t>
            </a:r>
            <a:endParaRPr lang="en-US" sz="2200" dirty="0"/>
          </a:p>
        </p:txBody>
      </p:sp>
      <p:sp>
        <p:nvSpPr>
          <p:cNvPr id="26" name="Text 24"/>
          <p:cNvSpPr/>
          <p:nvPr/>
        </p:nvSpPr>
        <p:spPr>
          <a:xfrm>
            <a:off x="8750300" y="3978077"/>
            <a:ext cx="732830" cy="276820"/>
          </a:xfrm>
          <a:custGeom>
            <a:avLst/>
            <a:gdLst/>
            <a:ahLst/>
            <a:cxnLst/>
            <a:rect l="l" t="t" r="r" b="b"/>
            <a:pathLst>
              <a:path w="732830" h="276820">
                <a:moveTo>
                  <a:pt x="138410" y="0"/>
                </a:moveTo>
                <a:lnTo>
                  <a:pt x="594420" y="0"/>
                </a:lnTo>
                <a:arcTo hR="138410" wR="138410" stAng="16200000" swAng="5400000"/>
                <a:lnTo>
                  <a:pt x="732830"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2F7A3D"/>
            </a:solidFill>
            <a:prstDash val="solid"/>
          </a:ln>
        </p:spPr>
        <p:txBody>
          <a:bodyPr wrap="none" lIns="0" tIns="0" rIns="0" bIns="0" rtlCol="0" anchor="ctr">
            <a:normAutofit/>
          </a:bodyPr>
          <a:lstStyle/>
          <a:p>
            <a:pPr algn="ctr" indent="0" marL="0">
              <a:lnSpc>
                <a:spcPts val="1680"/>
              </a:lnSpc>
              <a:buNone/>
            </a:pPr>
            <a:r>
              <a:rPr lang="en-US" sz="1200" b="1" dirty="0">
                <a:solidFill>
                  <a:srgbClr val="2F7A3D"/>
                </a:solidFill>
                <a:latin typeface="Inter" pitchFamily="34" charset="0"/>
                <a:ea typeface="Inter" pitchFamily="34" charset="-122"/>
                <a:cs typeface="Inter" pitchFamily="34" charset="-120"/>
              </a:rPr>
              <a:t>Strong</a:t>
            </a:r>
            <a:endParaRPr lang="en-US" sz="1200" dirty="0"/>
          </a:p>
        </p:txBody>
      </p:sp>
      <p:sp>
        <p:nvSpPr>
          <p:cNvPr id="27" name="Text 25"/>
          <p:cNvSpPr/>
          <p:nvPr/>
        </p:nvSpPr>
        <p:spPr>
          <a:xfrm>
            <a:off x="8750300" y="4343797"/>
            <a:ext cx="1723231" cy="276820"/>
          </a:xfrm>
          <a:custGeom>
            <a:avLst/>
            <a:gdLst/>
            <a:ahLst/>
            <a:cxnLst/>
            <a:rect l="l" t="t" r="r" b="b"/>
            <a:pathLst>
              <a:path w="1723231" h="276820">
                <a:moveTo>
                  <a:pt x="138410" y="0"/>
                </a:moveTo>
                <a:lnTo>
                  <a:pt x="1584821" y="0"/>
                </a:lnTo>
                <a:arcTo hR="138410" wR="138410" stAng="16200000" swAng="5400000"/>
                <a:lnTo>
                  <a:pt x="1723231"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9A5B00"/>
            </a:solidFill>
            <a:prstDash val="solid"/>
          </a:ln>
        </p:spPr>
        <p:txBody>
          <a:bodyPr wrap="none" lIns="0" tIns="0" rIns="0" bIns="0" rtlCol="0" anchor="ctr">
            <a:normAutofit/>
          </a:bodyPr>
          <a:lstStyle/>
          <a:p>
            <a:pPr algn="ctr" indent="0" marL="0">
              <a:lnSpc>
                <a:spcPts val="1680"/>
              </a:lnSpc>
              <a:buNone/>
            </a:pPr>
            <a:r>
              <a:rPr lang="en-US" sz="1200" b="1" dirty="0">
                <a:solidFill>
                  <a:srgbClr val="9A5B00"/>
                </a:solidFill>
                <a:latin typeface="Inter" pitchFamily="34" charset="0"/>
                <a:ea typeface="Inter" pitchFamily="34" charset="-122"/>
                <a:cs typeface="Inter" pitchFamily="34" charset="-120"/>
              </a:rPr>
              <a:t>Weak · review today</a:t>
            </a:r>
            <a:endParaRPr lang="en-US" sz="1200" dirty="0"/>
          </a:p>
        </p:txBody>
      </p:sp>
      <p:sp>
        <p:nvSpPr>
          <p:cNvPr id="28" name="Text 26"/>
          <p:cNvSpPr/>
          <p:nvPr/>
        </p:nvSpPr>
        <p:spPr>
          <a:xfrm>
            <a:off x="8750300" y="4709517"/>
            <a:ext cx="712490" cy="276820"/>
          </a:xfrm>
          <a:custGeom>
            <a:avLst/>
            <a:gdLst/>
            <a:ahLst/>
            <a:cxnLst/>
            <a:rect l="l" t="t" r="r" b="b"/>
            <a:pathLst>
              <a:path w="712490" h="276820">
                <a:moveTo>
                  <a:pt x="138410" y="0"/>
                </a:moveTo>
                <a:lnTo>
                  <a:pt x="574080" y="0"/>
                </a:lnTo>
                <a:arcTo hR="138410" wR="138410" stAng="16200000" swAng="5400000"/>
                <a:lnTo>
                  <a:pt x="712490" y="138410"/>
                </a:lnTo>
                <a:arcTo hR="138410" wR="138410" stAng="0" swAng="5400000"/>
                <a:lnTo>
                  <a:pt x="138410" y="276820"/>
                </a:lnTo>
                <a:arcTo hR="138410" wR="138410" stAng="5400000" swAng="5400000"/>
                <a:lnTo>
                  <a:pt x="0" y="138410"/>
                </a:lnTo>
                <a:arcTo hR="138410" wR="138410" stAng="10800000" swAng="5400000"/>
                <a:close/>
              </a:path>
            </a:pathLst>
          </a:custGeom>
          <a:noFill/>
          <a:ln w="12700">
            <a:solidFill>
              <a:srgbClr val="B3261E"/>
            </a:solidFill>
            <a:prstDash val="solid"/>
          </a:ln>
        </p:spPr>
        <p:txBody>
          <a:bodyPr wrap="none" lIns="0" tIns="0" rIns="0" bIns="0" rtlCol="0" anchor="ctr">
            <a:normAutofit/>
          </a:bodyPr>
          <a:lstStyle/>
          <a:p>
            <a:pPr algn="ctr" indent="0" marL="0">
              <a:lnSpc>
                <a:spcPts val="1680"/>
              </a:lnSpc>
              <a:buNone/>
            </a:pPr>
            <a:r>
              <a:rPr lang="en-US" sz="1200" b="1" dirty="0">
                <a:solidFill>
                  <a:srgbClr val="B3261E"/>
                </a:solidFill>
                <a:latin typeface="Inter" pitchFamily="34" charset="0"/>
                <a:ea typeface="Inter" pitchFamily="34" charset="-122"/>
                <a:cs typeface="Inter" pitchFamily="34" charset="-120"/>
              </a:rPr>
              <a:t>At risk</a:t>
            </a:r>
            <a:endParaRPr lang="en-US" sz="1200" dirty="0"/>
          </a:p>
        </p:txBody>
      </p:sp>
      <p:sp>
        <p:nvSpPr>
          <p:cNvPr id="29" name="Text 27"/>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30" name="Text 28"/>
          <p:cNvSpPr/>
          <p:nvPr/>
        </p:nvSpPr>
        <p:spPr>
          <a:xfrm>
            <a:off x="11133733" y="6238280"/>
            <a:ext cx="24546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086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02 · THE MODEL</a:t>
            </a:r>
            <a:endParaRPr lang="en-US" sz="1400" dirty="0"/>
          </a:p>
        </p:txBody>
      </p:sp>
      <p:sp>
        <p:nvSpPr>
          <p:cNvPr id="3" name="Text 1"/>
          <p:cNvSpPr/>
          <p:nvPr>
            <p:ph type="title"/>
          </p:nvPr>
        </p:nvSpPr>
        <p:spPr>
          <a:xfrm>
            <a:off x="812800" y="1134467"/>
            <a:ext cx="10883392" cy="551656"/>
          </a:xfrm>
          <a:prstGeom prst="rect">
            <a:avLst/>
          </a:prstGeom>
          <a:noFill/>
          <a:ln/>
        </p:spPr>
        <p:txBody>
          <a:bodyPr wrap="square" lIns="0" tIns="0" rIns="0" bIns="0" rtlCol="0" anchor="t">
            <a:normAutofit/>
          </a:bodyPr>
          <a:lstStyle/>
          <a:p>
            <a:pPr algn="l" indent="0" marL="0">
              <a:lnSpc>
                <a:spcPts val="4174"/>
              </a:lnSpc>
              <a:buNone/>
            </a:pPr>
            <a:r>
              <a:rPr lang="en-US" sz="3975" b="1" i="0" dirty="0">
                <a:solidFill>
                  <a:srgbClr val="1C1A17"/>
                </a:solidFill>
                <a:latin typeface="Barlow Condensed" pitchFamily="34" charset="0"/>
                <a:ea typeface="Barlow Condensed" pitchFamily="34" charset="-122"/>
                <a:cs typeface="Barlow Condensed" pitchFamily="34" charset="-120"/>
              </a:rPr>
              <a:t>How it works, and how accurate it is</a:t>
            </a:r>
            <a:endParaRPr lang="en-US" sz="3975" dirty="0"/>
          </a:p>
        </p:txBody>
      </p:sp>
      <p:sp>
        <p:nvSpPr>
          <p:cNvPr id="4" name="Shape 2"/>
          <p:cNvSpPr/>
          <p:nvPr/>
        </p:nvSpPr>
        <p:spPr>
          <a:xfrm>
            <a:off x="812800" y="2016323"/>
            <a:ext cx="5175250" cy="3825677"/>
          </a:xfrm>
          <a:prstGeom prst="roundRect">
            <a:avLst>
              <a:gd name="adj" fmla="val 1328"/>
            </a:avLst>
          </a:prstGeom>
          <a:solidFill>
            <a:srgbClr val="1C1A17"/>
          </a:solidFill>
          <a:ln/>
        </p:spPr>
      </p:sp>
      <p:sp>
        <p:nvSpPr>
          <p:cNvPr id="5" name="Text 3"/>
          <p:cNvSpPr/>
          <p:nvPr/>
        </p:nvSpPr>
        <p:spPr>
          <a:xfrm>
            <a:off x="1066800" y="2270323"/>
            <a:ext cx="4807268" cy="27017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8B1A3"/>
                </a:solidFill>
                <a:latin typeface="Barlow Condensed" pitchFamily="34" charset="0"/>
                <a:ea typeface="Barlow Condensed" pitchFamily="34" charset="-122"/>
                <a:cs typeface="Barlow Condensed" pitchFamily="34" charset="-120"/>
              </a:rPr>
              <a:t>1 · CHANCE OF REMEMBERING</a:t>
            </a:r>
            <a:endParaRPr lang="en-US" sz="1400" dirty="0"/>
          </a:p>
        </p:txBody>
      </p:sp>
      <p:sp>
        <p:nvSpPr>
          <p:cNvPr id="6" name="Text 4"/>
          <p:cNvSpPr/>
          <p:nvPr/>
        </p:nvSpPr>
        <p:spPr>
          <a:xfrm>
            <a:off x="1066800" y="2642096"/>
            <a:ext cx="4807268" cy="32762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A calibrated estimate from your history</a:t>
            </a:r>
            <a:endParaRPr lang="en-US" sz="2200" dirty="0"/>
          </a:p>
        </p:txBody>
      </p:sp>
      <p:sp>
        <p:nvSpPr>
          <p:cNvPr id="7" name="Text 5"/>
          <p:cNvSpPr/>
          <p:nvPr/>
        </p:nvSpPr>
        <p:spPr>
          <a:xfrm>
            <a:off x="1066800" y="3071316"/>
            <a:ext cx="4807268" cy="514846"/>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D9D2C4"/>
                </a:solidFill>
                <a:latin typeface="Inter" pitchFamily="34" charset="0"/>
                <a:ea typeface="Inter" pitchFamily="34" charset="-122"/>
                <a:cs typeface="Inter" pitchFamily="34" charset="-120"/>
              </a:rPr>
              <a:t>Calibrated means the numbers match reality: of the words marked 70%, about 70% are remembered.</a:t>
            </a:r>
            <a:endParaRPr lang="en-US" sz="1383" dirty="0"/>
          </a:p>
        </p:txBody>
      </p:sp>
      <p:sp>
        <p:nvSpPr>
          <p:cNvPr id="8" name="Text 6"/>
          <p:cNvSpPr/>
          <p:nvPr/>
        </p:nvSpPr>
        <p:spPr>
          <a:xfrm>
            <a:off x="1066800" y="3789363"/>
            <a:ext cx="1405235" cy="18542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6F2EA"/>
                </a:solidFill>
                <a:latin typeface="Barlow Condensed" pitchFamily="34" charset="0"/>
                <a:ea typeface="Barlow Condensed" pitchFamily="34" charset="-122"/>
                <a:cs typeface="Barlow Condensed" pitchFamily="34" charset="-120"/>
              </a:rPr>
              <a:t>0.78</a:t>
            </a:r>
            <a:endParaRPr lang="en-US" sz="7200" dirty="0"/>
          </a:p>
        </p:txBody>
      </p:sp>
      <p:sp>
        <p:nvSpPr>
          <p:cNvPr id="9" name="Text 7"/>
          <p:cNvSpPr/>
          <p:nvPr/>
        </p:nvSpPr>
        <p:spPr>
          <a:xfrm>
            <a:off x="2573635" y="4424363"/>
            <a:ext cx="325522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2C4"/>
                </a:solidFill>
                <a:latin typeface="Inter" pitchFamily="34" charset="0"/>
                <a:ea typeface="Inter" pitchFamily="34" charset="-122"/>
                <a:cs typeface="Inter" pitchFamily="34" charset="-120"/>
              </a:rPr>
              <a:t>AUC on learners the model never saw</a:t>
            </a:r>
            <a:endParaRPr lang="en-US" sz="1400" dirty="0"/>
          </a:p>
          <a:p>
            <a:pPr algn="l" indent="0" marL="0">
              <a:lnSpc>
                <a:spcPts val="1960"/>
              </a:lnSpc>
              <a:buNone/>
            </a:pPr>
            <a:r>
              <a:rPr lang="en-US" sz="1400" dirty="0">
                <a:solidFill>
                  <a:srgbClr val="B8B1A3"/>
                </a:solidFill>
                <a:latin typeface="Inter" pitchFamily="34" charset="0"/>
                <a:ea typeface="Inter" pitchFamily="34" charset="-122"/>
                <a:cs typeface="Inter" pitchFamily="34" charset="-120"/>
              </a:rPr>
              <a:t>random guess = 0.50</a:t>
            </a:r>
            <a:endParaRPr lang="en-US" sz="1400" dirty="0"/>
          </a:p>
        </p:txBody>
      </p:sp>
      <p:sp>
        <p:nvSpPr>
          <p:cNvPr id="10" name="Shape 8"/>
          <p:cNvSpPr/>
          <p:nvPr/>
        </p:nvSpPr>
        <p:spPr>
          <a:xfrm>
            <a:off x="6194425" y="2019498"/>
            <a:ext cx="5181600" cy="3819327"/>
          </a:xfrm>
          <a:prstGeom prst="roundRect">
            <a:avLst>
              <a:gd name="adj" fmla="val 1247"/>
            </a:avLst>
          </a:prstGeom>
          <a:solidFill>
            <a:srgbClr val="FFFDF8"/>
          </a:solidFill>
          <a:ln w="6350">
            <a:solidFill>
              <a:srgbClr val="DDD6C8"/>
            </a:solidFill>
            <a:prstDash val="solid"/>
          </a:ln>
        </p:spPr>
      </p:sp>
      <p:sp>
        <p:nvSpPr>
          <p:cNvPr id="11" name="Text 9"/>
          <p:cNvSpPr/>
          <p:nvPr/>
        </p:nvSpPr>
        <p:spPr>
          <a:xfrm>
            <a:off x="6451600" y="2276673"/>
            <a:ext cx="480726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2 · WHEN TO REVIEW</a:t>
            </a:r>
            <a:endParaRPr lang="en-US" sz="1400" dirty="0"/>
          </a:p>
        </p:txBody>
      </p:sp>
      <p:sp>
        <p:nvSpPr>
          <p:cNvPr id="12" name="Text 10"/>
          <p:cNvSpPr/>
          <p:nvPr/>
        </p:nvSpPr>
        <p:spPr>
          <a:xfrm>
            <a:off x="6451600" y="2652514"/>
            <a:ext cx="4807268"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A forgetting curve sets the schedule</a:t>
            </a:r>
            <a:endParaRPr lang="en-US" sz="2200" dirty="0"/>
          </a:p>
        </p:txBody>
      </p:sp>
      <p:sp>
        <p:nvSpPr>
          <p:cNvPr id="13" name="Text 11"/>
          <p:cNvSpPr/>
          <p:nvPr/>
        </p:nvSpPr>
        <p:spPr>
          <a:xfrm>
            <a:off x="6451600" y="3086795"/>
            <a:ext cx="48072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Formula </a:t>
            </a:r>
            <a:r>
              <a:rPr lang="en-US" sz="1400" b="1" dirty="0">
                <a:solidFill>
                  <a:srgbClr val="1C1A17"/>
                </a:solidFill>
                <a:latin typeface="Inter" pitchFamily="34" charset="0"/>
                <a:ea typeface="Inter" pitchFamily="34" charset="-122"/>
                <a:cs typeface="Inter" pitchFamily="34" charset="-120"/>
              </a:rPr>
              <a:t>P(t) = e^(−t / S)</a:t>
            </a:r>
            <a:r>
              <a:rPr lang="en-US" sz="1400" dirty="0">
                <a:solidFill>
                  <a:srgbClr val="5A554C"/>
                </a:solidFill>
                <a:latin typeface="Inter" pitchFamily="34" charset="0"/>
                <a:ea typeface="Inter" pitchFamily="34" charset="-122"/>
                <a:cs typeface="Inter" pitchFamily="34" charset="-120"/>
              </a:rPr>
              <a:t> is used only to pick the next review date — not to judge what you know.</a:t>
            </a:r>
            <a:endParaRPr lang="en-US" sz="1400" dirty="0"/>
          </a:p>
        </p:txBody>
      </p:sp>
      <p:pic>
        <p:nvPicPr>
          <p:cNvPr id="14" name="Image 0" descr="Forgetting curve falling over 14 days, with the next review placed early on the curve">    </p:cNvPr>
          <p:cNvPicPr>
            <a:picLocks noChangeAspect="1"/>
          </p:cNvPicPr>
          <p:nvPr/>
        </p:nvPicPr>
        <p:blipFill>
          <a:blip r:embed="rId1"/>
          <a:srcRect l="0" r="0" t="0" b="0"/>
          <a:stretch/>
        </p:blipFill>
        <p:spPr>
          <a:xfrm>
            <a:off x="6451600" y="3711476"/>
            <a:ext cx="4318000" cy="1397000"/>
          </a:xfrm>
          <a:prstGeom prst="rect">
            <a:avLst/>
          </a:prstGeom>
        </p:spPr>
      </p:pic>
      <p:sp>
        <p:nvSpPr>
          <p:cNvPr id="15" name="Text 12"/>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16" name="Text 13"/>
          <p:cNvSpPr/>
          <p:nvPr/>
        </p:nvSpPr>
        <p:spPr>
          <a:xfrm>
            <a:off x="11141770" y="6238280"/>
            <a:ext cx="23743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02 · EVIDENCE</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Early results from the public beta</a:t>
            </a:r>
            <a:endParaRPr lang="en-US" sz="4000" dirty="0"/>
          </a:p>
        </p:txBody>
      </p:sp>
      <p:sp>
        <p:nvSpPr>
          <p:cNvPr id="4" name="Shape 2"/>
          <p:cNvSpPr/>
          <p:nvPr/>
        </p:nvSpPr>
        <p:spPr>
          <a:xfrm>
            <a:off x="815975" y="1979216"/>
            <a:ext cx="2486025" cy="1713111"/>
          </a:xfrm>
          <a:prstGeom prst="roundRect">
            <a:avLst>
              <a:gd name="adj" fmla="val 2780"/>
            </a:avLst>
          </a:prstGeom>
          <a:solidFill>
            <a:srgbClr val="FFFDF8"/>
          </a:solidFill>
          <a:ln w="6350">
            <a:solidFill>
              <a:srgbClr val="DDD6C8"/>
            </a:solidFill>
            <a:prstDash val="solid"/>
          </a:ln>
        </p:spPr>
      </p:sp>
      <p:sp>
        <p:nvSpPr>
          <p:cNvPr id="5" name="Text 3"/>
          <p:cNvSpPr/>
          <p:nvPr/>
        </p:nvSpPr>
        <p:spPr>
          <a:xfrm>
            <a:off x="1022350" y="2185591"/>
            <a:ext cx="213547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C1A17"/>
                </a:solidFill>
                <a:latin typeface="Barlow Condensed" pitchFamily="34" charset="0"/>
                <a:ea typeface="Barlow Condensed" pitchFamily="34" charset="-122"/>
                <a:cs typeface="Barlow Condensed" pitchFamily="34" charset="-120"/>
              </a:rPr>
              <a:t>40+</a:t>
            </a:r>
            <a:endParaRPr lang="en-US" sz="4800" dirty="0"/>
          </a:p>
        </p:txBody>
      </p:sp>
      <p:sp>
        <p:nvSpPr>
          <p:cNvPr id="6" name="Text 4"/>
          <p:cNvSpPr/>
          <p:nvPr/>
        </p:nvSpPr>
        <p:spPr>
          <a:xfrm>
            <a:off x="1022350" y="2845991"/>
            <a:ext cx="21354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active learners in the beta</a:t>
            </a:r>
            <a:endParaRPr lang="en-US" sz="1200" dirty="0"/>
          </a:p>
        </p:txBody>
      </p:sp>
      <p:sp>
        <p:nvSpPr>
          <p:cNvPr id="7" name="Shape 5"/>
          <p:cNvSpPr/>
          <p:nvPr/>
        </p:nvSpPr>
        <p:spPr>
          <a:xfrm>
            <a:off x="3511550" y="1979216"/>
            <a:ext cx="2486025" cy="1713111"/>
          </a:xfrm>
          <a:prstGeom prst="roundRect">
            <a:avLst>
              <a:gd name="adj" fmla="val 2780"/>
            </a:avLst>
          </a:prstGeom>
          <a:solidFill>
            <a:srgbClr val="FFFDF8"/>
          </a:solidFill>
          <a:ln w="6350">
            <a:solidFill>
              <a:srgbClr val="DDD6C8"/>
            </a:solidFill>
            <a:prstDash val="solid"/>
          </a:ln>
        </p:spPr>
      </p:sp>
      <p:sp>
        <p:nvSpPr>
          <p:cNvPr id="8" name="Text 6"/>
          <p:cNvSpPr/>
          <p:nvPr/>
        </p:nvSpPr>
        <p:spPr>
          <a:xfrm>
            <a:off x="3717925" y="2185591"/>
            <a:ext cx="213547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C1A17"/>
                </a:solidFill>
                <a:latin typeface="Barlow Condensed" pitchFamily="34" charset="0"/>
                <a:ea typeface="Barlow Condensed" pitchFamily="34" charset="-122"/>
                <a:cs typeface="Barlow Condensed" pitchFamily="34" charset="-120"/>
              </a:rPr>
              <a:t>37,000+</a:t>
            </a:r>
            <a:endParaRPr lang="en-US" sz="4800" dirty="0"/>
          </a:p>
        </p:txBody>
      </p:sp>
      <p:sp>
        <p:nvSpPr>
          <p:cNvPr id="9" name="Text 7"/>
          <p:cNvSpPr/>
          <p:nvPr/>
        </p:nvSpPr>
        <p:spPr>
          <a:xfrm>
            <a:off x="3717925" y="2845991"/>
            <a:ext cx="21354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real reviews analysed</a:t>
            </a:r>
            <a:endParaRPr lang="en-US" sz="1200" dirty="0"/>
          </a:p>
        </p:txBody>
      </p:sp>
      <p:sp>
        <p:nvSpPr>
          <p:cNvPr id="10" name="Shape 8"/>
          <p:cNvSpPr/>
          <p:nvPr/>
        </p:nvSpPr>
        <p:spPr>
          <a:xfrm>
            <a:off x="6207125" y="1979216"/>
            <a:ext cx="2486025" cy="1713111"/>
          </a:xfrm>
          <a:prstGeom prst="roundRect">
            <a:avLst>
              <a:gd name="adj" fmla="val 2780"/>
            </a:avLst>
          </a:prstGeom>
          <a:solidFill>
            <a:srgbClr val="FFFDF8"/>
          </a:solidFill>
          <a:ln w="6350">
            <a:solidFill>
              <a:srgbClr val="DDD6C8"/>
            </a:solidFill>
            <a:prstDash val="solid"/>
          </a:ln>
        </p:spPr>
      </p:sp>
      <p:sp>
        <p:nvSpPr>
          <p:cNvPr id="11" name="Text 9"/>
          <p:cNvSpPr/>
          <p:nvPr/>
        </p:nvSpPr>
        <p:spPr>
          <a:xfrm>
            <a:off x="6413500" y="2185591"/>
            <a:ext cx="213547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C1A17"/>
                </a:solidFill>
                <a:latin typeface="Barlow Condensed" pitchFamily="34" charset="0"/>
                <a:ea typeface="Barlow Condensed" pitchFamily="34" charset="-122"/>
                <a:cs typeface="Barlow Condensed" pitchFamily="34" charset="-120"/>
              </a:rPr>
              <a:t>24</a:t>
            </a:r>
            <a:endParaRPr lang="en-US" sz="4800" dirty="0"/>
          </a:p>
        </p:txBody>
      </p:sp>
      <p:sp>
        <p:nvSpPr>
          <p:cNvPr id="12" name="Text 10"/>
          <p:cNvSpPr/>
          <p:nvPr/>
        </p:nvSpPr>
        <p:spPr>
          <a:xfrm>
            <a:off x="6413500" y="2845991"/>
            <a:ext cx="213547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learners in the test — 8 of them never seen by the model</a:t>
            </a:r>
            <a:endParaRPr lang="en-US" sz="1200" dirty="0"/>
          </a:p>
        </p:txBody>
      </p:sp>
      <p:sp>
        <p:nvSpPr>
          <p:cNvPr id="13" name="Shape 11"/>
          <p:cNvSpPr/>
          <p:nvPr/>
        </p:nvSpPr>
        <p:spPr>
          <a:xfrm>
            <a:off x="8899525" y="1976041"/>
            <a:ext cx="2479675" cy="1719461"/>
          </a:xfrm>
          <a:prstGeom prst="roundRect">
            <a:avLst>
              <a:gd name="adj" fmla="val 2954"/>
            </a:avLst>
          </a:prstGeom>
          <a:solidFill>
            <a:srgbClr val="1C1A17"/>
          </a:solidFill>
          <a:ln/>
        </p:spPr>
      </p:sp>
      <p:sp>
        <p:nvSpPr>
          <p:cNvPr id="14" name="Text 12"/>
          <p:cNvSpPr/>
          <p:nvPr/>
        </p:nvSpPr>
        <p:spPr>
          <a:xfrm>
            <a:off x="9102725" y="2179241"/>
            <a:ext cx="213547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F2EA"/>
                </a:solidFill>
                <a:latin typeface="Barlow Condensed" pitchFamily="34" charset="0"/>
                <a:ea typeface="Barlow Condensed" pitchFamily="34" charset="-122"/>
                <a:cs typeface="Barlow Condensed" pitchFamily="34" charset="-120"/>
              </a:rPr>
              <a:t>0.78</a:t>
            </a:r>
            <a:endParaRPr lang="en-US" sz="4800" dirty="0"/>
          </a:p>
        </p:txBody>
      </p:sp>
      <p:sp>
        <p:nvSpPr>
          <p:cNvPr id="15" name="Text 13"/>
          <p:cNvSpPr/>
          <p:nvPr/>
        </p:nvSpPr>
        <p:spPr>
          <a:xfrm>
            <a:off x="9102725" y="2839641"/>
            <a:ext cx="213547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C4"/>
                </a:solidFill>
                <a:latin typeface="Inter" pitchFamily="34" charset="0"/>
                <a:ea typeface="Inter" pitchFamily="34" charset="-122"/>
                <a:cs typeface="Inter" pitchFamily="34" charset="-120"/>
              </a:rPr>
              <a:t>AUC on unseen learners (random guess = 0.50)</a:t>
            </a:r>
            <a:endParaRPr lang="en-US" sz="1200" dirty="0"/>
          </a:p>
        </p:txBody>
      </p:sp>
      <p:sp>
        <p:nvSpPr>
          <p:cNvPr id="16" name="Shape 14"/>
          <p:cNvSpPr/>
          <p:nvPr/>
        </p:nvSpPr>
        <p:spPr>
          <a:xfrm>
            <a:off x="815975" y="4003477"/>
            <a:ext cx="5175250" cy="1829792"/>
          </a:xfrm>
          <a:prstGeom prst="roundRect">
            <a:avLst>
              <a:gd name="adj" fmla="val 2603"/>
            </a:avLst>
          </a:prstGeom>
          <a:solidFill>
            <a:srgbClr val="FFFDF8"/>
          </a:solidFill>
          <a:ln w="6350">
            <a:solidFill>
              <a:srgbClr val="DDD6C8"/>
            </a:solidFill>
            <a:prstDash val="solid"/>
          </a:ln>
        </p:spPr>
      </p:sp>
      <p:sp>
        <p:nvSpPr>
          <p:cNvPr id="17" name="Text 15"/>
          <p:cNvSpPr/>
          <p:nvPr/>
        </p:nvSpPr>
        <p:spPr>
          <a:xfrm>
            <a:off x="1022350" y="4209852"/>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A17"/>
                </a:solidFill>
                <a:latin typeface="Barlow Condensed" pitchFamily="34" charset="0"/>
                <a:ea typeface="Barlow Condensed" pitchFamily="34" charset="-122"/>
                <a:cs typeface="Barlow Condensed" pitchFamily="34" charset="-120"/>
              </a:rPr>
              <a:t>What 0.78 means</a:t>
            </a:r>
            <a:endParaRPr lang="en-US" sz="2000" dirty="0"/>
          </a:p>
        </p:txBody>
      </p:sp>
      <p:sp>
        <p:nvSpPr>
          <p:cNvPr id="18" name="Text 16"/>
          <p:cNvSpPr/>
          <p:nvPr/>
        </p:nvSpPr>
        <p:spPr>
          <a:xfrm>
            <a:off x="1022350" y="4590852"/>
            <a:ext cx="490537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Take one word a learner remembered and one they forgot. The model ranks them correctly 78% of the time. A coin flip gets 50%.</a:t>
            </a:r>
            <a:endParaRPr lang="en-US" sz="1400" dirty="0"/>
          </a:p>
        </p:txBody>
      </p:sp>
      <p:sp>
        <p:nvSpPr>
          <p:cNvPr id="19" name="Shape 17"/>
          <p:cNvSpPr/>
          <p:nvPr/>
        </p:nvSpPr>
        <p:spPr>
          <a:xfrm>
            <a:off x="6200775" y="4003477"/>
            <a:ext cx="5175250" cy="1829792"/>
          </a:xfrm>
          <a:prstGeom prst="roundRect">
            <a:avLst>
              <a:gd name="adj" fmla="val 2603"/>
            </a:avLst>
          </a:prstGeom>
          <a:solidFill>
            <a:srgbClr val="FFFDF8"/>
          </a:solidFill>
          <a:ln w="6350">
            <a:solidFill>
              <a:srgbClr val="DDD6C8"/>
            </a:solidFill>
            <a:prstDash val="solid"/>
          </a:ln>
        </p:spPr>
      </p:sp>
      <p:sp>
        <p:nvSpPr>
          <p:cNvPr id="20" name="Text 18"/>
          <p:cNvSpPr/>
          <p:nvPr/>
        </p:nvSpPr>
        <p:spPr>
          <a:xfrm>
            <a:off x="6407150" y="4209852"/>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A17"/>
                </a:solidFill>
                <a:latin typeface="Barlow Condensed" pitchFamily="34" charset="0"/>
                <a:ea typeface="Barlow Condensed" pitchFamily="34" charset="-122"/>
                <a:cs typeface="Barlow Condensed" pitchFamily="34" charset="-120"/>
              </a:rPr>
              <a:t>An honest note</a:t>
            </a:r>
            <a:endParaRPr lang="en-US" sz="2000" dirty="0"/>
          </a:p>
        </p:txBody>
      </p:sp>
      <p:sp>
        <p:nvSpPr>
          <p:cNvPr id="21" name="Text 19"/>
          <p:cNvSpPr/>
          <p:nvPr/>
        </p:nvSpPr>
        <p:spPr>
          <a:xfrm>
            <a:off x="6407150" y="4590852"/>
            <a:ext cx="490537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Our first model did worse than a simple average. We measured it, found the cause and fixed it. Full story on our blog.</a:t>
            </a:r>
            <a:endParaRPr lang="en-US" sz="1400" dirty="0"/>
          </a:p>
        </p:txBody>
      </p:sp>
      <p:sp>
        <p:nvSpPr>
          <p:cNvPr id="22" name="Text 20"/>
          <p:cNvSpPr/>
          <p:nvPr/>
        </p:nvSpPr>
        <p:spPr>
          <a:xfrm>
            <a:off x="6407150" y="5413573"/>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00"/>
                </a:solidFill>
                <a:latin typeface="Inter" pitchFamily="34" charset="0"/>
                <a:ea typeface="Inter" pitchFamily="34" charset="-122"/>
                <a:cs typeface="Inter" pitchFamily="34" charset="-120"/>
              </a:rPr>
              <a:t>Limitation: small sample — early results.</a:t>
            </a:r>
            <a:endParaRPr lang="en-US" sz="1200" dirty="0"/>
          </a:p>
        </p:txBody>
      </p:sp>
      <p:sp>
        <p:nvSpPr>
          <p:cNvPr id="23" name="Text 21"/>
          <p:cNvSpPr/>
          <p:nvPr/>
        </p:nvSpPr>
        <p:spPr>
          <a:xfrm>
            <a:off x="812800" y="6238280"/>
            <a:ext cx="19510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vocabry.uz/blog</a:t>
            </a:r>
            <a:endParaRPr lang="en-US" sz="1200" dirty="0"/>
          </a:p>
        </p:txBody>
      </p:sp>
      <p:sp>
        <p:nvSpPr>
          <p:cNvPr id="24" name="Text 22"/>
          <p:cNvSpPr/>
          <p:nvPr/>
        </p:nvSpPr>
        <p:spPr>
          <a:xfrm>
            <a:off x="11137702" y="6238280"/>
            <a:ext cx="24149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02 · ONE ANSWER, STEP BY STEP</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How VOC learns you</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Every answer is a signal. The more you use VOC, the better it knows your memory.</a:t>
            </a:r>
            <a:endParaRPr lang="en-US" sz="1400" dirty="0"/>
          </a:p>
        </p:txBody>
      </p:sp>
      <p:sp>
        <p:nvSpPr>
          <p:cNvPr id="5" name="Shape 3"/>
          <p:cNvSpPr/>
          <p:nvPr/>
        </p:nvSpPr>
        <p:spPr>
          <a:xfrm>
            <a:off x="815975" y="2355056"/>
            <a:ext cx="3803650" cy="2665413"/>
          </a:xfrm>
          <a:prstGeom prst="roundRect">
            <a:avLst>
              <a:gd name="adj" fmla="val 1787"/>
            </a:avLst>
          </a:prstGeom>
          <a:solidFill>
            <a:srgbClr val="FFFDF8"/>
          </a:solidFill>
          <a:ln w="6350">
            <a:solidFill>
              <a:srgbClr val="DDD6C8"/>
            </a:solidFill>
            <a:prstDash val="solid"/>
          </a:ln>
        </p:spPr>
      </p:sp>
      <p:sp>
        <p:nvSpPr>
          <p:cNvPr id="6" name="Text 4"/>
          <p:cNvSpPr/>
          <p:nvPr/>
        </p:nvSpPr>
        <p:spPr>
          <a:xfrm>
            <a:off x="1073150" y="2612231"/>
            <a:ext cx="3387979"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1 · YOU ANSWER</a:t>
            </a:r>
            <a:endParaRPr lang="en-US" sz="1400" dirty="0"/>
          </a:p>
        </p:txBody>
      </p:sp>
      <p:sp>
        <p:nvSpPr>
          <p:cNvPr id="7" name="Text 5"/>
          <p:cNvSpPr/>
          <p:nvPr/>
        </p:nvSpPr>
        <p:spPr>
          <a:xfrm>
            <a:off x="1073150" y="2962672"/>
            <a:ext cx="33879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C1A17"/>
                </a:solidFill>
                <a:latin typeface="Barlow Condensed" pitchFamily="34" charset="0"/>
                <a:ea typeface="Barlow Condensed" pitchFamily="34" charset="-122"/>
                <a:cs typeface="Barlow Condensed" pitchFamily="34" charset="-120"/>
              </a:rPr>
              <a:t>although</a:t>
            </a:r>
            <a:endParaRPr lang="en-US" sz="4400" dirty="0"/>
          </a:p>
        </p:txBody>
      </p:sp>
      <p:sp>
        <p:nvSpPr>
          <p:cNvPr id="8" name="Shape 6"/>
          <p:cNvSpPr/>
          <p:nvPr/>
        </p:nvSpPr>
        <p:spPr>
          <a:xfrm>
            <a:off x="1073150" y="4002087"/>
            <a:ext cx="3289300" cy="0"/>
          </a:xfrm>
          <a:prstGeom prst="line">
            <a:avLst/>
          </a:prstGeom>
          <a:noFill/>
          <a:ln w="6350">
            <a:solidFill>
              <a:srgbClr val="DDD6C8"/>
            </a:solidFill>
            <a:prstDash val="solid"/>
          </a:ln>
        </p:spPr>
      </p:sp>
      <p:sp>
        <p:nvSpPr>
          <p:cNvPr id="9" name="Text 7"/>
          <p:cNvSpPr/>
          <p:nvPr/>
        </p:nvSpPr>
        <p:spPr>
          <a:xfrm>
            <a:off x="1073150" y="3686572"/>
            <a:ext cx="64698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Speed</a:t>
            </a:r>
            <a:endParaRPr lang="en-US" sz="1400" dirty="0"/>
          </a:p>
        </p:txBody>
      </p:sp>
      <p:sp>
        <p:nvSpPr>
          <p:cNvPr id="10" name="Text 8"/>
          <p:cNvSpPr/>
          <p:nvPr/>
        </p:nvSpPr>
        <p:spPr>
          <a:xfrm>
            <a:off x="3900249" y="3686572"/>
            <a:ext cx="462201"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C1A17"/>
                </a:solidFill>
                <a:latin typeface="Inter" pitchFamily="34" charset="0"/>
                <a:ea typeface="Inter" pitchFamily="34" charset="-122"/>
                <a:cs typeface="Inter" pitchFamily="34" charset="-120"/>
              </a:rPr>
              <a:t>1.2 s</a:t>
            </a:r>
            <a:endParaRPr lang="en-US" sz="1400" dirty="0"/>
          </a:p>
        </p:txBody>
      </p:sp>
      <p:sp>
        <p:nvSpPr>
          <p:cNvPr id="11" name="Shape 9"/>
          <p:cNvSpPr/>
          <p:nvPr/>
        </p:nvSpPr>
        <p:spPr>
          <a:xfrm>
            <a:off x="1073150" y="4384278"/>
            <a:ext cx="3289300" cy="0"/>
          </a:xfrm>
          <a:prstGeom prst="line">
            <a:avLst/>
          </a:prstGeom>
          <a:noFill/>
          <a:ln w="6350">
            <a:solidFill>
              <a:srgbClr val="DDD6C8"/>
            </a:solidFill>
            <a:prstDash val="solid"/>
          </a:ln>
        </p:spPr>
      </p:sp>
      <p:sp>
        <p:nvSpPr>
          <p:cNvPr id="12" name="Text 10"/>
          <p:cNvSpPr/>
          <p:nvPr/>
        </p:nvSpPr>
        <p:spPr>
          <a:xfrm>
            <a:off x="1073150" y="4068763"/>
            <a:ext cx="127027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Answer type</a:t>
            </a:r>
            <a:endParaRPr lang="en-US" sz="1400" dirty="0"/>
          </a:p>
        </p:txBody>
      </p:sp>
      <p:sp>
        <p:nvSpPr>
          <p:cNvPr id="13" name="Text 11"/>
          <p:cNvSpPr/>
          <p:nvPr/>
        </p:nvSpPr>
        <p:spPr>
          <a:xfrm>
            <a:off x="3716893" y="4068763"/>
            <a:ext cx="645557"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C1A17"/>
                </a:solidFill>
                <a:latin typeface="Inter" pitchFamily="34" charset="0"/>
                <a:ea typeface="Inter" pitchFamily="34" charset="-122"/>
                <a:cs typeface="Inter" pitchFamily="34" charset="-120"/>
              </a:rPr>
              <a:t>Typed</a:t>
            </a:r>
            <a:endParaRPr lang="en-US" sz="1400" dirty="0"/>
          </a:p>
        </p:txBody>
      </p:sp>
      <p:sp>
        <p:nvSpPr>
          <p:cNvPr id="14" name="Text 12"/>
          <p:cNvSpPr/>
          <p:nvPr/>
        </p:nvSpPr>
        <p:spPr>
          <a:xfrm>
            <a:off x="1073150" y="4450953"/>
            <a:ext cx="11678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Confidence</a:t>
            </a:r>
            <a:endParaRPr lang="en-US" sz="1400" dirty="0"/>
          </a:p>
        </p:txBody>
      </p:sp>
      <p:sp>
        <p:nvSpPr>
          <p:cNvPr id="15" name="Text 13"/>
          <p:cNvSpPr/>
          <p:nvPr/>
        </p:nvSpPr>
        <p:spPr>
          <a:xfrm>
            <a:off x="2493288" y="4450953"/>
            <a:ext cx="1869162"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C1A17"/>
                </a:solidFill>
                <a:latin typeface="Inter" pitchFamily="34" charset="0"/>
                <a:ea typeface="Inter" pitchFamily="34" charset="-122"/>
                <a:cs typeface="Inter" pitchFamily="34" charset="-120"/>
              </a:rPr>
              <a:t>High </a:t>
            </a:r>
            <a:r>
              <a:rPr lang="en-US" sz="1400" b="1" dirty="0">
                <a:solidFill>
                  <a:srgbClr val="5A554C"/>
                </a:solidFill>
                <a:latin typeface="Inter" pitchFamily="34" charset="0"/>
                <a:ea typeface="Inter" pitchFamily="34" charset="-122"/>
                <a:cs typeface="Inter" pitchFamily="34" charset="-120"/>
              </a:rPr>
              <a:t>(from speed)</a:t>
            </a:r>
            <a:endParaRPr lang="en-US" sz="1400" dirty="0"/>
          </a:p>
        </p:txBody>
      </p:sp>
      <p:sp>
        <p:nvSpPr>
          <p:cNvPr id="16" name="Text 14"/>
          <p:cNvSpPr/>
          <p:nvPr/>
        </p:nvSpPr>
        <p:spPr>
          <a:xfrm>
            <a:off x="4597400" y="3474442"/>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17" name="Shape 15"/>
          <p:cNvSpPr/>
          <p:nvPr/>
        </p:nvSpPr>
        <p:spPr>
          <a:xfrm>
            <a:off x="5029200" y="2655391"/>
            <a:ext cx="2794000" cy="2064643"/>
          </a:xfrm>
          <a:prstGeom prst="roundRect">
            <a:avLst>
              <a:gd name="adj" fmla="val 2460"/>
            </a:avLst>
          </a:prstGeom>
          <a:solidFill>
            <a:srgbClr val="1C1A17"/>
          </a:solidFill>
          <a:ln/>
        </p:spPr>
      </p:sp>
      <p:sp>
        <p:nvSpPr>
          <p:cNvPr id="18" name="Text 16"/>
          <p:cNvSpPr/>
          <p:nvPr/>
        </p:nvSpPr>
        <p:spPr>
          <a:xfrm>
            <a:off x="5283200" y="2909391"/>
            <a:ext cx="235458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8B1A3"/>
                </a:solidFill>
                <a:latin typeface="Barlow Condensed" pitchFamily="34" charset="0"/>
                <a:ea typeface="Barlow Condensed" pitchFamily="34" charset="-122"/>
                <a:cs typeface="Barlow Condensed" pitchFamily="34" charset="-120"/>
              </a:rPr>
              <a:t>2 · VOC UPDATES</a:t>
            </a:r>
            <a:endParaRPr lang="en-US" sz="1400" dirty="0"/>
          </a:p>
        </p:txBody>
      </p:sp>
      <p:sp>
        <p:nvSpPr>
          <p:cNvPr id="19" name="Text 17"/>
          <p:cNvSpPr/>
          <p:nvPr/>
        </p:nvSpPr>
        <p:spPr>
          <a:xfrm>
            <a:off x="5283200" y="3285232"/>
            <a:ext cx="235458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Your memory model</a:t>
            </a:r>
            <a:endParaRPr lang="en-US" sz="2200" dirty="0"/>
          </a:p>
        </p:txBody>
      </p:sp>
      <p:sp>
        <p:nvSpPr>
          <p:cNvPr id="20" name="Text 18"/>
          <p:cNvSpPr/>
          <p:nvPr/>
        </p:nvSpPr>
        <p:spPr>
          <a:xfrm>
            <a:off x="5283200" y="3719512"/>
            <a:ext cx="235458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2C4"/>
                </a:solidFill>
                <a:latin typeface="Inter" pitchFamily="34" charset="0"/>
                <a:ea typeface="Inter" pitchFamily="34" charset="-122"/>
                <a:cs typeface="Inter" pitchFamily="34" charset="-120"/>
              </a:rPr>
              <a:t>Combines this answer with your full history for the word.</a:t>
            </a:r>
            <a:endParaRPr lang="en-US" sz="1400" dirty="0"/>
          </a:p>
        </p:txBody>
      </p:sp>
      <p:sp>
        <p:nvSpPr>
          <p:cNvPr id="21" name="Text 19"/>
          <p:cNvSpPr/>
          <p:nvPr/>
        </p:nvSpPr>
        <p:spPr>
          <a:xfrm>
            <a:off x="7797800" y="3474442"/>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22" name="Shape 20"/>
          <p:cNvSpPr/>
          <p:nvPr/>
        </p:nvSpPr>
        <p:spPr>
          <a:xfrm>
            <a:off x="8232775" y="2549327"/>
            <a:ext cx="3143250" cy="2276872"/>
          </a:xfrm>
          <a:prstGeom prst="roundRect">
            <a:avLst>
              <a:gd name="adj" fmla="val 2092"/>
            </a:avLst>
          </a:prstGeom>
          <a:solidFill>
            <a:srgbClr val="FFFDF8"/>
          </a:solidFill>
          <a:ln w="6350">
            <a:solidFill>
              <a:srgbClr val="DDD6C8"/>
            </a:solidFill>
            <a:prstDash val="solid"/>
          </a:ln>
        </p:spPr>
      </p:sp>
      <p:sp>
        <p:nvSpPr>
          <p:cNvPr id="23" name="Text 21"/>
          <p:cNvSpPr/>
          <p:nvPr/>
        </p:nvSpPr>
        <p:spPr>
          <a:xfrm>
            <a:off x="8489950" y="2806502"/>
            <a:ext cx="270776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3 · RESULT</a:t>
            </a:r>
            <a:endParaRPr lang="en-US" sz="1400" dirty="0"/>
          </a:p>
        </p:txBody>
      </p:sp>
      <p:sp>
        <p:nvSpPr>
          <p:cNvPr id="24" name="Text 22"/>
          <p:cNvSpPr/>
          <p:nvPr/>
        </p:nvSpPr>
        <p:spPr>
          <a:xfrm>
            <a:off x="8496300" y="3188692"/>
            <a:ext cx="814685" cy="312341"/>
          </a:xfrm>
          <a:custGeom>
            <a:avLst/>
            <a:gdLst/>
            <a:ahLst/>
            <a:cxnLst/>
            <a:rect l="l" t="t" r="r" b="b"/>
            <a:pathLst>
              <a:path w="814685" h="312341">
                <a:moveTo>
                  <a:pt x="146050" y="0"/>
                </a:moveTo>
                <a:lnTo>
                  <a:pt x="668635" y="0"/>
                </a:lnTo>
                <a:arcTo hR="146050" wR="146050" stAng="16200000" swAng="5400000"/>
                <a:lnTo>
                  <a:pt x="814685" y="166291"/>
                </a:lnTo>
                <a:arcTo hR="146050" wR="146050" stAng="0" swAng="5400000"/>
                <a:lnTo>
                  <a:pt x="146050" y="312341"/>
                </a:lnTo>
                <a:arcTo hR="146050" wR="146050" stAng="5400000" swAng="5400000"/>
                <a:lnTo>
                  <a:pt x="0" y="146050"/>
                </a:lnTo>
                <a:arcTo hR="146050" wR="146050" stAng="10800000" swAng="5400000"/>
                <a:close/>
              </a:path>
            </a:pathLst>
          </a:custGeom>
          <a:noFill/>
          <a:ln w="12700">
            <a:solidFill>
              <a:srgbClr val="2F7A3D"/>
            </a:solidFill>
            <a:prstDash val="solid"/>
          </a:ln>
        </p:spPr>
        <p:txBody>
          <a:bodyPr wrap="none" lIns="0" tIns="0" rIns="0" bIns="0" rtlCol="0" anchor="ctr">
            <a:normAutofit/>
          </a:bodyPr>
          <a:lstStyle/>
          <a:p>
            <a:pPr algn="ctr" indent="0" marL="0">
              <a:lnSpc>
                <a:spcPts val="1960"/>
              </a:lnSpc>
              <a:buNone/>
            </a:pPr>
            <a:r>
              <a:rPr lang="en-US" sz="1400" b="1" dirty="0">
                <a:solidFill>
                  <a:srgbClr val="2F7A3D"/>
                </a:solidFill>
                <a:latin typeface="Inter" pitchFamily="34" charset="0"/>
                <a:ea typeface="Inter" pitchFamily="34" charset="-122"/>
                <a:cs typeface="Inter" pitchFamily="34" charset="-120"/>
              </a:rPr>
              <a:t>Strong</a:t>
            </a:r>
            <a:endParaRPr lang="en-US" sz="1400" dirty="0"/>
          </a:p>
        </p:txBody>
      </p:sp>
      <p:sp>
        <p:nvSpPr>
          <p:cNvPr id="25" name="Text 23"/>
          <p:cNvSpPr/>
          <p:nvPr/>
        </p:nvSpPr>
        <p:spPr>
          <a:xfrm>
            <a:off x="8489950" y="3634383"/>
            <a:ext cx="270776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Next review:</a:t>
            </a:r>
            <a:endParaRPr lang="en-US" sz="1400" dirty="0"/>
          </a:p>
        </p:txBody>
      </p:sp>
      <p:sp>
        <p:nvSpPr>
          <p:cNvPr id="26" name="Text 24"/>
          <p:cNvSpPr/>
          <p:nvPr/>
        </p:nvSpPr>
        <p:spPr>
          <a:xfrm>
            <a:off x="8489950" y="4010223"/>
            <a:ext cx="270776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C1A17"/>
                </a:solidFill>
                <a:latin typeface="Barlow Condensed" pitchFamily="34" charset="0"/>
                <a:ea typeface="Barlow Condensed" pitchFamily="34" charset="-122"/>
                <a:cs typeface="Barlow Condensed" pitchFamily="34" charset="-120"/>
              </a:rPr>
              <a:t>in 3 days</a:t>
            </a:r>
            <a:endParaRPr lang="en-US" sz="4400" dirty="0"/>
          </a:p>
        </p:txBody>
      </p:sp>
      <p:sp>
        <p:nvSpPr>
          <p:cNvPr id="27" name="Text 25"/>
          <p:cNvSpPr/>
          <p:nvPr/>
        </p:nvSpPr>
        <p:spPr>
          <a:xfrm>
            <a:off x="812800" y="6238280"/>
            <a:ext cx="30023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 · example values</a:t>
            </a:r>
            <a:endParaRPr lang="en-US" sz="1200" dirty="0"/>
          </a:p>
        </p:txBody>
      </p:sp>
      <p:sp>
        <p:nvSpPr>
          <p:cNvPr id="28" name="Text 26"/>
          <p:cNvSpPr/>
          <p:nvPr/>
        </p:nvSpPr>
        <p:spPr>
          <a:xfrm>
            <a:off x="11148913" y="6238280"/>
            <a:ext cx="23028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03 · HOW WE COMPARE</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Same scheduling quality, different product</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On scheduling we are on par with open-source FSRS-6. We don't claim to beat it — our edge is what we build around it.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64581"/>
          <a:ext cx="10553700" cy="3040063"/>
        </p:xfrm>
        <a:graphic>
          <a:graphicData uri="http://schemas.openxmlformats.org/drawingml/2006/table">
            <a:tbl>
              <a:tblPr/>
              <a:tblGrid>
                <a:gridCol w="1918855"/>
                <a:gridCol w="2771679"/>
                <a:gridCol w="2771679"/>
                <a:gridCol w="3091488"/>
              </a:tblGrid>
              <a:tr h="480020">
                <a:tc>
                  <a:txBody>
                    <a:bodyPr/>
                    <a:lstStyle/>
                    <a:p>
                      <a:pPr indent="0" marL="0">
                        <a:lnSpc>
                          <a:spcPts val="1680"/>
                        </a:lnSpc>
                        <a:buNone/>
                      </a:pP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9"/>
                    </a:solidFill>
                  </a:tcPr>
                </a:tc>
                <a:tc>
                  <a:txBody>
                    <a:bodyPr/>
                    <a:lstStyle/>
                    <a:p>
                      <a:pPr indent="0" marL="0">
                        <a:lnSpc>
                          <a:spcPts val="1680"/>
                        </a:lnSpc>
                        <a:buNone/>
                      </a:pPr>
                      <a:r>
                        <a:rPr lang="en-US" sz="1200" b="1" dirty="0">
                          <a:solidFill>
                            <a:srgbClr val="5A554C"/>
                          </a:solidFill>
                          <a:latin typeface="Inter" pitchFamily="34" charset="0"/>
                          <a:ea typeface="Inter" pitchFamily="34" charset="-122"/>
                          <a:cs typeface="Inter" pitchFamily="34" charset="-120"/>
                        </a:rPr>
                        <a:t>Anki</a:t>
                      </a:r>
                      <a:endParaRPr lang="en-US" sz="1200" dirty="0">
                        <a:latin typeface="Inter" charset="0"/>
                        <a:ea typeface="Inter" charset="0"/>
                        <a:cs typeface="Inter" charset="0"/>
                      </a:endParaRPr>
                    </a:p>
                  </a:txBody>
                  <a:tcPr marL="127000" marR="127000" marT="127000" marB="127000"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9"/>
                    </a:solidFill>
                  </a:tcPr>
                </a:tc>
                <a:tc>
                  <a:txBody>
                    <a:bodyPr/>
                    <a:lstStyle/>
                    <a:p>
                      <a:pPr indent="0" marL="0">
                        <a:lnSpc>
                          <a:spcPts val="1680"/>
                        </a:lnSpc>
                        <a:buNone/>
                      </a:pPr>
                      <a:r>
                        <a:rPr lang="en-US" sz="1200" b="1" dirty="0">
                          <a:solidFill>
                            <a:srgbClr val="5A554C"/>
                          </a:solidFill>
                          <a:latin typeface="Inter" pitchFamily="34" charset="0"/>
                          <a:ea typeface="Inter" pitchFamily="34" charset="-122"/>
                          <a:cs typeface="Inter" pitchFamily="34" charset="-120"/>
                        </a:rPr>
                        <a:t>Duolingo</a:t>
                      </a:r>
                      <a:endParaRPr lang="en-US" sz="1200" dirty="0">
                        <a:latin typeface="Inter" charset="0"/>
                        <a:ea typeface="Inter" charset="0"/>
                        <a:cs typeface="Inter" charset="0"/>
                      </a:endParaRPr>
                    </a:p>
                  </a:txBody>
                  <a:tcPr marL="127000" marR="127000" marT="127000" marB="127000"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9"/>
                    </a:solidFill>
                  </a:tcPr>
                </a:tc>
                <a:tc>
                  <a:txBody>
                    <a:bodyPr/>
                    <a:lstStyle/>
                    <a:p>
                      <a:pPr indent="0" marL="0">
                        <a:lnSpc>
                          <a:spcPts val="1680"/>
                        </a:lnSpc>
                        <a:buNone/>
                      </a:pPr>
                      <a:r>
                        <a:rPr lang="en-US" sz="1200" b="1" dirty="0">
                          <a:solidFill>
                            <a:srgbClr val="F6F2EA"/>
                          </a:solidFill>
                          <a:latin typeface="Inter" pitchFamily="34" charset="0"/>
                          <a:ea typeface="Inter" pitchFamily="34" charset="-122"/>
                          <a:cs typeface="Inter" pitchFamily="34" charset="-120"/>
                        </a:rPr>
                        <a:t>VOC</a:t>
                      </a:r>
                      <a:endParaRPr lang="en-US" sz="1200" dirty="0">
                        <a:latin typeface="Inter" charset="0"/>
                        <a:ea typeface="Inter" charset="0"/>
                        <a:cs typeface="Inter" charset="0"/>
                      </a:endParaRPr>
                    </a:p>
                  </a:txBody>
                  <a:tcPr marL="127000" marR="127000" marT="127000" marB="127000" anchor="t">
                    <a:lnL w="12700" cap="flat" cmpd="sng" algn="ctr">
                      <a:solidFill>
                        <a:srgbClr val="B6B3AD"/>
                      </a:solidFill>
                      <a:prstDash val="solid"/>
                      <a:round/>
                      <a:headEnd type="none" w="med" len="med"/>
                      <a:tailEnd type="none" w="med" len="med"/>
                    </a:lnL>
                    <a:lnR w="12700" cap="flat" cmpd="sng" algn="ctr">
                      <a:solidFill>
                        <a:srgbClr val="B6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6B3AD"/>
                      </a:solidFill>
                      <a:prstDash val="solid"/>
                      <a:round/>
                      <a:headEnd type="none" w="med" len="med"/>
                      <a:tailEnd type="none" w="med" len="med"/>
                    </a:lnB>
                    <a:solidFill>
                      <a:srgbClr val="E4E0D9"/>
                    </a:solidFill>
                  </a:tcPr>
                </a:tc>
              </a:tr>
              <a:tr h="693341">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Built for</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Self-directed learners who build their own decks</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Casual learners on a set course</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Uzbek speakers learning English, and their teachers</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6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80020">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Review scheduling</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FSRS (open source)</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Own closed model</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Calibrated model, on par with FSRS-6</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93341">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What the learner sees</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Cards plus detailed statistics</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Lessons, streaks, points</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A status for every word: "Weak · review today"</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693341">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Teacher / centre panel</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No</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5A554C"/>
                          </a:solidFill>
                          <a:latin typeface="Inter" pitchFamily="34" charset="0"/>
                          <a:ea typeface="Inter" pitchFamily="34" charset="-122"/>
                          <a:cs typeface="Inter" pitchFamily="34" charset="-120"/>
                        </a:rPr>
                        <a:t>Duolingo for Schools</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680"/>
                        </a:lnSpc>
                        <a:buNone/>
                      </a:pPr>
                      <a:r>
                        <a:rPr lang="en-US" sz="1200" dirty="0">
                          <a:solidFill>
                            <a:srgbClr val="1C1A17"/>
                          </a:solidFill>
                          <a:latin typeface="Inter" pitchFamily="34" charset="0"/>
                          <a:ea typeface="Inter" pitchFamily="34" charset="-122"/>
                          <a:cs typeface="Inter" pitchFamily="34" charset="-120"/>
                        </a:rPr>
                        <a:t>Yes: groups, homework, join by QR — our revenue (B2B2C)</a:t>
                      </a:r>
                      <a:endParaRPr lang="en-US" sz="1200" dirty="0">
                        <a:latin typeface="Inter" charset="0"/>
                        <a:ea typeface="Inter" charset="0"/>
                        <a:cs typeface="Inter" charset="0"/>
                      </a:endParaRPr>
                    </a:p>
                  </a:txBody>
                  <a:tcPr marL="127000" marR="127000" marT="127000" marB="1270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6" name="Text 3"/>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7" name="Text 4"/>
          <p:cNvSpPr/>
          <p:nvPr/>
        </p:nvSpPr>
        <p:spPr>
          <a:xfrm>
            <a:off x="11137900" y="6238280"/>
            <a:ext cx="241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03 · THE PRODUCT</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Four parts, one memory model</a:t>
            </a:r>
            <a:endParaRPr lang="en-US" sz="4000" dirty="0"/>
          </a:p>
        </p:txBody>
      </p:sp>
      <p:sp>
        <p:nvSpPr>
          <p:cNvPr id="4" name="Shape 2"/>
          <p:cNvSpPr/>
          <p:nvPr/>
        </p:nvSpPr>
        <p:spPr>
          <a:xfrm>
            <a:off x="815975" y="2030016"/>
            <a:ext cx="2524125" cy="2629793"/>
          </a:xfrm>
          <a:custGeom>
            <a:avLst/>
            <a:gdLst/>
            <a:ahLst/>
            <a:cxnLst/>
            <a:rect l="l" t="t" r="r" b="b"/>
            <a:pathLst>
              <a:path w="2524125" h="2629793">
                <a:moveTo>
                  <a:pt x="47625" y="0"/>
                </a:moveTo>
                <a:lnTo>
                  <a:pt x="2476500" y="0"/>
                </a:lnTo>
                <a:arcTo hR="47625" wR="47625" stAng="16200000" swAng="5400000"/>
                <a:lnTo>
                  <a:pt x="2524125" y="2629793"/>
                </a:lnTo>
                <a:lnTo>
                  <a:pt x="0" y="2629793"/>
                </a:lnTo>
                <a:lnTo>
                  <a:pt x="0" y="47625"/>
                </a:lnTo>
                <a:arcTo hR="47625" wR="47625" stAng="10800000" swAng="5400000"/>
                <a:close/>
              </a:path>
            </a:pathLst>
          </a:custGeom>
          <a:solidFill>
            <a:srgbClr val="FFFDF8"/>
          </a:solidFill>
          <a:ln w="6350">
            <a:solidFill>
              <a:srgbClr val="DDD6C8"/>
            </a:solidFill>
            <a:prstDash val="solid"/>
          </a:ln>
        </p:spPr>
      </p:sp>
      <p:sp>
        <p:nvSpPr>
          <p:cNvPr id="5" name="Text 3"/>
          <p:cNvSpPr/>
          <p:nvPr/>
        </p:nvSpPr>
        <p:spPr>
          <a:xfrm>
            <a:off x="1022350" y="2236391"/>
            <a:ext cx="217471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01 · LEARNER</a:t>
            </a:r>
            <a:endParaRPr lang="en-US" sz="1400" dirty="0"/>
          </a:p>
        </p:txBody>
      </p:sp>
      <p:sp>
        <p:nvSpPr>
          <p:cNvPr id="6" name="Text 4"/>
          <p:cNvSpPr/>
          <p:nvPr/>
        </p:nvSpPr>
        <p:spPr>
          <a:xfrm>
            <a:off x="1022350" y="2586831"/>
            <a:ext cx="2174716"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Review</a:t>
            </a:r>
            <a:endParaRPr lang="en-US" sz="2200" dirty="0"/>
          </a:p>
        </p:txBody>
      </p:sp>
      <p:sp>
        <p:nvSpPr>
          <p:cNvPr id="7" name="Text 5"/>
          <p:cNvSpPr/>
          <p:nvPr/>
        </p:nvSpPr>
        <p:spPr>
          <a:xfrm>
            <a:off x="1022350" y="2995712"/>
            <a:ext cx="21747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Weakest words first, so practice starts where forgetting is closest.</a:t>
            </a:r>
            <a:endParaRPr lang="en-US" sz="1200" dirty="0"/>
          </a:p>
        </p:txBody>
      </p:sp>
      <p:sp>
        <p:nvSpPr>
          <p:cNvPr id="8" name="Shape 6"/>
          <p:cNvSpPr/>
          <p:nvPr/>
        </p:nvSpPr>
        <p:spPr>
          <a:xfrm>
            <a:off x="1022350" y="3737273"/>
            <a:ext cx="2111375" cy="716161"/>
          </a:xfrm>
          <a:prstGeom prst="roundRect">
            <a:avLst>
              <a:gd name="adj" fmla="val 7093"/>
            </a:avLst>
          </a:prstGeom>
          <a:solidFill>
            <a:srgbClr val="F6F2EA"/>
          </a:solidFill>
          <a:ln/>
        </p:spPr>
      </p:sp>
      <p:sp>
        <p:nvSpPr>
          <p:cNvPr id="9" name="Text 7"/>
          <p:cNvSpPr/>
          <p:nvPr/>
        </p:nvSpPr>
        <p:spPr>
          <a:xfrm>
            <a:off x="1149350" y="3838873"/>
            <a:ext cx="19130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although</a:t>
            </a:r>
            <a:endParaRPr lang="en-US" sz="1400" dirty="0"/>
          </a:p>
        </p:txBody>
      </p:sp>
      <p:sp>
        <p:nvSpPr>
          <p:cNvPr id="10" name="Text 8"/>
          <p:cNvSpPr/>
          <p:nvPr/>
        </p:nvSpPr>
        <p:spPr>
          <a:xfrm>
            <a:off x="1149350" y="4138513"/>
            <a:ext cx="1913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00"/>
                </a:solidFill>
                <a:latin typeface="Inter" pitchFamily="34" charset="0"/>
                <a:ea typeface="Inter" pitchFamily="34" charset="-122"/>
                <a:cs typeface="Inter" pitchFamily="34" charset="-120"/>
              </a:rPr>
              <a:t>Weak · review today</a:t>
            </a:r>
            <a:endParaRPr lang="en-US" sz="1200" dirty="0"/>
          </a:p>
        </p:txBody>
      </p:sp>
      <p:sp>
        <p:nvSpPr>
          <p:cNvPr id="11" name="Shape 9"/>
          <p:cNvSpPr/>
          <p:nvPr/>
        </p:nvSpPr>
        <p:spPr>
          <a:xfrm>
            <a:off x="3498850" y="2030016"/>
            <a:ext cx="2524125" cy="2629793"/>
          </a:xfrm>
          <a:custGeom>
            <a:avLst/>
            <a:gdLst/>
            <a:ahLst/>
            <a:cxnLst/>
            <a:rect l="l" t="t" r="r" b="b"/>
            <a:pathLst>
              <a:path w="2524125" h="2629793">
                <a:moveTo>
                  <a:pt x="47625" y="0"/>
                </a:moveTo>
                <a:lnTo>
                  <a:pt x="2476500" y="0"/>
                </a:lnTo>
                <a:arcTo hR="47625" wR="47625" stAng="16200000" swAng="5400000"/>
                <a:lnTo>
                  <a:pt x="2524125" y="2629793"/>
                </a:lnTo>
                <a:lnTo>
                  <a:pt x="0" y="2629793"/>
                </a:lnTo>
                <a:lnTo>
                  <a:pt x="0" y="47625"/>
                </a:lnTo>
                <a:arcTo hR="47625" wR="47625" stAng="10800000" swAng="5400000"/>
                <a:close/>
              </a:path>
            </a:pathLst>
          </a:custGeom>
          <a:solidFill>
            <a:srgbClr val="FFFDF8"/>
          </a:solidFill>
          <a:ln w="6350">
            <a:solidFill>
              <a:srgbClr val="DDD6C8"/>
            </a:solidFill>
            <a:prstDash val="solid"/>
          </a:ln>
        </p:spPr>
      </p:sp>
      <p:sp>
        <p:nvSpPr>
          <p:cNvPr id="12" name="Text 10"/>
          <p:cNvSpPr/>
          <p:nvPr/>
        </p:nvSpPr>
        <p:spPr>
          <a:xfrm>
            <a:off x="3705225" y="2236391"/>
            <a:ext cx="217471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02 · LEARNER</a:t>
            </a:r>
            <a:endParaRPr lang="en-US" sz="1400" dirty="0"/>
          </a:p>
        </p:txBody>
      </p:sp>
      <p:sp>
        <p:nvSpPr>
          <p:cNvPr id="13" name="Text 11"/>
          <p:cNvSpPr/>
          <p:nvPr/>
        </p:nvSpPr>
        <p:spPr>
          <a:xfrm>
            <a:off x="3705225" y="2586831"/>
            <a:ext cx="2174716"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Grammar &amp; tests</a:t>
            </a:r>
            <a:endParaRPr lang="en-US" sz="2200" dirty="0"/>
          </a:p>
        </p:txBody>
      </p:sp>
      <p:sp>
        <p:nvSpPr>
          <p:cNvPr id="14" name="Text 12"/>
          <p:cNvSpPr/>
          <p:nvPr/>
        </p:nvSpPr>
        <p:spPr>
          <a:xfrm>
            <a:off x="3705225" y="2995712"/>
            <a:ext cx="21747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Short adaptive tests that check grammar inside real sentences.</a:t>
            </a:r>
            <a:endParaRPr lang="en-US" sz="1200" dirty="0"/>
          </a:p>
        </p:txBody>
      </p:sp>
      <p:sp>
        <p:nvSpPr>
          <p:cNvPr id="15" name="Shape 13"/>
          <p:cNvSpPr/>
          <p:nvPr/>
        </p:nvSpPr>
        <p:spPr>
          <a:xfrm>
            <a:off x="3705225" y="3737273"/>
            <a:ext cx="2111375" cy="716161"/>
          </a:xfrm>
          <a:prstGeom prst="roundRect">
            <a:avLst>
              <a:gd name="adj" fmla="val 7093"/>
            </a:avLst>
          </a:prstGeom>
          <a:solidFill>
            <a:srgbClr val="F6F2EA"/>
          </a:solidFill>
          <a:ln/>
        </p:spPr>
      </p:sp>
      <p:sp>
        <p:nvSpPr>
          <p:cNvPr id="16" name="Text 14"/>
          <p:cNvSpPr/>
          <p:nvPr/>
        </p:nvSpPr>
        <p:spPr>
          <a:xfrm>
            <a:off x="3832225" y="3838873"/>
            <a:ext cx="19130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Conjunctions</a:t>
            </a:r>
            <a:endParaRPr lang="en-US" sz="1400" dirty="0"/>
          </a:p>
        </p:txBody>
      </p:sp>
      <p:sp>
        <p:nvSpPr>
          <p:cNvPr id="17" name="Text 15"/>
          <p:cNvSpPr/>
          <p:nvPr/>
        </p:nvSpPr>
        <p:spPr>
          <a:xfrm>
            <a:off x="3832225" y="4138513"/>
            <a:ext cx="1913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7A3D"/>
                </a:solidFill>
                <a:latin typeface="Inter" pitchFamily="34" charset="0"/>
                <a:ea typeface="Inter" pitchFamily="34" charset="-122"/>
                <a:cs typeface="Inter" pitchFamily="34" charset="-120"/>
              </a:rPr>
              <a:t>78% mastered</a:t>
            </a:r>
            <a:endParaRPr lang="en-US" sz="1200" dirty="0"/>
          </a:p>
        </p:txBody>
      </p:sp>
      <p:sp>
        <p:nvSpPr>
          <p:cNvPr id="18" name="Shape 16"/>
          <p:cNvSpPr/>
          <p:nvPr/>
        </p:nvSpPr>
        <p:spPr>
          <a:xfrm>
            <a:off x="6181725" y="2030016"/>
            <a:ext cx="2524125" cy="2629793"/>
          </a:xfrm>
          <a:custGeom>
            <a:avLst/>
            <a:gdLst/>
            <a:ahLst/>
            <a:cxnLst/>
            <a:rect l="l" t="t" r="r" b="b"/>
            <a:pathLst>
              <a:path w="2524125" h="2629793">
                <a:moveTo>
                  <a:pt x="47625" y="0"/>
                </a:moveTo>
                <a:lnTo>
                  <a:pt x="2476500" y="0"/>
                </a:lnTo>
                <a:arcTo hR="47625" wR="47625" stAng="16200000" swAng="5400000"/>
                <a:lnTo>
                  <a:pt x="2524125" y="2629793"/>
                </a:lnTo>
                <a:lnTo>
                  <a:pt x="0" y="2629793"/>
                </a:lnTo>
                <a:lnTo>
                  <a:pt x="0" y="47625"/>
                </a:lnTo>
                <a:arcTo hR="47625" wR="47625" stAng="10800000" swAng="5400000"/>
                <a:close/>
              </a:path>
            </a:pathLst>
          </a:custGeom>
          <a:solidFill>
            <a:srgbClr val="FFFDF8"/>
          </a:solidFill>
          <a:ln w="6350">
            <a:solidFill>
              <a:srgbClr val="DDD6C8"/>
            </a:solidFill>
            <a:prstDash val="solid"/>
          </a:ln>
        </p:spPr>
      </p:sp>
      <p:sp>
        <p:nvSpPr>
          <p:cNvPr id="19" name="Text 17"/>
          <p:cNvSpPr/>
          <p:nvPr/>
        </p:nvSpPr>
        <p:spPr>
          <a:xfrm>
            <a:off x="6388100" y="2236391"/>
            <a:ext cx="217471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03 · LEARNER</a:t>
            </a:r>
            <a:endParaRPr lang="en-US" sz="1400" dirty="0"/>
          </a:p>
        </p:txBody>
      </p:sp>
      <p:sp>
        <p:nvSpPr>
          <p:cNvPr id="20" name="Text 18"/>
          <p:cNvSpPr/>
          <p:nvPr/>
        </p:nvSpPr>
        <p:spPr>
          <a:xfrm>
            <a:off x="6388100" y="2586831"/>
            <a:ext cx="2174716"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My Words &amp; Results</a:t>
            </a:r>
            <a:endParaRPr lang="en-US" sz="2200" dirty="0"/>
          </a:p>
        </p:txBody>
      </p:sp>
      <p:sp>
        <p:nvSpPr>
          <p:cNvPr id="21" name="Text 19"/>
          <p:cNvSpPr/>
          <p:nvPr/>
        </p:nvSpPr>
        <p:spPr>
          <a:xfrm>
            <a:off x="6388100" y="2995712"/>
            <a:ext cx="21747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Every word's status, the words at risk, and progress over time.</a:t>
            </a:r>
            <a:endParaRPr lang="en-US" sz="1200" dirty="0"/>
          </a:p>
        </p:txBody>
      </p:sp>
      <p:sp>
        <p:nvSpPr>
          <p:cNvPr id="22" name="Shape 20"/>
          <p:cNvSpPr/>
          <p:nvPr/>
        </p:nvSpPr>
        <p:spPr>
          <a:xfrm>
            <a:off x="6388100" y="3737273"/>
            <a:ext cx="2111375" cy="716161"/>
          </a:xfrm>
          <a:prstGeom prst="roundRect">
            <a:avLst>
              <a:gd name="adj" fmla="val 7093"/>
            </a:avLst>
          </a:prstGeom>
          <a:solidFill>
            <a:srgbClr val="F6F2EA"/>
          </a:solidFill>
          <a:ln/>
        </p:spPr>
      </p:sp>
      <p:sp>
        <p:nvSpPr>
          <p:cNvPr id="23" name="Text 21"/>
          <p:cNvSpPr/>
          <p:nvPr/>
        </p:nvSpPr>
        <p:spPr>
          <a:xfrm>
            <a:off x="6515100" y="3838873"/>
            <a:ext cx="19130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12 words</a:t>
            </a:r>
            <a:endParaRPr lang="en-US" sz="1400" dirty="0"/>
          </a:p>
        </p:txBody>
      </p:sp>
      <p:sp>
        <p:nvSpPr>
          <p:cNvPr id="24" name="Text 22"/>
          <p:cNvSpPr/>
          <p:nvPr/>
        </p:nvSpPr>
        <p:spPr>
          <a:xfrm>
            <a:off x="6515100" y="4138513"/>
            <a:ext cx="1913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1E"/>
                </a:solidFill>
                <a:latin typeface="Inter" pitchFamily="34" charset="0"/>
                <a:ea typeface="Inter" pitchFamily="34" charset="-122"/>
                <a:cs typeface="Inter" pitchFamily="34" charset="-120"/>
              </a:rPr>
              <a:t>at risk this week</a:t>
            </a:r>
            <a:endParaRPr lang="en-US" sz="1200" dirty="0"/>
          </a:p>
        </p:txBody>
      </p:sp>
      <p:sp>
        <p:nvSpPr>
          <p:cNvPr id="25" name="Shape 23"/>
          <p:cNvSpPr/>
          <p:nvPr/>
        </p:nvSpPr>
        <p:spPr>
          <a:xfrm>
            <a:off x="8861425" y="2026841"/>
            <a:ext cx="2517775" cy="2636143"/>
          </a:xfrm>
          <a:custGeom>
            <a:avLst/>
            <a:gdLst/>
            <a:ahLst/>
            <a:cxnLst/>
            <a:rect l="l" t="t" r="r" b="b"/>
            <a:pathLst>
              <a:path w="2517775" h="2636143">
                <a:moveTo>
                  <a:pt x="50800" y="0"/>
                </a:moveTo>
                <a:lnTo>
                  <a:pt x="2466975" y="0"/>
                </a:lnTo>
                <a:arcTo hR="50800" wR="50800" stAng="16200000" swAng="5400000"/>
                <a:lnTo>
                  <a:pt x="2517775" y="2636143"/>
                </a:lnTo>
                <a:lnTo>
                  <a:pt x="0" y="2636143"/>
                </a:lnTo>
                <a:lnTo>
                  <a:pt x="0" y="50800"/>
                </a:lnTo>
                <a:arcTo hR="50800" wR="50800" stAng="10800000" swAng="5400000"/>
                <a:close/>
              </a:path>
            </a:pathLst>
          </a:custGeom>
          <a:solidFill>
            <a:srgbClr val="1C1A17"/>
          </a:solidFill>
          <a:ln/>
        </p:spPr>
      </p:sp>
      <p:sp>
        <p:nvSpPr>
          <p:cNvPr id="26" name="Text 24"/>
          <p:cNvSpPr/>
          <p:nvPr/>
        </p:nvSpPr>
        <p:spPr>
          <a:xfrm>
            <a:off x="9064625" y="2230041"/>
            <a:ext cx="217471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8B1A3"/>
                </a:solidFill>
                <a:latin typeface="Barlow Condensed" pitchFamily="34" charset="0"/>
                <a:ea typeface="Barlow Condensed" pitchFamily="34" charset="-122"/>
                <a:cs typeface="Barlow Condensed" pitchFamily="34" charset="-120"/>
              </a:rPr>
              <a:t>04 · TEACHER / CENTRE</a:t>
            </a:r>
            <a:endParaRPr lang="en-US" sz="1400" dirty="0"/>
          </a:p>
        </p:txBody>
      </p:sp>
      <p:sp>
        <p:nvSpPr>
          <p:cNvPr id="27" name="Text 25"/>
          <p:cNvSpPr/>
          <p:nvPr/>
        </p:nvSpPr>
        <p:spPr>
          <a:xfrm>
            <a:off x="9064625" y="2580481"/>
            <a:ext cx="2174716"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Group panel</a:t>
            </a:r>
            <a:endParaRPr lang="en-US" sz="2200" dirty="0"/>
          </a:p>
        </p:txBody>
      </p:sp>
      <p:sp>
        <p:nvSpPr>
          <p:cNvPr id="28" name="Text 26"/>
          <p:cNvSpPr/>
          <p:nvPr/>
        </p:nvSpPr>
        <p:spPr>
          <a:xfrm>
            <a:off x="9064625" y="2989362"/>
            <a:ext cx="21747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C4"/>
                </a:solidFill>
                <a:latin typeface="Inter" pitchFamily="34" charset="0"/>
                <a:ea typeface="Inter" pitchFamily="34" charset="-122"/>
                <a:cs typeface="Inter" pitchFamily="34" charset="-120"/>
              </a:rPr>
              <a:t>Group status, homework, and students join with a QR code or PIN.</a:t>
            </a:r>
            <a:endParaRPr lang="en-US" sz="1200" dirty="0"/>
          </a:p>
        </p:txBody>
      </p:sp>
      <p:sp>
        <p:nvSpPr>
          <p:cNvPr id="29" name="Shape 27"/>
          <p:cNvSpPr/>
          <p:nvPr/>
        </p:nvSpPr>
        <p:spPr>
          <a:xfrm>
            <a:off x="9067800" y="3734098"/>
            <a:ext cx="2105025" cy="722511"/>
          </a:xfrm>
          <a:prstGeom prst="roundRect">
            <a:avLst>
              <a:gd name="adj" fmla="val 6592"/>
            </a:avLst>
          </a:prstGeom>
          <a:noFill/>
          <a:ln w="6350">
            <a:solidFill>
              <a:srgbClr val="4A463F"/>
            </a:solidFill>
            <a:prstDash val="solid"/>
          </a:ln>
        </p:spPr>
      </p:sp>
      <p:sp>
        <p:nvSpPr>
          <p:cNvPr id="30" name="Text 28"/>
          <p:cNvSpPr/>
          <p:nvPr/>
        </p:nvSpPr>
        <p:spPr>
          <a:xfrm>
            <a:off x="9197975" y="3838873"/>
            <a:ext cx="190001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2EA"/>
                </a:solidFill>
                <a:latin typeface="Inter" pitchFamily="34" charset="0"/>
                <a:ea typeface="Inter" pitchFamily="34" charset="-122"/>
                <a:cs typeface="Inter" pitchFamily="34" charset="-120"/>
              </a:rPr>
              <a:t>Revenue</a:t>
            </a:r>
            <a:endParaRPr lang="en-US" sz="1400" dirty="0"/>
          </a:p>
        </p:txBody>
      </p:sp>
      <p:sp>
        <p:nvSpPr>
          <p:cNvPr id="31" name="Text 29"/>
          <p:cNvSpPr/>
          <p:nvPr/>
        </p:nvSpPr>
        <p:spPr>
          <a:xfrm>
            <a:off x="9197975" y="4138513"/>
            <a:ext cx="19000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C4"/>
                </a:solidFill>
                <a:latin typeface="Inter" pitchFamily="34" charset="0"/>
                <a:ea typeface="Inter" pitchFamily="34" charset="-122"/>
                <a:cs typeface="Inter" pitchFamily="34" charset="-120"/>
              </a:rPr>
              <a:t>centres pay for this</a:t>
            </a:r>
            <a:endParaRPr lang="en-US" sz="1200" dirty="0"/>
          </a:p>
        </p:txBody>
      </p:sp>
      <p:sp>
        <p:nvSpPr>
          <p:cNvPr id="32" name="Shape 30"/>
          <p:cNvSpPr/>
          <p:nvPr/>
        </p:nvSpPr>
        <p:spPr>
          <a:xfrm>
            <a:off x="812800" y="4662984"/>
            <a:ext cx="10566400" cy="502841"/>
          </a:xfrm>
          <a:custGeom>
            <a:avLst/>
            <a:gdLst/>
            <a:ahLst/>
            <a:cxnLst/>
            <a:rect l="l" t="t" r="r" b="b"/>
            <a:pathLst>
              <a:path w="10566400" h="502841">
                <a:moveTo>
                  <a:pt x="0" y="0"/>
                </a:moveTo>
                <a:lnTo>
                  <a:pt x="10566400" y="0"/>
                </a:lnTo>
                <a:lnTo>
                  <a:pt x="10566400" y="452041"/>
                </a:lnTo>
                <a:arcTo hR="50800" wR="50800" stAng="0" swAng="5400000"/>
                <a:lnTo>
                  <a:pt x="50800" y="502841"/>
                </a:lnTo>
                <a:arcTo hR="50800" wR="50800" stAng="5400000" swAng="5400000"/>
                <a:lnTo>
                  <a:pt x="0" y="0"/>
                </a:lnTo>
                <a:close/>
              </a:path>
            </a:pathLst>
          </a:custGeom>
          <a:solidFill>
            <a:srgbClr val="1C1A17"/>
          </a:solidFill>
          <a:ln/>
        </p:spPr>
      </p:sp>
      <p:sp>
        <p:nvSpPr>
          <p:cNvPr id="33" name="Text 31"/>
          <p:cNvSpPr/>
          <p:nvPr/>
        </p:nvSpPr>
        <p:spPr>
          <a:xfrm>
            <a:off x="1016000" y="4789984"/>
            <a:ext cx="1334214"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6F2EA"/>
                </a:solidFill>
                <a:latin typeface="Barlow Condensed" pitchFamily="34" charset="0"/>
                <a:ea typeface="Barlow Condensed" pitchFamily="34" charset="-122"/>
                <a:cs typeface="Barlow Condensed" pitchFamily="34" charset="-120"/>
              </a:rPr>
              <a:t>MEMORY MODEL</a:t>
            </a:r>
            <a:endParaRPr lang="en-US" sz="1400" dirty="0"/>
          </a:p>
        </p:txBody>
      </p:sp>
      <p:sp>
        <p:nvSpPr>
          <p:cNvPr id="34" name="Text 32"/>
          <p:cNvSpPr/>
          <p:nvPr/>
        </p:nvSpPr>
        <p:spPr>
          <a:xfrm>
            <a:off x="7115254" y="4807744"/>
            <a:ext cx="406074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9D2C4"/>
                </a:solidFill>
                <a:latin typeface="Inter" pitchFamily="34" charset="0"/>
                <a:ea typeface="Inter" pitchFamily="34" charset="-122"/>
                <a:cs typeface="Inter" pitchFamily="34" charset="-120"/>
              </a:rPr>
              <a:t>One estimate per word, shared by all four parts</a:t>
            </a:r>
            <a:endParaRPr lang="en-US" sz="1200" dirty="0"/>
          </a:p>
        </p:txBody>
      </p:sp>
      <p:sp>
        <p:nvSpPr>
          <p:cNvPr id="35" name="Text 33"/>
          <p:cNvSpPr/>
          <p:nvPr/>
        </p:nvSpPr>
        <p:spPr>
          <a:xfrm>
            <a:off x="812800" y="6238280"/>
            <a:ext cx="30023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 · example values</a:t>
            </a:r>
            <a:endParaRPr lang="en-US" sz="1200" dirty="0"/>
          </a:p>
        </p:txBody>
      </p:sp>
      <p:sp>
        <p:nvSpPr>
          <p:cNvPr id="36" name="Text 34"/>
          <p:cNvSpPr/>
          <p:nvPr/>
        </p:nvSpPr>
        <p:spPr>
          <a:xfrm>
            <a:off x="11137702" y="6238280"/>
            <a:ext cx="24149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03 · THE FEEDBACK LOOP</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Every answer makes both sides better</a:t>
            </a:r>
            <a:endParaRPr lang="en-US" sz="4000" dirty="0"/>
          </a:p>
        </p:txBody>
      </p:sp>
      <p:sp>
        <p:nvSpPr>
          <p:cNvPr id="4" name="Shape 2"/>
          <p:cNvSpPr/>
          <p:nvPr/>
        </p:nvSpPr>
        <p:spPr>
          <a:xfrm>
            <a:off x="831850" y="2444254"/>
            <a:ext cx="0" cy="909141"/>
          </a:xfrm>
          <a:prstGeom prst="line">
            <a:avLst/>
          </a:prstGeom>
          <a:noFill/>
          <a:ln w="38100">
            <a:solidFill>
              <a:srgbClr val="1C1A17"/>
            </a:solidFill>
            <a:prstDash val="solid"/>
          </a:ln>
        </p:spPr>
      </p:sp>
      <p:sp>
        <p:nvSpPr>
          <p:cNvPr id="5" name="Text 3"/>
          <p:cNvSpPr/>
          <p:nvPr/>
        </p:nvSpPr>
        <p:spPr>
          <a:xfrm>
            <a:off x="1054100" y="2444254"/>
            <a:ext cx="485305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The learner improves</a:t>
            </a:r>
            <a:endParaRPr lang="en-US" sz="2200" dirty="0"/>
          </a:p>
        </p:txBody>
      </p:sp>
      <p:sp>
        <p:nvSpPr>
          <p:cNvPr id="6" name="Text 4"/>
          <p:cNvSpPr/>
          <p:nvPr/>
        </p:nvSpPr>
        <p:spPr>
          <a:xfrm>
            <a:off x="1054100" y="2855714"/>
            <a:ext cx="485305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Steps 1–6: learn, review, make mistakes, and get each word back at the right time — so it sticks.</a:t>
            </a:r>
            <a:endParaRPr lang="en-US" sz="1400" dirty="0"/>
          </a:p>
        </p:txBody>
      </p:sp>
      <p:sp>
        <p:nvSpPr>
          <p:cNvPr id="7" name="Shape 5"/>
          <p:cNvSpPr/>
          <p:nvPr/>
        </p:nvSpPr>
        <p:spPr>
          <a:xfrm>
            <a:off x="831850" y="3607395"/>
            <a:ext cx="0" cy="909141"/>
          </a:xfrm>
          <a:prstGeom prst="line">
            <a:avLst/>
          </a:prstGeom>
          <a:noFill/>
          <a:ln w="38100">
            <a:solidFill>
              <a:srgbClr val="9A5B00"/>
            </a:solidFill>
            <a:prstDash val="solid"/>
          </a:ln>
        </p:spPr>
      </p:sp>
      <p:sp>
        <p:nvSpPr>
          <p:cNvPr id="8" name="Text 6"/>
          <p:cNvSpPr/>
          <p:nvPr/>
        </p:nvSpPr>
        <p:spPr>
          <a:xfrm>
            <a:off x="1054100" y="3607395"/>
            <a:ext cx="485305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VOC improves</a:t>
            </a:r>
            <a:endParaRPr lang="en-US" sz="2200" dirty="0"/>
          </a:p>
        </p:txBody>
      </p:sp>
      <p:sp>
        <p:nvSpPr>
          <p:cNvPr id="9" name="Text 7"/>
          <p:cNvSpPr/>
          <p:nvPr/>
        </p:nvSpPr>
        <p:spPr>
          <a:xfrm>
            <a:off x="1054100" y="4018855"/>
            <a:ext cx="485305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Step 7: every answer, including every mistake, makes the next estimate for this learner more accurate.</a:t>
            </a:r>
            <a:endParaRPr lang="en-US" sz="1400" dirty="0"/>
          </a:p>
        </p:txBody>
      </p:sp>
      <p:sp>
        <p:nvSpPr>
          <p:cNvPr id="10" name="Text 8"/>
          <p:cNvSpPr/>
          <p:nvPr/>
        </p:nvSpPr>
        <p:spPr>
          <a:xfrm>
            <a:off x="812800" y="4770537"/>
            <a:ext cx="510159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C1A17"/>
                </a:solidFill>
                <a:latin typeface="Inter" pitchFamily="34" charset="0"/>
                <a:ea typeface="Inter" pitchFamily="34" charset="-122"/>
                <a:cs typeface="Inter" pitchFamily="34" charset="-120"/>
              </a:rPr>
              <a:t>Every mistake teaches the learner.</a:t>
            </a:r>
            <a:endParaRPr lang="en-US" sz="1600" dirty="0"/>
          </a:p>
          <a:p>
            <a:pPr algn="l" indent="0" marL="0">
              <a:lnSpc>
                <a:spcPts val="2080"/>
              </a:lnSpc>
              <a:buNone/>
            </a:pPr>
            <a:r>
              <a:rPr lang="en-US" sz="1600" b="1" dirty="0">
                <a:solidFill>
                  <a:srgbClr val="1C1A17"/>
                </a:solidFill>
                <a:latin typeface="Inter" pitchFamily="34" charset="0"/>
                <a:ea typeface="Inter" pitchFamily="34" charset="-122"/>
                <a:cs typeface="Inter" pitchFamily="34" charset="-120"/>
              </a:rPr>
              <a:t>Every answer teaches VOC.</a:t>
            </a:r>
            <a:endParaRPr lang="en-US" sz="1600" dirty="0"/>
          </a:p>
        </p:txBody>
      </p:sp>
      <p:pic>
        <p:nvPicPr>
          <p:cNvPr id="11" name="Image 0" descr="Circular loop of seven steps: 1 Learn, 2 Review, 3 Mistake, 4 Update estimate, 5 Right-time review, 6 Memory improves, 7 Better estimate, then back to Learn. VOC in the centre.">    </p:cNvPr>
          <p:cNvPicPr>
            <a:picLocks noChangeAspect="1"/>
          </p:cNvPicPr>
          <p:nvPr/>
        </p:nvPicPr>
        <p:blipFill>
          <a:blip r:embed="rId1"/>
          <a:srcRect l="0" r="0" t="0" b="0"/>
          <a:stretch/>
        </p:blipFill>
        <p:spPr>
          <a:xfrm>
            <a:off x="6172200" y="2026841"/>
            <a:ext cx="5207000" cy="3689350"/>
          </a:xfrm>
          <a:prstGeom prst="rect">
            <a:avLst/>
          </a:prstGeom>
        </p:spPr>
      </p:pic>
      <p:sp>
        <p:nvSpPr>
          <p:cNvPr id="12" name="Text 9"/>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13" name="Text 10"/>
          <p:cNvSpPr/>
          <p:nvPr/>
        </p:nvSpPr>
        <p:spPr>
          <a:xfrm>
            <a:off x="11170245" y="6238280"/>
            <a:ext cx="20895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04 · BUSINESS MODEL</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Free for learners, paid by centres and schools</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B2B2C: learning centres and schools pay; their students learn for free.</a:t>
            </a:r>
            <a:endParaRPr lang="en-US" sz="1400" dirty="0"/>
          </a:p>
        </p:txBody>
      </p:sp>
      <p:sp>
        <p:nvSpPr>
          <p:cNvPr id="5" name="Shape 3"/>
          <p:cNvSpPr/>
          <p:nvPr/>
        </p:nvSpPr>
        <p:spPr>
          <a:xfrm>
            <a:off x="815975" y="2355056"/>
            <a:ext cx="3244850" cy="2327771"/>
          </a:xfrm>
          <a:prstGeom prst="roundRect">
            <a:avLst>
              <a:gd name="adj" fmla="val 2046"/>
            </a:avLst>
          </a:prstGeom>
          <a:solidFill>
            <a:srgbClr val="FFFDF8"/>
          </a:solidFill>
          <a:ln w="6350">
            <a:solidFill>
              <a:srgbClr val="DDD6C8"/>
            </a:solidFill>
            <a:prstDash val="solid"/>
          </a:ln>
        </p:spPr>
      </p:sp>
      <p:sp>
        <p:nvSpPr>
          <p:cNvPr id="6" name="Text 4"/>
          <p:cNvSpPr/>
          <p:nvPr/>
        </p:nvSpPr>
        <p:spPr>
          <a:xfrm>
            <a:off x="1073150" y="2612231"/>
            <a:ext cx="281241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01 · LEARNERS</a:t>
            </a:r>
            <a:endParaRPr lang="en-US" sz="1400" dirty="0"/>
          </a:p>
        </p:txBody>
      </p:sp>
      <p:sp>
        <p:nvSpPr>
          <p:cNvPr id="7" name="Text 5"/>
          <p:cNvSpPr/>
          <p:nvPr/>
        </p:nvSpPr>
        <p:spPr>
          <a:xfrm>
            <a:off x="1073150" y="2962672"/>
            <a:ext cx="2812415"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F7A3D"/>
                </a:solidFill>
                <a:latin typeface="Barlow Condensed" pitchFamily="34" charset="0"/>
                <a:ea typeface="Barlow Condensed" pitchFamily="34" charset="-122"/>
                <a:cs typeface="Barlow Condensed" pitchFamily="34" charset="-120"/>
              </a:rPr>
              <a:t>Free</a:t>
            </a:r>
            <a:endParaRPr lang="en-US" sz="2200" dirty="0"/>
          </a:p>
        </p:txBody>
      </p:sp>
      <p:sp>
        <p:nvSpPr>
          <p:cNvPr id="8" name="Text 6"/>
          <p:cNvSpPr/>
          <p:nvPr/>
        </p:nvSpPr>
        <p:spPr>
          <a:xfrm>
            <a:off x="1073150" y="3371552"/>
            <a:ext cx="281241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Anyone can use VOC at no cost. No barrier means wide adoption — and more data to improve the model.</a:t>
            </a:r>
            <a:endParaRPr lang="en-US" sz="1400" dirty="0"/>
          </a:p>
        </p:txBody>
      </p:sp>
      <p:sp>
        <p:nvSpPr>
          <p:cNvPr id="9" name="Text 7"/>
          <p:cNvSpPr/>
          <p:nvPr/>
        </p:nvSpPr>
        <p:spPr>
          <a:xfrm>
            <a:off x="4038600" y="3305572"/>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10" name="Shape 8"/>
          <p:cNvSpPr/>
          <p:nvPr/>
        </p:nvSpPr>
        <p:spPr>
          <a:xfrm>
            <a:off x="4470400" y="2351881"/>
            <a:ext cx="3251200" cy="2334121"/>
          </a:xfrm>
          <a:prstGeom prst="roundRect">
            <a:avLst>
              <a:gd name="adj" fmla="val 2176"/>
            </a:avLst>
          </a:prstGeom>
          <a:solidFill>
            <a:srgbClr val="1C1A17"/>
          </a:solidFill>
          <a:ln/>
        </p:spPr>
      </p:sp>
      <p:sp>
        <p:nvSpPr>
          <p:cNvPr id="11" name="Text 9"/>
          <p:cNvSpPr/>
          <p:nvPr/>
        </p:nvSpPr>
        <p:spPr>
          <a:xfrm>
            <a:off x="4724400" y="2605881"/>
            <a:ext cx="282549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8B1A3"/>
                </a:solidFill>
                <a:latin typeface="Barlow Condensed" pitchFamily="34" charset="0"/>
                <a:ea typeface="Barlow Condensed" pitchFamily="34" charset="-122"/>
                <a:cs typeface="Barlow Condensed" pitchFamily="34" charset="-120"/>
              </a:rPr>
              <a:t>02 · PLATFORM</a:t>
            </a:r>
            <a:endParaRPr lang="en-US" sz="1400" dirty="0"/>
          </a:p>
        </p:txBody>
      </p:sp>
      <p:sp>
        <p:nvSpPr>
          <p:cNvPr id="12" name="Text 10"/>
          <p:cNvSpPr/>
          <p:nvPr/>
        </p:nvSpPr>
        <p:spPr>
          <a:xfrm>
            <a:off x="4724400" y="2956322"/>
            <a:ext cx="2825496"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VOC</a:t>
            </a:r>
            <a:endParaRPr lang="en-US" sz="2200" dirty="0"/>
          </a:p>
        </p:txBody>
      </p:sp>
      <p:sp>
        <p:nvSpPr>
          <p:cNvPr id="13" name="Text 11"/>
          <p:cNvSpPr/>
          <p:nvPr/>
        </p:nvSpPr>
        <p:spPr>
          <a:xfrm>
            <a:off x="4758182" y="3365202"/>
            <a:ext cx="2785618"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D9D2C4"/>
                </a:solidFill>
                <a:latin typeface="Inter" pitchFamily="34" charset="0"/>
                <a:ea typeface="Inter" pitchFamily="34" charset="-122"/>
                <a:cs typeface="Inter" pitchFamily="34" charset="-120"/>
              </a:rPr>
              <a:t>Memory model</a:t>
            </a:r>
            <a:endParaRPr lang="en-US" sz="1400" dirty="0"/>
          </a:p>
          <a:p>
            <a:pPr algn="l" marL="169418" indent="-169418">
              <a:lnSpc>
                <a:spcPts val="2100"/>
              </a:lnSpc>
              <a:buSzPct val="100000"/>
              <a:buChar char="•"/>
            </a:pPr>
            <a:r>
              <a:rPr lang="en-US" sz="1400" dirty="0">
                <a:solidFill>
                  <a:srgbClr val="D9D2C4"/>
                </a:solidFill>
                <a:latin typeface="Inter" pitchFamily="34" charset="0"/>
                <a:ea typeface="Inter" pitchFamily="34" charset="-122"/>
                <a:cs typeface="Inter" pitchFamily="34" charset="-120"/>
              </a:rPr>
              <a:t>Vocabulary &amp; grammar</a:t>
            </a:r>
            <a:endParaRPr lang="en-US" sz="1400" dirty="0"/>
          </a:p>
          <a:p>
            <a:pPr algn="l" marL="169418" indent="-169418">
              <a:lnSpc>
                <a:spcPts val="2100"/>
              </a:lnSpc>
              <a:buSzPct val="100000"/>
              <a:buChar char="•"/>
            </a:pPr>
            <a:r>
              <a:rPr lang="en-US" sz="1400" dirty="0">
                <a:solidFill>
                  <a:srgbClr val="D9D2C4"/>
                </a:solidFill>
                <a:latin typeface="Inter" pitchFamily="34" charset="0"/>
                <a:ea typeface="Inter" pitchFamily="34" charset="-122"/>
                <a:cs typeface="Inter" pitchFamily="34" charset="-120"/>
              </a:rPr>
              <a:t>Word status &amp; results</a:t>
            </a:r>
            <a:endParaRPr lang="en-US" sz="1400" dirty="0"/>
          </a:p>
          <a:p>
            <a:pPr algn="l" marL="169418" indent="-169418">
              <a:lnSpc>
                <a:spcPts val="2100"/>
              </a:lnSpc>
              <a:buSzPct val="100000"/>
              <a:buChar char="•"/>
            </a:pPr>
            <a:r>
              <a:rPr lang="en-US" sz="1400" dirty="0">
                <a:solidFill>
                  <a:srgbClr val="D9D2C4"/>
                </a:solidFill>
                <a:latin typeface="Inter" pitchFamily="34" charset="0"/>
                <a:ea typeface="Inter" pitchFamily="34" charset="-122"/>
                <a:cs typeface="Inter" pitchFamily="34" charset="-120"/>
              </a:rPr>
              <a:t>Teacher / centre panel</a:t>
            </a:r>
            <a:endParaRPr lang="en-US" sz="1400" dirty="0"/>
          </a:p>
        </p:txBody>
      </p:sp>
      <p:sp>
        <p:nvSpPr>
          <p:cNvPr id="14" name="Text 12"/>
          <p:cNvSpPr/>
          <p:nvPr/>
        </p:nvSpPr>
        <p:spPr>
          <a:xfrm>
            <a:off x="7696200" y="3305572"/>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15" name="Shape 13"/>
          <p:cNvSpPr/>
          <p:nvPr/>
        </p:nvSpPr>
        <p:spPr>
          <a:xfrm>
            <a:off x="8134350" y="2358231"/>
            <a:ext cx="3238500" cy="2321421"/>
          </a:xfrm>
          <a:prstGeom prst="roundRect">
            <a:avLst>
              <a:gd name="adj" fmla="val 1915"/>
            </a:avLst>
          </a:prstGeom>
          <a:solidFill>
            <a:srgbClr val="FFFDF8"/>
          </a:solidFill>
          <a:ln w="12700">
            <a:solidFill>
              <a:srgbClr val="1C1A17"/>
            </a:solidFill>
            <a:prstDash val="solid"/>
          </a:ln>
        </p:spPr>
      </p:sp>
      <p:sp>
        <p:nvSpPr>
          <p:cNvPr id="16" name="Text 14"/>
          <p:cNvSpPr/>
          <p:nvPr/>
        </p:nvSpPr>
        <p:spPr>
          <a:xfrm>
            <a:off x="8394700" y="2618581"/>
            <a:ext cx="2799334"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03 · CENTRES &amp; SCHOOLS</a:t>
            </a:r>
            <a:endParaRPr lang="en-US" sz="1400" dirty="0"/>
          </a:p>
        </p:txBody>
      </p:sp>
      <p:sp>
        <p:nvSpPr>
          <p:cNvPr id="17" name="Text 15"/>
          <p:cNvSpPr/>
          <p:nvPr/>
        </p:nvSpPr>
        <p:spPr>
          <a:xfrm>
            <a:off x="8394700" y="2969022"/>
            <a:ext cx="2799334"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Paid licence</a:t>
            </a:r>
            <a:endParaRPr lang="en-US" sz="2200" dirty="0"/>
          </a:p>
        </p:txBody>
      </p:sp>
      <p:sp>
        <p:nvSpPr>
          <p:cNvPr id="18" name="Text 16"/>
          <p:cNvSpPr/>
          <p:nvPr/>
        </p:nvSpPr>
        <p:spPr>
          <a:xfrm>
            <a:off x="8394700" y="3377902"/>
            <a:ext cx="2799334"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Learning centres, schools and universities pay for the panel: group status, homework, progress.</a:t>
            </a:r>
            <a:endParaRPr lang="en-US" sz="1400" dirty="0"/>
          </a:p>
        </p:txBody>
      </p:sp>
      <p:sp>
        <p:nvSpPr>
          <p:cNvPr id="19" name="Text 17"/>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20" name="Text 18"/>
          <p:cNvSpPr/>
          <p:nvPr/>
        </p:nvSpPr>
        <p:spPr>
          <a:xfrm>
            <a:off x="11204377" y="6238280"/>
            <a:ext cx="17482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04 · GO-TO-MARKET</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Start with learners, then sell to centres</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Free learners prove the model works. Pilot results become the sales case for paid licences.</a:t>
            </a:r>
            <a:endParaRPr lang="en-US" sz="1400" dirty="0"/>
          </a:p>
        </p:txBody>
      </p:sp>
      <p:sp>
        <p:nvSpPr>
          <p:cNvPr id="5" name="Shape 3"/>
          <p:cNvSpPr/>
          <p:nvPr/>
        </p:nvSpPr>
        <p:spPr>
          <a:xfrm>
            <a:off x="815975" y="2355056"/>
            <a:ext cx="3244850" cy="2926755"/>
          </a:xfrm>
          <a:prstGeom prst="roundRect">
            <a:avLst>
              <a:gd name="adj" fmla="val 1627"/>
            </a:avLst>
          </a:prstGeom>
          <a:solidFill>
            <a:srgbClr val="FFFDF8"/>
          </a:solidFill>
          <a:ln w="6350">
            <a:solidFill>
              <a:srgbClr val="DDD6C8"/>
            </a:solidFill>
            <a:prstDash val="solid"/>
          </a:ln>
        </p:spPr>
      </p:sp>
      <p:sp>
        <p:nvSpPr>
          <p:cNvPr id="6" name="Text 4"/>
          <p:cNvSpPr/>
          <p:nvPr/>
        </p:nvSpPr>
        <p:spPr>
          <a:xfrm>
            <a:off x="1073150" y="2612231"/>
            <a:ext cx="281241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PHASE 1 · LEARNERS</a:t>
            </a:r>
            <a:endParaRPr lang="en-US" sz="1400" dirty="0"/>
          </a:p>
        </p:txBody>
      </p:sp>
      <p:sp>
        <p:nvSpPr>
          <p:cNvPr id="7" name="Text 5"/>
          <p:cNvSpPr/>
          <p:nvPr/>
        </p:nvSpPr>
        <p:spPr>
          <a:xfrm>
            <a:off x="1073150" y="2962672"/>
            <a:ext cx="2812415" cy="639961"/>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Uzbek-speaking learners of English</a:t>
            </a:r>
            <a:endParaRPr lang="en-US" sz="2200" dirty="0"/>
          </a:p>
        </p:txBody>
      </p:sp>
      <p:sp>
        <p:nvSpPr>
          <p:cNvPr id="8" name="Text 6"/>
          <p:cNvSpPr/>
          <p:nvPr/>
        </p:nvSpPr>
        <p:spPr>
          <a:xfrm>
            <a:off x="1073150" y="3678833"/>
            <a:ext cx="2812415"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Who:</a:t>
            </a:r>
            <a:r>
              <a:rPr lang="en-US" sz="1400" dirty="0">
                <a:solidFill>
                  <a:srgbClr val="5A554C"/>
                </a:solidFill>
                <a:latin typeface="Inter" pitchFamily="34" charset="0"/>
                <a:ea typeface="Inter" pitchFamily="34" charset="-122"/>
                <a:cs typeface="Inter" pitchFamily="34" charset="-120"/>
              </a:rPr>
              <a:t> students at schools, universities and language courses.</a:t>
            </a:r>
            <a:endParaRPr lang="en-US" sz="1400" dirty="0"/>
          </a:p>
        </p:txBody>
      </p:sp>
      <p:sp>
        <p:nvSpPr>
          <p:cNvPr id="9" name="Text 7"/>
          <p:cNvSpPr/>
          <p:nvPr/>
        </p:nvSpPr>
        <p:spPr>
          <a:xfrm>
            <a:off x="1073150" y="4526955"/>
            <a:ext cx="2812415"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How:</a:t>
            </a:r>
            <a:r>
              <a:rPr lang="en-US" sz="1400" dirty="0">
                <a:solidFill>
                  <a:srgbClr val="5A554C"/>
                </a:solidFill>
                <a:latin typeface="Inter" pitchFamily="34" charset="0"/>
                <a:ea typeface="Inter" pitchFamily="34" charset="-122"/>
                <a:cs typeface="Inter" pitchFamily="34" charset="-120"/>
              </a:rPr>
              <a:t> free app, website, blog, joining through their teacher.</a:t>
            </a:r>
            <a:endParaRPr lang="en-US" sz="1400" dirty="0"/>
          </a:p>
        </p:txBody>
      </p:sp>
      <p:sp>
        <p:nvSpPr>
          <p:cNvPr id="10" name="Text 8"/>
          <p:cNvSpPr/>
          <p:nvPr/>
        </p:nvSpPr>
        <p:spPr>
          <a:xfrm>
            <a:off x="4038600" y="3605113"/>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11" name="Shape 9"/>
          <p:cNvSpPr/>
          <p:nvPr/>
        </p:nvSpPr>
        <p:spPr>
          <a:xfrm>
            <a:off x="4473575" y="2355056"/>
            <a:ext cx="3244850" cy="2926755"/>
          </a:xfrm>
          <a:prstGeom prst="roundRect">
            <a:avLst>
              <a:gd name="adj" fmla="val 1627"/>
            </a:avLst>
          </a:prstGeom>
          <a:solidFill>
            <a:srgbClr val="FFFDF8"/>
          </a:solidFill>
          <a:ln w="6350">
            <a:solidFill>
              <a:srgbClr val="DDD6C8"/>
            </a:solidFill>
            <a:prstDash val="solid"/>
          </a:ln>
        </p:spPr>
      </p:sp>
      <p:sp>
        <p:nvSpPr>
          <p:cNvPr id="12" name="Text 10"/>
          <p:cNvSpPr/>
          <p:nvPr/>
        </p:nvSpPr>
        <p:spPr>
          <a:xfrm>
            <a:off x="4730750" y="2612231"/>
            <a:ext cx="281241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PHASE 2 · PILOTS</a:t>
            </a:r>
            <a:endParaRPr lang="en-US" sz="1400" dirty="0"/>
          </a:p>
        </p:txBody>
      </p:sp>
      <p:sp>
        <p:nvSpPr>
          <p:cNvPr id="13" name="Text 11"/>
          <p:cNvSpPr/>
          <p:nvPr/>
        </p:nvSpPr>
        <p:spPr>
          <a:xfrm>
            <a:off x="4730750" y="2962672"/>
            <a:ext cx="2812415" cy="639961"/>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Free pilots at learning centres</a:t>
            </a:r>
            <a:endParaRPr lang="en-US" sz="2200" dirty="0"/>
          </a:p>
        </p:txBody>
      </p:sp>
      <p:sp>
        <p:nvSpPr>
          <p:cNvPr id="14" name="Text 12"/>
          <p:cNvSpPr/>
          <p:nvPr/>
        </p:nvSpPr>
        <p:spPr>
          <a:xfrm>
            <a:off x="4730750" y="3678833"/>
            <a:ext cx="2812415"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Who:</a:t>
            </a:r>
            <a:r>
              <a:rPr lang="en-US" sz="1400" dirty="0">
                <a:solidFill>
                  <a:srgbClr val="5A554C"/>
                </a:solidFill>
                <a:latin typeface="Inter" pitchFamily="34" charset="0"/>
                <a:ea typeface="Inter" pitchFamily="34" charset="-122"/>
                <a:cs typeface="Inter" pitchFamily="34" charset="-120"/>
              </a:rPr>
              <a:t> private language and exam-prep centres.</a:t>
            </a:r>
            <a:endParaRPr lang="en-US" sz="1400" dirty="0"/>
          </a:p>
        </p:txBody>
      </p:sp>
      <p:sp>
        <p:nvSpPr>
          <p:cNvPr id="15" name="Text 13"/>
          <p:cNvSpPr/>
          <p:nvPr/>
        </p:nvSpPr>
        <p:spPr>
          <a:xfrm>
            <a:off x="4730750" y="4278114"/>
            <a:ext cx="2812415"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How:</a:t>
            </a:r>
            <a:r>
              <a:rPr lang="en-US" sz="1400" dirty="0">
                <a:solidFill>
                  <a:srgbClr val="5A554C"/>
                </a:solidFill>
                <a:latin typeface="Inter" pitchFamily="34" charset="0"/>
                <a:ea typeface="Inter" pitchFamily="34" charset="-122"/>
                <a:cs typeface="Inter" pitchFamily="34" charset="-120"/>
              </a:rPr>
              <a:t> teachers use the group panel for a term; we measure retention.</a:t>
            </a:r>
            <a:endParaRPr lang="en-US" sz="1400" dirty="0"/>
          </a:p>
        </p:txBody>
      </p:sp>
      <p:sp>
        <p:nvSpPr>
          <p:cNvPr id="16" name="Text 14"/>
          <p:cNvSpPr/>
          <p:nvPr/>
        </p:nvSpPr>
        <p:spPr>
          <a:xfrm>
            <a:off x="7696200" y="3605113"/>
            <a:ext cx="457200" cy="452041"/>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8F897C"/>
                </a:solidFill>
                <a:latin typeface="Inter" pitchFamily="34" charset="0"/>
                <a:ea typeface="Inter" pitchFamily="34" charset="-122"/>
                <a:cs typeface="Inter" pitchFamily="34" charset="-120"/>
              </a:rPr>
              <a:t>→</a:t>
            </a:r>
            <a:endParaRPr lang="en-US" sz="2400" dirty="0"/>
          </a:p>
        </p:txBody>
      </p:sp>
      <p:sp>
        <p:nvSpPr>
          <p:cNvPr id="17" name="Shape 15"/>
          <p:cNvSpPr/>
          <p:nvPr/>
        </p:nvSpPr>
        <p:spPr>
          <a:xfrm>
            <a:off x="8128000" y="2351881"/>
            <a:ext cx="3251200" cy="2933105"/>
          </a:xfrm>
          <a:prstGeom prst="roundRect">
            <a:avLst>
              <a:gd name="adj" fmla="val 1732"/>
            </a:avLst>
          </a:prstGeom>
          <a:solidFill>
            <a:srgbClr val="1C1A17"/>
          </a:solidFill>
          <a:ln/>
        </p:spPr>
      </p:sp>
      <p:sp>
        <p:nvSpPr>
          <p:cNvPr id="18" name="Text 16"/>
          <p:cNvSpPr/>
          <p:nvPr/>
        </p:nvSpPr>
        <p:spPr>
          <a:xfrm>
            <a:off x="8382000" y="2605881"/>
            <a:ext cx="282549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8B1A3"/>
                </a:solidFill>
                <a:latin typeface="Barlow Condensed" pitchFamily="34" charset="0"/>
                <a:ea typeface="Barlow Condensed" pitchFamily="34" charset="-122"/>
                <a:cs typeface="Barlow Condensed" pitchFamily="34" charset="-120"/>
              </a:rPr>
              <a:t>PHASE 3 · PAID</a:t>
            </a:r>
            <a:endParaRPr lang="en-US" sz="1400" dirty="0"/>
          </a:p>
        </p:txBody>
      </p:sp>
      <p:sp>
        <p:nvSpPr>
          <p:cNvPr id="19" name="Text 17"/>
          <p:cNvSpPr/>
          <p:nvPr/>
        </p:nvSpPr>
        <p:spPr>
          <a:xfrm>
            <a:off x="8382000" y="2956322"/>
            <a:ext cx="2825496"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Paid licences</a:t>
            </a:r>
            <a:endParaRPr lang="en-US" sz="2200" dirty="0"/>
          </a:p>
        </p:txBody>
      </p:sp>
      <p:sp>
        <p:nvSpPr>
          <p:cNvPr id="20" name="Text 18"/>
          <p:cNvSpPr/>
          <p:nvPr/>
        </p:nvSpPr>
        <p:spPr>
          <a:xfrm>
            <a:off x="8382000" y="3365202"/>
            <a:ext cx="2825496"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2EA"/>
                </a:solidFill>
                <a:latin typeface="Inter" pitchFamily="34" charset="0"/>
                <a:ea typeface="Inter" pitchFamily="34" charset="-122"/>
                <a:cs typeface="Inter" pitchFamily="34" charset="-120"/>
              </a:rPr>
              <a:t>Who:</a:t>
            </a:r>
            <a:r>
              <a:rPr lang="en-US" sz="1400" dirty="0">
                <a:solidFill>
                  <a:srgbClr val="D9D2C4"/>
                </a:solidFill>
                <a:latin typeface="Inter" pitchFamily="34" charset="0"/>
                <a:ea typeface="Inter" pitchFamily="34" charset="-122"/>
                <a:cs typeface="Inter" pitchFamily="34" charset="-120"/>
              </a:rPr>
              <a:t> learning centres, schools, universities.</a:t>
            </a:r>
            <a:endParaRPr lang="en-US" sz="1400" dirty="0"/>
          </a:p>
        </p:txBody>
      </p:sp>
      <p:sp>
        <p:nvSpPr>
          <p:cNvPr id="21" name="Text 19"/>
          <p:cNvSpPr/>
          <p:nvPr/>
        </p:nvSpPr>
        <p:spPr>
          <a:xfrm>
            <a:off x="8382000" y="3964484"/>
            <a:ext cx="282549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2EA"/>
                </a:solidFill>
                <a:latin typeface="Inter" pitchFamily="34" charset="0"/>
                <a:ea typeface="Inter" pitchFamily="34" charset="-122"/>
                <a:cs typeface="Inter" pitchFamily="34" charset="-120"/>
              </a:rPr>
              <a:t>How:</a:t>
            </a:r>
            <a:r>
              <a:rPr lang="en-US" sz="1400" dirty="0">
                <a:solidFill>
                  <a:srgbClr val="D9D2C4"/>
                </a:solidFill>
                <a:latin typeface="Inter" pitchFamily="34" charset="0"/>
                <a:ea typeface="Inter" pitchFamily="34" charset="-122"/>
                <a:cs typeface="Inter" pitchFamily="34" charset="-120"/>
              </a:rPr>
              <a:t> pilot results become case studies; licence per student or per centre.</a:t>
            </a:r>
            <a:endParaRPr lang="en-US" sz="1400" dirty="0"/>
          </a:p>
        </p:txBody>
      </p:sp>
      <p:sp>
        <p:nvSpPr>
          <p:cNvPr id="22" name="Text 20"/>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23" name="Text 21"/>
          <p:cNvSpPr/>
          <p:nvPr/>
        </p:nvSpPr>
        <p:spPr>
          <a:xfrm>
            <a:off x="11173420" y="6238280"/>
            <a:ext cx="2057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04 · CUSTOMER ACQUISITION</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What is working now, and what comes next</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Low-cost, organic channels first. Paid ads only once we know what converts.</a:t>
            </a:r>
            <a:endParaRPr lang="en-US" sz="1400" dirty="0"/>
          </a:p>
        </p:txBody>
      </p:sp>
      <p:sp>
        <p:nvSpPr>
          <p:cNvPr id="5" name="Shape 3"/>
          <p:cNvSpPr/>
          <p:nvPr/>
        </p:nvSpPr>
        <p:spPr>
          <a:xfrm>
            <a:off x="819150" y="2358231"/>
            <a:ext cx="5168900" cy="3227784"/>
          </a:xfrm>
          <a:prstGeom prst="roundRect">
            <a:avLst>
              <a:gd name="adj" fmla="val 1377"/>
            </a:avLst>
          </a:prstGeom>
          <a:solidFill>
            <a:srgbClr val="FFFDF8"/>
          </a:solidFill>
          <a:ln w="12700">
            <a:solidFill>
              <a:srgbClr val="2F7A3D"/>
            </a:solidFill>
            <a:prstDash val="solid"/>
          </a:ln>
        </p:spPr>
      </p:sp>
      <p:sp>
        <p:nvSpPr>
          <p:cNvPr id="6" name="Text 4"/>
          <p:cNvSpPr/>
          <p:nvPr/>
        </p:nvSpPr>
        <p:spPr>
          <a:xfrm>
            <a:off x="1079500" y="2618581"/>
            <a:ext cx="956965" cy="299641"/>
          </a:xfrm>
          <a:custGeom>
            <a:avLst/>
            <a:gdLst/>
            <a:ahLst/>
            <a:cxnLst/>
            <a:rect l="l" t="t" r="r" b="b"/>
            <a:pathLst>
              <a:path w="956965" h="299641">
                <a:moveTo>
                  <a:pt x="149820" y="0"/>
                </a:moveTo>
                <a:lnTo>
                  <a:pt x="807145" y="0"/>
                </a:lnTo>
                <a:arcTo hR="149820" wR="149820" stAng="16200000" swAng="5400000"/>
                <a:lnTo>
                  <a:pt x="956965" y="149820"/>
                </a:lnTo>
                <a:arcTo hR="149820" wR="149820" stAng="0" swAng="5400000"/>
                <a:lnTo>
                  <a:pt x="149820" y="299641"/>
                </a:lnTo>
                <a:arcTo hR="149820" wR="149820" stAng="5400000" swAng="5400000"/>
                <a:lnTo>
                  <a:pt x="0" y="149820"/>
                </a:lnTo>
                <a:arcTo hR="149820" wR="149820" stAng="10800000" swAng="5400000"/>
                <a:close/>
              </a:path>
            </a:pathLst>
          </a:custGeom>
          <a:solidFill>
            <a:srgbClr val="2F7A3D"/>
          </a:solidFill>
          <a:ln/>
        </p:spPr>
        <p:txBody>
          <a:bodyPr wrap="none" lIns="0" tIns="0" rIns="0" bIns="0" rtlCol="0" anchor="ctr">
            <a:normAutofit/>
          </a:bodyPr>
          <a:lstStyle/>
          <a:p>
            <a:pPr algn="ctr" indent="0" marL="0">
              <a:lnSpc>
                <a:spcPts val="1960"/>
              </a:lnSpc>
              <a:buNone/>
            </a:pPr>
            <a:r>
              <a:rPr lang="en-US" sz="1400" b="1" spc="100" kern="0" dirty="0">
                <a:solidFill>
                  <a:srgbClr val="FFFDF8"/>
                </a:solidFill>
                <a:latin typeface="Barlow Condensed" pitchFamily="34" charset="0"/>
                <a:ea typeface="Barlow Condensed" pitchFamily="34" charset="-122"/>
                <a:cs typeface="Barlow Condensed" pitchFamily="34" charset="-120"/>
              </a:rPr>
              <a:t>LIVE NOW</a:t>
            </a:r>
            <a:endParaRPr lang="en-US" sz="1400" dirty="0"/>
          </a:p>
        </p:txBody>
      </p:sp>
      <p:sp>
        <p:nvSpPr>
          <p:cNvPr id="7" name="Text 5"/>
          <p:cNvSpPr/>
          <p:nvPr/>
        </p:nvSpPr>
        <p:spPr>
          <a:xfrm>
            <a:off x="1079500" y="3045222"/>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Website</a:t>
            </a:r>
            <a:endParaRPr lang="en-US" sz="1400" dirty="0"/>
          </a:p>
        </p:txBody>
      </p:sp>
      <p:sp>
        <p:nvSpPr>
          <p:cNvPr id="8" name="Text 6"/>
          <p:cNvSpPr/>
          <p:nvPr/>
        </p:nvSpPr>
        <p:spPr>
          <a:xfrm>
            <a:off x="1079500" y="3306763"/>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vocabry.uz — sign-up and public beta</a:t>
            </a:r>
            <a:endParaRPr lang="en-US" sz="1200" dirty="0"/>
          </a:p>
        </p:txBody>
      </p:sp>
      <p:sp>
        <p:nvSpPr>
          <p:cNvPr id="9" name="Text 7"/>
          <p:cNvSpPr/>
          <p:nvPr/>
        </p:nvSpPr>
        <p:spPr>
          <a:xfrm>
            <a:off x="1079500" y="3647083"/>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Blog</a:t>
            </a:r>
            <a:endParaRPr lang="en-US" sz="1400" dirty="0"/>
          </a:p>
        </p:txBody>
      </p:sp>
      <p:sp>
        <p:nvSpPr>
          <p:cNvPr id="10" name="Text 8"/>
          <p:cNvSpPr/>
          <p:nvPr/>
        </p:nvSpPr>
        <p:spPr>
          <a:xfrm>
            <a:off x="1079500" y="3908623"/>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Articles on memory and our honest results</a:t>
            </a:r>
            <a:endParaRPr lang="en-US" sz="1200" dirty="0"/>
          </a:p>
        </p:txBody>
      </p:sp>
      <p:sp>
        <p:nvSpPr>
          <p:cNvPr id="11" name="Text 9"/>
          <p:cNvSpPr/>
          <p:nvPr/>
        </p:nvSpPr>
        <p:spPr>
          <a:xfrm>
            <a:off x="1079500" y="4248944"/>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Join by QR / PIN</a:t>
            </a:r>
            <a:endParaRPr lang="en-US" sz="1400" dirty="0"/>
          </a:p>
        </p:txBody>
      </p:sp>
      <p:sp>
        <p:nvSpPr>
          <p:cNvPr id="12" name="Text 10"/>
          <p:cNvSpPr/>
          <p:nvPr/>
        </p:nvSpPr>
        <p:spPr>
          <a:xfrm>
            <a:off x="1079500" y="4510484"/>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A teacher shares one code, the whole group joins</a:t>
            </a:r>
            <a:endParaRPr lang="en-US" sz="1200" dirty="0"/>
          </a:p>
        </p:txBody>
      </p:sp>
      <p:sp>
        <p:nvSpPr>
          <p:cNvPr id="13" name="Text 11"/>
          <p:cNvSpPr/>
          <p:nvPr/>
        </p:nvSpPr>
        <p:spPr>
          <a:xfrm>
            <a:off x="1079500" y="4850805"/>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Analytics</a:t>
            </a:r>
            <a:endParaRPr lang="en-US" sz="1400" dirty="0"/>
          </a:p>
        </p:txBody>
      </p:sp>
      <p:sp>
        <p:nvSpPr>
          <p:cNvPr id="14" name="Text 12"/>
          <p:cNvSpPr/>
          <p:nvPr/>
        </p:nvSpPr>
        <p:spPr>
          <a:xfrm>
            <a:off x="1079500" y="5112345"/>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We see which channels bring active learners</a:t>
            </a:r>
            <a:endParaRPr lang="en-US" sz="1200" dirty="0"/>
          </a:p>
        </p:txBody>
      </p:sp>
      <p:sp>
        <p:nvSpPr>
          <p:cNvPr id="15" name="Shape 13"/>
          <p:cNvSpPr/>
          <p:nvPr/>
        </p:nvSpPr>
        <p:spPr>
          <a:xfrm>
            <a:off x="6203950" y="2358231"/>
            <a:ext cx="5168900" cy="3227784"/>
          </a:xfrm>
          <a:prstGeom prst="roundRect">
            <a:avLst>
              <a:gd name="adj" fmla="val 1377"/>
            </a:avLst>
          </a:prstGeom>
          <a:solidFill>
            <a:srgbClr val="FFFDF8"/>
          </a:solidFill>
          <a:ln w="12700">
            <a:solidFill>
              <a:srgbClr val="9A5B00"/>
            </a:solidFill>
            <a:prstDash val="dash"/>
          </a:ln>
        </p:spPr>
      </p:sp>
      <p:sp>
        <p:nvSpPr>
          <p:cNvPr id="16" name="Text 14"/>
          <p:cNvSpPr/>
          <p:nvPr/>
        </p:nvSpPr>
        <p:spPr>
          <a:xfrm>
            <a:off x="6470650" y="2624931"/>
            <a:ext cx="912515" cy="286941"/>
          </a:xfrm>
          <a:custGeom>
            <a:avLst/>
            <a:gdLst/>
            <a:ahLst/>
            <a:cxnLst/>
            <a:rect l="l" t="t" r="r" b="b"/>
            <a:pathLst>
              <a:path w="912515" h="286941">
                <a:moveTo>
                  <a:pt x="143470" y="0"/>
                </a:moveTo>
                <a:lnTo>
                  <a:pt x="769045" y="0"/>
                </a:lnTo>
                <a:arcTo hR="143470" wR="143470" stAng="16200000" swAng="5400000"/>
                <a:lnTo>
                  <a:pt x="912515" y="143470"/>
                </a:lnTo>
                <a:arcTo hR="143470" wR="143470" stAng="0" swAng="5400000"/>
                <a:lnTo>
                  <a:pt x="143470" y="286941"/>
                </a:lnTo>
                <a:arcTo hR="143470" wR="143470" stAng="5400000" swAng="5400000"/>
                <a:lnTo>
                  <a:pt x="0" y="143470"/>
                </a:lnTo>
                <a:arcTo hR="143470" wR="143470" stAng="10800000" swAng="5400000"/>
                <a:close/>
              </a:path>
            </a:pathLst>
          </a:custGeom>
          <a:noFill/>
          <a:ln w="12700">
            <a:solidFill>
              <a:srgbClr val="9A5B00"/>
            </a:solidFill>
            <a:prstDash val="solid"/>
          </a:ln>
        </p:spPr>
        <p:txBody>
          <a:bodyPr wrap="none" lIns="0" tIns="0" rIns="0" bIns="0" rtlCol="0" anchor="ctr">
            <a:normAutofit/>
          </a:bodyPr>
          <a:lstStyle/>
          <a:p>
            <a:pPr algn="ctr" indent="0" marL="0">
              <a:lnSpc>
                <a:spcPts val="1960"/>
              </a:lnSpc>
              <a:buNone/>
            </a:pPr>
            <a:r>
              <a:rPr lang="en-US" sz="1400" b="1" spc="100" kern="0" dirty="0">
                <a:solidFill>
                  <a:srgbClr val="9A5B00"/>
                </a:solidFill>
                <a:latin typeface="Barlow Condensed" pitchFamily="34" charset="0"/>
                <a:ea typeface="Barlow Condensed" pitchFamily="34" charset="-122"/>
                <a:cs typeface="Barlow Condensed" pitchFamily="34" charset="-120"/>
              </a:rPr>
              <a:t>PLANNED</a:t>
            </a:r>
            <a:endParaRPr lang="en-US" sz="1400" dirty="0"/>
          </a:p>
        </p:txBody>
      </p:sp>
      <p:sp>
        <p:nvSpPr>
          <p:cNvPr id="17" name="Text 15"/>
          <p:cNvSpPr/>
          <p:nvPr/>
        </p:nvSpPr>
        <p:spPr>
          <a:xfrm>
            <a:off x="6464300" y="3045222"/>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Telegram bot</a:t>
            </a:r>
            <a:endParaRPr lang="en-US" sz="1400" dirty="0"/>
          </a:p>
        </p:txBody>
      </p:sp>
      <p:sp>
        <p:nvSpPr>
          <p:cNvPr id="18" name="Text 16"/>
          <p:cNvSpPr/>
          <p:nvPr/>
        </p:nvSpPr>
        <p:spPr>
          <a:xfrm>
            <a:off x="6464300" y="3306763"/>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Daily word and quick quiz, linked to the app</a:t>
            </a:r>
            <a:endParaRPr lang="en-US" sz="1200" dirty="0"/>
          </a:p>
        </p:txBody>
      </p:sp>
      <p:sp>
        <p:nvSpPr>
          <p:cNvPr id="19" name="Text 17"/>
          <p:cNvSpPr/>
          <p:nvPr/>
        </p:nvSpPr>
        <p:spPr>
          <a:xfrm>
            <a:off x="6464300" y="3647083"/>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Referrals</a:t>
            </a:r>
            <a:endParaRPr lang="en-US" sz="1400" dirty="0"/>
          </a:p>
        </p:txBody>
      </p:sp>
      <p:sp>
        <p:nvSpPr>
          <p:cNvPr id="20" name="Text 18"/>
          <p:cNvSpPr/>
          <p:nvPr/>
        </p:nvSpPr>
        <p:spPr>
          <a:xfrm>
            <a:off x="6464300" y="3908623"/>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Invite a friend, both get a reward</a:t>
            </a:r>
            <a:endParaRPr lang="en-US" sz="1200" dirty="0"/>
          </a:p>
        </p:txBody>
      </p:sp>
      <p:sp>
        <p:nvSpPr>
          <p:cNvPr id="21" name="Text 19"/>
          <p:cNvSpPr/>
          <p:nvPr/>
        </p:nvSpPr>
        <p:spPr>
          <a:xfrm>
            <a:off x="6464300" y="4248944"/>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Shareable report</a:t>
            </a:r>
            <a:endParaRPr lang="en-US" sz="1400" dirty="0"/>
          </a:p>
        </p:txBody>
      </p:sp>
      <p:sp>
        <p:nvSpPr>
          <p:cNvPr id="22" name="Text 20"/>
          <p:cNvSpPr/>
          <p:nvPr/>
        </p:nvSpPr>
        <p:spPr>
          <a:xfrm>
            <a:off x="6464300" y="4510484"/>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Weekly progress card learners can post</a:t>
            </a:r>
            <a:endParaRPr lang="en-US" sz="1200" dirty="0"/>
          </a:p>
        </p:txBody>
      </p:sp>
      <p:sp>
        <p:nvSpPr>
          <p:cNvPr id="23" name="Text 21"/>
          <p:cNvSpPr/>
          <p:nvPr/>
        </p:nvSpPr>
        <p:spPr>
          <a:xfrm>
            <a:off x="6464300" y="4850805"/>
            <a:ext cx="47876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1A17"/>
                </a:solidFill>
                <a:latin typeface="Inter" pitchFamily="34" charset="0"/>
                <a:ea typeface="Inter" pitchFamily="34" charset="-122"/>
                <a:cs typeface="Inter" pitchFamily="34" charset="-120"/>
              </a:rPr>
              <a:t>Short videos</a:t>
            </a:r>
            <a:endParaRPr lang="en-US" sz="1400" dirty="0"/>
          </a:p>
        </p:txBody>
      </p:sp>
      <p:sp>
        <p:nvSpPr>
          <p:cNvPr id="24" name="Text 22"/>
          <p:cNvSpPr/>
          <p:nvPr/>
        </p:nvSpPr>
        <p:spPr>
          <a:xfrm>
            <a:off x="6464300" y="5112345"/>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Memory tips on Reels, TikTok and Shorts</a:t>
            </a:r>
            <a:endParaRPr lang="en-US" sz="1200" dirty="0"/>
          </a:p>
        </p:txBody>
      </p:sp>
      <p:sp>
        <p:nvSpPr>
          <p:cNvPr id="25" name="Text 23"/>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26" name="Text 24"/>
          <p:cNvSpPr/>
          <p:nvPr/>
        </p:nvSpPr>
        <p:spPr>
          <a:xfrm>
            <a:off x="11172230" y="6238280"/>
            <a:ext cx="20697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05 · ROADMAP</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Where we are, and what comes next</a:t>
            </a:r>
            <a:endParaRPr lang="en-US" sz="4000" dirty="0"/>
          </a:p>
        </p:txBody>
      </p:sp>
      <p:sp>
        <p:nvSpPr>
          <p:cNvPr id="4" name="Shape 2"/>
          <p:cNvSpPr/>
          <p:nvPr/>
        </p:nvSpPr>
        <p:spPr>
          <a:xfrm>
            <a:off x="819150" y="2033191"/>
            <a:ext cx="3382367" cy="2712541"/>
          </a:xfrm>
          <a:prstGeom prst="roundRect">
            <a:avLst>
              <a:gd name="adj" fmla="val 1639"/>
            </a:avLst>
          </a:prstGeom>
          <a:solidFill>
            <a:srgbClr val="FFFDF8"/>
          </a:solidFill>
          <a:ln w="12700">
            <a:solidFill>
              <a:srgbClr val="2F7A3D"/>
            </a:solidFill>
            <a:prstDash val="solid"/>
          </a:ln>
        </p:spPr>
      </p:sp>
      <p:sp>
        <p:nvSpPr>
          <p:cNvPr id="5" name="Text 3"/>
          <p:cNvSpPr/>
          <p:nvPr/>
        </p:nvSpPr>
        <p:spPr>
          <a:xfrm>
            <a:off x="1079500" y="2293541"/>
            <a:ext cx="1056184" cy="299641"/>
          </a:xfrm>
          <a:custGeom>
            <a:avLst/>
            <a:gdLst/>
            <a:ahLst/>
            <a:cxnLst/>
            <a:rect l="l" t="t" r="r" b="b"/>
            <a:pathLst>
              <a:path w="1056184" h="299641">
                <a:moveTo>
                  <a:pt x="149820" y="0"/>
                </a:moveTo>
                <a:lnTo>
                  <a:pt x="906363" y="0"/>
                </a:lnTo>
                <a:arcTo hR="149820" wR="149820" stAng="16200000" swAng="5400000"/>
                <a:lnTo>
                  <a:pt x="1056184" y="149820"/>
                </a:lnTo>
                <a:arcTo hR="149820" wR="149820" stAng="0" swAng="5400000"/>
                <a:lnTo>
                  <a:pt x="149820" y="299641"/>
                </a:lnTo>
                <a:arcTo hR="149820" wR="149820" stAng="5400000" swAng="5400000"/>
                <a:lnTo>
                  <a:pt x="0" y="149820"/>
                </a:lnTo>
                <a:arcTo hR="149820" wR="149820" stAng="10800000" swAng="5400000"/>
                <a:close/>
              </a:path>
            </a:pathLst>
          </a:custGeom>
          <a:solidFill>
            <a:srgbClr val="2F7A3D"/>
          </a:solidFill>
          <a:ln/>
        </p:spPr>
        <p:txBody>
          <a:bodyPr wrap="none" lIns="0" tIns="0" rIns="0" bIns="0" rtlCol="0" anchor="ctr">
            <a:normAutofit/>
          </a:bodyPr>
          <a:lstStyle/>
          <a:p>
            <a:pPr algn="ctr" indent="0" marL="0">
              <a:lnSpc>
                <a:spcPts val="1960"/>
              </a:lnSpc>
              <a:buNone/>
            </a:pPr>
            <a:r>
              <a:rPr lang="en-US" sz="1400" b="1" spc="100" kern="0" dirty="0">
                <a:solidFill>
                  <a:srgbClr val="FFFDF8"/>
                </a:solidFill>
                <a:latin typeface="Barlow Condensed" pitchFamily="34" charset="0"/>
                <a:ea typeface="Barlow Condensed" pitchFamily="34" charset="-122"/>
                <a:cs typeface="Barlow Condensed" pitchFamily="34" charset="-120"/>
              </a:rPr>
              <a:t>NOW · LIVE</a:t>
            </a:r>
            <a:endParaRPr lang="en-US" sz="1400" dirty="0"/>
          </a:p>
        </p:txBody>
      </p:sp>
      <p:sp>
        <p:nvSpPr>
          <p:cNvPr id="6" name="Text 4"/>
          <p:cNvSpPr/>
          <p:nvPr/>
        </p:nvSpPr>
        <p:spPr>
          <a:xfrm>
            <a:off x="1079500" y="2694781"/>
            <a:ext cx="2947517"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Public beta</a:t>
            </a:r>
            <a:endParaRPr lang="en-US" sz="2200" dirty="0"/>
          </a:p>
        </p:txBody>
      </p:sp>
      <p:sp>
        <p:nvSpPr>
          <p:cNvPr id="7" name="Text 5"/>
          <p:cNvSpPr/>
          <p:nvPr/>
        </p:nvSpPr>
        <p:spPr>
          <a:xfrm>
            <a:off x="1079500" y="3103662"/>
            <a:ext cx="29475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v1.0.0-beta.1</a:t>
            </a:r>
            <a:endParaRPr lang="en-US" sz="1200" dirty="0"/>
          </a:p>
        </p:txBody>
      </p:sp>
      <p:sp>
        <p:nvSpPr>
          <p:cNvPr id="8" name="Text 6"/>
          <p:cNvSpPr/>
          <p:nvPr/>
        </p:nvSpPr>
        <p:spPr>
          <a:xfrm>
            <a:off x="1113282" y="3418582"/>
            <a:ext cx="2907639" cy="8255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1C1A17"/>
                </a:solidFill>
                <a:latin typeface="Inter" pitchFamily="34" charset="0"/>
                <a:ea typeface="Inter" pitchFamily="34" charset="-122"/>
                <a:cs typeface="Inter" pitchFamily="34" charset="-120"/>
              </a:rPr>
              <a:t>Calibrated memory model</a:t>
            </a:r>
            <a:endParaRPr lang="en-US" sz="1400" dirty="0"/>
          </a:p>
          <a:p>
            <a:pPr algn="l" marL="169418" indent="-169418">
              <a:lnSpc>
                <a:spcPts val="2100"/>
              </a:lnSpc>
              <a:buSzPct val="100000"/>
              <a:buChar char="•"/>
            </a:pPr>
            <a:r>
              <a:rPr lang="en-US" sz="1400" dirty="0">
                <a:solidFill>
                  <a:srgbClr val="1C1A17"/>
                </a:solidFill>
                <a:latin typeface="Inter" pitchFamily="34" charset="0"/>
                <a:ea typeface="Inter" pitchFamily="34" charset="-122"/>
                <a:cs typeface="Inter" pitchFamily="34" charset="-120"/>
              </a:rPr>
              <a:t>Teacher / centre panel</a:t>
            </a:r>
            <a:endParaRPr lang="en-US" sz="1400" dirty="0"/>
          </a:p>
          <a:p>
            <a:pPr algn="l" marL="169418" indent="-169418">
              <a:lnSpc>
                <a:spcPts val="2100"/>
              </a:lnSpc>
              <a:buSzPct val="100000"/>
              <a:buChar char="•"/>
            </a:pPr>
            <a:r>
              <a:rPr lang="en-US" sz="1400" dirty="0">
                <a:solidFill>
                  <a:srgbClr val="1C1A17"/>
                </a:solidFill>
                <a:latin typeface="Inter" pitchFamily="34" charset="0"/>
                <a:ea typeface="Inter" pitchFamily="34" charset="-122"/>
                <a:cs typeface="Inter" pitchFamily="34" charset="-120"/>
              </a:rPr>
              <a:t>Website and blog</a:t>
            </a:r>
            <a:endParaRPr lang="en-US" sz="1400" dirty="0"/>
          </a:p>
        </p:txBody>
      </p:sp>
      <p:sp>
        <p:nvSpPr>
          <p:cNvPr id="9" name="Shape 7"/>
          <p:cNvSpPr/>
          <p:nvPr/>
        </p:nvSpPr>
        <p:spPr>
          <a:xfrm>
            <a:off x="4417417" y="2033191"/>
            <a:ext cx="3382466" cy="2712541"/>
          </a:xfrm>
          <a:prstGeom prst="roundRect">
            <a:avLst>
              <a:gd name="adj" fmla="val 1639"/>
            </a:avLst>
          </a:prstGeom>
          <a:solidFill>
            <a:srgbClr val="FFFDF8"/>
          </a:solidFill>
          <a:ln w="12700">
            <a:solidFill>
              <a:srgbClr val="9A5B00"/>
            </a:solidFill>
            <a:prstDash val="dash"/>
          </a:ln>
        </p:spPr>
      </p:sp>
      <p:sp>
        <p:nvSpPr>
          <p:cNvPr id="10" name="Text 8"/>
          <p:cNvSpPr/>
          <p:nvPr/>
        </p:nvSpPr>
        <p:spPr>
          <a:xfrm>
            <a:off x="4684117" y="2299891"/>
            <a:ext cx="621804" cy="286941"/>
          </a:xfrm>
          <a:custGeom>
            <a:avLst/>
            <a:gdLst/>
            <a:ahLst/>
            <a:cxnLst/>
            <a:rect l="l" t="t" r="r" b="b"/>
            <a:pathLst>
              <a:path w="621804" h="286941">
                <a:moveTo>
                  <a:pt x="143470" y="0"/>
                </a:moveTo>
                <a:lnTo>
                  <a:pt x="478334" y="0"/>
                </a:lnTo>
                <a:arcTo hR="143470" wR="143470" stAng="16200000" swAng="5400000"/>
                <a:lnTo>
                  <a:pt x="621804" y="143470"/>
                </a:lnTo>
                <a:arcTo hR="143470" wR="143470" stAng="0" swAng="5400000"/>
                <a:lnTo>
                  <a:pt x="143470" y="286941"/>
                </a:lnTo>
                <a:arcTo hR="143470" wR="143470" stAng="5400000" swAng="5400000"/>
                <a:lnTo>
                  <a:pt x="0" y="143470"/>
                </a:lnTo>
                <a:arcTo hR="143470" wR="143470" stAng="10800000" swAng="5400000"/>
                <a:close/>
              </a:path>
            </a:pathLst>
          </a:custGeom>
          <a:noFill/>
          <a:ln w="12700">
            <a:solidFill>
              <a:srgbClr val="9A5B00"/>
            </a:solidFill>
            <a:prstDash val="solid"/>
          </a:ln>
        </p:spPr>
        <p:txBody>
          <a:bodyPr wrap="none" lIns="0" tIns="0" rIns="0" bIns="0" rtlCol="0" anchor="ctr">
            <a:normAutofit/>
          </a:bodyPr>
          <a:lstStyle/>
          <a:p>
            <a:pPr algn="ctr" indent="0" marL="0">
              <a:lnSpc>
                <a:spcPts val="1960"/>
              </a:lnSpc>
              <a:buNone/>
            </a:pPr>
            <a:r>
              <a:rPr lang="en-US" sz="1400" b="1" spc="100" kern="0" dirty="0">
                <a:solidFill>
                  <a:srgbClr val="9A5B00"/>
                </a:solidFill>
                <a:latin typeface="Barlow Condensed" pitchFamily="34" charset="0"/>
                <a:ea typeface="Barlow Condensed" pitchFamily="34" charset="-122"/>
                <a:cs typeface="Barlow Condensed" pitchFamily="34" charset="-120"/>
              </a:rPr>
              <a:t>NEXT</a:t>
            </a:r>
            <a:endParaRPr lang="en-US" sz="1400" dirty="0"/>
          </a:p>
        </p:txBody>
      </p:sp>
      <p:sp>
        <p:nvSpPr>
          <p:cNvPr id="11" name="Text 9"/>
          <p:cNvSpPr/>
          <p:nvPr/>
        </p:nvSpPr>
        <p:spPr>
          <a:xfrm>
            <a:off x="4677767" y="2694781"/>
            <a:ext cx="2947619"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Prove and explain</a:t>
            </a:r>
            <a:endParaRPr lang="en-US" sz="2200" dirty="0"/>
          </a:p>
        </p:txBody>
      </p:sp>
      <p:sp>
        <p:nvSpPr>
          <p:cNvPr id="12" name="Text 10"/>
          <p:cNvSpPr/>
          <p:nvPr/>
        </p:nvSpPr>
        <p:spPr>
          <a:xfrm>
            <a:off x="4677767" y="3103662"/>
            <a:ext cx="29476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the next two milestones</a:t>
            </a:r>
            <a:endParaRPr lang="en-US" sz="1200" dirty="0"/>
          </a:p>
        </p:txBody>
      </p:sp>
      <p:sp>
        <p:nvSpPr>
          <p:cNvPr id="13" name="Text 11"/>
          <p:cNvSpPr/>
          <p:nvPr/>
        </p:nvSpPr>
        <p:spPr>
          <a:xfrm>
            <a:off x="4711549" y="3418582"/>
            <a:ext cx="2907741"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1C1A17"/>
                </a:solidFill>
                <a:latin typeface="Inter" pitchFamily="34" charset="0"/>
                <a:ea typeface="Inter" pitchFamily="34" charset="-122"/>
                <a:cs typeface="Inter" pitchFamily="34" charset="-120"/>
              </a:rPr>
              <a:t>Validate the review schedule on more learners</a:t>
            </a:r>
            <a:endParaRPr lang="en-US" sz="1400" dirty="0"/>
          </a:p>
          <a:p>
            <a:pPr algn="l" marL="169418" indent="-169418">
              <a:lnSpc>
                <a:spcPts val="2100"/>
              </a:lnSpc>
              <a:buSzPct val="100000"/>
              <a:buChar char="•"/>
            </a:pPr>
            <a:r>
              <a:rPr lang="en-US" sz="1400" dirty="0">
                <a:solidFill>
                  <a:srgbClr val="1C1A17"/>
                </a:solidFill>
                <a:latin typeface="Inter" pitchFamily="34" charset="0"/>
                <a:ea typeface="Inter" pitchFamily="34" charset="-122"/>
                <a:cs typeface="Inter" pitchFamily="34" charset="-120"/>
              </a:rPr>
              <a:t>Diagnosis: show why a word is forgotten</a:t>
            </a:r>
            <a:endParaRPr lang="en-US" sz="1400" dirty="0"/>
          </a:p>
        </p:txBody>
      </p:sp>
      <p:sp>
        <p:nvSpPr>
          <p:cNvPr id="14" name="Shape 12"/>
          <p:cNvSpPr/>
          <p:nvPr/>
        </p:nvSpPr>
        <p:spPr>
          <a:xfrm>
            <a:off x="8009434" y="2026841"/>
            <a:ext cx="3369766" cy="2725241"/>
          </a:xfrm>
          <a:prstGeom prst="roundRect">
            <a:avLst>
              <a:gd name="adj" fmla="val 1864"/>
            </a:avLst>
          </a:prstGeom>
          <a:solidFill>
            <a:srgbClr val="1C1A17"/>
          </a:solidFill>
          <a:ln/>
        </p:spPr>
      </p:sp>
      <p:sp>
        <p:nvSpPr>
          <p:cNvPr id="15" name="Text 13"/>
          <p:cNvSpPr/>
          <p:nvPr/>
        </p:nvSpPr>
        <p:spPr>
          <a:xfrm>
            <a:off x="8269784" y="2287191"/>
            <a:ext cx="693539" cy="286941"/>
          </a:xfrm>
          <a:custGeom>
            <a:avLst/>
            <a:gdLst/>
            <a:ahLst/>
            <a:cxnLst/>
            <a:rect l="l" t="t" r="r" b="b"/>
            <a:pathLst>
              <a:path w="693539" h="286941">
                <a:moveTo>
                  <a:pt x="143470" y="0"/>
                </a:moveTo>
                <a:lnTo>
                  <a:pt x="550069" y="0"/>
                </a:lnTo>
                <a:arcTo hR="143470" wR="143470" stAng="16200000" swAng="5400000"/>
                <a:lnTo>
                  <a:pt x="693539" y="143470"/>
                </a:lnTo>
                <a:arcTo hR="143470" wR="143470" stAng="0" swAng="5400000"/>
                <a:lnTo>
                  <a:pt x="143470" y="286941"/>
                </a:lnTo>
                <a:arcTo hR="143470" wR="143470" stAng="5400000" swAng="5400000"/>
                <a:lnTo>
                  <a:pt x="0" y="143470"/>
                </a:lnTo>
                <a:arcTo hR="143470" wR="143470" stAng="10800000" swAng="5400000"/>
                <a:close/>
              </a:path>
            </a:pathLst>
          </a:custGeom>
          <a:noFill/>
          <a:ln w="12700">
            <a:solidFill>
              <a:srgbClr val="B8B1A3"/>
            </a:solidFill>
            <a:prstDash val="solid"/>
          </a:ln>
        </p:spPr>
        <p:txBody>
          <a:bodyPr wrap="none" lIns="0" tIns="0" rIns="0" bIns="0" rtlCol="0" anchor="ctr">
            <a:normAutofit/>
          </a:bodyPr>
          <a:lstStyle/>
          <a:p>
            <a:pPr algn="ctr" indent="0" marL="0">
              <a:lnSpc>
                <a:spcPts val="1960"/>
              </a:lnSpc>
              <a:buNone/>
            </a:pPr>
            <a:r>
              <a:rPr lang="en-US" sz="1400" b="1" spc="100" kern="0" dirty="0">
                <a:solidFill>
                  <a:srgbClr val="D9D2C4"/>
                </a:solidFill>
                <a:latin typeface="Barlow Condensed" pitchFamily="34" charset="0"/>
                <a:ea typeface="Barlow Condensed" pitchFamily="34" charset="-122"/>
                <a:cs typeface="Barlow Condensed" pitchFamily="34" charset="-120"/>
              </a:rPr>
              <a:t>LATER</a:t>
            </a:r>
            <a:endParaRPr lang="en-US" sz="1400" dirty="0"/>
          </a:p>
        </p:txBody>
      </p:sp>
      <p:sp>
        <p:nvSpPr>
          <p:cNvPr id="16" name="Text 14"/>
          <p:cNvSpPr/>
          <p:nvPr/>
        </p:nvSpPr>
        <p:spPr>
          <a:xfrm>
            <a:off x="8263434" y="2682081"/>
            <a:ext cx="2947619"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Personal memory model</a:t>
            </a:r>
            <a:endParaRPr lang="en-US" sz="2200" dirty="0"/>
          </a:p>
        </p:txBody>
      </p:sp>
      <p:sp>
        <p:nvSpPr>
          <p:cNvPr id="17" name="Text 15"/>
          <p:cNvSpPr/>
          <p:nvPr/>
        </p:nvSpPr>
        <p:spPr>
          <a:xfrm>
            <a:off x="8263434" y="3090962"/>
            <a:ext cx="29476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1A3"/>
                </a:solidFill>
                <a:latin typeface="Inter" pitchFamily="34" charset="0"/>
                <a:ea typeface="Inter" pitchFamily="34" charset="-122"/>
                <a:cs typeface="Inter" pitchFamily="34" charset="-120"/>
              </a:rPr>
              <a:t>the long-term vision</a:t>
            </a:r>
            <a:endParaRPr lang="en-US" sz="1200" dirty="0"/>
          </a:p>
        </p:txBody>
      </p:sp>
      <p:sp>
        <p:nvSpPr>
          <p:cNvPr id="18" name="Text 16"/>
          <p:cNvSpPr/>
          <p:nvPr/>
        </p:nvSpPr>
        <p:spPr>
          <a:xfrm>
            <a:off x="8297216" y="3405882"/>
            <a:ext cx="2907741" cy="5588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D9D2C4"/>
                </a:solidFill>
                <a:latin typeface="Inter" pitchFamily="34" charset="0"/>
                <a:ea typeface="Inter" pitchFamily="34" charset="-122"/>
                <a:cs typeface="Inter" pitchFamily="34" charset="-120"/>
              </a:rPr>
              <a:t>How you learn and recover</a:t>
            </a:r>
            <a:endParaRPr lang="en-US" sz="1400" dirty="0"/>
          </a:p>
          <a:p>
            <a:pPr algn="l" marL="169418" indent="-169418">
              <a:lnSpc>
                <a:spcPts val="2100"/>
              </a:lnSpc>
              <a:buSzPct val="100000"/>
              <a:buChar char="•"/>
            </a:pPr>
            <a:r>
              <a:rPr lang="en-US" sz="1400" dirty="0">
                <a:solidFill>
                  <a:srgbClr val="D9D2C4"/>
                </a:solidFill>
                <a:latin typeface="Inter" pitchFamily="34" charset="0"/>
                <a:ea typeface="Inter" pitchFamily="34" charset="-122"/>
                <a:cs typeface="Inter" pitchFamily="34" charset="-120"/>
              </a:rPr>
              <a:t>Learning paths built for you</a:t>
            </a:r>
            <a:endParaRPr lang="en-US" sz="1400" dirty="0"/>
          </a:p>
        </p:txBody>
      </p:sp>
      <p:sp>
        <p:nvSpPr>
          <p:cNvPr id="19" name="Text 17"/>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20" name="Text 18"/>
          <p:cNvSpPr/>
          <p:nvPr/>
        </p:nvSpPr>
        <p:spPr>
          <a:xfrm>
            <a:off x="11167963" y="6238280"/>
            <a:ext cx="2112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20440"/>
            <a:ext cx="135870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05 · NEXT STAGE</a:t>
            </a:r>
            <a:endParaRPr lang="en-US" sz="1400" dirty="0"/>
          </a:p>
        </p:txBody>
      </p:sp>
      <p:sp>
        <p:nvSpPr>
          <p:cNvPr id="3" name="Text 1"/>
          <p:cNvSpPr/>
          <p:nvPr/>
        </p:nvSpPr>
        <p:spPr>
          <a:xfrm>
            <a:off x="2177852" y="819150"/>
            <a:ext cx="1539379" cy="251420"/>
          </a:xfrm>
          <a:custGeom>
            <a:avLst/>
            <a:gdLst/>
            <a:ahLst/>
            <a:cxnLst/>
            <a:rect l="l" t="t" r="r" b="b"/>
            <a:pathLst>
              <a:path w="1539379" h="251420">
                <a:moveTo>
                  <a:pt x="125710" y="0"/>
                </a:moveTo>
                <a:lnTo>
                  <a:pt x="1413669" y="0"/>
                </a:lnTo>
                <a:arcTo hR="125710" wR="125710" stAng="16200000" swAng="5400000"/>
                <a:lnTo>
                  <a:pt x="1539379"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9A5B00"/>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9A5B00"/>
                </a:solidFill>
                <a:latin typeface="Barlow Condensed" pitchFamily="34" charset="0"/>
                <a:ea typeface="Barlow Condensed" pitchFamily="34" charset="-122"/>
                <a:cs typeface="Barlow Condensed" pitchFamily="34" charset="-120"/>
              </a:rPr>
              <a:t>NOT IN THE APP YET</a:t>
            </a:r>
            <a:endParaRPr lang="en-US" sz="1200" dirty="0"/>
          </a:p>
        </p:txBody>
      </p:sp>
      <p:sp>
        <p:nvSpPr>
          <p:cNvPr id="4" name="Text 2"/>
          <p:cNvSpPr/>
          <p:nvPr>
            <p:ph type="title"/>
          </p:nvPr>
        </p:nvSpPr>
        <p:spPr>
          <a:xfrm>
            <a:off x="812800" y="11531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Diagnosis: finding out why you forget</a:t>
            </a:r>
            <a:endParaRPr lang="en-US" sz="4000" dirty="0"/>
          </a:p>
        </p:txBody>
      </p:sp>
      <p:sp>
        <p:nvSpPr>
          <p:cNvPr id="5" name="Shape 3"/>
          <p:cNvSpPr/>
          <p:nvPr/>
        </p:nvSpPr>
        <p:spPr>
          <a:xfrm>
            <a:off x="815975" y="2045295"/>
            <a:ext cx="2482850" cy="2358132"/>
          </a:xfrm>
          <a:prstGeom prst="roundRect">
            <a:avLst>
              <a:gd name="adj" fmla="val 2020"/>
            </a:avLst>
          </a:prstGeom>
          <a:solidFill>
            <a:srgbClr val="FFFDF8"/>
          </a:solidFill>
          <a:ln w="6350">
            <a:solidFill>
              <a:srgbClr val="DDD6C8"/>
            </a:solidFill>
            <a:prstDash val="solid"/>
          </a:ln>
        </p:spPr>
      </p:sp>
      <p:sp>
        <p:nvSpPr>
          <p:cNvPr id="6" name="Text 4"/>
          <p:cNvSpPr/>
          <p:nvPr/>
        </p:nvSpPr>
        <p:spPr>
          <a:xfrm>
            <a:off x="1073150" y="2302470"/>
            <a:ext cx="202755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C1A17"/>
                </a:solidFill>
                <a:latin typeface="Barlow Condensed" pitchFamily="34" charset="0"/>
                <a:ea typeface="Barlow Condensed" pitchFamily="34" charset="-122"/>
                <a:cs typeface="Barlow Condensed" pitchFamily="34" charset="-120"/>
              </a:rPr>
              <a:t>01</a:t>
            </a:r>
            <a:endParaRPr lang="en-US" sz="4400" dirty="0"/>
          </a:p>
        </p:txBody>
      </p:sp>
      <p:sp>
        <p:nvSpPr>
          <p:cNvPr id="7" name="Text 5"/>
          <p:cNvSpPr/>
          <p:nvPr/>
        </p:nvSpPr>
        <p:spPr>
          <a:xfrm>
            <a:off x="1073150" y="2962870"/>
            <a:ext cx="202755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Detect</a:t>
            </a:r>
            <a:endParaRPr lang="en-US" sz="2200" dirty="0"/>
          </a:p>
        </p:txBody>
      </p:sp>
      <p:sp>
        <p:nvSpPr>
          <p:cNvPr id="8" name="Text 6"/>
          <p:cNvSpPr/>
          <p:nvPr/>
        </p:nvSpPr>
        <p:spPr>
          <a:xfrm>
            <a:off x="1073150" y="3399730"/>
            <a:ext cx="20275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Notice a failed or very slow answer.</a:t>
            </a:r>
            <a:endParaRPr lang="en-US" sz="1400" dirty="0"/>
          </a:p>
        </p:txBody>
      </p:sp>
      <p:sp>
        <p:nvSpPr>
          <p:cNvPr id="9" name="Shape 7"/>
          <p:cNvSpPr/>
          <p:nvPr/>
        </p:nvSpPr>
        <p:spPr>
          <a:xfrm>
            <a:off x="3508375" y="2045295"/>
            <a:ext cx="2482850" cy="2358132"/>
          </a:xfrm>
          <a:prstGeom prst="roundRect">
            <a:avLst>
              <a:gd name="adj" fmla="val 2020"/>
            </a:avLst>
          </a:prstGeom>
          <a:solidFill>
            <a:srgbClr val="FFFDF8"/>
          </a:solidFill>
          <a:ln w="6350">
            <a:solidFill>
              <a:srgbClr val="DDD6C8"/>
            </a:solidFill>
            <a:prstDash val="solid"/>
          </a:ln>
        </p:spPr>
      </p:sp>
      <p:sp>
        <p:nvSpPr>
          <p:cNvPr id="10" name="Text 8"/>
          <p:cNvSpPr/>
          <p:nvPr/>
        </p:nvSpPr>
        <p:spPr>
          <a:xfrm>
            <a:off x="3765550" y="2302470"/>
            <a:ext cx="202755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C1A17"/>
                </a:solidFill>
                <a:latin typeface="Barlow Condensed" pitchFamily="34" charset="0"/>
                <a:ea typeface="Barlow Condensed" pitchFamily="34" charset="-122"/>
                <a:cs typeface="Barlow Condensed" pitchFamily="34" charset="-120"/>
              </a:rPr>
              <a:t>02</a:t>
            </a:r>
            <a:endParaRPr lang="en-US" sz="4400" dirty="0"/>
          </a:p>
        </p:txBody>
      </p:sp>
      <p:sp>
        <p:nvSpPr>
          <p:cNvPr id="11" name="Text 9"/>
          <p:cNvSpPr/>
          <p:nvPr/>
        </p:nvSpPr>
        <p:spPr>
          <a:xfrm>
            <a:off x="3765550" y="2962870"/>
            <a:ext cx="202755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Diagnose</a:t>
            </a:r>
            <a:endParaRPr lang="en-US" sz="2200" dirty="0"/>
          </a:p>
        </p:txBody>
      </p:sp>
      <p:sp>
        <p:nvSpPr>
          <p:cNvPr id="12" name="Text 10"/>
          <p:cNvSpPr/>
          <p:nvPr/>
        </p:nvSpPr>
        <p:spPr>
          <a:xfrm>
            <a:off x="3765550" y="3399730"/>
            <a:ext cx="202755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Rank the most likely reasons it was forgotten.</a:t>
            </a:r>
            <a:endParaRPr lang="en-US" sz="1400" dirty="0"/>
          </a:p>
        </p:txBody>
      </p:sp>
      <p:sp>
        <p:nvSpPr>
          <p:cNvPr id="13" name="Shape 11"/>
          <p:cNvSpPr/>
          <p:nvPr/>
        </p:nvSpPr>
        <p:spPr>
          <a:xfrm>
            <a:off x="6200775" y="2045295"/>
            <a:ext cx="2482850" cy="2358132"/>
          </a:xfrm>
          <a:prstGeom prst="roundRect">
            <a:avLst>
              <a:gd name="adj" fmla="val 2020"/>
            </a:avLst>
          </a:prstGeom>
          <a:solidFill>
            <a:srgbClr val="FFFDF8"/>
          </a:solidFill>
          <a:ln w="6350">
            <a:solidFill>
              <a:srgbClr val="DDD6C8"/>
            </a:solidFill>
            <a:prstDash val="solid"/>
          </a:ln>
        </p:spPr>
      </p:sp>
      <p:sp>
        <p:nvSpPr>
          <p:cNvPr id="14" name="Text 12"/>
          <p:cNvSpPr/>
          <p:nvPr/>
        </p:nvSpPr>
        <p:spPr>
          <a:xfrm>
            <a:off x="6457950" y="2302470"/>
            <a:ext cx="202755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C1A17"/>
                </a:solidFill>
                <a:latin typeface="Barlow Condensed" pitchFamily="34" charset="0"/>
                <a:ea typeface="Barlow Condensed" pitchFamily="34" charset="-122"/>
                <a:cs typeface="Barlow Condensed" pitchFamily="34" charset="-120"/>
              </a:rPr>
              <a:t>03</a:t>
            </a:r>
            <a:endParaRPr lang="en-US" sz="4400" dirty="0"/>
          </a:p>
        </p:txBody>
      </p:sp>
      <p:sp>
        <p:nvSpPr>
          <p:cNvPr id="15" name="Text 13"/>
          <p:cNvSpPr/>
          <p:nvPr/>
        </p:nvSpPr>
        <p:spPr>
          <a:xfrm>
            <a:off x="6457950" y="2962870"/>
            <a:ext cx="202755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Intervene</a:t>
            </a:r>
            <a:endParaRPr lang="en-US" sz="2200" dirty="0"/>
          </a:p>
        </p:txBody>
      </p:sp>
      <p:sp>
        <p:nvSpPr>
          <p:cNvPr id="16" name="Text 14"/>
          <p:cNvSpPr/>
          <p:nvPr/>
        </p:nvSpPr>
        <p:spPr>
          <a:xfrm>
            <a:off x="6457950" y="3399730"/>
            <a:ext cx="20275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Pick the practice that fixes that exact reason.</a:t>
            </a:r>
            <a:endParaRPr lang="en-US" sz="1400" dirty="0"/>
          </a:p>
        </p:txBody>
      </p:sp>
      <p:sp>
        <p:nvSpPr>
          <p:cNvPr id="17" name="Shape 15"/>
          <p:cNvSpPr/>
          <p:nvPr/>
        </p:nvSpPr>
        <p:spPr>
          <a:xfrm>
            <a:off x="8893175" y="2045295"/>
            <a:ext cx="2482850" cy="2358132"/>
          </a:xfrm>
          <a:prstGeom prst="roundRect">
            <a:avLst>
              <a:gd name="adj" fmla="val 2020"/>
            </a:avLst>
          </a:prstGeom>
          <a:solidFill>
            <a:srgbClr val="FFFDF8"/>
          </a:solidFill>
          <a:ln w="6350">
            <a:solidFill>
              <a:srgbClr val="DDD6C8"/>
            </a:solidFill>
            <a:prstDash val="solid"/>
          </a:ln>
        </p:spPr>
      </p:sp>
      <p:sp>
        <p:nvSpPr>
          <p:cNvPr id="18" name="Text 16"/>
          <p:cNvSpPr/>
          <p:nvPr/>
        </p:nvSpPr>
        <p:spPr>
          <a:xfrm>
            <a:off x="9150350" y="2302470"/>
            <a:ext cx="202755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C1A17"/>
                </a:solidFill>
                <a:latin typeface="Barlow Condensed" pitchFamily="34" charset="0"/>
                <a:ea typeface="Barlow Condensed" pitchFamily="34" charset="-122"/>
                <a:cs typeface="Barlow Condensed" pitchFamily="34" charset="-120"/>
              </a:rPr>
              <a:t>04</a:t>
            </a:r>
            <a:endParaRPr lang="en-US" sz="4400" dirty="0"/>
          </a:p>
        </p:txBody>
      </p:sp>
      <p:sp>
        <p:nvSpPr>
          <p:cNvPr id="19" name="Text 17"/>
          <p:cNvSpPr/>
          <p:nvPr/>
        </p:nvSpPr>
        <p:spPr>
          <a:xfrm>
            <a:off x="9150350" y="2962870"/>
            <a:ext cx="202755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C1A17"/>
                </a:solidFill>
                <a:latin typeface="Barlow Condensed" pitchFamily="34" charset="0"/>
                <a:ea typeface="Barlow Condensed" pitchFamily="34" charset="-122"/>
                <a:cs typeface="Barlow Condensed" pitchFamily="34" charset="-120"/>
              </a:rPr>
              <a:t>Re-estimate</a:t>
            </a:r>
            <a:endParaRPr lang="en-US" sz="2200" dirty="0"/>
          </a:p>
        </p:txBody>
      </p:sp>
      <p:sp>
        <p:nvSpPr>
          <p:cNvPr id="20" name="Text 18"/>
          <p:cNvSpPr/>
          <p:nvPr/>
        </p:nvSpPr>
        <p:spPr>
          <a:xfrm>
            <a:off x="9150350" y="3399730"/>
            <a:ext cx="20275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Update the word's status and next review.</a:t>
            </a:r>
            <a:endParaRPr lang="en-US" sz="1400" dirty="0"/>
          </a:p>
        </p:txBody>
      </p:sp>
      <p:sp>
        <p:nvSpPr>
          <p:cNvPr id="21" name="Text 19"/>
          <p:cNvSpPr/>
          <p:nvPr/>
        </p:nvSpPr>
        <p:spPr>
          <a:xfrm>
            <a:off x="812800" y="4762202"/>
            <a:ext cx="10566400" cy="619720"/>
          </a:xfrm>
          <a:prstGeom prst="roundRect">
            <a:avLst>
              <a:gd name="adj" fmla="val 8197"/>
            </a:avLst>
          </a:prstGeom>
          <a:solidFill>
            <a:srgbClr val="1C1A17"/>
          </a:solidFill>
          <a:ln/>
        </p:spPr>
        <p:txBody>
          <a:bodyPr wrap="square" lIns="239121" tIns="162921" rIns="0" bIns="137521" rtlCol="0" anchor="t">
            <a:normAutofit/>
          </a:bodyPr>
          <a:lstStyle/>
          <a:p>
            <a:pPr algn="l" indent="0" marL="0">
              <a:lnSpc>
                <a:spcPts val="2080"/>
              </a:lnSpc>
              <a:buNone/>
            </a:pPr>
            <a:r>
              <a:rPr lang="en-US" sz="1600" dirty="0">
                <a:solidFill>
                  <a:srgbClr val="F6F2EA"/>
                </a:solidFill>
                <a:latin typeface="Inter" pitchFamily="34" charset="0"/>
                <a:ea typeface="Inter" pitchFamily="34" charset="-122"/>
                <a:cs typeface="Inter" pitchFamily="34" charset="-120"/>
              </a:rPr>
              <a:t>Today VOC shows </a:t>
            </a:r>
            <a:r>
              <a:rPr lang="en-US" sz="1600" i="1" dirty="0">
                <a:solidFill>
                  <a:srgbClr val="F6F2EA"/>
                </a:solidFill>
                <a:latin typeface="Inter" pitchFamily="34" charset="0"/>
                <a:ea typeface="Inter" pitchFamily="34" charset="-122"/>
                <a:cs typeface="Inter" pitchFamily="34" charset="-120"/>
              </a:rPr>
              <a:t>which</a:t>
            </a:r>
            <a:r>
              <a:rPr lang="en-US" sz="1600" dirty="0">
                <a:solidFill>
                  <a:srgbClr val="F6F2EA"/>
                </a:solidFill>
                <a:latin typeface="Inter" pitchFamily="34" charset="0"/>
                <a:ea typeface="Inter" pitchFamily="34" charset="-122"/>
                <a:cs typeface="Inter" pitchFamily="34" charset="-120"/>
              </a:rPr>
              <a:t> words are at risk. </a:t>
            </a:r>
            <a:r>
              <a:rPr lang="en-US" sz="1600" b="1" dirty="0">
                <a:solidFill>
                  <a:srgbClr val="F6F2EA"/>
                </a:solidFill>
                <a:latin typeface="Inter" pitchFamily="34" charset="0"/>
                <a:ea typeface="Inter" pitchFamily="34" charset="-122"/>
                <a:cs typeface="Inter" pitchFamily="34" charset="-120"/>
              </a:rPr>
              <a:t>Next, it will show why.</a:t>
            </a:r>
            <a:endParaRPr lang="en-US" sz="1600" dirty="0"/>
          </a:p>
        </p:txBody>
      </p:sp>
      <p:sp>
        <p:nvSpPr>
          <p:cNvPr id="22" name="Text 20"/>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23" name="Text 21"/>
          <p:cNvSpPr/>
          <p:nvPr/>
        </p:nvSpPr>
        <p:spPr>
          <a:xfrm>
            <a:off x="11176000" y="62382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20440"/>
            <a:ext cx="216406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05 · NEXT STAGE · EXAMPLE</a:t>
            </a:r>
            <a:endParaRPr lang="en-US" sz="1400" dirty="0"/>
          </a:p>
        </p:txBody>
      </p:sp>
      <p:sp>
        <p:nvSpPr>
          <p:cNvPr id="3" name="Text 1"/>
          <p:cNvSpPr/>
          <p:nvPr/>
        </p:nvSpPr>
        <p:spPr>
          <a:xfrm>
            <a:off x="2983210" y="819150"/>
            <a:ext cx="829370" cy="251420"/>
          </a:xfrm>
          <a:custGeom>
            <a:avLst/>
            <a:gdLst/>
            <a:ahLst/>
            <a:cxnLst/>
            <a:rect l="l" t="t" r="r" b="b"/>
            <a:pathLst>
              <a:path w="829370" h="251420">
                <a:moveTo>
                  <a:pt x="125710" y="0"/>
                </a:moveTo>
                <a:lnTo>
                  <a:pt x="703659" y="0"/>
                </a:lnTo>
                <a:arcTo hR="125710" wR="125710" stAng="16200000" swAng="5400000"/>
                <a:lnTo>
                  <a:pt x="829370"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9A5B00"/>
            </a:solidFill>
            <a:prstDash val="solid"/>
          </a:ln>
        </p:spPr>
        <p:txBody>
          <a:bodyPr wrap="none" lIns="0" tIns="0" rIns="0" bIns="0" rtlCol="0" anchor="ctr">
            <a:normAutofit/>
          </a:bodyPr>
          <a:lstStyle/>
          <a:p>
            <a:pPr algn="ctr" indent="0" marL="0">
              <a:lnSpc>
                <a:spcPts val="1680"/>
              </a:lnSpc>
              <a:buNone/>
            </a:pPr>
            <a:r>
              <a:rPr lang="en-US" sz="1200" b="1" spc="100" kern="0" dirty="0">
                <a:solidFill>
                  <a:srgbClr val="9A5B00"/>
                </a:solidFill>
                <a:latin typeface="Barlow Condensed" pitchFamily="34" charset="0"/>
                <a:ea typeface="Barlow Condensed" pitchFamily="34" charset="-122"/>
                <a:cs typeface="Barlow Condensed" pitchFamily="34" charset="-120"/>
              </a:rPr>
              <a:t>PLANNED</a:t>
            </a:r>
            <a:endParaRPr lang="en-US" sz="1200" dirty="0"/>
          </a:p>
        </p:txBody>
      </p:sp>
      <p:sp>
        <p:nvSpPr>
          <p:cNvPr id="4" name="Text 2"/>
          <p:cNvSpPr/>
          <p:nvPr>
            <p:ph type="title"/>
          </p:nvPr>
        </p:nvSpPr>
        <p:spPr>
          <a:xfrm>
            <a:off x="812800" y="115312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A learner forgets "although"</a:t>
            </a:r>
            <a:endParaRPr lang="en-US" sz="4000" dirty="0"/>
          </a:p>
        </p:txBody>
      </p:sp>
      <p:sp>
        <p:nvSpPr>
          <p:cNvPr id="5" name="Shape 3"/>
          <p:cNvSpPr/>
          <p:nvPr/>
        </p:nvSpPr>
        <p:spPr>
          <a:xfrm>
            <a:off x="815975" y="2045295"/>
            <a:ext cx="3384550" cy="3356074"/>
          </a:xfrm>
          <a:prstGeom prst="roundRect">
            <a:avLst>
              <a:gd name="adj" fmla="val 1419"/>
            </a:avLst>
          </a:prstGeom>
          <a:solidFill>
            <a:srgbClr val="FFFDF8"/>
          </a:solidFill>
          <a:ln w="6350">
            <a:solidFill>
              <a:srgbClr val="DDD6C8"/>
            </a:solidFill>
            <a:prstDash val="solid"/>
          </a:ln>
        </p:spPr>
      </p:sp>
      <p:sp>
        <p:nvSpPr>
          <p:cNvPr id="6" name="Text 4"/>
          <p:cNvSpPr/>
          <p:nvPr/>
        </p:nvSpPr>
        <p:spPr>
          <a:xfrm>
            <a:off x="1073150" y="2302470"/>
            <a:ext cx="295630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LIKELY CAUSES</a:t>
            </a:r>
            <a:endParaRPr lang="en-US" sz="1400" dirty="0"/>
          </a:p>
        </p:txBody>
      </p:sp>
      <p:sp>
        <p:nvSpPr>
          <p:cNvPr id="7" name="Text 5"/>
          <p:cNvSpPr/>
          <p:nvPr/>
        </p:nvSpPr>
        <p:spPr>
          <a:xfrm>
            <a:off x="1073150" y="267831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B00"/>
                </a:solidFill>
                <a:latin typeface="Inter" pitchFamily="34" charset="0"/>
                <a:ea typeface="Inter" pitchFamily="34" charset="-122"/>
                <a:cs typeface="Inter" pitchFamily="34" charset="-120"/>
              </a:rPr>
              <a:t>Estimated, not validated</a:t>
            </a:r>
            <a:endParaRPr lang="en-US" sz="1200" dirty="0"/>
          </a:p>
        </p:txBody>
      </p:sp>
      <p:sp>
        <p:nvSpPr>
          <p:cNvPr id="8" name="Text 6"/>
          <p:cNvSpPr/>
          <p:nvPr/>
        </p:nvSpPr>
        <p:spPr>
          <a:xfrm>
            <a:off x="1073150" y="3018631"/>
            <a:ext cx="23051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A17"/>
                </a:solidFill>
                <a:latin typeface="Inter" pitchFamily="34" charset="0"/>
                <a:ea typeface="Inter" pitchFamily="34" charset="-122"/>
                <a:cs typeface="Inter" pitchFamily="34" charset="-120"/>
              </a:rPr>
              <a:t>Confused with a similar word</a:t>
            </a:r>
            <a:endParaRPr lang="en-US" sz="1200" dirty="0"/>
          </a:p>
        </p:txBody>
      </p:sp>
      <p:sp>
        <p:nvSpPr>
          <p:cNvPr id="9" name="Text 7"/>
          <p:cNvSpPr/>
          <p:nvPr/>
        </p:nvSpPr>
        <p:spPr>
          <a:xfrm>
            <a:off x="3523893" y="3018631"/>
            <a:ext cx="419457"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C1A17"/>
                </a:solidFill>
                <a:latin typeface="Inter" pitchFamily="34" charset="0"/>
                <a:ea typeface="Inter" pitchFamily="34" charset="-122"/>
                <a:cs typeface="Inter" pitchFamily="34" charset="-120"/>
              </a:rPr>
              <a:t>42%</a:t>
            </a:r>
            <a:endParaRPr lang="en-US" sz="1200" dirty="0"/>
          </a:p>
        </p:txBody>
      </p:sp>
      <p:sp>
        <p:nvSpPr>
          <p:cNvPr id="10" name="Shape 8"/>
          <p:cNvSpPr/>
          <p:nvPr/>
        </p:nvSpPr>
        <p:spPr>
          <a:xfrm>
            <a:off x="1073150" y="3282752"/>
            <a:ext cx="2667000" cy="101600"/>
          </a:xfrm>
          <a:prstGeom prst="roundRect">
            <a:avLst>
              <a:gd name="adj" fmla="val 25000"/>
            </a:avLst>
          </a:prstGeom>
          <a:solidFill>
            <a:srgbClr val="1C1A17"/>
          </a:solidFill>
          <a:ln/>
        </p:spPr>
      </p:sp>
      <p:sp>
        <p:nvSpPr>
          <p:cNvPr id="11" name="Text 9"/>
          <p:cNvSpPr/>
          <p:nvPr/>
        </p:nvSpPr>
        <p:spPr>
          <a:xfrm>
            <a:off x="1073150" y="3511352"/>
            <a:ext cx="1750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A17"/>
                </a:solidFill>
                <a:latin typeface="Inter" pitchFamily="34" charset="0"/>
                <a:ea typeface="Inter" pitchFamily="34" charset="-122"/>
                <a:cs typeface="Inter" pitchFamily="34" charset="-120"/>
              </a:rPr>
              <a:t>Review gap too long</a:t>
            </a:r>
            <a:endParaRPr lang="en-US" sz="1200" dirty="0"/>
          </a:p>
        </p:txBody>
      </p:sp>
      <p:sp>
        <p:nvSpPr>
          <p:cNvPr id="12" name="Text 10"/>
          <p:cNvSpPr/>
          <p:nvPr/>
        </p:nvSpPr>
        <p:spPr>
          <a:xfrm>
            <a:off x="3565922" y="3511352"/>
            <a:ext cx="377428"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C1A17"/>
                </a:solidFill>
                <a:latin typeface="Inter" pitchFamily="34" charset="0"/>
                <a:ea typeface="Inter" pitchFamily="34" charset="-122"/>
                <a:cs typeface="Inter" pitchFamily="34" charset="-120"/>
              </a:rPr>
              <a:t>31%</a:t>
            </a:r>
            <a:endParaRPr lang="en-US" sz="1200" dirty="0"/>
          </a:p>
        </p:txBody>
      </p:sp>
      <p:sp>
        <p:nvSpPr>
          <p:cNvPr id="13" name="Shape 11"/>
          <p:cNvSpPr/>
          <p:nvPr/>
        </p:nvSpPr>
        <p:spPr>
          <a:xfrm>
            <a:off x="1073150" y="3775472"/>
            <a:ext cx="1968500" cy="101600"/>
          </a:xfrm>
          <a:prstGeom prst="roundRect">
            <a:avLst>
              <a:gd name="adj" fmla="val 25000"/>
            </a:avLst>
          </a:prstGeom>
          <a:solidFill>
            <a:srgbClr val="5A554C"/>
          </a:solidFill>
          <a:ln/>
        </p:spPr>
      </p:sp>
      <p:sp>
        <p:nvSpPr>
          <p:cNvPr id="14" name="Text 12"/>
          <p:cNvSpPr/>
          <p:nvPr/>
        </p:nvSpPr>
        <p:spPr>
          <a:xfrm>
            <a:off x="1073150" y="4004072"/>
            <a:ext cx="21483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A17"/>
                </a:solidFill>
                <a:latin typeface="Inter" pitchFamily="34" charset="0"/>
                <a:ea typeface="Inter" pitchFamily="34" charset="-122"/>
                <a:cs typeface="Inter" pitchFamily="34" charset="-120"/>
              </a:rPr>
              <a:t>Weak confidence history</a:t>
            </a:r>
            <a:endParaRPr lang="en-US" sz="1200" dirty="0"/>
          </a:p>
        </p:txBody>
      </p:sp>
      <p:sp>
        <p:nvSpPr>
          <p:cNvPr id="15" name="Text 13"/>
          <p:cNvSpPr/>
          <p:nvPr/>
        </p:nvSpPr>
        <p:spPr>
          <a:xfrm>
            <a:off x="3565208" y="4004072"/>
            <a:ext cx="378143"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C1A17"/>
                </a:solidFill>
                <a:latin typeface="Inter" pitchFamily="34" charset="0"/>
                <a:ea typeface="Inter" pitchFamily="34" charset="-122"/>
                <a:cs typeface="Inter" pitchFamily="34" charset="-120"/>
              </a:rPr>
              <a:t>18%</a:t>
            </a:r>
            <a:endParaRPr lang="en-US" sz="1200" dirty="0"/>
          </a:p>
        </p:txBody>
      </p:sp>
      <p:sp>
        <p:nvSpPr>
          <p:cNvPr id="16" name="Shape 14"/>
          <p:cNvSpPr/>
          <p:nvPr/>
        </p:nvSpPr>
        <p:spPr>
          <a:xfrm>
            <a:off x="1073150" y="4268192"/>
            <a:ext cx="1143000" cy="101600"/>
          </a:xfrm>
          <a:prstGeom prst="roundRect">
            <a:avLst>
              <a:gd name="adj" fmla="val 25000"/>
            </a:avLst>
          </a:prstGeom>
          <a:solidFill>
            <a:srgbClr val="8F897C"/>
          </a:solidFill>
          <a:ln/>
        </p:spPr>
      </p:sp>
      <p:sp>
        <p:nvSpPr>
          <p:cNvPr id="17" name="Text 15"/>
          <p:cNvSpPr/>
          <p:nvPr/>
        </p:nvSpPr>
        <p:spPr>
          <a:xfrm>
            <a:off x="1073150" y="4496792"/>
            <a:ext cx="1586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A17"/>
                </a:solidFill>
                <a:latin typeface="Inter" pitchFamily="34" charset="0"/>
                <a:ea typeface="Inter" pitchFamily="34" charset="-122"/>
                <a:cs typeface="Inter" pitchFamily="34" charset="-120"/>
              </a:rPr>
              <a:t>Too little exposure</a:t>
            </a:r>
            <a:endParaRPr lang="en-US" sz="1200" dirty="0"/>
          </a:p>
        </p:txBody>
      </p:sp>
      <p:sp>
        <p:nvSpPr>
          <p:cNvPr id="18" name="Text 16"/>
          <p:cNvSpPr/>
          <p:nvPr/>
        </p:nvSpPr>
        <p:spPr>
          <a:xfrm>
            <a:off x="3641923" y="4496792"/>
            <a:ext cx="301427"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C1A17"/>
                </a:solidFill>
                <a:latin typeface="Inter" pitchFamily="34" charset="0"/>
                <a:ea typeface="Inter" pitchFamily="34" charset="-122"/>
                <a:cs typeface="Inter" pitchFamily="34" charset="-120"/>
              </a:rPr>
              <a:t>9%</a:t>
            </a:r>
            <a:endParaRPr lang="en-US" sz="1200" dirty="0"/>
          </a:p>
        </p:txBody>
      </p:sp>
      <p:sp>
        <p:nvSpPr>
          <p:cNvPr id="19" name="Shape 17"/>
          <p:cNvSpPr/>
          <p:nvPr/>
        </p:nvSpPr>
        <p:spPr>
          <a:xfrm>
            <a:off x="1073150" y="4760913"/>
            <a:ext cx="571500" cy="101600"/>
          </a:xfrm>
          <a:prstGeom prst="roundRect">
            <a:avLst>
              <a:gd name="adj" fmla="val 25000"/>
            </a:avLst>
          </a:prstGeom>
          <a:solidFill>
            <a:srgbClr val="B8B1A3"/>
          </a:solidFill>
          <a:ln/>
        </p:spPr>
      </p:sp>
      <p:sp>
        <p:nvSpPr>
          <p:cNvPr id="20" name="Shape 18"/>
          <p:cNvSpPr/>
          <p:nvPr/>
        </p:nvSpPr>
        <p:spPr>
          <a:xfrm>
            <a:off x="4406900" y="2042120"/>
            <a:ext cx="3378200" cy="3362424"/>
          </a:xfrm>
          <a:prstGeom prst="roundRect">
            <a:avLst>
              <a:gd name="adj" fmla="val 1511"/>
            </a:avLst>
          </a:prstGeom>
          <a:solidFill>
            <a:srgbClr val="1C1A17"/>
          </a:solidFill>
          <a:ln/>
        </p:spPr>
      </p:sp>
      <p:sp>
        <p:nvSpPr>
          <p:cNvPr id="21" name="Text 19"/>
          <p:cNvSpPr/>
          <p:nvPr/>
        </p:nvSpPr>
        <p:spPr>
          <a:xfrm>
            <a:off x="4660900" y="2296120"/>
            <a:ext cx="295630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8B1A3"/>
                </a:solidFill>
                <a:latin typeface="Barlow Condensed" pitchFamily="34" charset="0"/>
                <a:ea typeface="Barlow Condensed" pitchFamily="34" charset="-122"/>
                <a:cs typeface="Barlow Condensed" pitchFamily="34" charset="-120"/>
              </a:rPr>
              <a:t>PLANNED FIX</a:t>
            </a:r>
            <a:endParaRPr lang="en-US" sz="1400" dirty="0"/>
          </a:p>
        </p:txBody>
      </p:sp>
      <p:sp>
        <p:nvSpPr>
          <p:cNvPr id="22" name="Text 20"/>
          <p:cNvSpPr/>
          <p:nvPr/>
        </p:nvSpPr>
        <p:spPr>
          <a:xfrm>
            <a:off x="4660900" y="2671961"/>
            <a:ext cx="2956306"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Contrastive drill</a:t>
            </a:r>
            <a:endParaRPr lang="en-US" sz="2200" dirty="0"/>
          </a:p>
        </p:txBody>
      </p:sp>
      <p:sp>
        <p:nvSpPr>
          <p:cNvPr id="23" name="Text 21"/>
          <p:cNvSpPr/>
          <p:nvPr/>
        </p:nvSpPr>
        <p:spPr>
          <a:xfrm>
            <a:off x="4660900" y="3106241"/>
            <a:ext cx="295630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2C4"/>
                </a:solidFill>
                <a:latin typeface="Inter" pitchFamily="34" charset="0"/>
                <a:ea typeface="Inter" pitchFamily="34" charset="-122"/>
                <a:cs typeface="Inter" pitchFamily="34" charset="-120"/>
              </a:rPr>
              <a:t>Practise "although" next to the word it gets mixed up with, until the difference is automatic.</a:t>
            </a:r>
            <a:endParaRPr lang="en-US" sz="1400" dirty="0"/>
          </a:p>
        </p:txBody>
      </p:sp>
      <p:sp>
        <p:nvSpPr>
          <p:cNvPr id="24" name="Shape 22"/>
          <p:cNvSpPr/>
          <p:nvPr/>
        </p:nvSpPr>
        <p:spPr>
          <a:xfrm>
            <a:off x="4664075" y="3982938"/>
            <a:ext cx="2863850" cy="1164431"/>
          </a:xfrm>
          <a:prstGeom prst="roundRect">
            <a:avLst>
              <a:gd name="adj" fmla="val 4090"/>
            </a:avLst>
          </a:prstGeom>
          <a:noFill/>
          <a:ln w="6350">
            <a:solidFill>
              <a:srgbClr val="4A463F"/>
            </a:solidFill>
            <a:prstDash val="solid"/>
          </a:ln>
        </p:spPr>
      </p:sp>
      <p:sp>
        <p:nvSpPr>
          <p:cNvPr id="25" name="Text 23"/>
          <p:cNvSpPr/>
          <p:nvPr/>
        </p:nvSpPr>
        <p:spPr>
          <a:xfrm>
            <a:off x="4819650" y="4113113"/>
            <a:ext cx="262928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1A3"/>
                </a:solidFill>
                <a:latin typeface="Inter" pitchFamily="34" charset="0"/>
                <a:ea typeface="Inter" pitchFamily="34" charset="-122"/>
                <a:cs typeface="Inter" pitchFamily="34" charset="-120"/>
              </a:rPr>
              <a:t>He decided to go ___ the heavy rain.</a:t>
            </a:r>
            <a:endParaRPr lang="en-US" sz="1200" dirty="0"/>
          </a:p>
        </p:txBody>
      </p:sp>
      <p:sp>
        <p:nvSpPr>
          <p:cNvPr id="26" name="Text 24"/>
          <p:cNvSpPr/>
          <p:nvPr/>
        </p:nvSpPr>
        <p:spPr>
          <a:xfrm>
            <a:off x="4819650" y="4590554"/>
            <a:ext cx="2629281"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2EA"/>
                </a:solidFill>
                <a:latin typeface="Inter" pitchFamily="34" charset="0"/>
                <a:ea typeface="Inter" pitchFamily="34" charset="-122"/>
                <a:cs typeface="Inter" pitchFamily="34" charset="-120"/>
              </a:rPr>
              <a:t>despite</a:t>
            </a:r>
            <a:r>
              <a:rPr lang="en-US" sz="1200" dirty="0">
                <a:solidFill>
                  <a:srgbClr val="F6F2EA"/>
                </a:solidFill>
                <a:latin typeface="Inter" pitchFamily="34" charset="0"/>
                <a:ea typeface="Inter" pitchFamily="34" charset="-122"/>
                <a:cs typeface="Inter" pitchFamily="34" charset="-120"/>
              </a:rPr>
              <a:t> ✓ + noun · although + clause</a:t>
            </a:r>
            <a:endParaRPr lang="en-US" sz="1200" dirty="0"/>
          </a:p>
        </p:txBody>
      </p:sp>
      <p:sp>
        <p:nvSpPr>
          <p:cNvPr id="27" name="Shape 25"/>
          <p:cNvSpPr/>
          <p:nvPr/>
        </p:nvSpPr>
        <p:spPr>
          <a:xfrm>
            <a:off x="7991475" y="2045295"/>
            <a:ext cx="3384550" cy="3356074"/>
          </a:xfrm>
          <a:prstGeom prst="roundRect">
            <a:avLst>
              <a:gd name="adj" fmla="val 1419"/>
            </a:avLst>
          </a:prstGeom>
          <a:solidFill>
            <a:srgbClr val="FFFDF8"/>
          </a:solidFill>
          <a:ln w="6350">
            <a:solidFill>
              <a:srgbClr val="DDD6C8"/>
            </a:solidFill>
            <a:prstDash val="solid"/>
          </a:ln>
        </p:spPr>
      </p:sp>
      <p:sp>
        <p:nvSpPr>
          <p:cNvPr id="28" name="Text 26"/>
          <p:cNvSpPr/>
          <p:nvPr/>
        </p:nvSpPr>
        <p:spPr>
          <a:xfrm>
            <a:off x="8248650" y="2302470"/>
            <a:ext cx="2956306"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EXPECTED EFFECT</a:t>
            </a:r>
            <a:endParaRPr lang="en-US" sz="1400" dirty="0"/>
          </a:p>
        </p:txBody>
      </p:sp>
      <p:pic>
        <p:nvPicPr>
          <p:cNvPr id="29" name="Image 0" descr="Illustrative chart: before the drill the word is forgotten within days; after the drill it is forgotten much more slowly.">    </p:cNvPr>
          <p:cNvPicPr>
            <a:picLocks noChangeAspect="1"/>
          </p:cNvPicPr>
          <p:nvPr/>
        </p:nvPicPr>
        <p:blipFill>
          <a:blip r:embed="rId1"/>
          <a:srcRect l="0" r="0" t="0" b="0"/>
          <a:stretch/>
        </p:blipFill>
        <p:spPr>
          <a:xfrm>
            <a:off x="8248650" y="2678311"/>
            <a:ext cx="2876550" cy="1524000"/>
          </a:xfrm>
          <a:prstGeom prst="rect">
            <a:avLst/>
          </a:prstGeom>
        </p:spPr>
      </p:pic>
      <p:sp>
        <p:nvSpPr>
          <p:cNvPr id="30" name="Text 27"/>
          <p:cNvSpPr/>
          <p:nvPr/>
        </p:nvSpPr>
        <p:spPr>
          <a:xfrm>
            <a:off x="8248650" y="432931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7A3D"/>
                </a:solidFill>
                <a:latin typeface="Inter" pitchFamily="34" charset="0"/>
                <a:ea typeface="Inter" pitchFamily="34" charset="-122"/>
                <a:cs typeface="Inter" pitchFamily="34" charset="-120"/>
              </a:rPr>
              <a:t>━━ After the drill: slower forgetting</a:t>
            </a:r>
            <a:endParaRPr lang="en-US" sz="1200" dirty="0"/>
          </a:p>
        </p:txBody>
      </p:sp>
      <p:sp>
        <p:nvSpPr>
          <p:cNvPr id="31" name="Text 28"/>
          <p:cNvSpPr/>
          <p:nvPr/>
        </p:nvSpPr>
        <p:spPr>
          <a:xfrm>
            <a:off x="8248650" y="459343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1E"/>
                </a:solidFill>
                <a:latin typeface="Inter" pitchFamily="34" charset="0"/>
                <a:ea typeface="Inter" pitchFamily="34" charset="-122"/>
                <a:cs typeface="Inter" pitchFamily="34" charset="-120"/>
              </a:rPr>
              <a:t>- - - Before: slipping fast</a:t>
            </a:r>
            <a:endParaRPr lang="en-US" sz="1200" dirty="0"/>
          </a:p>
        </p:txBody>
      </p:sp>
      <p:sp>
        <p:nvSpPr>
          <p:cNvPr id="32" name="Text 29"/>
          <p:cNvSpPr/>
          <p:nvPr/>
        </p:nvSpPr>
        <p:spPr>
          <a:xfrm>
            <a:off x="812800" y="6238280"/>
            <a:ext cx="37590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 · illustrative, not validated</a:t>
            </a:r>
            <a:endParaRPr lang="en-US" sz="1200" dirty="0"/>
          </a:p>
        </p:txBody>
      </p:sp>
      <p:sp>
        <p:nvSpPr>
          <p:cNvPr id="33" name="Text 30"/>
          <p:cNvSpPr/>
          <p:nvPr/>
        </p:nvSpPr>
        <p:spPr>
          <a:xfrm>
            <a:off x="11171833" y="6238280"/>
            <a:ext cx="20736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05 · RISKS</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What we don't know yet</a:t>
            </a:r>
            <a:endParaRPr lang="en-US" sz="4000" dirty="0"/>
          </a:p>
        </p:txBody>
      </p:sp>
      <p:sp>
        <p:nvSpPr>
          <p:cNvPr id="4" name="Shape 2"/>
          <p:cNvSpPr/>
          <p:nvPr/>
        </p:nvSpPr>
        <p:spPr>
          <a:xfrm>
            <a:off x="812800" y="1982391"/>
            <a:ext cx="10566400" cy="0"/>
          </a:xfrm>
          <a:prstGeom prst="line">
            <a:avLst/>
          </a:prstGeom>
          <a:noFill/>
          <a:ln w="12700">
            <a:solidFill>
              <a:srgbClr val="1C1A17"/>
            </a:solidFill>
            <a:prstDash val="solid"/>
          </a:ln>
        </p:spPr>
      </p:sp>
      <p:sp>
        <p:nvSpPr>
          <p:cNvPr id="5" name="Shape 3"/>
          <p:cNvSpPr/>
          <p:nvPr/>
        </p:nvSpPr>
        <p:spPr>
          <a:xfrm>
            <a:off x="812800" y="2550716"/>
            <a:ext cx="10566400" cy="0"/>
          </a:xfrm>
          <a:prstGeom prst="line">
            <a:avLst/>
          </a:prstGeom>
          <a:noFill/>
          <a:ln w="6350">
            <a:solidFill>
              <a:srgbClr val="DDD6C8"/>
            </a:solidFill>
            <a:prstDash val="solid"/>
          </a:ln>
        </p:spPr>
      </p:sp>
      <p:sp>
        <p:nvSpPr>
          <p:cNvPr id="6" name="Text 4"/>
          <p:cNvSpPr/>
          <p:nvPr/>
        </p:nvSpPr>
        <p:spPr>
          <a:xfrm>
            <a:off x="812800" y="2115741"/>
            <a:ext cx="34010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A17"/>
                </a:solidFill>
                <a:latin typeface="Barlow Condensed" pitchFamily="34" charset="0"/>
                <a:ea typeface="Barlow Condensed" pitchFamily="34" charset="-122"/>
                <a:cs typeface="Barlow Condensed" pitchFamily="34" charset="-120"/>
              </a:rPr>
              <a:t>Does the model hold at scale?</a:t>
            </a:r>
            <a:endParaRPr lang="en-US" sz="2000" dirty="0"/>
          </a:p>
        </p:txBody>
      </p:sp>
      <p:sp>
        <p:nvSpPr>
          <p:cNvPr id="7" name="Text 5"/>
          <p:cNvSpPr/>
          <p:nvPr/>
        </p:nvSpPr>
        <p:spPr>
          <a:xfrm>
            <a:off x="4419600" y="2115741"/>
            <a:ext cx="7168388" cy="3302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Results come from 24 learners. We need to confirm them on a much larger group.</a:t>
            </a:r>
            <a:endParaRPr lang="en-US" sz="1400" dirty="0"/>
          </a:p>
        </p:txBody>
      </p:sp>
      <p:sp>
        <p:nvSpPr>
          <p:cNvPr id="8" name="Shape 6"/>
          <p:cNvSpPr/>
          <p:nvPr/>
        </p:nvSpPr>
        <p:spPr>
          <a:xfrm>
            <a:off x="812800" y="3308747"/>
            <a:ext cx="10566400" cy="0"/>
          </a:xfrm>
          <a:prstGeom prst="line">
            <a:avLst/>
          </a:prstGeom>
          <a:noFill/>
          <a:ln w="6350">
            <a:solidFill>
              <a:srgbClr val="DDD6C8"/>
            </a:solidFill>
            <a:prstDash val="solid"/>
          </a:ln>
        </p:spPr>
      </p:sp>
      <p:sp>
        <p:nvSpPr>
          <p:cNvPr id="9" name="Text 7"/>
          <p:cNvSpPr/>
          <p:nvPr/>
        </p:nvSpPr>
        <p:spPr>
          <a:xfrm>
            <a:off x="812800" y="2680891"/>
            <a:ext cx="3401060" cy="5230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A17"/>
                </a:solidFill>
                <a:latin typeface="Barlow Condensed" pitchFamily="34" charset="0"/>
                <a:ea typeface="Barlow Condensed" pitchFamily="34" charset="-122"/>
                <a:cs typeface="Barlow Condensed" pitchFamily="34" charset="-120"/>
              </a:rPr>
              <a:t>Does the schedule help?</a:t>
            </a:r>
            <a:endParaRPr lang="en-US" sz="2000" dirty="0"/>
          </a:p>
        </p:txBody>
      </p:sp>
      <p:sp>
        <p:nvSpPr>
          <p:cNvPr id="10" name="Text 8"/>
          <p:cNvSpPr/>
          <p:nvPr/>
        </p:nvSpPr>
        <p:spPr>
          <a:xfrm>
            <a:off x="4419600" y="2680891"/>
            <a:ext cx="716838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Not yet tested: does our review schedule improve long-term memory compared with a fixed one?</a:t>
            </a:r>
            <a:endParaRPr lang="en-US" sz="1400" dirty="0"/>
          </a:p>
        </p:txBody>
      </p:sp>
      <p:sp>
        <p:nvSpPr>
          <p:cNvPr id="11" name="Shape 9"/>
          <p:cNvSpPr/>
          <p:nvPr/>
        </p:nvSpPr>
        <p:spPr>
          <a:xfrm>
            <a:off x="812800" y="3873897"/>
            <a:ext cx="10566400" cy="0"/>
          </a:xfrm>
          <a:prstGeom prst="line">
            <a:avLst/>
          </a:prstGeom>
          <a:noFill/>
          <a:ln w="6350">
            <a:solidFill>
              <a:srgbClr val="DDD6C8"/>
            </a:solidFill>
            <a:prstDash val="solid"/>
          </a:ln>
        </p:spPr>
      </p:sp>
      <p:sp>
        <p:nvSpPr>
          <p:cNvPr id="12" name="Text 10"/>
          <p:cNvSpPr/>
          <p:nvPr/>
        </p:nvSpPr>
        <p:spPr>
          <a:xfrm>
            <a:off x="812800" y="3438922"/>
            <a:ext cx="34010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A17"/>
                </a:solidFill>
                <a:latin typeface="Barlow Condensed" pitchFamily="34" charset="0"/>
                <a:ea typeface="Barlow Condensed" pitchFamily="34" charset="-122"/>
                <a:cs typeface="Barlow Condensed" pitchFamily="34" charset="-120"/>
              </a:rPr>
              <a:t>Will centres pay?</a:t>
            </a:r>
            <a:endParaRPr lang="en-US" sz="2000" dirty="0"/>
          </a:p>
        </p:txBody>
      </p:sp>
      <p:sp>
        <p:nvSpPr>
          <p:cNvPr id="13" name="Text 11"/>
          <p:cNvSpPr/>
          <p:nvPr/>
        </p:nvSpPr>
        <p:spPr>
          <a:xfrm>
            <a:off x="4419600" y="3438922"/>
            <a:ext cx="7168388" cy="3302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The panel is live, but price and pilot-to-paid conversion are not proven yet.</a:t>
            </a:r>
            <a:endParaRPr lang="en-US" sz="1400" dirty="0"/>
          </a:p>
        </p:txBody>
      </p:sp>
      <p:sp>
        <p:nvSpPr>
          <p:cNvPr id="14" name="Shape 12"/>
          <p:cNvSpPr/>
          <p:nvPr/>
        </p:nvSpPr>
        <p:spPr>
          <a:xfrm>
            <a:off x="812800" y="4439047"/>
            <a:ext cx="10566400" cy="0"/>
          </a:xfrm>
          <a:prstGeom prst="line">
            <a:avLst/>
          </a:prstGeom>
          <a:noFill/>
          <a:ln w="6350">
            <a:solidFill>
              <a:srgbClr val="DDD6C8"/>
            </a:solidFill>
            <a:prstDash val="solid"/>
          </a:ln>
        </p:spPr>
      </p:sp>
      <p:sp>
        <p:nvSpPr>
          <p:cNvPr id="15" name="Text 13"/>
          <p:cNvSpPr/>
          <p:nvPr/>
        </p:nvSpPr>
        <p:spPr>
          <a:xfrm>
            <a:off x="812800" y="4004072"/>
            <a:ext cx="34010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A17"/>
                </a:solidFill>
                <a:latin typeface="Barlow Condensed" pitchFamily="34" charset="0"/>
                <a:ea typeface="Barlow Condensed" pitchFamily="34" charset="-122"/>
                <a:cs typeface="Barlow Condensed" pitchFamily="34" charset="-120"/>
              </a:rPr>
              <a:t>Will learners stay?</a:t>
            </a:r>
            <a:endParaRPr lang="en-US" sz="2000" dirty="0"/>
          </a:p>
        </p:txBody>
      </p:sp>
      <p:sp>
        <p:nvSpPr>
          <p:cNvPr id="16" name="Text 14"/>
          <p:cNvSpPr/>
          <p:nvPr/>
        </p:nvSpPr>
        <p:spPr>
          <a:xfrm>
            <a:off x="4419600" y="4004072"/>
            <a:ext cx="7168388" cy="3302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Beta users are active, but we have not yet measured retention over many months.</a:t>
            </a:r>
            <a:endParaRPr lang="en-US" sz="1400" dirty="0"/>
          </a:p>
        </p:txBody>
      </p:sp>
      <p:sp>
        <p:nvSpPr>
          <p:cNvPr id="17" name="Shape 15"/>
          <p:cNvSpPr/>
          <p:nvPr/>
        </p:nvSpPr>
        <p:spPr>
          <a:xfrm>
            <a:off x="812800" y="5004197"/>
            <a:ext cx="10566400" cy="0"/>
          </a:xfrm>
          <a:prstGeom prst="line">
            <a:avLst/>
          </a:prstGeom>
          <a:noFill/>
          <a:ln w="6350">
            <a:solidFill>
              <a:srgbClr val="DDD6C8"/>
            </a:solidFill>
            <a:prstDash val="solid"/>
          </a:ln>
        </p:spPr>
      </p:sp>
      <p:sp>
        <p:nvSpPr>
          <p:cNvPr id="18" name="Text 16"/>
          <p:cNvSpPr/>
          <p:nvPr/>
        </p:nvSpPr>
        <p:spPr>
          <a:xfrm>
            <a:off x="812800" y="4569222"/>
            <a:ext cx="34010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A17"/>
                </a:solidFill>
                <a:latin typeface="Barlow Condensed" pitchFamily="34" charset="0"/>
                <a:ea typeface="Barlow Condensed" pitchFamily="34" charset="-122"/>
                <a:cs typeface="Barlow Condensed" pitchFamily="34" charset="-120"/>
              </a:rPr>
              <a:t>Will diagnosis change behaviour?</a:t>
            </a:r>
            <a:endParaRPr lang="en-US" sz="2000" dirty="0"/>
          </a:p>
        </p:txBody>
      </p:sp>
      <p:sp>
        <p:nvSpPr>
          <p:cNvPr id="19" name="Text 17"/>
          <p:cNvSpPr/>
          <p:nvPr/>
        </p:nvSpPr>
        <p:spPr>
          <a:xfrm>
            <a:off x="4419600" y="4569222"/>
            <a:ext cx="7168388" cy="3302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Showing why a word is forgotten must lead to better practice — still to be tested.</a:t>
            </a:r>
            <a:endParaRPr lang="en-US" sz="1400" dirty="0"/>
          </a:p>
        </p:txBody>
      </p:sp>
      <p:sp>
        <p:nvSpPr>
          <p:cNvPr id="20" name="Text 18"/>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21" name="Text 19"/>
          <p:cNvSpPr/>
          <p:nvPr/>
        </p:nvSpPr>
        <p:spPr>
          <a:xfrm>
            <a:off x="11180167" y="6238280"/>
            <a:ext cx="19903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06 · TEAM</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The people building VOC</a:t>
            </a:r>
            <a:endParaRPr lang="en-US" sz="4000" dirty="0"/>
          </a:p>
        </p:txBody>
      </p:sp>
      <p:sp>
        <p:nvSpPr>
          <p:cNvPr id="4" name="Shape 2"/>
          <p:cNvSpPr/>
          <p:nvPr/>
        </p:nvSpPr>
        <p:spPr>
          <a:xfrm>
            <a:off x="815975" y="2030016"/>
            <a:ext cx="5175250" cy="2449612"/>
          </a:xfrm>
          <a:prstGeom prst="roundRect">
            <a:avLst>
              <a:gd name="adj" fmla="val 1944"/>
            </a:avLst>
          </a:prstGeom>
          <a:solidFill>
            <a:srgbClr val="FFFDF8"/>
          </a:solidFill>
          <a:ln w="6350">
            <a:solidFill>
              <a:srgbClr val="DDD6C8"/>
            </a:solidFill>
            <a:prstDash val="solid"/>
          </a:ln>
        </p:spPr>
      </p:sp>
      <p:sp>
        <p:nvSpPr>
          <p:cNvPr id="5" name="Text 3"/>
          <p:cNvSpPr/>
          <p:nvPr/>
        </p:nvSpPr>
        <p:spPr>
          <a:xfrm>
            <a:off x="1073150" y="2287191"/>
            <a:ext cx="812800" cy="812800"/>
          </a:xfrm>
          <a:prstGeom prst="roundRect">
            <a:avLst>
              <a:gd name="adj" fmla="val 50000"/>
            </a:avLst>
          </a:prstGeom>
          <a:solidFill>
            <a:srgbClr val="1C1A17"/>
          </a:solidFill>
          <a:ln/>
        </p:spPr>
        <p:txBody>
          <a:bodyPr wrap="square" lIns="0" tIns="0" rIns="0" bIns="0" rtlCol="0" anchor="ctr">
            <a:normAutofit/>
          </a:bodyPr>
          <a:lstStyle/>
          <a:p>
            <a:pPr algn="ctr" indent="0" marL="0">
              <a:lnSpc>
                <a:spcPts val="3360"/>
              </a:lnSpc>
              <a:buNone/>
            </a:pPr>
            <a:r>
              <a:rPr lang="en-US" sz="2400" b="1" dirty="0">
                <a:solidFill>
                  <a:srgbClr val="F6F2EA"/>
                </a:solidFill>
                <a:latin typeface="Barlow Condensed" pitchFamily="34" charset="0"/>
                <a:ea typeface="Barlow Condensed" pitchFamily="34" charset="-122"/>
                <a:cs typeface="Barlow Condensed" pitchFamily="34" charset="-120"/>
              </a:rPr>
              <a:t>AA</a:t>
            </a:r>
            <a:endParaRPr lang="en-US" sz="2400" dirty="0"/>
          </a:p>
        </p:txBody>
      </p:sp>
      <p:sp>
        <p:nvSpPr>
          <p:cNvPr id="6" name="Text 4"/>
          <p:cNvSpPr/>
          <p:nvPr/>
        </p:nvSpPr>
        <p:spPr>
          <a:xfrm>
            <a:off x="1073150" y="3201591"/>
            <a:ext cx="4800727"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C1A17"/>
                </a:solidFill>
                <a:latin typeface="Barlow Condensed" pitchFamily="34" charset="0"/>
                <a:ea typeface="Barlow Condensed" pitchFamily="34" charset="-122"/>
                <a:cs typeface="Barlow Condensed" pitchFamily="34" charset="-120"/>
              </a:rPr>
              <a:t>Asadbek Abdukaxxarov</a:t>
            </a:r>
            <a:endParaRPr lang="en-US" sz="2400" dirty="0"/>
          </a:p>
        </p:txBody>
      </p:sp>
      <p:sp>
        <p:nvSpPr>
          <p:cNvPr id="7" name="Text 5"/>
          <p:cNvSpPr/>
          <p:nvPr/>
        </p:nvSpPr>
        <p:spPr>
          <a:xfrm>
            <a:off x="1073150" y="3623171"/>
            <a:ext cx="480072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DESIGNER</a:t>
            </a:r>
            <a:endParaRPr lang="en-US" sz="1400" dirty="0"/>
          </a:p>
        </p:txBody>
      </p:sp>
      <p:sp>
        <p:nvSpPr>
          <p:cNvPr id="8" name="Text 6"/>
          <p:cNvSpPr/>
          <p:nvPr/>
        </p:nvSpPr>
        <p:spPr>
          <a:xfrm>
            <a:off x="1073150" y="3973612"/>
            <a:ext cx="480072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UX/UI, visual design and design systems.</a:t>
            </a:r>
            <a:endParaRPr lang="en-US" sz="1400" dirty="0"/>
          </a:p>
        </p:txBody>
      </p:sp>
      <p:sp>
        <p:nvSpPr>
          <p:cNvPr id="9" name="Shape 7"/>
          <p:cNvSpPr/>
          <p:nvPr/>
        </p:nvSpPr>
        <p:spPr>
          <a:xfrm>
            <a:off x="6200775" y="2030016"/>
            <a:ext cx="5175250" cy="2449612"/>
          </a:xfrm>
          <a:prstGeom prst="roundRect">
            <a:avLst>
              <a:gd name="adj" fmla="val 1944"/>
            </a:avLst>
          </a:prstGeom>
          <a:solidFill>
            <a:srgbClr val="FFFDF8"/>
          </a:solidFill>
          <a:ln w="6350">
            <a:solidFill>
              <a:srgbClr val="DDD6C8"/>
            </a:solidFill>
            <a:prstDash val="solid"/>
          </a:ln>
        </p:spPr>
      </p:sp>
      <p:sp>
        <p:nvSpPr>
          <p:cNvPr id="10" name="Text 8"/>
          <p:cNvSpPr/>
          <p:nvPr/>
        </p:nvSpPr>
        <p:spPr>
          <a:xfrm>
            <a:off x="6457950" y="2287191"/>
            <a:ext cx="812800" cy="812800"/>
          </a:xfrm>
          <a:prstGeom prst="roundRect">
            <a:avLst>
              <a:gd name="adj" fmla="val 50000"/>
            </a:avLst>
          </a:prstGeom>
          <a:solidFill>
            <a:srgbClr val="1C1A17"/>
          </a:solidFill>
          <a:ln/>
        </p:spPr>
        <p:txBody>
          <a:bodyPr wrap="square" lIns="0" tIns="0" rIns="0" bIns="0" rtlCol="0" anchor="ctr">
            <a:normAutofit/>
          </a:bodyPr>
          <a:lstStyle/>
          <a:p>
            <a:pPr algn="ctr" indent="0" marL="0">
              <a:lnSpc>
                <a:spcPts val="3360"/>
              </a:lnSpc>
              <a:buNone/>
            </a:pPr>
            <a:r>
              <a:rPr lang="en-US" sz="2400" b="1" dirty="0">
                <a:solidFill>
                  <a:srgbClr val="F6F2EA"/>
                </a:solidFill>
                <a:latin typeface="Barlow Condensed" pitchFamily="34" charset="0"/>
                <a:ea typeface="Barlow Condensed" pitchFamily="34" charset="-122"/>
                <a:cs typeface="Barlow Condensed" pitchFamily="34" charset="-120"/>
              </a:rPr>
              <a:t>XA</a:t>
            </a:r>
            <a:endParaRPr lang="en-US" sz="2400" dirty="0"/>
          </a:p>
        </p:txBody>
      </p:sp>
      <p:sp>
        <p:nvSpPr>
          <p:cNvPr id="11" name="Text 9"/>
          <p:cNvSpPr/>
          <p:nvPr/>
        </p:nvSpPr>
        <p:spPr>
          <a:xfrm>
            <a:off x="6457950" y="3201591"/>
            <a:ext cx="4800727"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C1A17"/>
                </a:solidFill>
                <a:latin typeface="Barlow Condensed" pitchFamily="34" charset="0"/>
                <a:ea typeface="Barlow Condensed" pitchFamily="34" charset="-122"/>
                <a:cs typeface="Barlow Condensed" pitchFamily="34" charset="-120"/>
              </a:rPr>
              <a:t>Xolmirzayev Azimjon</a:t>
            </a:r>
            <a:endParaRPr lang="en-US" sz="2400" dirty="0"/>
          </a:p>
        </p:txBody>
      </p:sp>
      <p:sp>
        <p:nvSpPr>
          <p:cNvPr id="12" name="Text 10"/>
          <p:cNvSpPr/>
          <p:nvPr/>
        </p:nvSpPr>
        <p:spPr>
          <a:xfrm>
            <a:off x="6457950" y="3623171"/>
            <a:ext cx="480072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PRODUCT MANAGER</a:t>
            </a:r>
            <a:endParaRPr lang="en-US" sz="1400" dirty="0"/>
          </a:p>
        </p:txBody>
      </p:sp>
      <p:sp>
        <p:nvSpPr>
          <p:cNvPr id="13" name="Text 11"/>
          <p:cNvSpPr/>
          <p:nvPr/>
        </p:nvSpPr>
        <p:spPr>
          <a:xfrm>
            <a:off x="6457950" y="3973612"/>
            <a:ext cx="480072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Product strategy, learning systems and roadmap.</a:t>
            </a:r>
            <a:endParaRPr lang="en-US" sz="1400" dirty="0"/>
          </a:p>
        </p:txBody>
      </p:sp>
      <p:sp>
        <p:nvSpPr>
          <p:cNvPr id="14" name="Text 12"/>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15" name="Text 13"/>
          <p:cNvSpPr/>
          <p:nvPr/>
        </p:nvSpPr>
        <p:spPr>
          <a:xfrm>
            <a:off x="11172130" y="6238280"/>
            <a:ext cx="20707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06 · NEXT KEY HIRES</a:t>
            </a:r>
            <a:endParaRPr lang="en-US" sz="1400" dirty="0"/>
          </a:p>
        </p:txBody>
      </p:sp>
      <p:sp>
        <p:nvSpPr>
          <p:cNvPr id="3" name="Text 1"/>
          <p:cNvSpPr/>
          <p:nvPr>
            <p:ph type="title"/>
          </p:nvPr>
        </p:nvSpPr>
        <p:spPr>
          <a:xfrm>
            <a:off x="812800" y="1137841"/>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C1A17"/>
                </a:solidFill>
                <a:latin typeface="Barlow Condensed" pitchFamily="34" charset="0"/>
                <a:ea typeface="Barlow Condensed" pitchFamily="34" charset="-122"/>
                <a:cs typeface="Barlow Condensed" pitchFamily="34" charset="-120"/>
              </a:rPr>
              <a:t>Who we will hire next, in order</a:t>
            </a:r>
            <a:endParaRPr lang="en-US" sz="4000" dirty="0"/>
          </a:p>
        </p:txBody>
      </p:sp>
      <p:sp>
        <p:nvSpPr>
          <p:cNvPr id="4" name="Text 2"/>
          <p:cNvSpPr/>
          <p:nvPr/>
        </p:nvSpPr>
        <p:spPr>
          <a:xfrm>
            <a:off x="812800" y="1747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The model is built and measured. Next: prove it at scale, grow the product, and sell it.</a:t>
            </a:r>
            <a:endParaRPr lang="en-US" sz="1400" dirty="0"/>
          </a:p>
        </p:txBody>
      </p:sp>
      <p:sp>
        <p:nvSpPr>
          <p:cNvPr id="5" name="Shape 3"/>
          <p:cNvSpPr/>
          <p:nvPr/>
        </p:nvSpPr>
        <p:spPr>
          <a:xfrm>
            <a:off x="812800" y="2351881"/>
            <a:ext cx="2479675" cy="2862064"/>
          </a:xfrm>
          <a:prstGeom prst="roundRect">
            <a:avLst>
              <a:gd name="adj" fmla="val 2049"/>
            </a:avLst>
          </a:prstGeom>
          <a:solidFill>
            <a:srgbClr val="1C1A17"/>
          </a:solidFill>
          <a:ln/>
        </p:spPr>
      </p:sp>
      <p:sp>
        <p:nvSpPr>
          <p:cNvPr id="6" name="Text 4"/>
          <p:cNvSpPr/>
          <p:nvPr/>
        </p:nvSpPr>
        <p:spPr>
          <a:xfrm>
            <a:off x="1066800" y="2605881"/>
            <a:ext cx="203082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0A43A"/>
                </a:solidFill>
                <a:latin typeface="Barlow Condensed" pitchFamily="34" charset="0"/>
                <a:ea typeface="Barlow Condensed" pitchFamily="34" charset="-122"/>
                <a:cs typeface="Barlow Condensed" pitchFamily="34" charset="-120"/>
              </a:rPr>
              <a:t>01 · FIRST</a:t>
            </a:r>
            <a:endParaRPr lang="en-US" sz="1400" dirty="0"/>
          </a:p>
        </p:txBody>
      </p:sp>
      <p:sp>
        <p:nvSpPr>
          <p:cNvPr id="7" name="Text 5"/>
          <p:cNvSpPr/>
          <p:nvPr/>
        </p:nvSpPr>
        <p:spPr>
          <a:xfrm>
            <a:off x="1066800" y="2956322"/>
            <a:ext cx="2030825"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6F2EA"/>
                </a:solidFill>
                <a:latin typeface="Barlow Condensed" pitchFamily="34" charset="0"/>
                <a:ea typeface="Barlow Condensed" pitchFamily="34" charset="-122"/>
                <a:cs typeface="Barlow Condensed" pitchFamily="34" charset="-120"/>
              </a:rPr>
              <a:t>ML / data engineer</a:t>
            </a:r>
            <a:endParaRPr lang="en-US" sz="2200" dirty="0"/>
          </a:p>
        </p:txBody>
      </p:sp>
      <p:sp>
        <p:nvSpPr>
          <p:cNvPr id="8" name="Text 6"/>
          <p:cNvSpPr/>
          <p:nvPr/>
        </p:nvSpPr>
        <p:spPr>
          <a:xfrm>
            <a:off x="1066800" y="3365202"/>
            <a:ext cx="203082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2C4"/>
                </a:solidFill>
                <a:latin typeface="Inter" pitchFamily="34" charset="0"/>
                <a:ea typeface="Inter" pitchFamily="34" charset="-122"/>
                <a:cs typeface="Inter" pitchFamily="34" charset="-120"/>
              </a:rPr>
              <a:t>Tests and improves the model on much more data.</a:t>
            </a:r>
            <a:endParaRPr lang="en-US" sz="1400" dirty="0"/>
          </a:p>
        </p:txBody>
      </p:sp>
      <p:sp>
        <p:nvSpPr>
          <p:cNvPr id="9" name="Text 7"/>
          <p:cNvSpPr/>
          <p:nvPr/>
        </p:nvSpPr>
        <p:spPr>
          <a:xfrm>
            <a:off x="1066800" y="4213324"/>
            <a:ext cx="20308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1A3"/>
                </a:solidFill>
                <a:latin typeface="Inter" pitchFamily="34" charset="0"/>
                <a:ea typeface="Inter" pitchFamily="34" charset="-122"/>
                <a:cs typeface="Inter" pitchFamily="34" charset="-120"/>
              </a:rPr>
              <a:t>Why: our results need a bigger sample.</a:t>
            </a:r>
            <a:endParaRPr lang="en-US" sz="1200" dirty="0"/>
          </a:p>
        </p:txBody>
      </p:sp>
      <p:sp>
        <p:nvSpPr>
          <p:cNvPr id="10" name="Shape 8"/>
          <p:cNvSpPr/>
          <p:nvPr/>
        </p:nvSpPr>
        <p:spPr>
          <a:xfrm>
            <a:off x="3498850" y="2355056"/>
            <a:ext cx="2486025" cy="2855714"/>
          </a:xfrm>
          <a:prstGeom prst="roundRect">
            <a:avLst>
              <a:gd name="adj" fmla="val 1916"/>
            </a:avLst>
          </a:prstGeom>
          <a:solidFill>
            <a:srgbClr val="FFFDF8"/>
          </a:solidFill>
          <a:ln w="6350">
            <a:solidFill>
              <a:srgbClr val="DDD6C8"/>
            </a:solidFill>
            <a:prstDash val="solid"/>
          </a:ln>
        </p:spPr>
      </p:sp>
      <p:sp>
        <p:nvSpPr>
          <p:cNvPr id="11" name="Text 9"/>
          <p:cNvSpPr/>
          <p:nvPr/>
        </p:nvSpPr>
        <p:spPr>
          <a:xfrm>
            <a:off x="3756025" y="2612231"/>
            <a:ext cx="203082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02</a:t>
            </a:r>
            <a:endParaRPr lang="en-US" sz="1400" dirty="0"/>
          </a:p>
        </p:txBody>
      </p:sp>
      <p:sp>
        <p:nvSpPr>
          <p:cNvPr id="12" name="Text 10"/>
          <p:cNvSpPr/>
          <p:nvPr/>
        </p:nvSpPr>
        <p:spPr>
          <a:xfrm>
            <a:off x="3756025" y="2962672"/>
            <a:ext cx="2030825" cy="639961"/>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Mobile / full-stack engineer</a:t>
            </a:r>
            <a:endParaRPr lang="en-US" sz="2200" dirty="0"/>
          </a:p>
        </p:txBody>
      </p:sp>
      <p:sp>
        <p:nvSpPr>
          <p:cNvPr id="13" name="Text 11"/>
          <p:cNvSpPr/>
          <p:nvPr/>
        </p:nvSpPr>
        <p:spPr>
          <a:xfrm>
            <a:off x="3756025" y="3678833"/>
            <a:ext cx="20308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Ships the app and the teacher panel faster.</a:t>
            </a:r>
            <a:endParaRPr lang="en-US" sz="1400" dirty="0"/>
          </a:p>
        </p:txBody>
      </p:sp>
      <p:sp>
        <p:nvSpPr>
          <p:cNvPr id="14" name="Text 12"/>
          <p:cNvSpPr/>
          <p:nvPr/>
        </p:nvSpPr>
        <p:spPr>
          <a:xfrm>
            <a:off x="3756025" y="4278114"/>
            <a:ext cx="20308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Why: from beta to a stable product.</a:t>
            </a:r>
            <a:endParaRPr lang="en-US" sz="1200" dirty="0"/>
          </a:p>
        </p:txBody>
      </p:sp>
      <p:sp>
        <p:nvSpPr>
          <p:cNvPr id="15" name="Shape 13"/>
          <p:cNvSpPr/>
          <p:nvPr/>
        </p:nvSpPr>
        <p:spPr>
          <a:xfrm>
            <a:off x="6194425" y="2355056"/>
            <a:ext cx="2486025" cy="2855714"/>
          </a:xfrm>
          <a:prstGeom prst="roundRect">
            <a:avLst>
              <a:gd name="adj" fmla="val 1916"/>
            </a:avLst>
          </a:prstGeom>
          <a:solidFill>
            <a:srgbClr val="FFFDF8"/>
          </a:solidFill>
          <a:ln w="6350">
            <a:solidFill>
              <a:srgbClr val="DDD6C8"/>
            </a:solidFill>
            <a:prstDash val="solid"/>
          </a:ln>
        </p:spPr>
      </p:sp>
      <p:sp>
        <p:nvSpPr>
          <p:cNvPr id="16" name="Text 14"/>
          <p:cNvSpPr/>
          <p:nvPr/>
        </p:nvSpPr>
        <p:spPr>
          <a:xfrm>
            <a:off x="6451600" y="2612231"/>
            <a:ext cx="203082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03</a:t>
            </a:r>
            <a:endParaRPr lang="en-US" sz="1400" dirty="0"/>
          </a:p>
        </p:txBody>
      </p:sp>
      <p:sp>
        <p:nvSpPr>
          <p:cNvPr id="17" name="Text 15"/>
          <p:cNvSpPr/>
          <p:nvPr/>
        </p:nvSpPr>
        <p:spPr>
          <a:xfrm>
            <a:off x="6451600" y="2962672"/>
            <a:ext cx="2030825" cy="639961"/>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Growth &amp; partnerships lead</a:t>
            </a:r>
            <a:endParaRPr lang="en-US" sz="2200" dirty="0"/>
          </a:p>
        </p:txBody>
      </p:sp>
      <p:sp>
        <p:nvSpPr>
          <p:cNvPr id="18" name="Text 16"/>
          <p:cNvSpPr/>
          <p:nvPr/>
        </p:nvSpPr>
        <p:spPr>
          <a:xfrm>
            <a:off x="6451600" y="3678833"/>
            <a:ext cx="203082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Runs pilots with centres and schools.</a:t>
            </a:r>
            <a:endParaRPr lang="en-US" sz="1400" dirty="0"/>
          </a:p>
        </p:txBody>
      </p:sp>
      <p:sp>
        <p:nvSpPr>
          <p:cNvPr id="19" name="Text 17"/>
          <p:cNvSpPr/>
          <p:nvPr/>
        </p:nvSpPr>
        <p:spPr>
          <a:xfrm>
            <a:off x="6451600" y="4278114"/>
            <a:ext cx="20308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Why: turns pilots into paid licences.</a:t>
            </a:r>
            <a:endParaRPr lang="en-US" sz="1200" dirty="0"/>
          </a:p>
        </p:txBody>
      </p:sp>
      <p:sp>
        <p:nvSpPr>
          <p:cNvPr id="20" name="Shape 18"/>
          <p:cNvSpPr/>
          <p:nvPr/>
        </p:nvSpPr>
        <p:spPr>
          <a:xfrm>
            <a:off x="8890000" y="2355056"/>
            <a:ext cx="2486025" cy="2855714"/>
          </a:xfrm>
          <a:prstGeom prst="roundRect">
            <a:avLst>
              <a:gd name="adj" fmla="val 1916"/>
            </a:avLst>
          </a:prstGeom>
          <a:solidFill>
            <a:srgbClr val="FFFDF8"/>
          </a:solidFill>
          <a:ln w="6350">
            <a:solidFill>
              <a:srgbClr val="DDD6C8"/>
            </a:solidFill>
            <a:prstDash val="solid"/>
          </a:ln>
        </p:spPr>
      </p:sp>
      <p:sp>
        <p:nvSpPr>
          <p:cNvPr id="21" name="Text 19"/>
          <p:cNvSpPr/>
          <p:nvPr/>
        </p:nvSpPr>
        <p:spPr>
          <a:xfrm>
            <a:off x="9147175" y="2612231"/>
            <a:ext cx="203082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5A554C"/>
                </a:solidFill>
                <a:latin typeface="Barlow Condensed" pitchFamily="34" charset="0"/>
                <a:ea typeface="Barlow Condensed" pitchFamily="34" charset="-122"/>
                <a:cs typeface="Barlow Condensed" pitchFamily="34" charset="-120"/>
              </a:rPr>
              <a:t>04</a:t>
            </a:r>
            <a:endParaRPr lang="en-US" sz="1400" dirty="0"/>
          </a:p>
        </p:txBody>
      </p:sp>
      <p:sp>
        <p:nvSpPr>
          <p:cNvPr id="22" name="Text 20"/>
          <p:cNvSpPr/>
          <p:nvPr/>
        </p:nvSpPr>
        <p:spPr>
          <a:xfrm>
            <a:off x="9147175" y="2962672"/>
            <a:ext cx="2030825" cy="639961"/>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C1A17"/>
                </a:solidFill>
                <a:latin typeface="Barlow Condensed" pitchFamily="34" charset="0"/>
                <a:ea typeface="Barlow Condensed" pitchFamily="34" charset="-122"/>
                <a:cs typeface="Barlow Condensed" pitchFamily="34" charset="-120"/>
              </a:rPr>
              <a:t>Learning content lead</a:t>
            </a:r>
            <a:endParaRPr lang="en-US" sz="2200" dirty="0"/>
          </a:p>
        </p:txBody>
      </p:sp>
      <p:sp>
        <p:nvSpPr>
          <p:cNvPr id="23" name="Text 21"/>
          <p:cNvSpPr/>
          <p:nvPr/>
        </p:nvSpPr>
        <p:spPr>
          <a:xfrm>
            <a:off x="9147175" y="3678833"/>
            <a:ext cx="203082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54C"/>
                </a:solidFill>
                <a:latin typeface="Inter" pitchFamily="34" charset="0"/>
                <a:ea typeface="Inter" pitchFamily="34" charset="-122"/>
                <a:cs typeface="Inter" pitchFamily="34" charset="-120"/>
              </a:rPr>
              <a:t>A linguist or teacher who designs word lists and drills.</a:t>
            </a:r>
            <a:endParaRPr lang="en-US" sz="1400" dirty="0"/>
          </a:p>
        </p:txBody>
      </p:sp>
      <p:sp>
        <p:nvSpPr>
          <p:cNvPr id="24" name="Text 22"/>
          <p:cNvSpPr/>
          <p:nvPr/>
        </p:nvSpPr>
        <p:spPr>
          <a:xfrm>
            <a:off x="9147175" y="4526955"/>
            <a:ext cx="20308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Why: quality of what learners practise.</a:t>
            </a:r>
            <a:endParaRPr lang="en-US" sz="1200" dirty="0"/>
          </a:p>
        </p:txBody>
      </p:sp>
      <p:sp>
        <p:nvSpPr>
          <p:cNvPr id="25" name="Text 23"/>
          <p:cNvSpPr/>
          <p:nvPr/>
        </p:nvSpPr>
        <p:spPr>
          <a:xfrm>
            <a:off x="812800" y="6238280"/>
            <a:ext cx="1507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4C"/>
                </a:solidFill>
                <a:latin typeface="Inter" pitchFamily="34" charset="0"/>
                <a:ea typeface="Inter" pitchFamily="34" charset="-122"/>
                <a:cs typeface="Inter" pitchFamily="34" charset="-120"/>
              </a:rPr>
              <a:t>VOC · vocabry.uz</a:t>
            </a:r>
            <a:endParaRPr lang="en-US" sz="1200" dirty="0"/>
          </a:p>
        </p:txBody>
      </p:sp>
      <p:sp>
        <p:nvSpPr>
          <p:cNvPr id="26" name="Text 24"/>
          <p:cNvSpPr/>
          <p:nvPr/>
        </p:nvSpPr>
        <p:spPr>
          <a:xfrm>
            <a:off x="11171833" y="6238280"/>
            <a:ext cx="20736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54C"/>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C1A17"/>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B8B1A3"/>
                </a:solidFill>
                <a:latin typeface="Barlow Condensed" pitchFamily="34" charset="0"/>
                <a:ea typeface="Barlow Condensed" pitchFamily="34" charset="-122"/>
                <a:cs typeface="Barlow Condensed" pitchFamily="34" charset="-120"/>
              </a:rPr>
              <a:t>VOC — PERSONAL MEMORY LAB</a:t>
            </a:r>
            <a:endParaRPr lang="en-US" sz="1600" dirty="0"/>
          </a:p>
        </p:txBody>
      </p:sp>
      <p:sp>
        <p:nvSpPr>
          <p:cNvPr id="3" name="Text 1"/>
          <p:cNvSpPr/>
          <p:nvPr>
            <p:ph type="title"/>
          </p:nvPr>
        </p:nvSpPr>
        <p:spPr>
          <a:xfrm>
            <a:off x="812800" y="2307729"/>
            <a:ext cx="10883392" cy="1087041"/>
          </a:xfrm>
          <a:prstGeom prst="rect">
            <a:avLst/>
          </a:prstGeom>
          <a:noFill/>
          <a:ln/>
        </p:spPr>
        <p:txBody>
          <a:bodyPr wrap="square" lIns="0" tIns="0" rIns="0" bIns="0" rtlCol="0" anchor="t">
            <a:normAutofit/>
          </a:bodyPr>
          <a:lstStyle/>
          <a:p>
            <a:pPr algn="l" indent="0" marL="0">
              <a:lnSpc>
                <a:spcPts val="8360"/>
              </a:lnSpc>
              <a:buNone/>
            </a:pPr>
            <a:r>
              <a:rPr lang="en-US" sz="8800" b="1" i="0" dirty="0">
                <a:solidFill>
                  <a:srgbClr val="F6F2EA"/>
                </a:solidFill>
                <a:latin typeface="Barlow Condensed" pitchFamily="34" charset="0"/>
                <a:ea typeface="Barlow Condensed" pitchFamily="34" charset="-122"/>
                <a:cs typeface="Barlow Condensed" pitchFamily="34" charset="-120"/>
              </a:rPr>
              <a:t>Memory is personal.</a:t>
            </a:r>
            <a:endParaRPr lang="en-US" sz="8800" dirty="0"/>
          </a:p>
        </p:txBody>
      </p:sp>
      <p:sp>
        <p:nvSpPr>
          <p:cNvPr id="4" name="Text 2"/>
          <p:cNvSpPr/>
          <p:nvPr/>
        </p:nvSpPr>
        <p:spPr>
          <a:xfrm>
            <a:off x="812800" y="3623370"/>
            <a:ext cx="85026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9D2C4"/>
                </a:solidFill>
                <a:latin typeface="Inter" pitchFamily="34" charset="0"/>
                <a:ea typeface="Inter" pitchFamily="34" charset="-122"/>
                <a:cs typeface="Inter" pitchFamily="34" charset="-120"/>
              </a:rPr>
              <a:t>VOC shows every learner which words they are about to forget.</a:t>
            </a:r>
            <a:endParaRPr lang="en-US" sz="2000" dirty="0"/>
          </a:p>
          <a:p>
            <a:pPr algn="l" indent="0" marL="0">
              <a:lnSpc>
                <a:spcPts val="2800"/>
              </a:lnSpc>
              <a:buNone/>
            </a:pPr>
            <a:r>
              <a:rPr lang="en-US" sz="2000" b="1" dirty="0">
                <a:solidFill>
                  <a:srgbClr val="E0A43A"/>
                </a:solidFill>
                <a:latin typeface="Inter" pitchFamily="34" charset="0"/>
                <a:ea typeface="Inter" pitchFamily="34" charset="-122"/>
                <a:cs typeface="Inter" pitchFamily="34" charset="-120"/>
              </a:rPr>
              <a:t>Next, it will show why.</a:t>
            </a:r>
            <a:endParaRPr lang="en-US" sz="2000" dirty="0"/>
          </a:p>
        </p:txBody>
      </p:sp>
      <p:sp>
        <p:nvSpPr>
          <p:cNvPr id="5" name="Text 3"/>
          <p:cNvSpPr/>
          <p:nvPr/>
        </p:nvSpPr>
        <p:spPr>
          <a:xfrm>
            <a:off x="812800" y="5544939"/>
            <a:ext cx="101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B1A3"/>
                </a:solidFill>
                <a:latin typeface="Barlow Condensed" pitchFamily="34" charset="0"/>
                <a:ea typeface="Barlow Condensed" pitchFamily="34" charset="-122"/>
                <a:cs typeface="Barlow Condensed" pitchFamily="34" charset="-120"/>
              </a:rPr>
              <a:t>WEBSITE</a:t>
            </a:r>
            <a:endParaRPr lang="en-US" sz="1200" dirty="0"/>
          </a:p>
        </p:txBody>
      </p:sp>
      <p:sp>
        <p:nvSpPr>
          <p:cNvPr id="6" name="Text 4"/>
          <p:cNvSpPr/>
          <p:nvPr/>
        </p:nvSpPr>
        <p:spPr>
          <a:xfrm>
            <a:off x="812800" y="5796359"/>
            <a:ext cx="11576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2EA"/>
                </a:solidFill>
                <a:latin typeface="Inter" pitchFamily="34" charset="0"/>
                <a:ea typeface="Inter" pitchFamily="34" charset="-122"/>
                <a:cs typeface="Inter" pitchFamily="34" charset="-120"/>
              </a:rPr>
              <a:t>vocabry.uz</a:t>
            </a:r>
            <a:endParaRPr lang="en-US" sz="1400" dirty="0"/>
          </a:p>
        </p:txBody>
      </p:sp>
      <p:sp>
        <p:nvSpPr>
          <p:cNvPr id="7" name="Text 5"/>
          <p:cNvSpPr/>
          <p:nvPr/>
        </p:nvSpPr>
        <p:spPr>
          <a:xfrm>
            <a:off x="2285504" y="5544939"/>
            <a:ext cx="20445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B1A3"/>
                </a:solidFill>
                <a:latin typeface="Barlow Condensed" pitchFamily="34" charset="0"/>
                <a:ea typeface="Barlow Condensed" pitchFamily="34" charset="-122"/>
                <a:cs typeface="Barlow Condensed" pitchFamily="34" charset="-120"/>
              </a:rPr>
              <a:t>TELEGRAM</a:t>
            </a:r>
            <a:endParaRPr lang="en-US" sz="1200" dirty="0"/>
          </a:p>
        </p:txBody>
      </p:sp>
      <p:sp>
        <p:nvSpPr>
          <p:cNvPr id="8" name="Text 6"/>
          <p:cNvSpPr/>
          <p:nvPr/>
        </p:nvSpPr>
        <p:spPr>
          <a:xfrm>
            <a:off x="2285504" y="5796359"/>
            <a:ext cx="23819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2EA"/>
                </a:solidFill>
                <a:latin typeface="Inter" pitchFamily="34" charset="0"/>
                <a:ea typeface="Inter" pitchFamily="34" charset="-122"/>
                <a:cs typeface="Inter" pitchFamily="34" charset="-120"/>
              </a:rPr>
              <a:t>@azimjonxolmirzayevs</a:t>
            </a:r>
            <a:endParaRPr lang="en-US" sz="1400" dirty="0"/>
          </a:p>
        </p:txBody>
      </p:sp>
      <p:sp>
        <p:nvSpPr>
          <p:cNvPr id="9" name="Text 7"/>
          <p:cNvSpPr/>
          <p:nvPr/>
        </p:nvSpPr>
        <p:spPr>
          <a:xfrm>
            <a:off x="4778474" y="5544939"/>
            <a:ext cx="31032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B1A3"/>
                </a:solidFill>
                <a:latin typeface="Barlow Condensed" pitchFamily="34" charset="0"/>
                <a:ea typeface="Barlow Condensed" pitchFamily="34" charset="-122"/>
                <a:cs typeface="Barlow Condensed" pitchFamily="34" charset="-120"/>
              </a:rPr>
              <a:t>EMAIL</a:t>
            </a:r>
            <a:endParaRPr lang="en-US" sz="1200" dirty="0"/>
          </a:p>
        </p:txBody>
      </p:sp>
      <p:sp>
        <p:nvSpPr>
          <p:cNvPr id="10" name="Text 8"/>
          <p:cNvSpPr/>
          <p:nvPr/>
        </p:nvSpPr>
        <p:spPr>
          <a:xfrm>
            <a:off x="4778474" y="5796359"/>
            <a:ext cx="36154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2EA"/>
                </a:solidFill>
                <a:latin typeface="Inter" pitchFamily="34" charset="0"/>
                <a:ea typeface="Inter" pitchFamily="34" charset="-122"/>
                <a:cs typeface="Inter" pitchFamily="34" charset="-120"/>
              </a:rPr>
              <a:t>azimjonxolmirzayev30@gmail.com</a:t>
            </a:r>
            <a:endParaRPr lang="en-US" sz="1400" dirty="0"/>
          </a:p>
        </p:txBody>
      </p:sp>
    </p:spTree>
  </p:cSld>
  <p:clrMapOvr>
    <a:masterClrMapping/>
  </p:clrMapOvr>
</p:sld>
</file>

<file path=ppt/theme/theme1.xml><?xml version="1.0" encoding="utf-8"?>
<a:theme xmlns:a="http://schemas.openxmlformats.org/drawingml/2006/main" name="VOC — Personal Memory Lab">
  <a:themeElements>
    <a:clrScheme name="VOC — Personal Memory Lab">
      <a:dk1>
        <a:srgbClr val="1C1A17"/>
      </a:dk1>
      <a:lt1>
        <a:srgbClr val="F6F2EA"/>
      </a:lt1>
      <a:dk2>
        <a:srgbClr val="53504C"/>
      </a:dk2>
      <a:lt2>
        <a:srgbClr val="E0DCD5"/>
      </a:lt2>
      <a:accent1>
        <a:srgbClr val="9A5B00"/>
      </a:accent1>
      <a:accent2>
        <a:srgbClr val="2F7A3D"/>
      </a:accent2>
      <a:accent3>
        <a:srgbClr val="B3261E"/>
      </a:accent3>
      <a:accent4>
        <a:srgbClr val="E0A43A"/>
      </a:accent4>
      <a:accent5>
        <a:srgbClr val="5A554C"/>
      </a:accent5>
      <a:accent6>
        <a:srgbClr val="B8B1A3"/>
      </a:accent6>
      <a:hlink>
        <a:srgbClr val="0563C1"/>
      </a:hlink>
      <a:folHlink>
        <a:srgbClr val="954F72"/>
      </a:folHlink>
    </a:clrScheme>
    <a:fontScheme name="VOC — Personal Memory Lab">
      <a:majorFont>
        <a:latin typeface="Barlow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VOC — Personal Memory Lab</dc:title>
  <dc:subject/>
  <dc:creator/>
  <cp:lastModifiedBy/>
  <cp:revision>1</cp:revision>
  <dcterms:created xsi:type="dcterms:W3CDTF">2026-10-06T07:07:13Z</dcterms:created>
  <dcterms:modified xsi:type="dcterms:W3CDTF">2026-10-06T07:07:13Z</dcterms:modified>
</cp:coreProperties>
</file>